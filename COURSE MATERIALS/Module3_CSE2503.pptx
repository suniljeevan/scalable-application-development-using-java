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notesMasterIdLst>
    <p:notesMasterId r:id="rId87"/>
  </p:notesMasterIdLst>
  <p:handoutMasterIdLst>
    <p:handoutMasterId r:id="rId88"/>
  </p:handoutMasterIdLst>
  <p:sldIdLst>
    <p:sldId id="520" r:id="rId2"/>
    <p:sldId id="773" r:id="rId3"/>
    <p:sldId id="876" r:id="rId4"/>
    <p:sldId id="884" r:id="rId5"/>
    <p:sldId id="885" r:id="rId6"/>
    <p:sldId id="886" r:id="rId7"/>
    <p:sldId id="887" r:id="rId8"/>
    <p:sldId id="888" r:id="rId9"/>
    <p:sldId id="889" r:id="rId10"/>
    <p:sldId id="890" r:id="rId11"/>
    <p:sldId id="775" r:id="rId12"/>
    <p:sldId id="776" r:id="rId13"/>
    <p:sldId id="788" r:id="rId14"/>
    <p:sldId id="779" r:id="rId15"/>
    <p:sldId id="777" r:id="rId16"/>
    <p:sldId id="834" r:id="rId17"/>
    <p:sldId id="780" r:id="rId18"/>
    <p:sldId id="781" r:id="rId19"/>
    <p:sldId id="782" r:id="rId20"/>
    <p:sldId id="783" r:id="rId21"/>
    <p:sldId id="784" r:id="rId22"/>
    <p:sldId id="785" r:id="rId23"/>
    <p:sldId id="830" r:id="rId24"/>
    <p:sldId id="839" r:id="rId25"/>
    <p:sldId id="841" r:id="rId26"/>
    <p:sldId id="843" r:id="rId27"/>
    <p:sldId id="844" r:id="rId28"/>
    <p:sldId id="845" r:id="rId29"/>
    <p:sldId id="846" r:id="rId30"/>
    <p:sldId id="847" r:id="rId31"/>
    <p:sldId id="848" r:id="rId32"/>
    <p:sldId id="849" r:id="rId33"/>
    <p:sldId id="850" r:id="rId34"/>
    <p:sldId id="878" r:id="rId35"/>
    <p:sldId id="879" r:id="rId36"/>
    <p:sldId id="880" r:id="rId37"/>
    <p:sldId id="851" r:id="rId38"/>
    <p:sldId id="852" r:id="rId39"/>
    <p:sldId id="881" r:id="rId40"/>
    <p:sldId id="882" r:id="rId41"/>
    <p:sldId id="854" r:id="rId42"/>
    <p:sldId id="853" r:id="rId43"/>
    <p:sldId id="874" r:id="rId44"/>
    <p:sldId id="855" r:id="rId45"/>
    <p:sldId id="877" r:id="rId46"/>
    <p:sldId id="733" r:id="rId47"/>
    <p:sldId id="734" r:id="rId48"/>
    <p:sldId id="735" r:id="rId49"/>
    <p:sldId id="736" r:id="rId50"/>
    <p:sldId id="737" r:id="rId51"/>
    <p:sldId id="738" r:id="rId52"/>
    <p:sldId id="739" r:id="rId53"/>
    <p:sldId id="740" r:id="rId54"/>
    <p:sldId id="741" r:id="rId55"/>
    <p:sldId id="742" r:id="rId56"/>
    <p:sldId id="743" r:id="rId57"/>
    <p:sldId id="744" r:id="rId58"/>
    <p:sldId id="745" r:id="rId59"/>
    <p:sldId id="746" r:id="rId60"/>
    <p:sldId id="747" r:id="rId61"/>
    <p:sldId id="899" r:id="rId62"/>
    <p:sldId id="748" r:id="rId63"/>
    <p:sldId id="749" r:id="rId64"/>
    <p:sldId id="750" r:id="rId65"/>
    <p:sldId id="751" r:id="rId66"/>
    <p:sldId id="752" r:id="rId67"/>
    <p:sldId id="753" r:id="rId68"/>
    <p:sldId id="891" r:id="rId69"/>
    <p:sldId id="892" r:id="rId70"/>
    <p:sldId id="893" r:id="rId71"/>
    <p:sldId id="894" r:id="rId72"/>
    <p:sldId id="895" r:id="rId73"/>
    <p:sldId id="896" r:id="rId74"/>
    <p:sldId id="897" r:id="rId75"/>
    <p:sldId id="754" r:id="rId76"/>
    <p:sldId id="755" r:id="rId77"/>
    <p:sldId id="756" r:id="rId78"/>
    <p:sldId id="757" r:id="rId79"/>
    <p:sldId id="758" r:id="rId80"/>
    <p:sldId id="759" r:id="rId81"/>
    <p:sldId id="760" r:id="rId82"/>
    <p:sldId id="761" r:id="rId83"/>
    <p:sldId id="762" r:id="rId84"/>
    <p:sldId id="763" r:id="rId85"/>
    <p:sldId id="883" r:id="rId8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EB29A"/>
    <a:srgbClr val="000F2E"/>
    <a:srgbClr val="0019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12" autoAdjust="0"/>
    <p:restoredTop sz="94434" autoAdjust="0"/>
  </p:normalViewPr>
  <p:slideViewPr>
    <p:cSldViewPr>
      <p:cViewPr varScale="1">
        <p:scale>
          <a:sx n="85" d="100"/>
          <a:sy n="85" d="100"/>
        </p:scale>
        <p:origin x="102" y="9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handoutMaster" Target="handoutMasters/handout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D5163DD-12C9-4B8E-91F3-BECE4B548A1F}" type="datetimeFigureOut">
              <a:rPr lang="en-US" smtClean="0"/>
              <a:pPr/>
              <a:t>3/16/2026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884565-77A9-41BC-A3D1-C71554A711C1}" type="slidenum">
              <a:rPr lang="en-US" smtClean="0"/>
              <a:pPr/>
              <a:t>‹#›</a:t>
            </a:fld>
            <a:endParaRPr lang="en-US"/>
          </a:p>
        </p:txBody>
      </p:sp>
    </p:spTree>
    <p:extLst>
      <p:ext uri="{BB962C8B-B14F-4D97-AF65-F5344CB8AC3E}">
        <p14:creationId xmlns:p14="http://schemas.microsoft.com/office/powerpoint/2010/main" val="53441510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B35E0ABE-3FD2-4491-A84F-F5DF78F574D2}" type="datetimeFigureOut">
              <a:rPr lang="en-US"/>
              <a:pPr>
                <a:defRPr/>
              </a:pPr>
              <a:t>3/16/2026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CDD763F7-5C11-4DBC-83B1-39D83E1FBE10}" type="slidenum">
              <a:rPr lang="en-US" altLang="en-US"/>
              <a:pPr>
                <a:defRPr/>
              </a:pPr>
              <a:t>‹#›</a:t>
            </a:fld>
            <a:endParaRPr lang="en-US" altLang="en-US"/>
          </a:p>
        </p:txBody>
      </p:sp>
    </p:spTree>
    <p:extLst>
      <p:ext uri="{BB962C8B-B14F-4D97-AF65-F5344CB8AC3E}">
        <p14:creationId xmlns:p14="http://schemas.microsoft.com/office/powerpoint/2010/main" val="2171985713"/>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DD763F7-5C11-4DBC-83B1-39D83E1FBE10}" type="slidenum">
              <a:rPr lang="en-US" altLang="en-US" smtClean="0"/>
              <a:pPr>
                <a:defRPr/>
              </a:pPr>
              <a:t>1</a:t>
            </a:fld>
            <a:endParaRPr lang="en-US" altLang="en-US"/>
          </a:p>
        </p:txBody>
      </p:sp>
      <p:sp>
        <p:nvSpPr>
          <p:cNvPr id="5" name="Footer Placeholder 4"/>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4180037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32292E83-4E84-4740-8999-21B99A524EB4}" type="datetime1">
              <a:rPr lang="en-US" smtClean="0"/>
              <a:pPr>
                <a:defRPr/>
              </a:pPr>
              <a:t>3/16/2026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72A8AC2-F0C4-4335-A6D7-C22D8A222454}" type="slidenum">
              <a:rPr lang="en-US" altLang="en-US"/>
              <a:pPr>
                <a:defRPr/>
              </a:pPr>
              <a:t>‹#›</a:t>
            </a:fld>
            <a:endParaRPr lang="en-US" altLang="en-US"/>
          </a:p>
        </p:txBody>
      </p:sp>
    </p:spTree>
    <p:extLst>
      <p:ext uri="{BB962C8B-B14F-4D97-AF65-F5344CB8AC3E}">
        <p14:creationId xmlns:p14="http://schemas.microsoft.com/office/powerpoint/2010/main" val="2096596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3B3B847F-E800-49BB-B888-ECFD11F24C1D}" type="datetime1">
              <a:rPr lang="en-US" smtClean="0"/>
              <a:pPr>
                <a:defRPr/>
              </a:pPr>
              <a:t>3/16/2026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01CA5F2-CD08-4EF5-BAD9-872B7BB27165}" type="slidenum">
              <a:rPr lang="en-US" altLang="en-US"/>
              <a:pPr>
                <a:defRPr/>
              </a:pPr>
              <a:t>‹#›</a:t>
            </a:fld>
            <a:endParaRPr lang="en-US" altLang="en-US"/>
          </a:p>
        </p:txBody>
      </p:sp>
    </p:spTree>
    <p:extLst>
      <p:ext uri="{BB962C8B-B14F-4D97-AF65-F5344CB8AC3E}">
        <p14:creationId xmlns:p14="http://schemas.microsoft.com/office/powerpoint/2010/main" val="3633679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1A39EC45-EBE1-44DB-AD55-76A5CDEE8551}" type="datetime1">
              <a:rPr lang="en-US" smtClean="0"/>
              <a:pPr>
                <a:defRPr/>
              </a:pPr>
              <a:t>3/16/2026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CB43365-358E-4EFB-9D2F-D6778ADA2A33}" type="slidenum">
              <a:rPr lang="en-US" altLang="en-US"/>
              <a:pPr>
                <a:defRPr/>
              </a:pPr>
              <a:t>‹#›</a:t>
            </a:fld>
            <a:endParaRPr lang="en-US" altLang="en-US"/>
          </a:p>
        </p:txBody>
      </p:sp>
    </p:spTree>
    <p:extLst>
      <p:ext uri="{BB962C8B-B14F-4D97-AF65-F5344CB8AC3E}">
        <p14:creationId xmlns:p14="http://schemas.microsoft.com/office/powerpoint/2010/main" val="811156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3A84E65-0CE4-4441-ACE8-8E023A7A741C}" type="datetime1">
              <a:rPr lang="en-US" smtClean="0"/>
              <a:pPr>
                <a:defRPr/>
              </a:pPr>
              <a:t>3/16/2026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061B66A-860D-4F77-A12A-57453AAB16AB}" type="slidenum">
              <a:rPr lang="en-US" altLang="en-US"/>
              <a:pPr>
                <a:defRPr/>
              </a:pPr>
              <a:t>‹#›</a:t>
            </a:fld>
            <a:endParaRPr lang="en-US" altLang="en-US"/>
          </a:p>
        </p:txBody>
      </p:sp>
    </p:spTree>
    <p:extLst>
      <p:ext uri="{BB962C8B-B14F-4D97-AF65-F5344CB8AC3E}">
        <p14:creationId xmlns:p14="http://schemas.microsoft.com/office/powerpoint/2010/main" val="3945981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6BC930A8-B92B-4AD0-9CA2-E3573C2D7B68}" type="datetime1">
              <a:rPr lang="en-US" smtClean="0"/>
              <a:pPr>
                <a:defRPr/>
              </a:pPr>
              <a:t>3/16/2026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19E9FAA-A59B-4AE0-A044-7FE2AB03AB9B}" type="slidenum">
              <a:rPr lang="en-US" altLang="en-US"/>
              <a:pPr>
                <a:defRPr/>
              </a:pPr>
              <a:t>‹#›</a:t>
            </a:fld>
            <a:endParaRPr lang="en-US" altLang="en-US"/>
          </a:p>
        </p:txBody>
      </p:sp>
    </p:spTree>
    <p:extLst>
      <p:ext uri="{BB962C8B-B14F-4D97-AF65-F5344CB8AC3E}">
        <p14:creationId xmlns:p14="http://schemas.microsoft.com/office/powerpoint/2010/main" val="970077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9BFAF9F0-86F4-41BA-BF04-7A68BB35962C}" type="datetime1">
              <a:rPr lang="en-US" smtClean="0"/>
              <a:pPr>
                <a:defRPr/>
              </a:pPr>
              <a:t>3/16/2026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5FF55CBD-5A35-43A0-8B72-DFEEFFF78235}" type="slidenum">
              <a:rPr lang="en-US" altLang="en-US"/>
              <a:pPr>
                <a:defRPr/>
              </a:pPr>
              <a:t>‹#›</a:t>
            </a:fld>
            <a:endParaRPr lang="en-US" altLang="en-US"/>
          </a:p>
        </p:txBody>
      </p:sp>
    </p:spTree>
    <p:extLst>
      <p:ext uri="{BB962C8B-B14F-4D97-AF65-F5344CB8AC3E}">
        <p14:creationId xmlns:p14="http://schemas.microsoft.com/office/powerpoint/2010/main" val="3784130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B284C8E-89B8-4DD1-9A54-0E190BA47E5D}" type="datetime1">
              <a:rPr lang="en-US" smtClean="0"/>
              <a:pPr>
                <a:defRPr/>
              </a:pPr>
              <a:t>3/16/2026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5EDAE260-203A-48BA-B1E0-2820BBC6B005}" type="slidenum">
              <a:rPr lang="en-US" altLang="en-US"/>
              <a:pPr>
                <a:defRPr/>
              </a:pPr>
              <a:t>‹#›</a:t>
            </a:fld>
            <a:endParaRPr lang="en-US" altLang="en-US"/>
          </a:p>
        </p:txBody>
      </p:sp>
    </p:spTree>
    <p:extLst>
      <p:ext uri="{BB962C8B-B14F-4D97-AF65-F5344CB8AC3E}">
        <p14:creationId xmlns:p14="http://schemas.microsoft.com/office/powerpoint/2010/main" val="3511905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B53A74D-7B57-49DB-9938-D92105508A1C}" type="datetime1">
              <a:rPr lang="en-US" smtClean="0"/>
              <a:pPr>
                <a:defRPr/>
              </a:pPr>
              <a:t>3/16/2026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043378E-E05F-4D65-B4F7-A87FC0276302}" type="slidenum">
              <a:rPr lang="en-US" altLang="en-US"/>
              <a:pPr>
                <a:defRPr/>
              </a:pPr>
              <a:t>‹#›</a:t>
            </a:fld>
            <a:endParaRPr lang="en-US" altLang="en-US"/>
          </a:p>
        </p:txBody>
      </p:sp>
    </p:spTree>
    <p:extLst>
      <p:ext uri="{BB962C8B-B14F-4D97-AF65-F5344CB8AC3E}">
        <p14:creationId xmlns:p14="http://schemas.microsoft.com/office/powerpoint/2010/main" val="2398914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79F7E326-5233-47C9-9183-AB0FCA1C5179}" type="datetime1">
              <a:rPr lang="en-US" smtClean="0"/>
              <a:pPr>
                <a:defRPr/>
              </a:pPr>
              <a:t>3/16/2026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D2A09E5-A14B-4738-A48E-EF064E453217}" type="slidenum">
              <a:rPr lang="en-US" altLang="en-US"/>
              <a:pPr>
                <a:defRPr/>
              </a:pPr>
              <a:t>‹#›</a:t>
            </a:fld>
            <a:endParaRPr lang="en-US" altLang="en-US"/>
          </a:p>
        </p:txBody>
      </p:sp>
    </p:spTree>
    <p:extLst>
      <p:ext uri="{BB962C8B-B14F-4D97-AF65-F5344CB8AC3E}">
        <p14:creationId xmlns:p14="http://schemas.microsoft.com/office/powerpoint/2010/main" val="3949383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74AD883A-3962-435F-9831-24ADC35CB10C}" type="datetime1">
              <a:rPr lang="en-US" smtClean="0"/>
              <a:pPr>
                <a:defRPr/>
              </a:pPr>
              <a:t>3/16/2026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A110372-953E-4601-976C-D82CD9FCE073}" type="slidenum">
              <a:rPr lang="en-US" altLang="en-US"/>
              <a:pPr>
                <a:defRPr/>
              </a:pPr>
              <a:t>‹#›</a:t>
            </a:fld>
            <a:endParaRPr lang="en-US" altLang="en-US"/>
          </a:p>
        </p:txBody>
      </p:sp>
    </p:spTree>
    <p:extLst>
      <p:ext uri="{BB962C8B-B14F-4D97-AF65-F5344CB8AC3E}">
        <p14:creationId xmlns:p14="http://schemas.microsoft.com/office/powerpoint/2010/main" val="2314918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ADF5F9B-46DC-4E4F-98F8-47F377D811C8}" type="datetime1">
              <a:rPr lang="en-US" smtClean="0"/>
              <a:pPr>
                <a:defRPr/>
              </a:pPr>
              <a:t>3/16/2026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BCDF80F-6F68-4B94-9701-0F2026993C48}" type="slidenum">
              <a:rPr lang="en-US" altLang="en-US"/>
              <a:pPr>
                <a:defRPr/>
              </a:pPr>
              <a:t>‹#›</a:t>
            </a:fld>
            <a:endParaRPr lang="en-US" altLang="en-US"/>
          </a:p>
        </p:txBody>
      </p:sp>
    </p:spTree>
    <p:extLst>
      <p:ext uri="{BB962C8B-B14F-4D97-AF65-F5344CB8AC3E}">
        <p14:creationId xmlns:p14="http://schemas.microsoft.com/office/powerpoint/2010/main" val="2144011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mtClean="0">
                <a:solidFill>
                  <a:schemeClr val="tx1">
                    <a:tint val="75000"/>
                  </a:schemeClr>
                </a:solidFill>
              </a:defRPr>
            </a:lvl1pPr>
          </a:lstStyle>
          <a:p>
            <a:pPr>
              <a:defRPr/>
            </a:pPr>
            <a:fld id="{14A44C2B-9FC4-482D-A60E-5D6C377FC33F}" type="datetime1">
              <a:rPr lang="en-US" smtClean="0"/>
              <a:pPr>
                <a:defRPr/>
              </a:pPr>
              <a:t>3/16/2026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mtClean="0">
                <a:solidFill>
                  <a:schemeClr val="tx1">
                    <a:tint val="75000"/>
                  </a:schemeClr>
                </a:solidFill>
              </a:defRPr>
            </a:lvl1pPr>
          </a:lstStyle>
          <a:p>
            <a:pPr>
              <a:defRPr/>
            </a:pPr>
            <a:fld id="{03391736-D1CD-4256-BC31-406FE5C1CD1F}" type="slidenum">
              <a:rPr lang="en-US" altLang="en-US"/>
              <a:pPr>
                <a:defRPr/>
              </a:pPr>
              <a:t>‹#›</a:t>
            </a:fld>
            <a:endParaRPr lang="en-US" altLang="en-US"/>
          </a:p>
        </p:txBody>
      </p:sp>
      <p:pic>
        <p:nvPicPr>
          <p:cNvPr id="1031" name="Picture 7"/>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Lst>
  <p:hf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javatpoint.com/java-linkedlist" TargetMode="External"/><Relationship Id="rId2" Type="http://schemas.openxmlformats.org/officeDocument/2006/relationships/hyperlink" Target="https://www.javatpoint.com/java-arraylist" TargetMode="External"/><Relationship Id="rId1" Type="http://schemas.openxmlformats.org/officeDocument/2006/relationships/slideLayout" Target="../slideLayouts/slideLayout2.xml"/><Relationship Id="rId4" Type="http://schemas.openxmlformats.org/officeDocument/2006/relationships/hyperlink" Target="https://www.javatpoint.com/java-priorityqueu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javatpoint.com/java-list"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8" Type="http://schemas.openxmlformats.org/officeDocument/2006/relationships/hyperlink" Target="https://www.javatpoint.com/batch-processing-in-jdbc" TargetMode="External"/><Relationship Id="rId3" Type="http://schemas.openxmlformats.org/officeDocument/2006/relationships/hyperlink" Target="https://www.javatpoint.com/storing-image-in-oracle-database" TargetMode="External"/><Relationship Id="rId7" Type="http://schemas.openxmlformats.org/officeDocument/2006/relationships/hyperlink" Target="https://www.javatpoint.com/transaction-management-in-jdbc" TargetMode="External"/><Relationship Id="rId2" Type="http://schemas.openxmlformats.org/officeDocument/2006/relationships/hyperlink" Target="https://www.javatpoint.com/DatabaseMetaData-interface" TargetMode="External"/><Relationship Id="rId1" Type="http://schemas.openxmlformats.org/officeDocument/2006/relationships/slideLayout" Target="../slideLayouts/slideLayout2.xml"/><Relationship Id="rId6" Type="http://schemas.openxmlformats.org/officeDocument/2006/relationships/hyperlink" Target="https://www.javatpoint.com/CallableStatement-interface" TargetMode="External"/><Relationship Id="rId5" Type="http://schemas.openxmlformats.org/officeDocument/2006/relationships/hyperlink" Target="https://www.javatpoint.com/retrieving-file-from-oracle-database" TargetMode="External"/><Relationship Id="rId4" Type="http://schemas.openxmlformats.org/officeDocument/2006/relationships/hyperlink" Target="https://www.javatpoint.com/storing-file-in-oracle-database" TargetMode="External"/><Relationship Id="rId9" Type="http://schemas.openxmlformats.org/officeDocument/2006/relationships/hyperlink" Target="https://www.javatpoint.com/jdbc-rowset" TargetMode="External"/></Relationships>
</file>

<file path=ppt/slides/_rels/slide77.xml.rels><?xml version="1.0" encoding="UTF-8" standalone="yes"?>
<Relationships xmlns="http://schemas.openxmlformats.org/package/2006/relationships"><Relationship Id="rId2" Type="http://schemas.openxmlformats.org/officeDocument/2006/relationships/hyperlink" Target="https://static.javatpoint.com/src/jdbc/ojdbc14.jar" TargetMode="Externa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hyperlink" Target="https://static.javatpoint.com/src/jdbc/mysql-connector.jar" TargetMode="Externa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839416" y="1412776"/>
            <a:ext cx="9721080" cy="2592288"/>
          </a:xfrm>
        </p:spPr>
        <p:txBody>
          <a:bodyPr/>
          <a:lstStyle/>
          <a:p>
            <a:r>
              <a:rPr lang="en-GB" b="1" dirty="0" smtClean="0">
                <a:latin typeface="Cambria" panose="02040503050406030204" pitchFamily="18" charset="0"/>
                <a:ea typeface="Cambria" panose="02040503050406030204" pitchFamily="18" charset="0"/>
              </a:rPr>
              <a:t>Module 3</a:t>
            </a:r>
            <a:br>
              <a:rPr lang="en-GB" b="1" dirty="0" smtClean="0">
                <a:latin typeface="Cambria" panose="02040503050406030204" pitchFamily="18" charset="0"/>
                <a:ea typeface="Cambria" panose="02040503050406030204" pitchFamily="18" charset="0"/>
              </a:rPr>
            </a:br>
            <a:r>
              <a:rPr lang="en-GB" b="1" dirty="0" smtClean="0">
                <a:latin typeface="Cambria" panose="02040503050406030204" pitchFamily="18" charset="0"/>
                <a:ea typeface="Cambria" panose="02040503050406030204" pitchFamily="18" charset="0"/>
              </a:rPr>
              <a:t/>
            </a:r>
            <a:br>
              <a:rPr lang="en-GB" b="1" dirty="0" smtClean="0">
                <a:latin typeface="Cambria" panose="02040503050406030204" pitchFamily="18" charset="0"/>
                <a:ea typeface="Cambria" panose="02040503050406030204" pitchFamily="18" charset="0"/>
              </a:rPr>
            </a:br>
            <a:r>
              <a:rPr lang="en-US" b="1" smtClean="0">
                <a:latin typeface="Cambria" panose="02040503050406030204" pitchFamily="18" charset="0"/>
                <a:ea typeface="Cambria" panose="02040503050406030204" pitchFamily="18" charset="0"/>
              </a:rPr>
              <a:t>Collections </a:t>
            </a:r>
            <a:r>
              <a:rPr lang="en-US" b="1" dirty="0">
                <a:latin typeface="Cambria" panose="02040503050406030204" pitchFamily="18" charset="0"/>
                <a:ea typeface="Cambria" panose="02040503050406030204" pitchFamily="18" charset="0"/>
              </a:rPr>
              <a:t>and </a:t>
            </a:r>
            <a:r>
              <a:rPr lang="en-US" b="1">
                <a:latin typeface="Cambria" panose="02040503050406030204" pitchFamily="18" charset="0"/>
                <a:ea typeface="Cambria" panose="02040503050406030204" pitchFamily="18" charset="0"/>
              </a:rPr>
              <a:t>Database </a:t>
            </a:r>
            <a:r>
              <a:rPr lang="en-US" b="1" smtClean="0">
                <a:latin typeface="Cambria" panose="02040503050406030204" pitchFamily="18" charset="0"/>
                <a:ea typeface="Cambria" panose="02040503050406030204" pitchFamily="18" charset="0"/>
              </a:rPr>
              <a:t>Programming </a:t>
            </a:r>
            <a:r>
              <a:rPr lang="en-US" b="1" dirty="0">
                <a:latin typeface="Cambria" panose="02040503050406030204" pitchFamily="18" charset="0"/>
                <a:ea typeface="Cambria" panose="02040503050406030204" pitchFamily="18" charset="0"/>
              </a:rPr>
              <a:t>using JDBC</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cs typeface="Arial" panose="020B0604020202020204" pitchFamily="34" charset="0"/>
              </a:rPr>
              <a:pPr>
                <a:defRPr/>
              </a:pPr>
              <a:t>1</a:t>
            </a:fld>
            <a:endParaRPr lang="en-US" altLang="en-US">
              <a:latin typeface="Cambria" panose="02040503050406030204" pitchFamily="18" charset="0"/>
              <a:ea typeface="Cambria" panose="02040503050406030204" pitchFamily="18" charset="0"/>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16632"/>
            <a:ext cx="10010328" cy="471587"/>
          </a:xfrm>
        </p:spPr>
        <p:txBody>
          <a:bodyPr/>
          <a:lstStyle/>
          <a:p>
            <a:r>
              <a:rPr lang="en-GB" sz="3600" b="1" dirty="0" smtClean="0">
                <a:solidFill>
                  <a:schemeClr val="accent1"/>
                </a:solidFill>
                <a:latin typeface="Cambria" panose="02040503050406030204" pitchFamily="18" charset="0"/>
                <a:ea typeface="Cambria" panose="02040503050406030204" pitchFamily="18" charset="0"/>
              </a:rPr>
              <a:t>Topics</a:t>
            </a:r>
            <a:endParaRPr lang="en-US" sz="36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376" y="764704"/>
            <a:ext cx="10585176" cy="3528392"/>
          </a:xfrm>
        </p:spPr>
        <p:txBody>
          <a:bodyPr/>
          <a:lstStyle/>
          <a:p>
            <a:pPr algn="just"/>
            <a:r>
              <a:rPr lang="en-US" sz="3200" b="1" dirty="0">
                <a:latin typeface="Cambria" panose="02040503050406030204" pitchFamily="18" charset="0"/>
                <a:ea typeface="Cambria" panose="02040503050406030204" pitchFamily="18" charset="0"/>
              </a:rPr>
              <a:t>Collection - The Collection Framework: </a:t>
            </a:r>
            <a:endParaRPr lang="en-US" sz="3200" b="1" dirty="0" smtClean="0">
              <a:latin typeface="Cambria" panose="02040503050406030204" pitchFamily="18" charset="0"/>
              <a:ea typeface="Cambria" panose="02040503050406030204" pitchFamily="18" charset="0"/>
            </a:endParaRPr>
          </a:p>
          <a:p>
            <a:pPr lvl="1" algn="just"/>
            <a:r>
              <a:rPr lang="en-US" sz="2800" dirty="0" smtClean="0">
                <a:latin typeface="Cambria" panose="02040503050406030204" pitchFamily="18" charset="0"/>
                <a:ea typeface="Cambria" panose="02040503050406030204" pitchFamily="18" charset="0"/>
              </a:rPr>
              <a:t>Collections </a:t>
            </a:r>
            <a:r>
              <a:rPr lang="en-US" sz="2800" dirty="0">
                <a:latin typeface="Cambria" panose="02040503050406030204" pitchFamily="18" charset="0"/>
                <a:ea typeface="Cambria" panose="02040503050406030204" pitchFamily="18" charset="0"/>
              </a:rPr>
              <a:t>of Objects, Collection Types, Sets, Sequence, Map, Understanding Hashing, Use of Array List &amp; Vector, Comparable and Comparator Interfaces</a:t>
            </a:r>
            <a:r>
              <a:rPr lang="en-US" sz="2800" dirty="0" smtClean="0">
                <a:latin typeface="Cambria" panose="02040503050406030204" pitchFamily="18" charset="0"/>
                <a:ea typeface="Cambria" panose="02040503050406030204" pitchFamily="18" charset="0"/>
              </a:rPr>
              <a:t>.</a:t>
            </a:r>
          </a:p>
          <a:p>
            <a:pPr algn="just"/>
            <a:r>
              <a:rPr lang="en-US" sz="3200" b="1" dirty="0">
                <a:latin typeface="Cambria" panose="02040503050406030204" pitchFamily="18" charset="0"/>
                <a:ea typeface="Cambria" panose="02040503050406030204" pitchFamily="18" charset="0"/>
              </a:rPr>
              <a:t>Database Programming using </a:t>
            </a:r>
            <a:r>
              <a:rPr lang="en-US" sz="3200" b="1" dirty="0" smtClean="0">
                <a:latin typeface="Cambria" panose="02040503050406030204" pitchFamily="18" charset="0"/>
                <a:ea typeface="Cambria" panose="02040503050406030204" pitchFamily="18" charset="0"/>
              </a:rPr>
              <a:t>JDBC:</a:t>
            </a:r>
          </a:p>
          <a:p>
            <a:pPr lvl="1" algn="just"/>
            <a:r>
              <a:rPr lang="en-US" sz="2800" dirty="0" smtClean="0">
                <a:latin typeface="Cambria" panose="02040503050406030204" pitchFamily="18" charset="0"/>
                <a:ea typeface="Cambria" panose="02040503050406030204" pitchFamily="18" charset="0"/>
              </a:rPr>
              <a:t>Introduction </a:t>
            </a:r>
            <a:r>
              <a:rPr lang="en-US" sz="2800" dirty="0">
                <a:latin typeface="Cambria" panose="02040503050406030204" pitchFamily="18" charset="0"/>
                <a:ea typeface="Cambria" panose="02040503050406030204" pitchFamily="18" charset="0"/>
              </a:rPr>
              <a:t>to JDBC, JDBC Drivers &amp; Architecture, CRUD operation Using JDBC, Connecting to non-conventional Databases.</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16632"/>
            <a:ext cx="10010328" cy="471587"/>
          </a:xfrm>
        </p:spPr>
        <p:txBody>
          <a:bodyPr/>
          <a:lstStyle/>
          <a:p>
            <a:r>
              <a:rPr lang="en-GB" sz="3600" b="1" dirty="0" smtClean="0">
                <a:solidFill>
                  <a:schemeClr val="accent1"/>
                </a:solidFill>
                <a:latin typeface="Cambria" panose="02040503050406030204" pitchFamily="18" charset="0"/>
                <a:ea typeface="Cambria" panose="02040503050406030204" pitchFamily="18" charset="0"/>
              </a:rPr>
              <a:t>Collection Framework</a:t>
            </a:r>
            <a:endParaRPr lang="en-US" sz="36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51384" y="1052736"/>
            <a:ext cx="10585176" cy="3528392"/>
          </a:xfrm>
        </p:spPr>
        <p:txBody>
          <a:bodyPr/>
          <a:lstStyle/>
          <a:p>
            <a:pPr algn="just"/>
            <a:r>
              <a:rPr lang="en-GB" dirty="0" smtClean="0">
                <a:latin typeface="Cambria" panose="02040503050406030204" pitchFamily="18" charset="0"/>
                <a:ea typeface="Cambria" panose="02040503050406030204" pitchFamily="18" charset="0"/>
              </a:rPr>
              <a:t>provides an architecture to store and manipulate the group of objects.</a:t>
            </a:r>
          </a:p>
          <a:p>
            <a:pPr algn="just"/>
            <a:r>
              <a:rPr lang="en-GB" dirty="0" smtClean="0">
                <a:latin typeface="Cambria" panose="02040503050406030204" pitchFamily="18" charset="0"/>
                <a:ea typeface="Cambria" panose="02040503050406030204" pitchFamily="18" charset="0"/>
              </a:rPr>
              <a:t>achieve all the operations that you perform on a data such as searching, sorting, insertion, manipulation, and deletion.</a:t>
            </a:r>
          </a:p>
          <a:p>
            <a:pPr algn="just"/>
            <a:r>
              <a:rPr lang="en-US" dirty="0" smtClean="0">
                <a:latin typeface="Cambria" panose="02040503050406030204" pitchFamily="18" charset="0"/>
                <a:ea typeface="Cambria" panose="02040503050406030204" pitchFamily="18" charset="0"/>
              </a:rPr>
              <a:t>Java Collection means a single unit of objects. Java Collection framework provides many interfaces (Set, List, Queue, </a:t>
            </a:r>
            <a:r>
              <a:rPr lang="en-US" dirty="0" err="1" smtClean="0">
                <a:latin typeface="Cambria" panose="02040503050406030204" pitchFamily="18" charset="0"/>
                <a:ea typeface="Cambria" panose="02040503050406030204" pitchFamily="18" charset="0"/>
              </a:rPr>
              <a:t>Deque</a:t>
            </a:r>
            <a:r>
              <a:rPr lang="en-US" dirty="0" smtClean="0">
                <a:latin typeface="Cambria" panose="02040503050406030204" pitchFamily="18" charset="0"/>
                <a:ea typeface="Cambria" panose="02040503050406030204" pitchFamily="18" charset="0"/>
              </a:rPr>
              <a:t>) and classes (</a:t>
            </a:r>
            <a:r>
              <a:rPr lang="en-US" dirty="0" err="1" smtClean="0">
                <a:latin typeface="Cambria" panose="02040503050406030204" pitchFamily="18" charset="0"/>
                <a:ea typeface="Cambria" panose="02040503050406030204" pitchFamily="18" charset="0"/>
                <a:hlinkClick r:id="rId2"/>
              </a:rPr>
              <a:t>ArrayList</a:t>
            </a:r>
            <a:r>
              <a:rPr lang="en-US" dirty="0" smtClean="0">
                <a:latin typeface="Cambria" panose="02040503050406030204" pitchFamily="18" charset="0"/>
                <a:ea typeface="Cambria" panose="02040503050406030204" pitchFamily="18" charset="0"/>
              </a:rPr>
              <a:t>, Vector, </a:t>
            </a:r>
            <a:r>
              <a:rPr lang="en-US" dirty="0" err="1" smtClean="0">
                <a:latin typeface="Cambria" panose="02040503050406030204" pitchFamily="18" charset="0"/>
                <a:ea typeface="Cambria" panose="02040503050406030204" pitchFamily="18" charset="0"/>
                <a:hlinkClick r:id="rId3"/>
              </a:rPr>
              <a:t>LinkedList</a:t>
            </a:r>
            <a:r>
              <a:rPr lang="en-US" dirty="0" smtClean="0">
                <a:latin typeface="Cambria" panose="02040503050406030204" pitchFamily="18" charset="0"/>
                <a:ea typeface="Cambria" panose="02040503050406030204" pitchFamily="18" charset="0"/>
              </a:rPr>
              <a:t>, </a:t>
            </a:r>
            <a:r>
              <a:rPr lang="en-US" dirty="0" err="1" smtClean="0">
                <a:latin typeface="Cambria" panose="02040503050406030204" pitchFamily="18" charset="0"/>
                <a:ea typeface="Cambria" panose="02040503050406030204" pitchFamily="18" charset="0"/>
                <a:hlinkClick r:id="rId4"/>
              </a:rPr>
              <a:t>PriorityQueue</a:t>
            </a:r>
            <a:r>
              <a:rPr lang="en-US" dirty="0" smtClean="0">
                <a:latin typeface="Cambria" panose="02040503050406030204" pitchFamily="18" charset="0"/>
                <a:ea typeface="Cambria" panose="02040503050406030204" pitchFamily="18" charset="0"/>
              </a:rPr>
              <a:t>, </a:t>
            </a:r>
            <a:r>
              <a:rPr lang="en-US" dirty="0" err="1" smtClean="0">
                <a:latin typeface="Cambria" panose="02040503050406030204" pitchFamily="18" charset="0"/>
                <a:ea typeface="Cambria" panose="02040503050406030204" pitchFamily="18" charset="0"/>
              </a:rPr>
              <a:t>HashSet</a:t>
            </a:r>
            <a:r>
              <a:rPr lang="en-US" dirty="0" smtClean="0">
                <a:latin typeface="Cambria" panose="02040503050406030204" pitchFamily="18" charset="0"/>
                <a:ea typeface="Cambria" panose="02040503050406030204" pitchFamily="18" charset="0"/>
              </a:rPr>
              <a:t>, </a:t>
            </a:r>
            <a:r>
              <a:rPr lang="en-US" dirty="0" err="1" smtClean="0">
                <a:latin typeface="Cambria" panose="02040503050406030204" pitchFamily="18" charset="0"/>
                <a:ea typeface="Cambria" panose="02040503050406030204" pitchFamily="18" charset="0"/>
              </a:rPr>
              <a:t>LinkedHashSet</a:t>
            </a:r>
            <a:r>
              <a:rPr lang="en-US" dirty="0" smtClean="0">
                <a:latin typeface="Cambria" panose="02040503050406030204" pitchFamily="18" charset="0"/>
                <a:ea typeface="Cambria" panose="02040503050406030204" pitchFamily="18" charset="0"/>
              </a:rPr>
              <a:t>, </a:t>
            </a:r>
            <a:r>
              <a:rPr lang="en-US" dirty="0" err="1" smtClean="0">
                <a:latin typeface="Cambria" panose="02040503050406030204" pitchFamily="18" charset="0"/>
                <a:ea typeface="Cambria" panose="02040503050406030204" pitchFamily="18" charset="0"/>
              </a:rPr>
              <a:t>TreeSet</a:t>
            </a:r>
            <a:r>
              <a:rPr lang="en-US" dirty="0" smtClean="0">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a:t>
            </a:fld>
            <a:endParaRPr lang="en-US" alt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436185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67355" y="661194"/>
            <a:ext cx="10451715" cy="689291"/>
          </a:xfrm>
          <a:prstGeom prst="rect">
            <a:avLst/>
          </a:prstGeom>
        </p:spPr>
        <p:txBody>
          <a:bodyPr vert="horz" wrap="square" lIns="0" tIns="12065" rIns="0" bIns="0" rtlCol="0">
            <a:spAutoFit/>
          </a:bodyPr>
          <a:lstStyle/>
          <a:p>
            <a:pPr marL="12700">
              <a:lnSpc>
                <a:spcPct val="100000"/>
              </a:lnSpc>
              <a:spcBef>
                <a:spcPts val="95"/>
              </a:spcBef>
              <a:tabLst>
                <a:tab pos="8609330" algn="l"/>
              </a:tabLst>
            </a:pPr>
            <a:r>
              <a:rPr u="heavy" dirty="0">
                <a:uFill>
                  <a:solidFill>
                    <a:srgbClr val="D64A2A"/>
                  </a:solidFill>
                </a:uFill>
                <a:latin typeface="Arial MT"/>
                <a:cs typeface="Arial MT"/>
              </a:rPr>
              <a:t>What</a:t>
            </a:r>
            <a:r>
              <a:rPr u="heavy" spc="-45" dirty="0">
                <a:uFill>
                  <a:solidFill>
                    <a:srgbClr val="D64A2A"/>
                  </a:solidFill>
                </a:uFill>
                <a:latin typeface="Arial MT"/>
                <a:cs typeface="Arial MT"/>
              </a:rPr>
              <a:t> </a:t>
            </a:r>
            <a:r>
              <a:rPr u="heavy" dirty="0">
                <a:uFill>
                  <a:solidFill>
                    <a:srgbClr val="D64A2A"/>
                  </a:solidFill>
                </a:uFill>
                <a:latin typeface="Arial MT"/>
                <a:cs typeface="Arial MT"/>
              </a:rPr>
              <a:t>Is</a:t>
            </a:r>
            <a:r>
              <a:rPr u="heavy" spc="-30" dirty="0">
                <a:uFill>
                  <a:solidFill>
                    <a:srgbClr val="D64A2A"/>
                  </a:solidFill>
                </a:uFill>
                <a:latin typeface="Arial MT"/>
                <a:cs typeface="Arial MT"/>
              </a:rPr>
              <a:t> </a:t>
            </a:r>
            <a:r>
              <a:rPr u="heavy" dirty="0">
                <a:uFill>
                  <a:solidFill>
                    <a:srgbClr val="D64A2A"/>
                  </a:solidFill>
                </a:uFill>
                <a:latin typeface="Arial MT"/>
                <a:cs typeface="Arial MT"/>
              </a:rPr>
              <a:t>a</a:t>
            </a:r>
            <a:r>
              <a:rPr u="heavy" spc="-30" dirty="0">
                <a:uFill>
                  <a:solidFill>
                    <a:srgbClr val="D64A2A"/>
                  </a:solidFill>
                </a:uFill>
                <a:latin typeface="Arial MT"/>
                <a:cs typeface="Arial MT"/>
              </a:rPr>
              <a:t> </a:t>
            </a:r>
            <a:r>
              <a:rPr u="heavy" spc="-10" dirty="0">
                <a:uFill>
                  <a:solidFill>
                    <a:srgbClr val="D64A2A"/>
                  </a:solidFill>
                </a:uFill>
                <a:latin typeface="Arial MT"/>
                <a:cs typeface="Arial MT"/>
              </a:rPr>
              <a:t>Collection?</a:t>
            </a:r>
            <a:r>
              <a:rPr u="heavy" dirty="0">
                <a:uFill>
                  <a:solidFill>
                    <a:srgbClr val="D64A2A"/>
                  </a:solidFill>
                </a:uFill>
                <a:latin typeface="Arial MT"/>
                <a:cs typeface="Arial MT"/>
              </a:rPr>
              <a:t>	</a:t>
            </a:r>
          </a:p>
        </p:txBody>
      </p:sp>
      <p:sp>
        <p:nvSpPr>
          <p:cNvPr id="4" name="object 4"/>
          <p:cNvSpPr txBox="1"/>
          <p:nvPr/>
        </p:nvSpPr>
        <p:spPr>
          <a:xfrm>
            <a:off x="819561" y="1514362"/>
            <a:ext cx="10169236" cy="5013552"/>
          </a:xfrm>
          <a:prstGeom prst="rect">
            <a:avLst/>
          </a:prstGeom>
        </p:spPr>
        <p:txBody>
          <a:bodyPr vert="horz" wrap="square" lIns="0" tIns="12065" rIns="0" bIns="0" rtlCol="0">
            <a:spAutoFit/>
          </a:bodyPr>
          <a:lstStyle/>
          <a:p>
            <a:pPr marL="12700" marR="242570">
              <a:lnSpc>
                <a:spcPct val="100000"/>
              </a:lnSpc>
              <a:spcBef>
                <a:spcPts val="95"/>
              </a:spcBef>
            </a:pPr>
            <a:r>
              <a:rPr sz="2000" dirty="0">
                <a:solidFill>
                  <a:srgbClr val="CC572C"/>
                </a:solidFill>
                <a:latin typeface="Arial MT"/>
                <a:cs typeface="Arial MT"/>
              </a:rPr>
              <a:t>Collection</a:t>
            </a:r>
            <a:r>
              <a:rPr sz="2000" spc="-30" dirty="0">
                <a:solidFill>
                  <a:srgbClr val="CC572C"/>
                </a:solidFill>
                <a:latin typeface="Arial MT"/>
                <a:cs typeface="Arial MT"/>
              </a:rPr>
              <a:t> </a:t>
            </a:r>
            <a:r>
              <a:rPr sz="2000" dirty="0">
                <a:solidFill>
                  <a:srgbClr val="363639"/>
                </a:solidFill>
                <a:latin typeface="Arial MT"/>
                <a:cs typeface="Arial MT"/>
              </a:rPr>
              <a:t>(sometimes</a:t>
            </a:r>
            <a:r>
              <a:rPr sz="2000" spc="-25" dirty="0">
                <a:solidFill>
                  <a:srgbClr val="363639"/>
                </a:solidFill>
                <a:latin typeface="Arial MT"/>
                <a:cs typeface="Arial MT"/>
              </a:rPr>
              <a:t> </a:t>
            </a:r>
            <a:r>
              <a:rPr sz="2000" dirty="0">
                <a:solidFill>
                  <a:srgbClr val="363639"/>
                </a:solidFill>
                <a:latin typeface="Arial MT"/>
                <a:cs typeface="Arial MT"/>
              </a:rPr>
              <a:t>called</a:t>
            </a:r>
            <a:r>
              <a:rPr sz="2000" spc="-30" dirty="0">
                <a:solidFill>
                  <a:srgbClr val="363639"/>
                </a:solidFill>
                <a:latin typeface="Arial MT"/>
                <a:cs typeface="Arial MT"/>
              </a:rPr>
              <a:t> </a:t>
            </a:r>
            <a:r>
              <a:rPr sz="2000" dirty="0">
                <a:solidFill>
                  <a:srgbClr val="363639"/>
                </a:solidFill>
                <a:latin typeface="Arial MT"/>
                <a:cs typeface="Arial MT"/>
              </a:rPr>
              <a:t>a</a:t>
            </a:r>
            <a:r>
              <a:rPr sz="2000" spc="-30" dirty="0">
                <a:solidFill>
                  <a:srgbClr val="363639"/>
                </a:solidFill>
                <a:latin typeface="Arial MT"/>
                <a:cs typeface="Arial MT"/>
              </a:rPr>
              <a:t> </a:t>
            </a:r>
            <a:r>
              <a:rPr sz="2000" dirty="0">
                <a:solidFill>
                  <a:srgbClr val="363639"/>
                </a:solidFill>
                <a:latin typeface="Arial MT"/>
                <a:cs typeface="Arial MT"/>
              </a:rPr>
              <a:t>container)</a:t>
            </a:r>
            <a:r>
              <a:rPr sz="2000" spc="-30" dirty="0">
                <a:solidFill>
                  <a:srgbClr val="363639"/>
                </a:solidFill>
                <a:latin typeface="Arial MT"/>
                <a:cs typeface="Arial MT"/>
              </a:rPr>
              <a:t> </a:t>
            </a:r>
            <a:r>
              <a:rPr sz="2000" dirty="0">
                <a:solidFill>
                  <a:srgbClr val="363639"/>
                </a:solidFill>
                <a:latin typeface="Arial MT"/>
                <a:cs typeface="Arial MT"/>
              </a:rPr>
              <a:t>is</a:t>
            </a:r>
            <a:r>
              <a:rPr sz="2000" spc="-25" dirty="0">
                <a:solidFill>
                  <a:srgbClr val="363639"/>
                </a:solidFill>
                <a:latin typeface="Arial MT"/>
                <a:cs typeface="Arial MT"/>
              </a:rPr>
              <a:t> </a:t>
            </a:r>
            <a:r>
              <a:rPr sz="2000" dirty="0">
                <a:solidFill>
                  <a:srgbClr val="363639"/>
                </a:solidFill>
                <a:latin typeface="Arial MT"/>
                <a:cs typeface="Arial MT"/>
              </a:rPr>
              <a:t>simply</a:t>
            </a:r>
            <a:r>
              <a:rPr sz="2000" spc="-25" dirty="0">
                <a:solidFill>
                  <a:srgbClr val="363639"/>
                </a:solidFill>
                <a:latin typeface="Arial MT"/>
                <a:cs typeface="Arial MT"/>
              </a:rPr>
              <a:t> </a:t>
            </a:r>
            <a:r>
              <a:rPr sz="2000" dirty="0">
                <a:solidFill>
                  <a:srgbClr val="363639"/>
                </a:solidFill>
                <a:latin typeface="Arial MT"/>
                <a:cs typeface="Arial MT"/>
              </a:rPr>
              <a:t>an</a:t>
            </a:r>
            <a:r>
              <a:rPr sz="2000" spc="-30" dirty="0">
                <a:solidFill>
                  <a:srgbClr val="363639"/>
                </a:solidFill>
                <a:latin typeface="Arial MT"/>
                <a:cs typeface="Arial MT"/>
              </a:rPr>
              <a:t> </a:t>
            </a:r>
            <a:r>
              <a:rPr sz="2000" dirty="0">
                <a:solidFill>
                  <a:srgbClr val="363639"/>
                </a:solidFill>
                <a:latin typeface="Arial MT"/>
                <a:cs typeface="Arial MT"/>
              </a:rPr>
              <a:t>object</a:t>
            </a:r>
            <a:r>
              <a:rPr sz="2000" spc="-30" dirty="0">
                <a:solidFill>
                  <a:srgbClr val="363639"/>
                </a:solidFill>
                <a:latin typeface="Arial MT"/>
                <a:cs typeface="Arial MT"/>
              </a:rPr>
              <a:t> </a:t>
            </a:r>
            <a:r>
              <a:rPr sz="2000" dirty="0">
                <a:solidFill>
                  <a:srgbClr val="363639"/>
                </a:solidFill>
                <a:latin typeface="Arial MT"/>
                <a:cs typeface="Arial MT"/>
              </a:rPr>
              <a:t>that</a:t>
            </a:r>
            <a:r>
              <a:rPr sz="2000" spc="-30" dirty="0">
                <a:solidFill>
                  <a:srgbClr val="363639"/>
                </a:solidFill>
                <a:latin typeface="Arial MT"/>
                <a:cs typeface="Arial MT"/>
              </a:rPr>
              <a:t> </a:t>
            </a:r>
            <a:r>
              <a:rPr sz="2000" spc="-10" dirty="0">
                <a:solidFill>
                  <a:srgbClr val="363639"/>
                </a:solidFill>
                <a:latin typeface="Arial MT"/>
                <a:cs typeface="Arial MT"/>
              </a:rPr>
              <a:t>groups </a:t>
            </a:r>
            <a:r>
              <a:rPr sz="2000" dirty="0">
                <a:solidFill>
                  <a:srgbClr val="363639"/>
                </a:solidFill>
                <a:latin typeface="Arial MT"/>
                <a:cs typeface="Arial MT"/>
              </a:rPr>
              <a:t>multiple</a:t>
            </a:r>
            <a:r>
              <a:rPr sz="2000" spc="-30" dirty="0">
                <a:solidFill>
                  <a:srgbClr val="363639"/>
                </a:solidFill>
                <a:latin typeface="Arial MT"/>
                <a:cs typeface="Arial MT"/>
              </a:rPr>
              <a:t> </a:t>
            </a:r>
            <a:r>
              <a:rPr sz="2000" dirty="0">
                <a:solidFill>
                  <a:srgbClr val="363639"/>
                </a:solidFill>
                <a:latin typeface="Arial MT"/>
                <a:cs typeface="Arial MT"/>
              </a:rPr>
              <a:t>elements</a:t>
            </a:r>
            <a:r>
              <a:rPr sz="2000" spc="-25" dirty="0">
                <a:solidFill>
                  <a:srgbClr val="363639"/>
                </a:solidFill>
                <a:latin typeface="Arial MT"/>
                <a:cs typeface="Arial MT"/>
              </a:rPr>
              <a:t> </a:t>
            </a:r>
            <a:r>
              <a:rPr sz="2000" dirty="0">
                <a:solidFill>
                  <a:srgbClr val="363639"/>
                </a:solidFill>
                <a:latin typeface="Arial MT"/>
                <a:cs typeface="Arial MT"/>
              </a:rPr>
              <a:t>into</a:t>
            </a:r>
            <a:r>
              <a:rPr sz="2000" spc="-35" dirty="0">
                <a:solidFill>
                  <a:srgbClr val="363639"/>
                </a:solidFill>
                <a:latin typeface="Arial MT"/>
                <a:cs typeface="Arial MT"/>
              </a:rPr>
              <a:t> </a:t>
            </a:r>
            <a:r>
              <a:rPr sz="2000" dirty="0">
                <a:solidFill>
                  <a:srgbClr val="363639"/>
                </a:solidFill>
                <a:latin typeface="Arial MT"/>
                <a:cs typeface="Arial MT"/>
              </a:rPr>
              <a:t>a</a:t>
            </a:r>
            <a:r>
              <a:rPr sz="2000" spc="-30" dirty="0">
                <a:solidFill>
                  <a:srgbClr val="363639"/>
                </a:solidFill>
                <a:latin typeface="Arial MT"/>
                <a:cs typeface="Arial MT"/>
              </a:rPr>
              <a:t> </a:t>
            </a:r>
            <a:r>
              <a:rPr sz="2000" dirty="0">
                <a:solidFill>
                  <a:srgbClr val="363639"/>
                </a:solidFill>
                <a:latin typeface="Arial MT"/>
                <a:cs typeface="Arial MT"/>
              </a:rPr>
              <a:t>single</a:t>
            </a:r>
            <a:r>
              <a:rPr sz="2000" spc="-30" dirty="0">
                <a:solidFill>
                  <a:srgbClr val="363639"/>
                </a:solidFill>
                <a:latin typeface="Arial MT"/>
                <a:cs typeface="Arial MT"/>
              </a:rPr>
              <a:t> </a:t>
            </a:r>
            <a:r>
              <a:rPr sz="2000" spc="-10" dirty="0">
                <a:solidFill>
                  <a:srgbClr val="363639"/>
                </a:solidFill>
                <a:latin typeface="Arial MT"/>
                <a:cs typeface="Arial MT"/>
              </a:rPr>
              <a:t>unit.</a:t>
            </a:r>
            <a:endParaRPr sz="2000">
              <a:latin typeface="Arial MT"/>
              <a:cs typeface="Arial MT"/>
            </a:endParaRPr>
          </a:p>
          <a:p>
            <a:pPr>
              <a:lnSpc>
                <a:spcPct val="100000"/>
              </a:lnSpc>
              <a:spcBef>
                <a:spcPts val="2100"/>
              </a:spcBef>
            </a:pPr>
            <a:endParaRPr sz="2000">
              <a:latin typeface="Arial MT"/>
              <a:cs typeface="Arial MT"/>
            </a:endParaRPr>
          </a:p>
          <a:p>
            <a:pPr marL="12700">
              <a:lnSpc>
                <a:spcPct val="100000"/>
              </a:lnSpc>
            </a:pPr>
            <a:r>
              <a:rPr sz="2000" spc="-10" dirty="0">
                <a:solidFill>
                  <a:srgbClr val="363639"/>
                </a:solidFill>
                <a:latin typeface="Arial MT"/>
                <a:cs typeface="Arial MT"/>
              </a:rPr>
              <a:t>Usage:</a:t>
            </a:r>
            <a:endParaRPr sz="2000">
              <a:latin typeface="Arial MT"/>
              <a:cs typeface="Arial MT"/>
            </a:endParaRPr>
          </a:p>
          <a:p>
            <a:pPr marL="306705" indent="-294005">
              <a:lnSpc>
                <a:spcPct val="100000"/>
              </a:lnSpc>
              <a:spcBef>
                <a:spcPts val="1000"/>
              </a:spcBef>
              <a:buAutoNum type="arabicParenR"/>
              <a:tabLst>
                <a:tab pos="306705" algn="l"/>
              </a:tabLst>
            </a:pPr>
            <a:r>
              <a:rPr sz="2000" dirty="0">
                <a:solidFill>
                  <a:srgbClr val="363639"/>
                </a:solidFill>
                <a:latin typeface="Arial MT"/>
                <a:cs typeface="Arial MT"/>
              </a:rPr>
              <a:t>to</a:t>
            </a:r>
            <a:r>
              <a:rPr sz="2000" spc="-30" dirty="0">
                <a:solidFill>
                  <a:srgbClr val="363639"/>
                </a:solidFill>
                <a:latin typeface="Arial MT"/>
                <a:cs typeface="Arial MT"/>
              </a:rPr>
              <a:t> </a:t>
            </a:r>
            <a:r>
              <a:rPr sz="2000" dirty="0">
                <a:solidFill>
                  <a:srgbClr val="363639"/>
                </a:solidFill>
                <a:latin typeface="Arial MT"/>
                <a:cs typeface="Arial MT"/>
              </a:rPr>
              <a:t>store</a:t>
            </a:r>
            <a:r>
              <a:rPr sz="2000" spc="-20" dirty="0">
                <a:solidFill>
                  <a:srgbClr val="363639"/>
                </a:solidFill>
                <a:latin typeface="Arial MT"/>
                <a:cs typeface="Arial MT"/>
              </a:rPr>
              <a:t> </a:t>
            </a:r>
            <a:r>
              <a:rPr sz="2000" dirty="0">
                <a:solidFill>
                  <a:srgbClr val="363639"/>
                </a:solidFill>
                <a:latin typeface="Arial MT"/>
                <a:cs typeface="Arial MT"/>
              </a:rPr>
              <a:t>and</a:t>
            </a:r>
            <a:r>
              <a:rPr sz="2000" spc="-20" dirty="0">
                <a:solidFill>
                  <a:srgbClr val="363639"/>
                </a:solidFill>
                <a:latin typeface="Arial MT"/>
                <a:cs typeface="Arial MT"/>
              </a:rPr>
              <a:t> </a:t>
            </a:r>
            <a:r>
              <a:rPr sz="2000" dirty="0">
                <a:solidFill>
                  <a:srgbClr val="363639"/>
                </a:solidFill>
                <a:latin typeface="Arial MT"/>
                <a:cs typeface="Arial MT"/>
              </a:rPr>
              <a:t>retrieve</a:t>
            </a:r>
            <a:r>
              <a:rPr sz="2000" spc="-20" dirty="0">
                <a:solidFill>
                  <a:srgbClr val="363639"/>
                </a:solidFill>
                <a:latin typeface="Arial MT"/>
                <a:cs typeface="Arial MT"/>
              </a:rPr>
              <a:t> data</a:t>
            </a:r>
            <a:endParaRPr sz="2000">
              <a:latin typeface="Arial MT"/>
              <a:cs typeface="Arial MT"/>
            </a:endParaRPr>
          </a:p>
          <a:p>
            <a:pPr marL="306705" indent="-294005">
              <a:lnSpc>
                <a:spcPct val="100000"/>
              </a:lnSpc>
              <a:spcBef>
                <a:spcPts val="1000"/>
              </a:spcBef>
              <a:buAutoNum type="arabicParenR"/>
              <a:tabLst>
                <a:tab pos="306705" algn="l"/>
              </a:tabLst>
            </a:pPr>
            <a:r>
              <a:rPr sz="2000" dirty="0">
                <a:solidFill>
                  <a:srgbClr val="363639"/>
                </a:solidFill>
                <a:latin typeface="Arial MT"/>
                <a:cs typeface="Arial MT"/>
              </a:rPr>
              <a:t>to</a:t>
            </a:r>
            <a:r>
              <a:rPr sz="2000" spc="-40" dirty="0">
                <a:solidFill>
                  <a:srgbClr val="363639"/>
                </a:solidFill>
                <a:latin typeface="Arial MT"/>
                <a:cs typeface="Arial MT"/>
              </a:rPr>
              <a:t> </a:t>
            </a:r>
            <a:r>
              <a:rPr sz="2000" dirty="0">
                <a:solidFill>
                  <a:srgbClr val="363639"/>
                </a:solidFill>
                <a:latin typeface="Arial MT"/>
                <a:cs typeface="Arial MT"/>
              </a:rPr>
              <a:t>manipulate</a:t>
            </a:r>
            <a:r>
              <a:rPr sz="2000" spc="-20" dirty="0">
                <a:solidFill>
                  <a:srgbClr val="363639"/>
                </a:solidFill>
                <a:latin typeface="Arial MT"/>
                <a:cs typeface="Arial MT"/>
              </a:rPr>
              <a:t> data</a:t>
            </a:r>
            <a:endParaRPr sz="2000">
              <a:latin typeface="Arial MT"/>
              <a:cs typeface="Arial MT"/>
            </a:endParaRPr>
          </a:p>
          <a:p>
            <a:pPr marL="306705" indent="-294005">
              <a:lnSpc>
                <a:spcPct val="100000"/>
              </a:lnSpc>
              <a:spcBef>
                <a:spcPts val="1000"/>
              </a:spcBef>
              <a:buAutoNum type="arabicParenR"/>
              <a:tabLst>
                <a:tab pos="306705" algn="l"/>
              </a:tabLst>
            </a:pPr>
            <a:r>
              <a:rPr sz="2000" dirty="0">
                <a:solidFill>
                  <a:srgbClr val="363639"/>
                </a:solidFill>
                <a:latin typeface="Arial MT"/>
                <a:cs typeface="Arial MT"/>
              </a:rPr>
              <a:t>to</a:t>
            </a:r>
            <a:r>
              <a:rPr sz="2000" spc="-30" dirty="0">
                <a:solidFill>
                  <a:srgbClr val="363639"/>
                </a:solidFill>
                <a:latin typeface="Arial MT"/>
                <a:cs typeface="Arial MT"/>
              </a:rPr>
              <a:t> </a:t>
            </a:r>
            <a:r>
              <a:rPr sz="2000" dirty="0">
                <a:solidFill>
                  <a:srgbClr val="363639"/>
                </a:solidFill>
                <a:latin typeface="Arial MT"/>
                <a:cs typeface="Arial MT"/>
              </a:rPr>
              <a:t>transmit</a:t>
            </a:r>
            <a:r>
              <a:rPr sz="2000" spc="-15" dirty="0">
                <a:solidFill>
                  <a:srgbClr val="363639"/>
                </a:solidFill>
                <a:latin typeface="Arial MT"/>
                <a:cs typeface="Arial MT"/>
              </a:rPr>
              <a:t> </a:t>
            </a:r>
            <a:r>
              <a:rPr sz="2000" dirty="0">
                <a:solidFill>
                  <a:srgbClr val="363639"/>
                </a:solidFill>
                <a:latin typeface="Arial MT"/>
                <a:cs typeface="Arial MT"/>
              </a:rPr>
              <a:t>data</a:t>
            </a:r>
            <a:r>
              <a:rPr sz="2000" spc="-25" dirty="0">
                <a:solidFill>
                  <a:srgbClr val="363639"/>
                </a:solidFill>
                <a:latin typeface="Arial MT"/>
                <a:cs typeface="Arial MT"/>
              </a:rPr>
              <a:t> </a:t>
            </a:r>
            <a:r>
              <a:rPr sz="2000" dirty="0">
                <a:solidFill>
                  <a:srgbClr val="363639"/>
                </a:solidFill>
                <a:latin typeface="Arial MT"/>
                <a:cs typeface="Arial MT"/>
              </a:rPr>
              <a:t>from</a:t>
            </a:r>
            <a:r>
              <a:rPr sz="2000" spc="-20" dirty="0">
                <a:solidFill>
                  <a:srgbClr val="363639"/>
                </a:solidFill>
                <a:latin typeface="Arial MT"/>
                <a:cs typeface="Arial MT"/>
              </a:rPr>
              <a:t> </a:t>
            </a:r>
            <a:r>
              <a:rPr sz="2000" dirty="0">
                <a:solidFill>
                  <a:srgbClr val="363639"/>
                </a:solidFill>
                <a:latin typeface="Arial MT"/>
                <a:cs typeface="Arial MT"/>
              </a:rPr>
              <a:t>one</a:t>
            </a:r>
            <a:r>
              <a:rPr sz="2000" spc="-15" dirty="0">
                <a:solidFill>
                  <a:srgbClr val="363639"/>
                </a:solidFill>
                <a:latin typeface="Arial MT"/>
                <a:cs typeface="Arial MT"/>
              </a:rPr>
              <a:t> </a:t>
            </a:r>
            <a:r>
              <a:rPr sz="2000" dirty="0">
                <a:solidFill>
                  <a:srgbClr val="363639"/>
                </a:solidFill>
                <a:latin typeface="Arial MT"/>
                <a:cs typeface="Arial MT"/>
              </a:rPr>
              <a:t>method</a:t>
            </a:r>
            <a:r>
              <a:rPr sz="2000" spc="-15" dirty="0">
                <a:solidFill>
                  <a:srgbClr val="363639"/>
                </a:solidFill>
                <a:latin typeface="Arial MT"/>
                <a:cs typeface="Arial MT"/>
              </a:rPr>
              <a:t> </a:t>
            </a:r>
            <a:r>
              <a:rPr sz="2000" dirty="0">
                <a:solidFill>
                  <a:srgbClr val="363639"/>
                </a:solidFill>
                <a:latin typeface="Arial MT"/>
                <a:cs typeface="Arial MT"/>
              </a:rPr>
              <a:t>to</a:t>
            </a:r>
            <a:r>
              <a:rPr sz="2000" spc="-30" dirty="0">
                <a:solidFill>
                  <a:srgbClr val="363639"/>
                </a:solidFill>
                <a:latin typeface="Arial MT"/>
                <a:cs typeface="Arial MT"/>
              </a:rPr>
              <a:t> </a:t>
            </a:r>
            <a:r>
              <a:rPr sz="2000" spc="-10" dirty="0">
                <a:solidFill>
                  <a:srgbClr val="363639"/>
                </a:solidFill>
                <a:latin typeface="Arial MT"/>
                <a:cs typeface="Arial MT"/>
              </a:rPr>
              <a:t>another</a:t>
            </a:r>
            <a:endParaRPr sz="2000">
              <a:latin typeface="Arial MT"/>
              <a:cs typeface="Arial MT"/>
            </a:endParaRPr>
          </a:p>
          <a:p>
            <a:pPr>
              <a:lnSpc>
                <a:spcPct val="100000"/>
              </a:lnSpc>
              <a:spcBef>
                <a:spcPts val="2095"/>
              </a:spcBef>
              <a:buClr>
                <a:srgbClr val="363639"/>
              </a:buClr>
              <a:buFont typeface="Arial MT"/>
              <a:buAutoNum type="arabicParenR"/>
            </a:pPr>
            <a:endParaRPr sz="2000">
              <a:latin typeface="Arial MT"/>
              <a:cs typeface="Arial MT"/>
            </a:endParaRPr>
          </a:p>
          <a:p>
            <a:pPr marL="12700">
              <a:lnSpc>
                <a:spcPct val="100000"/>
              </a:lnSpc>
              <a:spcBef>
                <a:spcPts val="5"/>
              </a:spcBef>
            </a:pPr>
            <a:r>
              <a:rPr sz="2000" dirty="0">
                <a:solidFill>
                  <a:srgbClr val="363639"/>
                </a:solidFill>
                <a:latin typeface="Arial MT"/>
                <a:cs typeface="Arial MT"/>
              </a:rPr>
              <a:t>Collections</a:t>
            </a:r>
            <a:r>
              <a:rPr sz="2000" spc="-30" dirty="0">
                <a:solidFill>
                  <a:srgbClr val="363639"/>
                </a:solidFill>
                <a:latin typeface="Arial MT"/>
                <a:cs typeface="Arial MT"/>
              </a:rPr>
              <a:t> </a:t>
            </a:r>
            <a:r>
              <a:rPr sz="2000" dirty="0">
                <a:solidFill>
                  <a:srgbClr val="363639"/>
                </a:solidFill>
                <a:latin typeface="Arial MT"/>
                <a:cs typeface="Arial MT"/>
              </a:rPr>
              <a:t>typically</a:t>
            </a:r>
            <a:r>
              <a:rPr sz="2000" spc="-25" dirty="0">
                <a:solidFill>
                  <a:srgbClr val="363639"/>
                </a:solidFill>
                <a:latin typeface="Arial MT"/>
                <a:cs typeface="Arial MT"/>
              </a:rPr>
              <a:t> </a:t>
            </a:r>
            <a:r>
              <a:rPr sz="2000" dirty="0">
                <a:solidFill>
                  <a:srgbClr val="363639"/>
                </a:solidFill>
                <a:latin typeface="Arial MT"/>
                <a:cs typeface="Arial MT"/>
              </a:rPr>
              <a:t>represent</a:t>
            </a:r>
            <a:r>
              <a:rPr sz="2000" spc="-25" dirty="0">
                <a:solidFill>
                  <a:srgbClr val="363639"/>
                </a:solidFill>
                <a:latin typeface="Arial MT"/>
                <a:cs typeface="Arial MT"/>
              </a:rPr>
              <a:t> </a:t>
            </a:r>
            <a:r>
              <a:rPr sz="2000" dirty="0">
                <a:solidFill>
                  <a:srgbClr val="363639"/>
                </a:solidFill>
                <a:latin typeface="Arial MT"/>
                <a:cs typeface="Arial MT"/>
              </a:rPr>
              <a:t>data</a:t>
            </a:r>
            <a:r>
              <a:rPr sz="2000" spc="-25" dirty="0">
                <a:solidFill>
                  <a:srgbClr val="363639"/>
                </a:solidFill>
                <a:latin typeface="Arial MT"/>
                <a:cs typeface="Arial MT"/>
              </a:rPr>
              <a:t> </a:t>
            </a:r>
            <a:r>
              <a:rPr sz="2000" dirty="0">
                <a:solidFill>
                  <a:srgbClr val="363639"/>
                </a:solidFill>
                <a:latin typeface="Arial MT"/>
                <a:cs typeface="Arial MT"/>
              </a:rPr>
              <a:t>items</a:t>
            </a:r>
            <a:r>
              <a:rPr sz="2000" spc="-35" dirty="0">
                <a:solidFill>
                  <a:srgbClr val="363639"/>
                </a:solidFill>
                <a:latin typeface="Arial MT"/>
                <a:cs typeface="Arial MT"/>
              </a:rPr>
              <a:t> </a:t>
            </a:r>
            <a:r>
              <a:rPr sz="2000" dirty="0">
                <a:solidFill>
                  <a:srgbClr val="363639"/>
                </a:solidFill>
                <a:latin typeface="Arial MT"/>
                <a:cs typeface="Arial MT"/>
              </a:rPr>
              <a:t>that</a:t>
            </a:r>
            <a:r>
              <a:rPr sz="2000" spc="-30" dirty="0">
                <a:solidFill>
                  <a:srgbClr val="363639"/>
                </a:solidFill>
                <a:latin typeface="Arial MT"/>
                <a:cs typeface="Arial MT"/>
              </a:rPr>
              <a:t> </a:t>
            </a:r>
            <a:r>
              <a:rPr sz="2000" dirty="0">
                <a:solidFill>
                  <a:srgbClr val="363639"/>
                </a:solidFill>
                <a:latin typeface="Arial MT"/>
                <a:cs typeface="Arial MT"/>
              </a:rPr>
              <a:t>form</a:t>
            </a:r>
            <a:r>
              <a:rPr sz="2000" spc="-25" dirty="0">
                <a:solidFill>
                  <a:srgbClr val="363639"/>
                </a:solidFill>
                <a:latin typeface="Arial MT"/>
                <a:cs typeface="Arial MT"/>
              </a:rPr>
              <a:t> </a:t>
            </a:r>
            <a:r>
              <a:rPr sz="2000" dirty="0">
                <a:solidFill>
                  <a:srgbClr val="363639"/>
                </a:solidFill>
                <a:latin typeface="Arial MT"/>
                <a:cs typeface="Arial MT"/>
              </a:rPr>
              <a:t>a</a:t>
            </a:r>
            <a:r>
              <a:rPr sz="2000" spc="-35" dirty="0">
                <a:solidFill>
                  <a:srgbClr val="363639"/>
                </a:solidFill>
                <a:latin typeface="Arial MT"/>
                <a:cs typeface="Arial MT"/>
              </a:rPr>
              <a:t> </a:t>
            </a:r>
            <a:r>
              <a:rPr sz="2000" dirty="0">
                <a:solidFill>
                  <a:srgbClr val="363639"/>
                </a:solidFill>
                <a:latin typeface="Arial MT"/>
                <a:cs typeface="Arial MT"/>
              </a:rPr>
              <a:t>natural</a:t>
            </a:r>
            <a:r>
              <a:rPr sz="2000" spc="-20" dirty="0">
                <a:solidFill>
                  <a:srgbClr val="363639"/>
                </a:solidFill>
                <a:latin typeface="Arial MT"/>
                <a:cs typeface="Arial MT"/>
              </a:rPr>
              <a:t> </a:t>
            </a:r>
            <a:r>
              <a:rPr sz="2000" dirty="0">
                <a:solidFill>
                  <a:srgbClr val="363639"/>
                </a:solidFill>
                <a:latin typeface="Arial MT"/>
                <a:cs typeface="Arial MT"/>
              </a:rPr>
              <a:t>group</a:t>
            </a:r>
            <a:r>
              <a:rPr sz="2000" spc="-25" dirty="0">
                <a:solidFill>
                  <a:srgbClr val="363639"/>
                </a:solidFill>
                <a:latin typeface="Arial MT"/>
                <a:cs typeface="Arial MT"/>
              </a:rPr>
              <a:t> </a:t>
            </a:r>
            <a:r>
              <a:rPr sz="2000" spc="-10" dirty="0">
                <a:solidFill>
                  <a:srgbClr val="363639"/>
                </a:solidFill>
                <a:latin typeface="Arial MT"/>
                <a:cs typeface="Arial MT"/>
              </a:rPr>
              <a:t>like:</a:t>
            </a:r>
            <a:endParaRPr sz="2000">
              <a:latin typeface="Arial MT"/>
              <a:cs typeface="Arial MT"/>
            </a:endParaRPr>
          </a:p>
          <a:p>
            <a:pPr marL="307340" lvl="1" indent="-294640">
              <a:lnSpc>
                <a:spcPct val="100000"/>
              </a:lnSpc>
              <a:spcBef>
                <a:spcPts val="1000"/>
              </a:spcBef>
              <a:buAutoNum type="arabicParenR"/>
              <a:tabLst>
                <a:tab pos="307340" algn="l"/>
              </a:tabLst>
            </a:pPr>
            <a:r>
              <a:rPr sz="2000" dirty="0">
                <a:solidFill>
                  <a:srgbClr val="363639"/>
                </a:solidFill>
                <a:latin typeface="Arial MT"/>
                <a:cs typeface="Arial MT"/>
              </a:rPr>
              <a:t>a</a:t>
            </a:r>
            <a:r>
              <a:rPr sz="2000" spc="-25" dirty="0">
                <a:solidFill>
                  <a:srgbClr val="363639"/>
                </a:solidFill>
                <a:latin typeface="Arial MT"/>
                <a:cs typeface="Arial MT"/>
              </a:rPr>
              <a:t> </a:t>
            </a:r>
            <a:r>
              <a:rPr sz="2000" dirty="0">
                <a:solidFill>
                  <a:srgbClr val="363639"/>
                </a:solidFill>
                <a:latin typeface="Arial MT"/>
                <a:cs typeface="Arial MT"/>
              </a:rPr>
              <a:t>poker</a:t>
            </a:r>
            <a:r>
              <a:rPr sz="2000" spc="-15" dirty="0">
                <a:solidFill>
                  <a:srgbClr val="363639"/>
                </a:solidFill>
                <a:latin typeface="Arial MT"/>
                <a:cs typeface="Arial MT"/>
              </a:rPr>
              <a:t> </a:t>
            </a:r>
            <a:r>
              <a:rPr sz="2000" dirty="0">
                <a:solidFill>
                  <a:srgbClr val="363639"/>
                </a:solidFill>
                <a:latin typeface="Arial MT"/>
                <a:cs typeface="Arial MT"/>
              </a:rPr>
              <a:t>hand</a:t>
            </a:r>
            <a:r>
              <a:rPr sz="2000" spc="-20" dirty="0">
                <a:solidFill>
                  <a:srgbClr val="363639"/>
                </a:solidFill>
                <a:latin typeface="Arial MT"/>
                <a:cs typeface="Arial MT"/>
              </a:rPr>
              <a:t> </a:t>
            </a:r>
            <a:r>
              <a:rPr sz="2000" dirty="0">
                <a:solidFill>
                  <a:srgbClr val="363639"/>
                </a:solidFill>
                <a:latin typeface="Arial MT"/>
                <a:cs typeface="Arial MT"/>
              </a:rPr>
              <a:t>(a</a:t>
            </a:r>
            <a:r>
              <a:rPr sz="2000" spc="-25" dirty="0">
                <a:solidFill>
                  <a:srgbClr val="363639"/>
                </a:solidFill>
                <a:latin typeface="Arial MT"/>
                <a:cs typeface="Arial MT"/>
              </a:rPr>
              <a:t> </a:t>
            </a:r>
            <a:r>
              <a:rPr sz="2000" dirty="0">
                <a:solidFill>
                  <a:srgbClr val="363639"/>
                </a:solidFill>
                <a:latin typeface="Arial MT"/>
                <a:cs typeface="Arial MT"/>
              </a:rPr>
              <a:t>collection</a:t>
            </a:r>
            <a:r>
              <a:rPr sz="2000" spc="-20" dirty="0">
                <a:solidFill>
                  <a:srgbClr val="363639"/>
                </a:solidFill>
                <a:latin typeface="Arial MT"/>
                <a:cs typeface="Arial MT"/>
              </a:rPr>
              <a:t> </a:t>
            </a:r>
            <a:r>
              <a:rPr sz="2000" dirty="0">
                <a:solidFill>
                  <a:srgbClr val="363639"/>
                </a:solidFill>
                <a:latin typeface="Arial MT"/>
                <a:cs typeface="Arial MT"/>
              </a:rPr>
              <a:t>of</a:t>
            </a:r>
            <a:r>
              <a:rPr sz="2000" spc="-25" dirty="0">
                <a:solidFill>
                  <a:srgbClr val="363639"/>
                </a:solidFill>
                <a:latin typeface="Arial MT"/>
                <a:cs typeface="Arial MT"/>
              </a:rPr>
              <a:t> </a:t>
            </a:r>
            <a:r>
              <a:rPr sz="2000" spc="-10" dirty="0">
                <a:solidFill>
                  <a:srgbClr val="363639"/>
                </a:solidFill>
                <a:latin typeface="Arial MT"/>
                <a:cs typeface="Arial MT"/>
              </a:rPr>
              <a:t>cards)</a:t>
            </a:r>
            <a:endParaRPr sz="2000">
              <a:latin typeface="Arial MT"/>
              <a:cs typeface="Arial MT"/>
            </a:endParaRPr>
          </a:p>
          <a:p>
            <a:pPr marL="307340" lvl="1" indent="-294640">
              <a:lnSpc>
                <a:spcPct val="100000"/>
              </a:lnSpc>
              <a:spcBef>
                <a:spcPts val="1000"/>
              </a:spcBef>
              <a:buAutoNum type="arabicParenR"/>
              <a:tabLst>
                <a:tab pos="307340" algn="l"/>
              </a:tabLst>
            </a:pPr>
            <a:r>
              <a:rPr sz="2000" dirty="0">
                <a:solidFill>
                  <a:srgbClr val="363639"/>
                </a:solidFill>
                <a:latin typeface="Arial MT"/>
                <a:cs typeface="Arial MT"/>
              </a:rPr>
              <a:t>a</a:t>
            </a:r>
            <a:r>
              <a:rPr sz="2000" spc="-30" dirty="0">
                <a:solidFill>
                  <a:srgbClr val="363639"/>
                </a:solidFill>
                <a:latin typeface="Arial MT"/>
                <a:cs typeface="Arial MT"/>
              </a:rPr>
              <a:t> </a:t>
            </a:r>
            <a:r>
              <a:rPr sz="2000" dirty="0">
                <a:solidFill>
                  <a:srgbClr val="363639"/>
                </a:solidFill>
                <a:latin typeface="Arial MT"/>
                <a:cs typeface="Arial MT"/>
              </a:rPr>
              <a:t>mail</a:t>
            </a:r>
            <a:r>
              <a:rPr sz="2000" spc="-15" dirty="0">
                <a:solidFill>
                  <a:srgbClr val="363639"/>
                </a:solidFill>
                <a:latin typeface="Arial MT"/>
                <a:cs typeface="Arial MT"/>
              </a:rPr>
              <a:t> </a:t>
            </a:r>
            <a:r>
              <a:rPr sz="2000" dirty="0">
                <a:solidFill>
                  <a:srgbClr val="363639"/>
                </a:solidFill>
                <a:latin typeface="Arial MT"/>
                <a:cs typeface="Arial MT"/>
              </a:rPr>
              <a:t>folder</a:t>
            </a:r>
            <a:r>
              <a:rPr sz="2000" spc="-20" dirty="0">
                <a:solidFill>
                  <a:srgbClr val="363639"/>
                </a:solidFill>
                <a:latin typeface="Arial MT"/>
                <a:cs typeface="Arial MT"/>
              </a:rPr>
              <a:t> </a:t>
            </a:r>
            <a:r>
              <a:rPr sz="2000" dirty="0">
                <a:solidFill>
                  <a:srgbClr val="363639"/>
                </a:solidFill>
                <a:latin typeface="Arial MT"/>
                <a:cs typeface="Arial MT"/>
              </a:rPr>
              <a:t>(a</a:t>
            </a:r>
            <a:r>
              <a:rPr sz="2000" spc="-25" dirty="0">
                <a:solidFill>
                  <a:srgbClr val="363639"/>
                </a:solidFill>
                <a:latin typeface="Arial MT"/>
                <a:cs typeface="Arial MT"/>
              </a:rPr>
              <a:t> </a:t>
            </a:r>
            <a:r>
              <a:rPr sz="2000" dirty="0">
                <a:solidFill>
                  <a:srgbClr val="363639"/>
                </a:solidFill>
                <a:latin typeface="Arial MT"/>
                <a:cs typeface="Arial MT"/>
              </a:rPr>
              <a:t>collection</a:t>
            </a:r>
            <a:r>
              <a:rPr sz="2000" spc="-20" dirty="0">
                <a:solidFill>
                  <a:srgbClr val="363639"/>
                </a:solidFill>
                <a:latin typeface="Arial MT"/>
                <a:cs typeface="Arial MT"/>
              </a:rPr>
              <a:t> </a:t>
            </a:r>
            <a:r>
              <a:rPr sz="2000" dirty="0">
                <a:solidFill>
                  <a:srgbClr val="363639"/>
                </a:solidFill>
                <a:latin typeface="Arial MT"/>
                <a:cs typeface="Arial MT"/>
              </a:rPr>
              <a:t>of</a:t>
            </a:r>
            <a:r>
              <a:rPr sz="2000" spc="-20" dirty="0">
                <a:solidFill>
                  <a:srgbClr val="363639"/>
                </a:solidFill>
                <a:latin typeface="Arial MT"/>
                <a:cs typeface="Arial MT"/>
              </a:rPr>
              <a:t> </a:t>
            </a:r>
            <a:r>
              <a:rPr sz="2000" spc="-10" dirty="0">
                <a:solidFill>
                  <a:srgbClr val="363639"/>
                </a:solidFill>
                <a:latin typeface="Arial MT"/>
                <a:cs typeface="Arial MT"/>
              </a:rPr>
              <a:t>letters)</a:t>
            </a:r>
            <a:endParaRPr sz="2000">
              <a:latin typeface="Arial MT"/>
              <a:cs typeface="Arial MT"/>
            </a:endParaRPr>
          </a:p>
          <a:p>
            <a:pPr marL="307340" lvl="1" indent="-294640">
              <a:lnSpc>
                <a:spcPct val="100000"/>
              </a:lnSpc>
              <a:spcBef>
                <a:spcPts val="1005"/>
              </a:spcBef>
              <a:buAutoNum type="arabicParenR"/>
              <a:tabLst>
                <a:tab pos="307340" algn="l"/>
              </a:tabLst>
            </a:pPr>
            <a:r>
              <a:rPr sz="2000" dirty="0">
                <a:solidFill>
                  <a:srgbClr val="363639"/>
                </a:solidFill>
                <a:latin typeface="Arial MT"/>
                <a:cs typeface="Arial MT"/>
              </a:rPr>
              <a:t>a</a:t>
            </a:r>
            <a:r>
              <a:rPr sz="2000" spc="-25" dirty="0">
                <a:solidFill>
                  <a:srgbClr val="363639"/>
                </a:solidFill>
                <a:latin typeface="Arial MT"/>
                <a:cs typeface="Arial MT"/>
              </a:rPr>
              <a:t> </a:t>
            </a:r>
            <a:r>
              <a:rPr sz="2000" dirty="0">
                <a:solidFill>
                  <a:srgbClr val="363639"/>
                </a:solidFill>
                <a:latin typeface="Arial MT"/>
                <a:cs typeface="Arial MT"/>
              </a:rPr>
              <a:t>telephone</a:t>
            </a:r>
            <a:r>
              <a:rPr sz="2000" spc="-10" dirty="0">
                <a:solidFill>
                  <a:srgbClr val="363639"/>
                </a:solidFill>
                <a:latin typeface="Arial MT"/>
                <a:cs typeface="Arial MT"/>
              </a:rPr>
              <a:t> </a:t>
            </a:r>
            <a:r>
              <a:rPr sz="2000" dirty="0">
                <a:solidFill>
                  <a:srgbClr val="363639"/>
                </a:solidFill>
                <a:latin typeface="Arial MT"/>
                <a:cs typeface="Arial MT"/>
              </a:rPr>
              <a:t>directory</a:t>
            </a:r>
            <a:r>
              <a:rPr sz="2000" spc="-20" dirty="0">
                <a:solidFill>
                  <a:srgbClr val="363639"/>
                </a:solidFill>
                <a:latin typeface="Arial MT"/>
                <a:cs typeface="Arial MT"/>
              </a:rPr>
              <a:t> </a:t>
            </a:r>
            <a:r>
              <a:rPr sz="2000" dirty="0">
                <a:solidFill>
                  <a:srgbClr val="363639"/>
                </a:solidFill>
                <a:latin typeface="Arial MT"/>
                <a:cs typeface="Arial MT"/>
              </a:rPr>
              <a:t>(a</a:t>
            </a:r>
            <a:r>
              <a:rPr sz="2000" spc="-15" dirty="0">
                <a:solidFill>
                  <a:srgbClr val="363639"/>
                </a:solidFill>
                <a:latin typeface="Arial MT"/>
                <a:cs typeface="Arial MT"/>
              </a:rPr>
              <a:t> </a:t>
            </a:r>
            <a:r>
              <a:rPr sz="2000" dirty="0">
                <a:solidFill>
                  <a:srgbClr val="363639"/>
                </a:solidFill>
                <a:latin typeface="Arial MT"/>
                <a:cs typeface="Arial MT"/>
              </a:rPr>
              <a:t>collection</a:t>
            </a:r>
            <a:r>
              <a:rPr sz="2000" spc="-15" dirty="0">
                <a:solidFill>
                  <a:srgbClr val="363639"/>
                </a:solidFill>
                <a:latin typeface="Arial MT"/>
                <a:cs typeface="Arial MT"/>
              </a:rPr>
              <a:t> </a:t>
            </a:r>
            <a:r>
              <a:rPr sz="2000" dirty="0">
                <a:solidFill>
                  <a:srgbClr val="363639"/>
                </a:solidFill>
                <a:latin typeface="Arial MT"/>
                <a:cs typeface="Arial MT"/>
              </a:rPr>
              <a:t>of</a:t>
            </a:r>
            <a:r>
              <a:rPr sz="2000" spc="-15" dirty="0">
                <a:solidFill>
                  <a:srgbClr val="363639"/>
                </a:solidFill>
                <a:latin typeface="Arial MT"/>
                <a:cs typeface="Arial MT"/>
              </a:rPr>
              <a:t> </a:t>
            </a:r>
            <a:r>
              <a:rPr sz="2000" spc="-10" dirty="0">
                <a:solidFill>
                  <a:srgbClr val="363639"/>
                </a:solidFill>
                <a:latin typeface="Arial MT"/>
                <a:cs typeface="Arial MT"/>
              </a:rPr>
              <a:t>name-to-phone-</a:t>
            </a:r>
            <a:r>
              <a:rPr sz="2000" dirty="0">
                <a:solidFill>
                  <a:srgbClr val="363639"/>
                </a:solidFill>
                <a:latin typeface="Arial MT"/>
                <a:cs typeface="Arial MT"/>
              </a:rPr>
              <a:t>number</a:t>
            </a:r>
            <a:r>
              <a:rPr sz="2000" spc="-15" dirty="0">
                <a:solidFill>
                  <a:srgbClr val="363639"/>
                </a:solidFill>
                <a:latin typeface="Arial MT"/>
                <a:cs typeface="Arial MT"/>
              </a:rPr>
              <a:t> </a:t>
            </a:r>
            <a:r>
              <a:rPr sz="2000" spc="-10" dirty="0">
                <a:solidFill>
                  <a:srgbClr val="363639"/>
                </a:solidFill>
                <a:latin typeface="Arial MT"/>
                <a:cs typeface="Arial MT"/>
              </a:rPr>
              <a:t>mappings)</a:t>
            </a:r>
            <a:endParaRPr sz="2000">
              <a:latin typeface="Arial MT"/>
              <a:cs typeface="Arial MT"/>
            </a:endParaRPr>
          </a:p>
        </p:txBody>
      </p:sp>
    </p:spTree>
    <p:extLst>
      <p:ext uri="{BB962C8B-B14F-4D97-AF65-F5344CB8AC3E}">
        <p14:creationId xmlns:p14="http://schemas.microsoft.com/office/powerpoint/2010/main" val="36602512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67355" y="661194"/>
            <a:ext cx="10451715" cy="689291"/>
          </a:xfrm>
          <a:prstGeom prst="rect">
            <a:avLst/>
          </a:prstGeom>
        </p:spPr>
        <p:txBody>
          <a:bodyPr vert="horz" wrap="square" lIns="0" tIns="12065" rIns="0" bIns="0" rtlCol="0">
            <a:spAutoFit/>
          </a:bodyPr>
          <a:lstStyle/>
          <a:p>
            <a:pPr marL="12700">
              <a:lnSpc>
                <a:spcPct val="100000"/>
              </a:lnSpc>
              <a:spcBef>
                <a:spcPts val="95"/>
              </a:spcBef>
              <a:tabLst>
                <a:tab pos="8609330" algn="l"/>
              </a:tabLst>
            </a:pPr>
            <a:r>
              <a:rPr u="heavy" dirty="0">
                <a:uFill>
                  <a:solidFill>
                    <a:srgbClr val="D64A2A"/>
                  </a:solidFill>
                </a:uFill>
                <a:latin typeface="Arial MT"/>
                <a:cs typeface="Arial MT"/>
              </a:rPr>
              <a:t>Collection</a:t>
            </a:r>
            <a:r>
              <a:rPr u="heavy" spc="-150" dirty="0">
                <a:uFill>
                  <a:solidFill>
                    <a:srgbClr val="D64A2A"/>
                  </a:solidFill>
                </a:uFill>
                <a:latin typeface="Arial MT"/>
                <a:cs typeface="Arial MT"/>
              </a:rPr>
              <a:t> </a:t>
            </a:r>
            <a:r>
              <a:rPr u="heavy" dirty="0">
                <a:uFill>
                  <a:solidFill>
                    <a:srgbClr val="D64A2A"/>
                  </a:solidFill>
                </a:uFill>
                <a:latin typeface="Arial MT"/>
                <a:cs typeface="Arial MT"/>
              </a:rPr>
              <a:t>Framework</a:t>
            </a:r>
            <a:r>
              <a:rPr u="heavy" spc="-140" dirty="0">
                <a:uFill>
                  <a:solidFill>
                    <a:srgbClr val="D64A2A"/>
                  </a:solidFill>
                </a:uFill>
                <a:latin typeface="Arial MT"/>
                <a:cs typeface="Arial MT"/>
              </a:rPr>
              <a:t> </a:t>
            </a:r>
            <a:r>
              <a:rPr u="heavy" spc="-50" dirty="0">
                <a:uFill>
                  <a:solidFill>
                    <a:srgbClr val="D64A2A"/>
                  </a:solidFill>
                </a:uFill>
                <a:latin typeface="Arial MT"/>
                <a:cs typeface="Arial MT"/>
              </a:rPr>
              <a:t>1</a:t>
            </a:r>
            <a:r>
              <a:rPr u="heavy" dirty="0">
                <a:uFill>
                  <a:solidFill>
                    <a:srgbClr val="D64A2A"/>
                  </a:solidFill>
                </a:uFill>
                <a:latin typeface="Arial MT"/>
                <a:cs typeface="Arial MT"/>
              </a:rPr>
              <a:t>	</a:t>
            </a:r>
          </a:p>
        </p:txBody>
      </p:sp>
      <p:sp>
        <p:nvSpPr>
          <p:cNvPr id="4" name="object 4"/>
          <p:cNvSpPr txBox="1"/>
          <p:nvPr/>
        </p:nvSpPr>
        <p:spPr>
          <a:xfrm>
            <a:off x="913783" y="1514362"/>
            <a:ext cx="10320097" cy="3128421"/>
          </a:xfrm>
          <a:prstGeom prst="rect">
            <a:avLst/>
          </a:prstGeom>
        </p:spPr>
        <p:txBody>
          <a:bodyPr vert="horz" wrap="square" lIns="0" tIns="12065" rIns="0" bIns="0" rtlCol="0">
            <a:spAutoFit/>
          </a:bodyPr>
          <a:lstStyle/>
          <a:p>
            <a:pPr marL="12700" marR="791210" indent="-635">
              <a:lnSpc>
                <a:spcPct val="100000"/>
              </a:lnSpc>
              <a:spcBef>
                <a:spcPts val="95"/>
              </a:spcBef>
            </a:pPr>
            <a:r>
              <a:rPr sz="2000" dirty="0">
                <a:solidFill>
                  <a:srgbClr val="363639"/>
                </a:solidFill>
                <a:latin typeface="Arial MT"/>
                <a:cs typeface="Arial MT"/>
              </a:rPr>
              <a:t>A</a:t>
            </a:r>
            <a:r>
              <a:rPr sz="2000" spc="-35" dirty="0">
                <a:solidFill>
                  <a:srgbClr val="363639"/>
                </a:solidFill>
                <a:latin typeface="Arial MT"/>
                <a:cs typeface="Arial MT"/>
              </a:rPr>
              <a:t> </a:t>
            </a:r>
            <a:r>
              <a:rPr sz="2000" dirty="0">
                <a:solidFill>
                  <a:srgbClr val="CC572C"/>
                </a:solidFill>
                <a:latin typeface="Arial MT"/>
                <a:cs typeface="Arial MT"/>
              </a:rPr>
              <a:t>collections</a:t>
            </a:r>
            <a:r>
              <a:rPr sz="2000" spc="-25" dirty="0">
                <a:solidFill>
                  <a:srgbClr val="CC572C"/>
                </a:solidFill>
                <a:latin typeface="Arial MT"/>
                <a:cs typeface="Arial MT"/>
              </a:rPr>
              <a:t> </a:t>
            </a:r>
            <a:r>
              <a:rPr sz="2000" dirty="0">
                <a:solidFill>
                  <a:srgbClr val="CC572C"/>
                </a:solidFill>
                <a:latin typeface="Arial MT"/>
                <a:cs typeface="Arial MT"/>
              </a:rPr>
              <a:t>framework</a:t>
            </a:r>
            <a:r>
              <a:rPr sz="2000" spc="-30" dirty="0">
                <a:solidFill>
                  <a:srgbClr val="CC572C"/>
                </a:solidFill>
                <a:latin typeface="Arial MT"/>
                <a:cs typeface="Arial MT"/>
              </a:rPr>
              <a:t> </a:t>
            </a:r>
            <a:r>
              <a:rPr sz="2000" dirty="0">
                <a:solidFill>
                  <a:srgbClr val="363639"/>
                </a:solidFill>
                <a:latin typeface="Arial MT"/>
                <a:cs typeface="Arial MT"/>
              </a:rPr>
              <a:t>is</a:t>
            </a:r>
            <a:r>
              <a:rPr sz="2000" spc="-30" dirty="0">
                <a:solidFill>
                  <a:srgbClr val="363639"/>
                </a:solidFill>
                <a:latin typeface="Arial MT"/>
                <a:cs typeface="Arial MT"/>
              </a:rPr>
              <a:t> </a:t>
            </a:r>
            <a:r>
              <a:rPr sz="2000" dirty="0">
                <a:solidFill>
                  <a:srgbClr val="363639"/>
                </a:solidFill>
                <a:latin typeface="Arial MT"/>
                <a:cs typeface="Arial MT"/>
              </a:rPr>
              <a:t>a</a:t>
            </a:r>
            <a:r>
              <a:rPr sz="2000" spc="-35" dirty="0">
                <a:solidFill>
                  <a:srgbClr val="363639"/>
                </a:solidFill>
                <a:latin typeface="Arial MT"/>
                <a:cs typeface="Arial MT"/>
              </a:rPr>
              <a:t> </a:t>
            </a:r>
            <a:r>
              <a:rPr sz="2000" dirty="0">
                <a:solidFill>
                  <a:srgbClr val="363639"/>
                </a:solidFill>
                <a:latin typeface="Arial MT"/>
                <a:cs typeface="Arial MT"/>
              </a:rPr>
              <a:t>unified</a:t>
            </a:r>
            <a:r>
              <a:rPr sz="2000" spc="-35" dirty="0">
                <a:solidFill>
                  <a:srgbClr val="363639"/>
                </a:solidFill>
                <a:latin typeface="Arial MT"/>
                <a:cs typeface="Arial MT"/>
              </a:rPr>
              <a:t> </a:t>
            </a:r>
            <a:r>
              <a:rPr sz="2000" dirty="0">
                <a:solidFill>
                  <a:srgbClr val="363639"/>
                </a:solidFill>
                <a:latin typeface="Arial MT"/>
                <a:cs typeface="Arial MT"/>
              </a:rPr>
              <a:t>architecture</a:t>
            </a:r>
            <a:r>
              <a:rPr sz="2000" spc="-35" dirty="0">
                <a:solidFill>
                  <a:srgbClr val="363639"/>
                </a:solidFill>
                <a:latin typeface="Arial MT"/>
                <a:cs typeface="Arial MT"/>
              </a:rPr>
              <a:t> </a:t>
            </a:r>
            <a:r>
              <a:rPr sz="2000" dirty="0">
                <a:solidFill>
                  <a:srgbClr val="363639"/>
                </a:solidFill>
                <a:latin typeface="Arial MT"/>
                <a:cs typeface="Arial MT"/>
              </a:rPr>
              <a:t>for</a:t>
            </a:r>
            <a:r>
              <a:rPr sz="2000" spc="-40" dirty="0">
                <a:solidFill>
                  <a:srgbClr val="363639"/>
                </a:solidFill>
                <a:latin typeface="Arial MT"/>
                <a:cs typeface="Arial MT"/>
              </a:rPr>
              <a:t> </a:t>
            </a:r>
            <a:r>
              <a:rPr sz="2000" dirty="0">
                <a:solidFill>
                  <a:srgbClr val="363639"/>
                </a:solidFill>
                <a:latin typeface="Arial MT"/>
                <a:cs typeface="Arial MT"/>
              </a:rPr>
              <a:t>representing</a:t>
            </a:r>
            <a:r>
              <a:rPr sz="2000" spc="-35" dirty="0">
                <a:solidFill>
                  <a:srgbClr val="363639"/>
                </a:solidFill>
                <a:latin typeface="Arial MT"/>
                <a:cs typeface="Arial MT"/>
              </a:rPr>
              <a:t> </a:t>
            </a:r>
            <a:r>
              <a:rPr sz="2000" spc="-25" dirty="0">
                <a:solidFill>
                  <a:srgbClr val="363639"/>
                </a:solidFill>
                <a:latin typeface="Arial MT"/>
                <a:cs typeface="Arial MT"/>
              </a:rPr>
              <a:t>and </a:t>
            </a:r>
            <a:r>
              <a:rPr sz="2000" dirty="0">
                <a:solidFill>
                  <a:srgbClr val="363639"/>
                </a:solidFill>
                <a:latin typeface="Arial MT"/>
                <a:cs typeface="Arial MT"/>
              </a:rPr>
              <a:t>manipulating</a:t>
            </a:r>
            <a:r>
              <a:rPr sz="2000" spc="-65" dirty="0">
                <a:solidFill>
                  <a:srgbClr val="363639"/>
                </a:solidFill>
                <a:latin typeface="Arial MT"/>
                <a:cs typeface="Arial MT"/>
              </a:rPr>
              <a:t> </a:t>
            </a:r>
            <a:r>
              <a:rPr sz="2000" spc="-10" dirty="0">
                <a:solidFill>
                  <a:srgbClr val="363639"/>
                </a:solidFill>
                <a:latin typeface="Arial MT"/>
                <a:cs typeface="Arial MT"/>
              </a:rPr>
              <a:t>collections.</a:t>
            </a:r>
            <a:endParaRPr sz="2000">
              <a:latin typeface="Arial MT"/>
              <a:cs typeface="Arial MT"/>
            </a:endParaRPr>
          </a:p>
          <a:p>
            <a:pPr>
              <a:lnSpc>
                <a:spcPct val="100000"/>
              </a:lnSpc>
              <a:spcBef>
                <a:spcPts val="2100"/>
              </a:spcBef>
            </a:pPr>
            <a:endParaRPr sz="2000">
              <a:latin typeface="Arial MT"/>
              <a:cs typeface="Arial MT"/>
            </a:endParaRPr>
          </a:p>
          <a:p>
            <a:pPr marL="12700">
              <a:lnSpc>
                <a:spcPct val="100000"/>
              </a:lnSpc>
            </a:pPr>
            <a:r>
              <a:rPr sz="2000" dirty="0">
                <a:solidFill>
                  <a:srgbClr val="363639"/>
                </a:solidFill>
                <a:latin typeface="Arial MT"/>
                <a:cs typeface="Arial MT"/>
              </a:rPr>
              <a:t>All</a:t>
            </a:r>
            <a:r>
              <a:rPr sz="2000" spc="-30" dirty="0">
                <a:solidFill>
                  <a:srgbClr val="363639"/>
                </a:solidFill>
                <a:latin typeface="Arial MT"/>
                <a:cs typeface="Arial MT"/>
              </a:rPr>
              <a:t> </a:t>
            </a:r>
            <a:r>
              <a:rPr sz="2000" dirty="0">
                <a:solidFill>
                  <a:srgbClr val="363639"/>
                </a:solidFill>
                <a:latin typeface="Arial MT"/>
                <a:cs typeface="Arial MT"/>
              </a:rPr>
              <a:t>collections</a:t>
            </a:r>
            <a:r>
              <a:rPr sz="2000" spc="-35" dirty="0">
                <a:solidFill>
                  <a:srgbClr val="363639"/>
                </a:solidFill>
                <a:latin typeface="Arial MT"/>
                <a:cs typeface="Arial MT"/>
              </a:rPr>
              <a:t> </a:t>
            </a:r>
            <a:r>
              <a:rPr sz="2000" dirty="0">
                <a:solidFill>
                  <a:srgbClr val="363639"/>
                </a:solidFill>
                <a:latin typeface="Arial MT"/>
                <a:cs typeface="Arial MT"/>
              </a:rPr>
              <a:t>frameworks</a:t>
            </a:r>
            <a:r>
              <a:rPr sz="2000" spc="-35" dirty="0">
                <a:solidFill>
                  <a:srgbClr val="363639"/>
                </a:solidFill>
                <a:latin typeface="Arial MT"/>
                <a:cs typeface="Arial MT"/>
              </a:rPr>
              <a:t> </a:t>
            </a:r>
            <a:r>
              <a:rPr sz="2000" dirty="0">
                <a:solidFill>
                  <a:srgbClr val="363639"/>
                </a:solidFill>
                <a:latin typeface="Arial MT"/>
                <a:cs typeface="Arial MT"/>
              </a:rPr>
              <a:t>contain</a:t>
            </a:r>
            <a:r>
              <a:rPr sz="2000" spc="-35" dirty="0">
                <a:solidFill>
                  <a:srgbClr val="363639"/>
                </a:solidFill>
                <a:latin typeface="Arial MT"/>
                <a:cs typeface="Arial MT"/>
              </a:rPr>
              <a:t> </a:t>
            </a:r>
            <a:r>
              <a:rPr sz="2000" dirty="0">
                <a:solidFill>
                  <a:srgbClr val="363639"/>
                </a:solidFill>
                <a:latin typeface="Arial MT"/>
                <a:cs typeface="Arial MT"/>
              </a:rPr>
              <a:t>three</a:t>
            </a:r>
            <a:r>
              <a:rPr sz="2000" spc="-35" dirty="0">
                <a:solidFill>
                  <a:srgbClr val="363639"/>
                </a:solidFill>
                <a:latin typeface="Arial MT"/>
                <a:cs typeface="Arial MT"/>
              </a:rPr>
              <a:t> </a:t>
            </a:r>
            <a:r>
              <a:rPr sz="2000" spc="-10" dirty="0">
                <a:solidFill>
                  <a:srgbClr val="363639"/>
                </a:solidFill>
                <a:latin typeface="Arial MT"/>
                <a:cs typeface="Arial MT"/>
              </a:rPr>
              <a:t>things:</a:t>
            </a:r>
            <a:endParaRPr sz="2000">
              <a:latin typeface="Arial MT"/>
              <a:cs typeface="Arial MT"/>
            </a:endParaRPr>
          </a:p>
          <a:p>
            <a:pPr marL="377825" indent="-365125">
              <a:lnSpc>
                <a:spcPct val="100000"/>
              </a:lnSpc>
              <a:spcBef>
                <a:spcPts val="1000"/>
              </a:spcBef>
              <a:buClr>
                <a:srgbClr val="363639"/>
              </a:buClr>
              <a:buAutoNum type="arabicParenR"/>
              <a:tabLst>
                <a:tab pos="377825" algn="l"/>
              </a:tabLst>
            </a:pPr>
            <a:r>
              <a:rPr sz="2000" spc="-10" dirty="0">
                <a:solidFill>
                  <a:srgbClr val="CC572C"/>
                </a:solidFill>
                <a:latin typeface="Arial MT"/>
                <a:cs typeface="Arial MT"/>
              </a:rPr>
              <a:t>Interfaces</a:t>
            </a:r>
            <a:endParaRPr sz="2000">
              <a:latin typeface="Arial MT"/>
              <a:cs typeface="Arial MT"/>
            </a:endParaRPr>
          </a:p>
          <a:p>
            <a:pPr marL="970915" lvl="1" indent="-381000">
              <a:lnSpc>
                <a:spcPct val="100000"/>
              </a:lnSpc>
              <a:spcBef>
                <a:spcPts val="1000"/>
              </a:spcBef>
              <a:buAutoNum type="alphaLcParenR"/>
              <a:tabLst>
                <a:tab pos="970915" algn="l"/>
              </a:tabLst>
            </a:pPr>
            <a:r>
              <a:rPr sz="2000" dirty="0">
                <a:solidFill>
                  <a:srgbClr val="363639"/>
                </a:solidFill>
                <a:latin typeface="Arial MT"/>
                <a:cs typeface="Arial MT"/>
              </a:rPr>
              <a:t>abstract</a:t>
            </a:r>
            <a:r>
              <a:rPr sz="2000" spc="-30" dirty="0">
                <a:solidFill>
                  <a:srgbClr val="363639"/>
                </a:solidFill>
                <a:latin typeface="Arial MT"/>
                <a:cs typeface="Arial MT"/>
              </a:rPr>
              <a:t> </a:t>
            </a:r>
            <a:r>
              <a:rPr sz="2000" dirty="0">
                <a:solidFill>
                  <a:srgbClr val="363639"/>
                </a:solidFill>
                <a:latin typeface="Arial MT"/>
                <a:cs typeface="Arial MT"/>
              </a:rPr>
              <a:t>data</a:t>
            </a:r>
            <a:r>
              <a:rPr sz="2000" spc="-35" dirty="0">
                <a:solidFill>
                  <a:srgbClr val="363639"/>
                </a:solidFill>
                <a:latin typeface="Arial MT"/>
                <a:cs typeface="Arial MT"/>
              </a:rPr>
              <a:t> </a:t>
            </a:r>
            <a:r>
              <a:rPr sz="2000" dirty="0">
                <a:solidFill>
                  <a:srgbClr val="363639"/>
                </a:solidFill>
                <a:latin typeface="Arial MT"/>
                <a:cs typeface="Arial MT"/>
              </a:rPr>
              <a:t>types</a:t>
            </a:r>
            <a:r>
              <a:rPr sz="2000" spc="-30" dirty="0">
                <a:solidFill>
                  <a:srgbClr val="363639"/>
                </a:solidFill>
                <a:latin typeface="Arial MT"/>
                <a:cs typeface="Arial MT"/>
              </a:rPr>
              <a:t> </a:t>
            </a:r>
            <a:r>
              <a:rPr sz="2000" dirty="0">
                <a:solidFill>
                  <a:srgbClr val="363639"/>
                </a:solidFill>
                <a:latin typeface="Arial MT"/>
                <a:cs typeface="Arial MT"/>
              </a:rPr>
              <a:t>representing</a:t>
            </a:r>
            <a:r>
              <a:rPr sz="2000" spc="-25" dirty="0">
                <a:solidFill>
                  <a:srgbClr val="363639"/>
                </a:solidFill>
                <a:latin typeface="Arial MT"/>
                <a:cs typeface="Arial MT"/>
              </a:rPr>
              <a:t> </a:t>
            </a:r>
            <a:r>
              <a:rPr sz="2000" spc="-10" dirty="0">
                <a:solidFill>
                  <a:srgbClr val="363639"/>
                </a:solidFill>
                <a:latin typeface="Arial MT"/>
                <a:cs typeface="Arial MT"/>
              </a:rPr>
              <a:t>collections.</a:t>
            </a:r>
            <a:endParaRPr sz="2000">
              <a:latin typeface="Arial MT"/>
              <a:cs typeface="Arial MT"/>
            </a:endParaRPr>
          </a:p>
          <a:p>
            <a:pPr marL="970915" marR="5080" lvl="1" indent="-381635">
              <a:lnSpc>
                <a:spcPct val="100000"/>
              </a:lnSpc>
              <a:spcBef>
                <a:spcPts val="1000"/>
              </a:spcBef>
              <a:buAutoNum type="alphaLcParenR"/>
              <a:tabLst>
                <a:tab pos="970915" algn="l"/>
                <a:tab pos="2869565" algn="l"/>
              </a:tabLst>
            </a:pPr>
            <a:r>
              <a:rPr sz="2000" dirty="0">
                <a:solidFill>
                  <a:srgbClr val="363639"/>
                </a:solidFill>
                <a:latin typeface="Arial MT"/>
                <a:cs typeface="Arial MT"/>
              </a:rPr>
              <a:t>Interfaces</a:t>
            </a:r>
            <a:r>
              <a:rPr sz="2000" spc="-30" dirty="0">
                <a:solidFill>
                  <a:srgbClr val="363639"/>
                </a:solidFill>
                <a:latin typeface="Arial MT"/>
                <a:cs typeface="Arial MT"/>
              </a:rPr>
              <a:t> </a:t>
            </a:r>
            <a:r>
              <a:rPr sz="2000" spc="-10" dirty="0">
                <a:solidFill>
                  <a:srgbClr val="363639"/>
                </a:solidFill>
                <a:latin typeface="Arial MT"/>
                <a:cs typeface="Arial MT"/>
              </a:rPr>
              <a:t>allow</a:t>
            </a:r>
            <a:r>
              <a:rPr sz="2000" dirty="0">
                <a:solidFill>
                  <a:srgbClr val="363639"/>
                </a:solidFill>
                <a:latin typeface="Arial MT"/>
                <a:cs typeface="Arial MT"/>
              </a:rPr>
              <a:t>	collections</a:t>
            </a:r>
            <a:r>
              <a:rPr sz="2000" spc="-30" dirty="0">
                <a:solidFill>
                  <a:srgbClr val="363639"/>
                </a:solidFill>
                <a:latin typeface="Arial MT"/>
                <a:cs typeface="Arial MT"/>
              </a:rPr>
              <a:t> </a:t>
            </a:r>
            <a:r>
              <a:rPr sz="2000" dirty="0">
                <a:solidFill>
                  <a:srgbClr val="363639"/>
                </a:solidFill>
                <a:latin typeface="Arial MT"/>
                <a:cs typeface="Arial MT"/>
              </a:rPr>
              <a:t>to</a:t>
            </a:r>
            <a:r>
              <a:rPr sz="2000" spc="-35" dirty="0">
                <a:solidFill>
                  <a:srgbClr val="363639"/>
                </a:solidFill>
                <a:latin typeface="Arial MT"/>
                <a:cs typeface="Arial MT"/>
              </a:rPr>
              <a:t> </a:t>
            </a:r>
            <a:r>
              <a:rPr sz="2000" dirty="0">
                <a:solidFill>
                  <a:srgbClr val="363639"/>
                </a:solidFill>
                <a:latin typeface="Arial MT"/>
                <a:cs typeface="Arial MT"/>
              </a:rPr>
              <a:t>be</a:t>
            </a:r>
            <a:r>
              <a:rPr sz="2000" spc="-30" dirty="0">
                <a:solidFill>
                  <a:srgbClr val="363639"/>
                </a:solidFill>
                <a:latin typeface="Arial MT"/>
                <a:cs typeface="Arial MT"/>
              </a:rPr>
              <a:t> </a:t>
            </a:r>
            <a:r>
              <a:rPr sz="2000" dirty="0">
                <a:solidFill>
                  <a:srgbClr val="363639"/>
                </a:solidFill>
                <a:latin typeface="Arial MT"/>
                <a:cs typeface="Arial MT"/>
              </a:rPr>
              <a:t>manipulated</a:t>
            </a:r>
            <a:r>
              <a:rPr sz="2000" spc="-30" dirty="0">
                <a:solidFill>
                  <a:srgbClr val="363639"/>
                </a:solidFill>
                <a:latin typeface="Arial MT"/>
                <a:cs typeface="Arial MT"/>
              </a:rPr>
              <a:t> </a:t>
            </a:r>
            <a:r>
              <a:rPr sz="2000" dirty="0">
                <a:solidFill>
                  <a:srgbClr val="363639"/>
                </a:solidFill>
                <a:latin typeface="Arial MT"/>
                <a:cs typeface="Arial MT"/>
              </a:rPr>
              <a:t>independently</a:t>
            </a:r>
            <a:r>
              <a:rPr sz="2000" spc="-20" dirty="0">
                <a:solidFill>
                  <a:srgbClr val="363639"/>
                </a:solidFill>
                <a:latin typeface="Arial MT"/>
                <a:cs typeface="Arial MT"/>
              </a:rPr>
              <a:t> </a:t>
            </a:r>
            <a:r>
              <a:rPr sz="2000" dirty="0">
                <a:solidFill>
                  <a:srgbClr val="363639"/>
                </a:solidFill>
                <a:latin typeface="Arial MT"/>
                <a:cs typeface="Arial MT"/>
              </a:rPr>
              <a:t>of</a:t>
            </a:r>
            <a:r>
              <a:rPr sz="2000" spc="-35" dirty="0">
                <a:solidFill>
                  <a:srgbClr val="363639"/>
                </a:solidFill>
                <a:latin typeface="Arial MT"/>
                <a:cs typeface="Arial MT"/>
              </a:rPr>
              <a:t> </a:t>
            </a:r>
            <a:r>
              <a:rPr sz="2000" spc="-25" dirty="0">
                <a:solidFill>
                  <a:srgbClr val="363639"/>
                </a:solidFill>
                <a:latin typeface="Arial MT"/>
                <a:cs typeface="Arial MT"/>
              </a:rPr>
              <a:t>the </a:t>
            </a:r>
            <a:r>
              <a:rPr sz="2000" dirty="0">
                <a:solidFill>
                  <a:srgbClr val="363639"/>
                </a:solidFill>
                <a:latin typeface="Arial MT"/>
                <a:cs typeface="Arial MT"/>
              </a:rPr>
              <a:t>details</a:t>
            </a:r>
            <a:r>
              <a:rPr sz="2000" spc="-15" dirty="0">
                <a:solidFill>
                  <a:srgbClr val="363639"/>
                </a:solidFill>
                <a:latin typeface="Arial MT"/>
                <a:cs typeface="Arial MT"/>
              </a:rPr>
              <a:t> </a:t>
            </a:r>
            <a:r>
              <a:rPr sz="2000" dirty="0">
                <a:solidFill>
                  <a:srgbClr val="363639"/>
                </a:solidFill>
                <a:latin typeface="Arial MT"/>
                <a:cs typeface="Arial MT"/>
              </a:rPr>
              <a:t>of</a:t>
            </a:r>
            <a:r>
              <a:rPr sz="2000" spc="-25" dirty="0">
                <a:solidFill>
                  <a:srgbClr val="363639"/>
                </a:solidFill>
                <a:latin typeface="Arial MT"/>
                <a:cs typeface="Arial MT"/>
              </a:rPr>
              <a:t> </a:t>
            </a:r>
            <a:r>
              <a:rPr sz="2000" dirty="0">
                <a:solidFill>
                  <a:srgbClr val="363639"/>
                </a:solidFill>
                <a:latin typeface="Arial MT"/>
                <a:cs typeface="Arial MT"/>
              </a:rPr>
              <a:t>their</a:t>
            </a:r>
            <a:r>
              <a:rPr sz="2000" spc="55" dirty="0">
                <a:solidFill>
                  <a:srgbClr val="363639"/>
                </a:solidFill>
                <a:latin typeface="Arial MT"/>
                <a:cs typeface="Arial MT"/>
              </a:rPr>
              <a:t> </a:t>
            </a:r>
            <a:r>
              <a:rPr sz="2000" spc="-10" dirty="0">
                <a:solidFill>
                  <a:srgbClr val="363639"/>
                </a:solidFill>
                <a:latin typeface="Arial MT"/>
                <a:cs typeface="Arial MT"/>
              </a:rPr>
              <a:t>representation.</a:t>
            </a:r>
            <a:endParaRPr sz="2000">
              <a:latin typeface="Arial MT"/>
              <a:cs typeface="Arial MT"/>
            </a:endParaRPr>
          </a:p>
        </p:txBody>
      </p:sp>
    </p:spTree>
    <p:extLst>
      <p:ext uri="{BB962C8B-B14F-4D97-AF65-F5344CB8AC3E}">
        <p14:creationId xmlns:p14="http://schemas.microsoft.com/office/powerpoint/2010/main" val="4119340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67355" y="661194"/>
            <a:ext cx="10451715" cy="689291"/>
          </a:xfrm>
          <a:prstGeom prst="rect">
            <a:avLst/>
          </a:prstGeom>
        </p:spPr>
        <p:txBody>
          <a:bodyPr vert="horz" wrap="square" lIns="0" tIns="12065" rIns="0" bIns="0" rtlCol="0">
            <a:spAutoFit/>
          </a:bodyPr>
          <a:lstStyle/>
          <a:p>
            <a:pPr marL="12700">
              <a:lnSpc>
                <a:spcPct val="100000"/>
              </a:lnSpc>
              <a:spcBef>
                <a:spcPts val="95"/>
              </a:spcBef>
              <a:tabLst>
                <a:tab pos="8609330" algn="l"/>
              </a:tabLst>
            </a:pPr>
            <a:r>
              <a:rPr u="heavy" dirty="0">
                <a:uFill>
                  <a:solidFill>
                    <a:srgbClr val="D64A2A"/>
                  </a:solidFill>
                </a:uFill>
                <a:latin typeface="Arial MT"/>
                <a:cs typeface="Arial MT"/>
              </a:rPr>
              <a:t>Collection</a:t>
            </a:r>
            <a:r>
              <a:rPr u="heavy" spc="-150" dirty="0">
                <a:uFill>
                  <a:solidFill>
                    <a:srgbClr val="D64A2A"/>
                  </a:solidFill>
                </a:uFill>
                <a:latin typeface="Arial MT"/>
                <a:cs typeface="Arial MT"/>
              </a:rPr>
              <a:t> </a:t>
            </a:r>
            <a:r>
              <a:rPr u="heavy" dirty="0">
                <a:uFill>
                  <a:solidFill>
                    <a:srgbClr val="D64A2A"/>
                  </a:solidFill>
                </a:uFill>
                <a:latin typeface="Arial MT"/>
                <a:cs typeface="Arial MT"/>
              </a:rPr>
              <a:t>Framework</a:t>
            </a:r>
            <a:r>
              <a:rPr u="heavy" spc="-140" dirty="0">
                <a:uFill>
                  <a:solidFill>
                    <a:srgbClr val="D64A2A"/>
                  </a:solidFill>
                </a:uFill>
                <a:latin typeface="Arial MT"/>
                <a:cs typeface="Arial MT"/>
              </a:rPr>
              <a:t> </a:t>
            </a:r>
            <a:r>
              <a:rPr u="heavy" spc="-50" dirty="0">
                <a:uFill>
                  <a:solidFill>
                    <a:srgbClr val="D64A2A"/>
                  </a:solidFill>
                </a:uFill>
                <a:latin typeface="Arial MT"/>
                <a:cs typeface="Arial MT"/>
              </a:rPr>
              <a:t>2</a:t>
            </a:r>
            <a:r>
              <a:rPr u="heavy" dirty="0">
                <a:uFill>
                  <a:solidFill>
                    <a:srgbClr val="D64A2A"/>
                  </a:solidFill>
                </a:uFill>
                <a:latin typeface="Arial MT"/>
                <a:cs typeface="Arial MT"/>
              </a:rPr>
              <a:t>	</a:t>
            </a:r>
          </a:p>
        </p:txBody>
      </p:sp>
      <p:sp>
        <p:nvSpPr>
          <p:cNvPr id="4" name="object 4"/>
          <p:cNvSpPr txBox="1"/>
          <p:nvPr/>
        </p:nvSpPr>
        <p:spPr>
          <a:xfrm>
            <a:off x="913783" y="1402483"/>
            <a:ext cx="9947564" cy="4128694"/>
          </a:xfrm>
          <a:prstGeom prst="rect">
            <a:avLst/>
          </a:prstGeom>
        </p:spPr>
        <p:txBody>
          <a:bodyPr vert="horz" wrap="square" lIns="0" tIns="139065" rIns="0" bIns="0" rtlCol="0">
            <a:spAutoFit/>
          </a:bodyPr>
          <a:lstStyle/>
          <a:p>
            <a:pPr marL="393065" indent="-380365">
              <a:lnSpc>
                <a:spcPct val="100000"/>
              </a:lnSpc>
              <a:spcBef>
                <a:spcPts val="1095"/>
              </a:spcBef>
              <a:buClr>
                <a:srgbClr val="363639"/>
              </a:buClr>
              <a:buAutoNum type="arabicParenR" startAt="2"/>
              <a:tabLst>
                <a:tab pos="393065" algn="l"/>
              </a:tabLst>
            </a:pPr>
            <a:r>
              <a:rPr sz="2000" spc="-10" dirty="0">
                <a:solidFill>
                  <a:srgbClr val="D64A29"/>
                </a:solidFill>
                <a:latin typeface="Arial MT"/>
                <a:cs typeface="Arial MT"/>
              </a:rPr>
              <a:t>Implementations</a:t>
            </a:r>
            <a:endParaRPr sz="2000">
              <a:latin typeface="Arial MT"/>
              <a:cs typeface="Arial MT"/>
            </a:endParaRPr>
          </a:p>
          <a:p>
            <a:pPr marL="970915" lvl="1" indent="-381000">
              <a:lnSpc>
                <a:spcPct val="100000"/>
              </a:lnSpc>
              <a:spcBef>
                <a:spcPts val="994"/>
              </a:spcBef>
              <a:buAutoNum type="alphaLcPeriod"/>
              <a:tabLst>
                <a:tab pos="970915" algn="l"/>
              </a:tabLst>
            </a:pPr>
            <a:r>
              <a:rPr sz="2000" dirty="0">
                <a:solidFill>
                  <a:srgbClr val="363639"/>
                </a:solidFill>
                <a:latin typeface="Arial MT"/>
                <a:cs typeface="Arial MT"/>
              </a:rPr>
              <a:t>concrete</a:t>
            </a:r>
            <a:r>
              <a:rPr sz="2000" spc="-35" dirty="0">
                <a:solidFill>
                  <a:srgbClr val="363639"/>
                </a:solidFill>
                <a:latin typeface="Arial MT"/>
                <a:cs typeface="Arial MT"/>
              </a:rPr>
              <a:t> </a:t>
            </a:r>
            <a:r>
              <a:rPr sz="2000" dirty="0">
                <a:solidFill>
                  <a:srgbClr val="363639"/>
                </a:solidFill>
                <a:latin typeface="Arial MT"/>
                <a:cs typeface="Arial MT"/>
              </a:rPr>
              <a:t>implementations</a:t>
            </a:r>
            <a:r>
              <a:rPr sz="2000" spc="-30" dirty="0">
                <a:solidFill>
                  <a:srgbClr val="363639"/>
                </a:solidFill>
                <a:latin typeface="Arial MT"/>
                <a:cs typeface="Arial MT"/>
              </a:rPr>
              <a:t> </a:t>
            </a:r>
            <a:r>
              <a:rPr sz="2000" dirty="0">
                <a:solidFill>
                  <a:srgbClr val="363639"/>
                </a:solidFill>
                <a:latin typeface="Arial MT"/>
                <a:cs typeface="Arial MT"/>
              </a:rPr>
              <a:t>of</a:t>
            </a:r>
            <a:r>
              <a:rPr sz="2000" spc="-35" dirty="0">
                <a:solidFill>
                  <a:srgbClr val="363639"/>
                </a:solidFill>
                <a:latin typeface="Arial MT"/>
                <a:cs typeface="Arial MT"/>
              </a:rPr>
              <a:t> </a:t>
            </a:r>
            <a:r>
              <a:rPr sz="2000" dirty="0">
                <a:solidFill>
                  <a:srgbClr val="363639"/>
                </a:solidFill>
                <a:latin typeface="Arial MT"/>
                <a:cs typeface="Arial MT"/>
              </a:rPr>
              <a:t>the</a:t>
            </a:r>
            <a:r>
              <a:rPr sz="2000" spc="-40" dirty="0">
                <a:solidFill>
                  <a:srgbClr val="363639"/>
                </a:solidFill>
                <a:latin typeface="Arial MT"/>
                <a:cs typeface="Arial MT"/>
              </a:rPr>
              <a:t> </a:t>
            </a:r>
            <a:r>
              <a:rPr sz="2000" dirty="0">
                <a:solidFill>
                  <a:srgbClr val="363639"/>
                </a:solidFill>
                <a:latin typeface="Arial MT"/>
                <a:cs typeface="Arial MT"/>
              </a:rPr>
              <a:t>collection</a:t>
            </a:r>
            <a:r>
              <a:rPr sz="2000" spc="-30" dirty="0">
                <a:solidFill>
                  <a:srgbClr val="363639"/>
                </a:solidFill>
                <a:latin typeface="Arial MT"/>
                <a:cs typeface="Arial MT"/>
              </a:rPr>
              <a:t> </a:t>
            </a:r>
            <a:r>
              <a:rPr sz="2000" spc="-10" dirty="0">
                <a:solidFill>
                  <a:srgbClr val="363639"/>
                </a:solidFill>
                <a:latin typeface="Arial MT"/>
                <a:cs typeface="Arial MT"/>
              </a:rPr>
              <a:t>interfaces.</a:t>
            </a:r>
            <a:endParaRPr sz="2000">
              <a:latin typeface="Arial MT"/>
              <a:cs typeface="Arial MT"/>
            </a:endParaRPr>
          </a:p>
          <a:p>
            <a:pPr marL="970915" lvl="1" indent="-381000">
              <a:lnSpc>
                <a:spcPct val="100000"/>
              </a:lnSpc>
              <a:spcBef>
                <a:spcPts val="1005"/>
              </a:spcBef>
              <a:buAutoNum type="alphaLcPeriod"/>
              <a:tabLst>
                <a:tab pos="970915" algn="l"/>
              </a:tabLst>
            </a:pPr>
            <a:r>
              <a:rPr sz="2000" dirty="0">
                <a:solidFill>
                  <a:srgbClr val="363639"/>
                </a:solidFill>
                <a:latin typeface="Arial MT"/>
                <a:cs typeface="Arial MT"/>
              </a:rPr>
              <a:t>In</a:t>
            </a:r>
            <a:r>
              <a:rPr sz="2000" spc="-25" dirty="0">
                <a:solidFill>
                  <a:srgbClr val="363639"/>
                </a:solidFill>
                <a:latin typeface="Arial MT"/>
                <a:cs typeface="Arial MT"/>
              </a:rPr>
              <a:t> </a:t>
            </a:r>
            <a:r>
              <a:rPr sz="2000" dirty="0">
                <a:solidFill>
                  <a:srgbClr val="363639"/>
                </a:solidFill>
                <a:latin typeface="Arial MT"/>
                <a:cs typeface="Arial MT"/>
              </a:rPr>
              <a:t>essence,</a:t>
            </a:r>
            <a:r>
              <a:rPr sz="2000" spc="-20" dirty="0">
                <a:solidFill>
                  <a:srgbClr val="363639"/>
                </a:solidFill>
                <a:latin typeface="Arial MT"/>
                <a:cs typeface="Arial MT"/>
              </a:rPr>
              <a:t> </a:t>
            </a:r>
            <a:r>
              <a:rPr sz="2000" dirty="0">
                <a:solidFill>
                  <a:srgbClr val="363639"/>
                </a:solidFill>
                <a:latin typeface="Arial MT"/>
                <a:cs typeface="Arial MT"/>
              </a:rPr>
              <a:t>these</a:t>
            </a:r>
            <a:r>
              <a:rPr sz="2000" spc="-20" dirty="0">
                <a:solidFill>
                  <a:srgbClr val="363639"/>
                </a:solidFill>
                <a:latin typeface="Arial MT"/>
                <a:cs typeface="Arial MT"/>
              </a:rPr>
              <a:t> </a:t>
            </a:r>
            <a:r>
              <a:rPr sz="2000" dirty="0">
                <a:solidFill>
                  <a:srgbClr val="363639"/>
                </a:solidFill>
                <a:latin typeface="Arial MT"/>
                <a:cs typeface="Arial MT"/>
              </a:rPr>
              <a:t>are</a:t>
            </a:r>
            <a:r>
              <a:rPr sz="2000" spc="-20" dirty="0">
                <a:solidFill>
                  <a:srgbClr val="363639"/>
                </a:solidFill>
                <a:latin typeface="Arial MT"/>
                <a:cs typeface="Arial MT"/>
              </a:rPr>
              <a:t> </a:t>
            </a:r>
            <a:r>
              <a:rPr sz="2000" dirty="0">
                <a:solidFill>
                  <a:srgbClr val="D64A29"/>
                </a:solidFill>
                <a:latin typeface="Arial MT"/>
                <a:cs typeface="Arial MT"/>
              </a:rPr>
              <a:t>reusable</a:t>
            </a:r>
            <a:r>
              <a:rPr sz="2000" spc="-15" dirty="0">
                <a:solidFill>
                  <a:srgbClr val="D64A29"/>
                </a:solidFill>
                <a:latin typeface="Arial MT"/>
                <a:cs typeface="Arial MT"/>
              </a:rPr>
              <a:t> </a:t>
            </a:r>
            <a:r>
              <a:rPr sz="2000" dirty="0">
                <a:solidFill>
                  <a:srgbClr val="D64A29"/>
                </a:solidFill>
                <a:latin typeface="Arial MT"/>
                <a:cs typeface="Arial MT"/>
              </a:rPr>
              <a:t>data</a:t>
            </a:r>
            <a:r>
              <a:rPr sz="2000" spc="-25" dirty="0">
                <a:solidFill>
                  <a:srgbClr val="D64A29"/>
                </a:solidFill>
                <a:latin typeface="Arial MT"/>
                <a:cs typeface="Arial MT"/>
              </a:rPr>
              <a:t> </a:t>
            </a:r>
            <a:r>
              <a:rPr sz="2000" spc="-10" dirty="0">
                <a:solidFill>
                  <a:srgbClr val="D64A29"/>
                </a:solidFill>
                <a:latin typeface="Arial MT"/>
                <a:cs typeface="Arial MT"/>
              </a:rPr>
              <a:t>structures</a:t>
            </a:r>
            <a:r>
              <a:rPr sz="2000" spc="-10" dirty="0">
                <a:solidFill>
                  <a:srgbClr val="363639"/>
                </a:solidFill>
                <a:latin typeface="Arial MT"/>
                <a:cs typeface="Arial MT"/>
              </a:rPr>
              <a:t>.</a:t>
            </a:r>
            <a:endParaRPr sz="2000">
              <a:latin typeface="Arial MT"/>
              <a:cs typeface="Arial MT"/>
            </a:endParaRPr>
          </a:p>
          <a:p>
            <a:pPr lvl="1">
              <a:lnSpc>
                <a:spcPct val="100000"/>
              </a:lnSpc>
              <a:spcBef>
                <a:spcPts val="2095"/>
              </a:spcBef>
              <a:buClr>
                <a:srgbClr val="363639"/>
              </a:buClr>
              <a:buFont typeface="Arial MT"/>
              <a:buAutoNum type="alphaLcPeriod"/>
            </a:pPr>
            <a:endParaRPr sz="2000">
              <a:latin typeface="Arial MT"/>
              <a:cs typeface="Arial MT"/>
            </a:endParaRPr>
          </a:p>
          <a:p>
            <a:pPr marL="393065" indent="-380365">
              <a:lnSpc>
                <a:spcPct val="100000"/>
              </a:lnSpc>
              <a:buClr>
                <a:srgbClr val="363639"/>
              </a:buClr>
              <a:buAutoNum type="arabicParenR" startAt="2"/>
              <a:tabLst>
                <a:tab pos="393065" algn="l"/>
              </a:tabLst>
            </a:pPr>
            <a:r>
              <a:rPr sz="2000" spc="-10" dirty="0">
                <a:solidFill>
                  <a:srgbClr val="D64A29"/>
                </a:solidFill>
                <a:latin typeface="Arial MT"/>
                <a:cs typeface="Arial MT"/>
              </a:rPr>
              <a:t>Algorithms</a:t>
            </a:r>
            <a:endParaRPr sz="2000">
              <a:latin typeface="Arial MT"/>
              <a:cs typeface="Arial MT"/>
            </a:endParaRPr>
          </a:p>
          <a:p>
            <a:pPr marL="970915" marR="375285" indent="-381000">
              <a:lnSpc>
                <a:spcPct val="100000"/>
              </a:lnSpc>
              <a:spcBef>
                <a:spcPts val="1005"/>
              </a:spcBef>
              <a:buAutoNum type="alphaLcParenR"/>
              <a:tabLst>
                <a:tab pos="970915" algn="l"/>
              </a:tabLst>
            </a:pPr>
            <a:r>
              <a:rPr sz="2000" dirty="0">
                <a:solidFill>
                  <a:srgbClr val="363639"/>
                </a:solidFill>
                <a:latin typeface="Arial MT"/>
                <a:cs typeface="Arial MT"/>
              </a:rPr>
              <a:t>methods</a:t>
            </a:r>
            <a:r>
              <a:rPr sz="2000" spc="-35" dirty="0">
                <a:solidFill>
                  <a:srgbClr val="363639"/>
                </a:solidFill>
                <a:latin typeface="Arial MT"/>
                <a:cs typeface="Arial MT"/>
              </a:rPr>
              <a:t> </a:t>
            </a:r>
            <a:r>
              <a:rPr sz="2000" dirty="0">
                <a:solidFill>
                  <a:srgbClr val="363639"/>
                </a:solidFill>
                <a:latin typeface="Arial MT"/>
                <a:cs typeface="Arial MT"/>
              </a:rPr>
              <a:t>that</a:t>
            </a:r>
            <a:r>
              <a:rPr sz="2000" spc="-35" dirty="0">
                <a:solidFill>
                  <a:srgbClr val="363639"/>
                </a:solidFill>
                <a:latin typeface="Arial MT"/>
                <a:cs typeface="Arial MT"/>
              </a:rPr>
              <a:t> </a:t>
            </a:r>
            <a:r>
              <a:rPr sz="2000" dirty="0">
                <a:solidFill>
                  <a:srgbClr val="363639"/>
                </a:solidFill>
                <a:latin typeface="Arial MT"/>
                <a:cs typeface="Arial MT"/>
              </a:rPr>
              <a:t>perform</a:t>
            </a:r>
            <a:r>
              <a:rPr sz="2000" spc="-30" dirty="0">
                <a:solidFill>
                  <a:srgbClr val="363639"/>
                </a:solidFill>
                <a:latin typeface="Arial MT"/>
                <a:cs typeface="Arial MT"/>
              </a:rPr>
              <a:t> </a:t>
            </a:r>
            <a:r>
              <a:rPr sz="2000" dirty="0">
                <a:solidFill>
                  <a:srgbClr val="363639"/>
                </a:solidFill>
                <a:latin typeface="Arial MT"/>
                <a:cs typeface="Arial MT"/>
              </a:rPr>
              <a:t>useful</a:t>
            </a:r>
            <a:r>
              <a:rPr sz="2000" spc="-30" dirty="0">
                <a:solidFill>
                  <a:srgbClr val="363639"/>
                </a:solidFill>
                <a:latin typeface="Arial MT"/>
                <a:cs typeface="Arial MT"/>
              </a:rPr>
              <a:t> </a:t>
            </a:r>
            <a:r>
              <a:rPr sz="2000" dirty="0">
                <a:solidFill>
                  <a:srgbClr val="363639"/>
                </a:solidFill>
                <a:latin typeface="Arial MT"/>
                <a:cs typeface="Arial MT"/>
              </a:rPr>
              <a:t>computations</a:t>
            </a:r>
            <a:r>
              <a:rPr sz="2000" spc="-30" dirty="0">
                <a:solidFill>
                  <a:srgbClr val="363639"/>
                </a:solidFill>
                <a:latin typeface="Arial MT"/>
                <a:cs typeface="Arial MT"/>
              </a:rPr>
              <a:t> </a:t>
            </a:r>
            <a:r>
              <a:rPr sz="2000" dirty="0">
                <a:solidFill>
                  <a:srgbClr val="363639"/>
                </a:solidFill>
                <a:latin typeface="Arial MT"/>
                <a:cs typeface="Arial MT"/>
              </a:rPr>
              <a:t>like</a:t>
            </a:r>
            <a:r>
              <a:rPr sz="2000" spc="-30" dirty="0">
                <a:solidFill>
                  <a:srgbClr val="363639"/>
                </a:solidFill>
                <a:latin typeface="Arial MT"/>
                <a:cs typeface="Arial MT"/>
              </a:rPr>
              <a:t> </a:t>
            </a:r>
            <a:r>
              <a:rPr sz="2000" dirty="0">
                <a:solidFill>
                  <a:srgbClr val="363639"/>
                </a:solidFill>
                <a:latin typeface="Arial MT"/>
                <a:cs typeface="Arial MT"/>
              </a:rPr>
              <a:t>searching</a:t>
            </a:r>
            <a:r>
              <a:rPr sz="2000" spc="-35" dirty="0">
                <a:solidFill>
                  <a:srgbClr val="363639"/>
                </a:solidFill>
                <a:latin typeface="Arial MT"/>
                <a:cs typeface="Arial MT"/>
              </a:rPr>
              <a:t> </a:t>
            </a:r>
            <a:r>
              <a:rPr sz="2000" spc="-25" dirty="0">
                <a:solidFill>
                  <a:srgbClr val="363639"/>
                </a:solidFill>
                <a:latin typeface="Arial MT"/>
                <a:cs typeface="Arial MT"/>
              </a:rPr>
              <a:t>and </a:t>
            </a:r>
            <a:r>
              <a:rPr sz="2000" dirty="0">
                <a:solidFill>
                  <a:srgbClr val="363639"/>
                </a:solidFill>
                <a:latin typeface="Arial MT"/>
                <a:cs typeface="Arial MT"/>
              </a:rPr>
              <a:t>sorting,</a:t>
            </a:r>
            <a:r>
              <a:rPr sz="2000" spc="-30" dirty="0">
                <a:solidFill>
                  <a:srgbClr val="363639"/>
                </a:solidFill>
                <a:latin typeface="Arial MT"/>
                <a:cs typeface="Arial MT"/>
              </a:rPr>
              <a:t> </a:t>
            </a:r>
            <a:r>
              <a:rPr sz="2000" dirty="0">
                <a:solidFill>
                  <a:srgbClr val="363639"/>
                </a:solidFill>
                <a:latin typeface="Arial MT"/>
                <a:cs typeface="Arial MT"/>
              </a:rPr>
              <a:t>on</a:t>
            </a:r>
            <a:r>
              <a:rPr sz="2000" spc="-30" dirty="0">
                <a:solidFill>
                  <a:srgbClr val="363639"/>
                </a:solidFill>
                <a:latin typeface="Arial MT"/>
                <a:cs typeface="Arial MT"/>
              </a:rPr>
              <a:t> </a:t>
            </a:r>
            <a:r>
              <a:rPr sz="2000" dirty="0">
                <a:solidFill>
                  <a:srgbClr val="363639"/>
                </a:solidFill>
                <a:latin typeface="Arial MT"/>
                <a:cs typeface="Arial MT"/>
              </a:rPr>
              <a:t>objects</a:t>
            </a:r>
            <a:r>
              <a:rPr sz="2000" spc="-35" dirty="0">
                <a:solidFill>
                  <a:srgbClr val="363639"/>
                </a:solidFill>
                <a:latin typeface="Arial MT"/>
                <a:cs typeface="Arial MT"/>
              </a:rPr>
              <a:t> </a:t>
            </a:r>
            <a:r>
              <a:rPr sz="2000" dirty="0">
                <a:solidFill>
                  <a:srgbClr val="363639"/>
                </a:solidFill>
                <a:latin typeface="Arial MT"/>
                <a:cs typeface="Arial MT"/>
              </a:rPr>
              <a:t>that</a:t>
            </a:r>
            <a:r>
              <a:rPr sz="2000" spc="-25" dirty="0">
                <a:solidFill>
                  <a:srgbClr val="363639"/>
                </a:solidFill>
                <a:latin typeface="Arial MT"/>
                <a:cs typeface="Arial MT"/>
              </a:rPr>
              <a:t> </a:t>
            </a:r>
            <a:r>
              <a:rPr sz="2000" dirty="0">
                <a:solidFill>
                  <a:srgbClr val="363639"/>
                </a:solidFill>
                <a:latin typeface="Arial MT"/>
                <a:cs typeface="Arial MT"/>
              </a:rPr>
              <a:t>implement</a:t>
            </a:r>
            <a:r>
              <a:rPr sz="2000" spc="-35" dirty="0">
                <a:solidFill>
                  <a:srgbClr val="363639"/>
                </a:solidFill>
                <a:latin typeface="Arial MT"/>
                <a:cs typeface="Arial MT"/>
              </a:rPr>
              <a:t> </a:t>
            </a:r>
            <a:r>
              <a:rPr sz="2000" dirty="0">
                <a:solidFill>
                  <a:srgbClr val="363639"/>
                </a:solidFill>
                <a:latin typeface="Arial MT"/>
                <a:cs typeface="Arial MT"/>
              </a:rPr>
              <a:t>collection</a:t>
            </a:r>
            <a:r>
              <a:rPr sz="2000" spc="-30" dirty="0">
                <a:solidFill>
                  <a:srgbClr val="363639"/>
                </a:solidFill>
                <a:latin typeface="Arial MT"/>
                <a:cs typeface="Arial MT"/>
              </a:rPr>
              <a:t> </a:t>
            </a:r>
            <a:r>
              <a:rPr sz="2000" spc="-10" dirty="0">
                <a:solidFill>
                  <a:srgbClr val="363639"/>
                </a:solidFill>
                <a:latin typeface="Arial MT"/>
                <a:cs typeface="Arial MT"/>
              </a:rPr>
              <a:t>interfaces.</a:t>
            </a:r>
            <a:endParaRPr sz="2000">
              <a:latin typeface="Arial MT"/>
              <a:cs typeface="Arial MT"/>
            </a:endParaRPr>
          </a:p>
          <a:p>
            <a:pPr marL="973455" marR="5080" indent="-366395">
              <a:lnSpc>
                <a:spcPct val="100000"/>
              </a:lnSpc>
              <a:spcBef>
                <a:spcPts val="1000"/>
              </a:spcBef>
              <a:buAutoNum type="alphaLcParenR"/>
              <a:tabLst>
                <a:tab pos="1007744" algn="l"/>
              </a:tabLst>
            </a:pPr>
            <a:r>
              <a:rPr sz="2000" dirty="0">
                <a:solidFill>
                  <a:srgbClr val="363639"/>
                </a:solidFill>
                <a:latin typeface="Arial MT"/>
                <a:cs typeface="Arial MT"/>
              </a:rPr>
              <a:t>they</a:t>
            </a:r>
            <a:r>
              <a:rPr sz="2000" spc="-20" dirty="0">
                <a:solidFill>
                  <a:srgbClr val="363639"/>
                </a:solidFill>
                <a:latin typeface="Arial MT"/>
                <a:cs typeface="Arial MT"/>
              </a:rPr>
              <a:t> </a:t>
            </a:r>
            <a:r>
              <a:rPr sz="2000" dirty="0">
                <a:solidFill>
                  <a:srgbClr val="363639"/>
                </a:solidFill>
                <a:latin typeface="Arial MT"/>
                <a:cs typeface="Arial MT"/>
              </a:rPr>
              <a:t>are</a:t>
            </a:r>
            <a:r>
              <a:rPr sz="2000" spc="-25" dirty="0">
                <a:solidFill>
                  <a:srgbClr val="363639"/>
                </a:solidFill>
                <a:latin typeface="Arial MT"/>
                <a:cs typeface="Arial MT"/>
              </a:rPr>
              <a:t> </a:t>
            </a:r>
            <a:r>
              <a:rPr sz="2000" dirty="0">
                <a:solidFill>
                  <a:srgbClr val="363639"/>
                </a:solidFill>
                <a:latin typeface="Arial MT"/>
                <a:cs typeface="Arial MT"/>
              </a:rPr>
              <a:t>polymorphic</a:t>
            </a:r>
            <a:r>
              <a:rPr sz="2000" spc="-15" dirty="0">
                <a:solidFill>
                  <a:srgbClr val="363639"/>
                </a:solidFill>
                <a:latin typeface="Arial MT"/>
                <a:cs typeface="Arial MT"/>
              </a:rPr>
              <a:t> </a:t>
            </a:r>
            <a:r>
              <a:rPr sz="2000" dirty="0">
                <a:solidFill>
                  <a:srgbClr val="363639"/>
                </a:solidFill>
                <a:latin typeface="Arial MT"/>
                <a:cs typeface="Arial MT"/>
              </a:rPr>
              <a:t>because</a:t>
            </a:r>
            <a:r>
              <a:rPr sz="2000" spc="-25" dirty="0">
                <a:solidFill>
                  <a:srgbClr val="363639"/>
                </a:solidFill>
                <a:latin typeface="Arial MT"/>
                <a:cs typeface="Arial MT"/>
              </a:rPr>
              <a:t> </a:t>
            </a:r>
            <a:r>
              <a:rPr sz="2000" dirty="0">
                <a:solidFill>
                  <a:srgbClr val="363639"/>
                </a:solidFill>
                <a:latin typeface="Arial MT"/>
                <a:cs typeface="Arial MT"/>
              </a:rPr>
              <a:t>the</a:t>
            </a:r>
            <a:r>
              <a:rPr sz="2000" spc="-25" dirty="0">
                <a:solidFill>
                  <a:srgbClr val="363639"/>
                </a:solidFill>
                <a:latin typeface="Arial MT"/>
                <a:cs typeface="Arial MT"/>
              </a:rPr>
              <a:t> </a:t>
            </a:r>
            <a:r>
              <a:rPr sz="2000" dirty="0">
                <a:solidFill>
                  <a:srgbClr val="363639"/>
                </a:solidFill>
                <a:latin typeface="Arial MT"/>
                <a:cs typeface="Arial MT"/>
              </a:rPr>
              <a:t>same</a:t>
            </a:r>
            <a:r>
              <a:rPr sz="2000" spc="-20" dirty="0">
                <a:solidFill>
                  <a:srgbClr val="363639"/>
                </a:solidFill>
                <a:latin typeface="Arial MT"/>
                <a:cs typeface="Arial MT"/>
              </a:rPr>
              <a:t> </a:t>
            </a:r>
            <a:r>
              <a:rPr sz="2000" dirty="0">
                <a:solidFill>
                  <a:srgbClr val="363639"/>
                </a:solidFill>
                <a:latin typeface="Arial MT"/>
                <a:cs typeface="Arial MT"/>
              </a:rPr>
              <a:t>method</a:t>
            </a:r>
            <a:r>
              <a:rPr sz="2000" spc="-25" dirty="0">
                <a:solidFill>
                  <a:srgbClr val="363639"/>
                </a:solidFill>
                <a:latin typeface="Arial MT"/>
                <a:cs typeface="Arial MT"/>
              </a:rPr>
              <a:t> </a:t>
            </a:r>
            <a:r>
              <a:rPr sz="2000" dirty="0">
                <a:solidFill>
                  <a:srgbClr val="363639"/>
                </a:solidFill>
                <a:latin typeface="Arial MT"/>
                <a:cs typeface="Arial MT"/>
              </a:rPr>
              <a:t>can</a:t>
            </a:r>
            <a:r>
              <a:rPr sz="2000" spc="-20" dirty="0">
                <a:solidFill>
                  <a:srgbClr val="363639"/>
                </a:solidFill>
                <a:latin typeface="Arial MT"/>
                <a:cs typeface="Arial MT"/>
              </a:rPr>
              <a:t> </a:t>
            </a:r>
            <a:r>
              <a:rPr sz="2000" dirty="0">
                <a:solidFill>
                  <a:srgbClr val="363639"/>
                </a:solidFill>
                <a:latin typeface="Arial MT"/>
                <a:cs typeface="Arial MT"/>
              </a:rPr>
              <a:t>be</a:t>
            </a:r>
            <a:r>
              <a:rPr sz="2000" spc="-20" dirty="0">
                <a:solidFill>
                  <a:srgbClr val="363639"/>
                </a:solidFill>
                <a:latin typeface="Arial MT"/>
                <a:cs typeface="Arial MT"/>
              </a:rPr>
              <a:t> </a:t>
            </a:r>
            <a:r>
              <a:rPr sz="2000" dirty="0">
                <a:solidFill>
                  <a:srgbClr val="363639"/>
                </a:solidFill>
                <a:latin typeface="Arial MT"/>
                <a:cs typeface="Arial MT"/>
              </a:rPr>
              <a:t>used</a:t>
            </a:r>
            <a:r>
              <a:rPr sz="2000" spc="-30" dirty="0">
                <a:solidFill>
                  <a:srgbClr val="363639"/>
                </a:solidFill>
                <a:latin typeface="Arial MT"/>
                <a:cs typeface="Arial MT"/>
              </a:rPr>
              <a:t> </a:t>
            </a:r>
            <a:r>
              <a:rPr sz="2000" spc="-25" dirty="0">
                <a:solidFill>
                  <a:srgbClr val="363639"/>
                </a:solidFill>
                <a:latin typeface="Arial MT"/>
                <a:cs typeface="Arial MT"/>
              </a:rPr>
              <a:t>on 	</a:t>
            </a:r>
            <a:r>
              <a:rPr sz="2000" spc="-10" dirty="0">
                <a:solidFill>
                  <a:srgbClr val="363639"/>
                </a:solidFill>
                <a:latin typeface="Arial MT"/>
                <a:cs typeface="Arial MT"/>
              </a:rPr>
              <a:t>many</a:t>
            </a:r>
            <a:r>
              <a:rPr sz="2000" spc="-150" dirty="0">
                <a:solidFill>
                  <a:srgbClr val="363639"/>
                </a:solidFill>
                <a:latin typeface="Arial MT"/>
                <a:cs typeface="Arial MT"/>
              </a:rPr>
              <a:t> </a:t>
            </a:r>
            <a:r>
              <a:rPr sz="2000" dirty="0">
                <a:solidFill>
                  <a:srgbClr val="363639"/>
                </a:solidFill>
                <a:latin typeface="Arial MT"/>
                <a:cs typeface="Arial MT"/>
              </a:rPr>
              <a:t>different</a:t>
            </a:r>
            <a:r>
              <a:rPr sz="2000" spc="-45" dirty="0">
                <a:solidFill>
                  <a:srgbClr val="363639"/>
                </a:solidFill>
                <a:latin typeface="Arial MT"/>
                <a:cs typeface="Arial MT"/>
              </a:rPr>
              <a:t> </a:t>
            </a:r>
            <a:r>
              <a:rPr sz="2000" dirty="0">
                <a:solidFill>
                  <a:srgbClr val="363639"/>
                </a:solidFill>
                <a:latin typeface="Arial MT"/>
                <a:cs typeface="Arial MT"/>
              </a:rPr>
              <a:t>implementations</a:t>
            </a:r>
            <a:r>
              <a:rPr sz="2000" spc="-30" dirty="0">
                <a:solidFill>
                  <a:srgbClr val="363639"/>
                </a:solidFill>
                <a:latin typeface="Arial MT"/>
                <a:cs typeface="Arial MT"/>
              </a:rPr>
              <a:t> </a:t>
            </a:r>
            <a:r>
              <a:rPr sz="2000" dirty="0">
                <a:solidFill>
                  <a:srgbClr val="363639"/>
                </a:solidFill>
                <a:latin typeface="Arial MT"/>
                <a:cs typeface="Arial MT"/>
              </a:rPr>
              <a:t>of</a:t>
            </a:r>
            <a:r>
              <a:rPr sz="2000" spc="-30" dirty="0">
                <a:solidFill>
                  <a:srgbClr val="363639"/>
                </a:solidFill>
                <a:latin typeface="Arial MT"/>
                <a:cs typeface="Arial MT"/>
              </a:rPr>
              <a:t> </a:t>
            </a:r>
            <a:r>
              <a:rPr sz="2000" dirty="0">
                <a:solidFill>
                  <a:srgbClr val="363639"/>
                </a:solidFill>
                <a:latin typeface="Arial MT"/>
                <a:cs typeface="Arial MT"/>
              </a:rPr>
              <a:t>the</a:t>
            </a:r>
            <a:r>
              <a:rPr sz="2000" spc="-35" dirty="0">
                <a:solidFill>
                  <a:srgbClr val="363639"/>
                </a:solidFill>
                <a:latin typeface="Arial MT"/>
                <a:cs typeface="Arial MT"/>
              </a:rPr>
              <a:t> </a:t>
            </a:r>
            <a:r>
              <a:rPr sz="2000" dirty="0">
                <a:solidFill>
                  <a:srgbClr val="363639"/>
                </a:solidFill>
                <a:latin typeface="Arial MT"/>
                <a:cs typeface="Arial MT"/>
              </a:rPr>
              <a:t>appropriate</a:t>
            </a:r>
            <a:r>
              <a:rPr sz="2000" spc="-35" dirty="0">
                <a:solidFill>
                  <a:srgbClr val="363639"/>
                </a:solidFill>
                <a:latin typeface="Arial MT"/>
                <a:cs typeface="Arial MT"/>
              </a:rPr>
              <a:t> </a:t>
            </a:r>
            <a:r>
              <a:rPr sz="2000" spc="-10" dirty="0">
                <a:solidFill>
                  <a:srgbClr val="363639"/>
                </a:solidFill>
                <a:latin typeface="Arial MT"/>
                <a:cs typeface="Arial MT"/>
              </a:rPr>
              <a:t>collections 	interface.</a:t>
            </a:r>
            <a:endParaRPr sz="2000">
              <a:latin typeface="Arial MT"/>
              <a:cs typeface="Arial MT"/>
            </a:endParaRPr>
          </a:p>
          <a:p>
            <a:pPr marL="958850" indent="-351155">
              <a:lnSpc>
                <a:spcPct val="100000"/>
              </a:lnSpc>
              <a:spcBef>
                <a:spcPts val="1000"/>
              </a:spcBef>
              <a:buAutoNum type="alphaLcParenR"/>
              <a:tabLst>
                <a:tab pos="958850" algn="l"/>
              </a:tabLst>
            </a:pPr>
            <a:r>
              <a:rPr sz="2000" dirty="0">
                <a:solidFill>
                  <a:srgbClr val="363639"/>
                </a:solidFill>
                <a:latin typeface="Arial MT"/>
                <a:cs typeface="Arial MT"/>
              </a:rPr>
              <a:t>In</a:t>
            </a:r>
            <a:r>
              <a:rPr sz="2000" spc="-25" dirty="0">
                <a:solidFill>
                  <a:srgbClr val="363639"/>
                </a:solidFill>
                <a:latin typeface="Arial MT"/>
                <a:cs typeface="Arial MT"/>
              </a:rPr>
              <a:t> </a:t>
            </a:r>
            <a:r>
              <a:rPr sz="2000" dirty="0">
                <a:solidFill>
                  <a:srgbClr val="363639"/>
                </a:solidFill>
                <a:latin typeface="Arial MT"/>
                <a:cs typeface="Arial MT"/>
              </a:rPr>
              <a:t>essence,</a:t>
            </a:r>
            <a:r>
              <a:rPr sz="2000" spc="-25" dirty="0">
                <a:solidFill>
                  <a:srgbClr val="363639"/>
                </a:solidFill>
                <a:latin typeface="Arial MT"/>
                <a:cs typeface="Arial MT"/>
              </a:rPr>
              <a:t> </a:t>
            </a:r>
            <a:r>
              <a:rPr sz="2000" dirty="0">
                <a:solidFill>
                  <a:srgbClr val="363639"/>
                </a:solidFill>
                <a:latin typeface="Arial MT"/>
                <a:cs typeface="Arial MT"/>
              </a:rPr>
              <a:t>they</a:t>
            </a:r>
            <a:r>
              <a:rPr sz="2000" spc="-20" dirty="0">
                <a:solidFill>
                  <a:srgbClr val="363639"/>
                </a:solidFill>
                <a:latin typeface="Arial MT"/>
                <a:cs typeface="Arial MT"/>
              </a:rPr>
              <a:t> </a:t>
            </a:r>
            <a:r>
              <a:rPr sz="2000" dirty="0">
                <a:solidFill>
                  <a:srgbClr val="363639"/>
                </a:solidFill>
                <a:latin typeface="Arial MT"/>
                <a:cs typeface="Arial MT"/>
              </a:rPr>
              <a:t>are</a:t>
            </a:r>
            <a:r>
              <a:rPr sz="2000" spc="-25" dirty="0">
                <a:solidFill>
                  <a:srgbClr val="363639"/>
                </a:solidFill>
                <a:latin typeface="Arial MT"/>
                <a:cs typeface="Arial MT"/>
              </a:rPr>
              <a:t> </a:t>
            </a:r>
            <a:r>
              <a:rPr sz="2000" dirty="0">
                <a:solidFill>
                  <a:srgbClr val="D64A29"/>
                </a:solidFill>
                <a:latin typeface="Arial MT"/>
                <a:cs typeface="Arial MT"/>
              </a:rPr>
              <a:t>reusable</a:t>
            </a:r>
            <a:r>
              <a:rPr sz="2000" spc="-20" dirty="0">
                <a:solidFill>
                  <a:srgbClr val="D64A29"/>
                </a:solidFill>
                <a:latin typeface="Arial MT"/>
                <a:cs typeface="Arial MT"/>
              </a:rPr>
              <a:t> </a:t>
            </a:r>
            <a:r>
              <a:rPr sz="2000" spc="-10" dirty="0">
                <a:solidFill>
                  <a:srgbClr val="D64A29"/>
                </a:solidFill>
                <a:latin typeface="Arial MT"/>
                <a:cs typeface="Arial MT"/>
              </a:rPr>
              <a:t>functionality</a:t>
            </a:r>
            <a:r>
              <a:rPr sz="2000" spc="-10" dirty="0">
                <a:solidFill>
                  <a:srgbClr val="363639"/>
                </a:solidFill>
                <a:latin typeface="Arial MT"/>
                <a:cs typeface="Arial MT"/>
              </a:rPr>
              <a:t>.</a:t>
            </a:r>
            <a:endParaRPr sz="2000">
              <a:latin typeface="Arial MT"/>
              <a:cs typeface="Arial MT"/>
            </a:endParaRPr>
          </a:p>
        </p:txBody>
      </p:sp>
    </p:spTree>
    <p:extLst>
      <p:ext uri="{BB962C8B-B14F-4D97-AF65-F5344CB8AC3E}">
        <p14:creationId xmlns:p14="http://schemas.microsoft.com/office/powerpoint/2010/main" val="4600449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67355" y="661194"/>
            <a:ext cx="10451715" cy="689291"/>
          </a:xfrm>
          <a:prstGeom prst="rect">
            <a:avLst/>
          </a:prstGeom>
        </p:spPr>
        <p:txBody>
          <a:bodyPr vert="horz" wrap="square" lIns="0" tIns="12065" rIns="0" bIns="0" rtlCol="0">
            <a:spAutoFit/>
          </a:bodyPr>
          <a:lstStyle/>
          <a:p>
            <a:pPr marL="12700">
              <a:lnSpc>
                <a:spcPct val="100000"/>
              </a:lnSpc>
              <a:spcBef>
                <a:spcPts val="95"/>
              </a:spcBef>
              <a:tabLst>
                <a:tab pos="8609330" algn="l"/>
              </a:tabLst>
            </a:pPr>
            <a:r>
              <a:rPr u="heavy" dirty="0">
                <a:uFill>
                  <a:solidFill>
                    <a:srgbClr val="D64A2A"/>
                  </a:solidFill>
                </a:uFill>
                <a:latin typeface="Arial MT"/>
                <a:cs typeface="Arial MT"/>
              </a:rPr>
              <a:t>Collection</a:t>
            </a:r>
            <a:r>
              <a:rPr u="heavy" spc="-150" dirty="0">
                <a:uFill>
                  <a:solidFill>
                    <a:srgbClr val="D64A2A"/>
                  </a:solidFill>
                </a:uFill>
                <a:latin typeface="Arial MT"/>
                <a:cs typeface="Arial MT"/>
              </a:rPr>
              <a:t> </a:t>
            </a:r>
            <a:r>
              <a:rPr u="heavy" dirty="0">
                <a:uFill>
                  <a:solidFill>
                    <a:srgbClr val="D64A2A"/>
                  </a:solidFill>
                </a:uFill>
                <a:latin typeface="Arial MT"/>
                <a:cs typeface="Arial MT"/>
              </a:rPr>
              <a:t>Framework</a:t>
            </a:r>
            <a:r>
              <a:rPr u="heavy" spc="-140" dirty="0">
                <a:uFill>
                  <a:solidFill>
                    <a:srgbClr val="D64A2A"/>
                  </a:solidFill>
                </a:uFill>
                <a:latin typeface="Arial MT"/>
                <a:cs typeface="Arial MT"/>
              </a:rPr>
              <a:t> </a:t>
            </a:r>
            <a:r>
              <a:rPr u="heavy" spc="-50" dirty="0">
                <a:uFill>
                  <a:solidFill>
                    <a:srgbClr val="D64A2A"/>
                  </a:solidFill>
                </a:uFill>
                <a:latin typeface="Arial MT"/>
                <a:cs typeface="Arial MT"/>
              </a:rPr>
              <a:t>3</a:t>
            </a:r>
            <a:r>
              <a:rPr u="heavy" dirty="0">
                <a:uFill>
                  <a:solidFill>
                    <a:srgbClr val="D64A2A"/>
                  </a:solidFill>
                </a:uFill>
                <a:latin typeface="Arial MT"/>
                <a:cs typeface="Arial MT"/>
              </a:rPr>
              <a:t>	</a:t>
            </a:r>
          </a:p>
        </p:txBody>
      </p:sp>
      <p:pic>
        <p:nvPicPr>
          <p:cNvPr id="4" name="object 4"/>
          <p:cNvPicPr/>
          <p:nvPr/>
        </p:nvPicPr>
        <p:blipFill>
          <a:blip r:embed="rId2" cstate="print"/>
          <a:stretch>
            <a:fillRect/>
          </a:stretch>
        </p:blipFill>
        <p:spPr>
          <a:xfrm>
            <a:off x="1021542" y="1497330"/>
            <a:ext cx="9682479" cy="4641924"/>
          </a:xfrm>
          <a:prstGeom prst="rect">
            <a:avLst/>
          </a:prstGeom>
        </p:spPr>
      </p:pic>
    </p:spTree>
    <p:extLst>
      <p:ext uri="{BB962C8B-B14F-4D97-AF65-F5344CB8AC3E}">
        <p14:creationId xmlns:p14="http://schemas.microsoft.com/office/powerpoint/2010/main" val="12567326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67355" y="661194"/>
            <a:ext cx="10451715" cy="689291"/>
          </a:xfrm>
          <a:prstGeom prst="rect">
            <a:avLst/>
          </a:prstGeom>
        </p:spPr>
        <p:txBody>
          <a:bodyPr vert="horz" wrap="square" lIns="0" tIns="12065" rIns="0" bIns="0" rtlCol="0">
            <a:spAutoFit/>
          </a:bodyPr>
          <a:lstStyle/>
          <a:p>
            <a:pPr marL="12700">
              <a:lnSpc>
                <a:spcPct val="100000"/>
              </a:lnSpc>
              <a:spcBef>
                <a:spcPts val="95"/>
              </a:spcBef>
              <a:tabLst>
                <a:tab pos="8609330" algn="l"/>
              </a:tabLst>
            </a:pPr>
            <a:r>
              <a:rPr u="heavy" dirty="0">
                <a:uFill>
                  <a:solidFill>
                    <a:srgbClr val="D64A2A"/>
                  </a:solidFill>
                </a:uFill>
                <a:latin typeface="Arial MT"/>
                <a:cs typeface="Arial MT"/>
              </a:rPr>
              <a:t>Benefits</a:t>
            </a:r>
            <a:r>
              <a:rPr u="heavy" spc="-120" dirty="0">
                <a:uFill>
                  <a:solidFill>
                    <a:srgbClr val="D64A2A"/>
                  </a:solidFill>
                </a:uFill>
                <a:latin typeface="Arial MT"/>
                <a:cs typeface="Arial MT"/>
              </a:rPr>
              <a:t> </a:t>
            </a:r>
            <a:r>
              <a:rPr u="heavy" spc="-50" dirty="0">
                <a:uFill>
                  <a:solidFill>
                    <a:srgbClr val="D64A2A"/>
                  </a:solidFill>
                </a:uFill>
                <a:latin typeface="Arial MT"/>
                <a:cs typeface="Arial MT"/>
              </a:rPr>
              <a:t>1</a:t>
            </a:r>
            <a:r>
              <a:rPr u="heavy" dirty="0">
                <a:uFill>
                  <a:solidFill>
                    <a:srgbClr val="D64A2A"/>
                  </a:solidFill>
                </a:uFill>
                <a:latin typeface="Arial MT"/>
                <a:cs typeface="Arial MT"/>
              </a:rPr>
              <a:t>	</a:t>
            </a:r>
          </a:p>
        </p:txBody>
      </p:sp>
      <p:sp>
        <p:nvSpPr>
          <p:cNvPr id="4" name="object 4"/>
          <p:cNvSpPr txBox="1"/>
          <p:nvPr/>
        </p:nvSpPr>
        <p:spPr>
          <a:xfrm>
            <a:off x="1052317" y="1413509"/>
            <a:ext cx="7739303" cy="4718599"/>
          </a:xfrm>
          <a:prstGeom prst="rect">
            <a:avLst/>
          </a:prstGeom>
        </p:spPr>
        <p:txBody>
          <a:bodyPr vert="horz" wrap="square" lIns="0" tIns="12065" rIns="0" bIns="0" rtlCol="0">
            <a:spAutoFit/>
          </a:bodyPr>
          <a:lstStyle/>
          <a:p>
            <a:pPr marL="12700">
              <a:lnSpc>
                <a:spcPct val="100000"/>
              </a:lnSpc>
              <a:spcBef>
                <a:spcPts val="95"/>
              </a:spcBef>
            </a:pPr>
            <a:r>
              <a:rPr sz="2000" dirty="0">
                <a:solidFill>
                  <a:srgbClr val="363639"/>
                </a:solidFill>
                <a:latin typeface="Arial MT"/>
                <a:cs typeface="Arial MT"/>
              </a:rPr>
              <a:t>Collection</a:t>
            </a:r>
            <a:r>
              <a:rPr sz="2000" spc="-40" dirty="0">
                <a:solidFill>
                  <a:srgbClr val="363639"/>
                </a:solidFill>
                <a:latin typeface="Arial MT"/>
                <a:cs typeface="Arial MT"/>
              </a:rPr>
              <a:t> </a:t>
            </a:r>
            <a:r>
              <a:rPr sz="2000" dirty="0">
                <a:solidFill>
                  <a:srgbClr val="363639"/>
                </a:solidFill>
                <a:latin typeface="Arial MT"/>
                <a:cs typeface="Arial MT"/>
              </a:rPr>
              <a:t>Framework</a:t>
            </a:r>
            <a:r>
              <a:rPr sz="2000" spc="-40" dirty="0">
                <a:solidFill>
                  <a:srgbClr val="363639"/>
                </a:solidFill>
                <a:latin typeface="Arial MT"/>
                <a:cs typeface="Arial MT"/>
              </a:rPr>
              <a:t> </a:t>
            </a:r>
            <a:r>
              <a:rPr sz="2000" dirty="0">
                <a:solidFill>
                  <a:srgbClr val="363639"/>
                </a:solidFill>
                <a:latin typeface="Arial MT"/>
                <a:cs typeface="Arial MT"/>
              </a:rPr>
              <a:t>offers</a:t>
            </a:r>
            <a:r>
              <a:rPr sz="2000" spc="-45" dirty="0">
                <a:solidFill>
                  <a:srgbClr val="363639"/>
                </a:solidFill>
                <a:latin typeface="Arial MT"/>
                <a:cs typeface="Arial MT"/>
              </a:rPr>
              <a:t> </a:t>
            </a:r>
            <a:r>
              <a:rPr sz="2000" dirty="0">
                <a:solidFill>
                  <a:srgbClr val="363639"/>
                </a:solidFill>
                <a:latin typeface="Arial MT"/>
                <a:cs typeface="Arial MT"/>
              </a:rPr>
              <a:t>the</a:t>
            </a:r>
            <a:r>
              <a:rPr sz="2000" spc="-40" dirty="0">
                <a:solidFill>
                  <a:srgbClr val="363639"/>
                </a:solidFill>
                <a:latin typeface="Arial MT"/>
                <a:cs typeface="Arial MT"/>
              </a:rPr>
              <a:t> </a:t>
            </a:r>
            <a:r>
              <a:rPr sz="2000" dirty="0">
                <a:solidFill>
                  <a:srgbClr val="363639"/>
                </a:solidFill>
                <a:latin typeface="Arial MT"/>
                <a:cs typeface="Arial MT"/>
              </a:rPr>
              <a:t>following</a:t>
            </a:r>
            <a:r>
              <a:rPr sz="2000" spc="-40" dirty="0">
                <a:solidFill>
                  <a:srgbClr val="363639"/>
                </a:solidFill>
                <a:latin typeface="Arial MT"/>
                <a:cs typeface="Arial MT"/>
              </a:rPr>
              <a:t> </a:t>
            </a:r>
            <a:r>
              <a:rPr sz="2000" spc="-10" dirty="0">
                <a:solidFill>
                  <a:srgbClr val="363639"/>
                </a:solidFill>
                <a:latin typeface="Arial MT"/>
                <a:cs typeface="Arial MT"/>
              </a:rPr>
              <a:t>benefits:</a:t>
            </a:r>
            <a:endParaRPr sz="2000">
              <a:latin typeface="Arial MT"/>
              <a:cs typeface="Arial MT"/>
            </a:endParaRPr>
          </a:p>
          <a:p>
            <a:pPr>
              <a:lnSpc>
                <a:spcPct val="100000"/>
              </a:lnSpc>
              <a:spcBef>
                <a:spcPts val="2100"/>
              </a:spcBef>
            </a:pPr>
            <a:endParaRPr sz="2000">
              <a:latin typeface="Arial MT"/>
              <a:cs typeface="Arial MT"/>
            </a:endParaRPr>
          </a:p>
          <a:p>
            <a:pPr marL="393065" indent="-380365">
              <a:lnSpc>
                <a:spcPct val="100000"/>
              </a:lnSpc>
              <a:buAutoNum type="arabicParenR"/>
              <a:tabLst>
                <a:tab pos="393065" algn="l"/>
              </a:tabLst>
            </a:pPr>
            <a:r>
              <a:rPr sz="2000" dirty="0">
                <a:solidFill>
                  <a:srgbClr val="363639"/>
                </a:solidFill>
                <a:latin typeface="Arial MT"/>
                <a:cs typeface="Arial MT"/>
              </a:rPr>
              <a:t>It</a:t>
            </a:r>
            <a:r>
              <a:rPr sz="2000" spc="-35" dirty="0">
                <a:solidFill>
                  <a:srgbClr val="363639"/>
                </a:solidFill>
                <a:latin typeface="Arial MT"/>
                <a:cs typeface="Arial MT"/>
              </a:rPr>
              <a:t> </a:t>
            </a:r>
            <a:r>
              <a:rPr sz="2000" dirty="0">
                <a:solidFill>
                  <a:srgbClr val="363639"/>
                </a:solidFill>
                <a:latin typeface="Arial MT"/>
                <a:cs typeface="Arial MT"/>
              </a:rPr>
              <a:t>reduces</a:t>
            </a:r>
            <a:r>
              <a:rPr sz="2000" spc="-30" dirty="0">
                <a:solidFill>
                  <a:srgbClr val="363639"/>
                </a:solidFill>
                <a:latin typeface="Arial MT"/>
                <a:cs typeface="Arial MT"/>
              </a:rPr>
              <a:t> </a:t>
            </a:r>
            <a:r>
              <a:rPr sz="2000" dirty="0">
                <a:solidFill>
                  <a:srgbClr val="363639"/>
                </a:solidFill>
                <a:latin typeface="Arial MT"/>
                <a:cs typeface="Arial MT"/>
              </a:rPr>
              <a:t>programming</a:t>
            </a:r>
            <a:r>
              <a:rPr sz="2000" spc="-30" dirty="0">
                <a:solidFill>
                  <a:srgbClr val="363639"/>
                </a:solidFill>
                <a:latin typeface="Arial MT"/>
                <a:cs typeface="Arial MT"/>
              </a:rPr>
              <a:t> </a:t>
            </a:r>
            <a:r>
              <a:rPr sz="2000" spc="-10" dirty="0">
                <a:solidFill>
                  <a:srgbClr val="363639"/>
                </a:solidFill>
                <a:latin typeface="Arial MT"/>
                <a:cs typeface="Arial MT"/>
              </a:rPr>
              <a:t>effort</a:t>
            </a:r>
            <a:endParaRPr sz="2000">
              <a:latin typeface="Arial MT"/>
              <a:cs typeface="Arial MT"/>
            </a:endParaRPr>
          </a:p>
          <a:p>
            <a:pPr marL="970915" lvl="1" indent="-381000">
              <a:lnSpc>
                <a:spcPct val="100000"/>
              </a:lnSpc>
              <a:spcBef>
                <a:spcPts val="1000"/>
              </a:spcBef>
              <a:buAutoNum type="alphaLcParenR"/>
              <a:tabLst>
                <a:tab pos="970915" algn="l"/>
              </a:tabLst>
            </a:pPr>
            <a:r>
              <a:rPr sz="2000" dirty="0">
                <a:solidFill>
                  <a:srgbClr val="363639"/>
                </a:solidFill>
                <a:latin typeface="Arial MT"/>
                <a:cs typeface="Arial MT"/>
              </a:rPr>
              <a:t>Powerful</a:t>
            </a:r>
            <a:r>
              <a:rPr sz="2000" spc="-30" dirty="0">
                <a:solidFill>
                  <a:srgbClr val="363639"/>
                </a:solidFill>
                <a:latin typeface="Arial MT"/>
                <a:cs typeface="Arial MT"/>
              </a:rPr>
              <a:t> </a:t>
            </a:r>
            <a:r>
              <a:rPr sz="2000" dirty="0">
                <a:solidFill>
                  <a:srgbClr val="363639"/>
                </a:solidFill>
                <a:latin typeface="Arial MT"/>
                <a:cs typeface="Arial MT"/>
              </a:rPr>
              <a:t>data</a:t>
            </a:r>
            <a:r>
              <a:rPr sz="2000" spc="-30" dirty="0">
                <a:solidFill>
                  <a:srgbClr val="363639"/>
                </a:solidFill>
                <a:latin typeface="Arial MT"/>
                <a:cs typeface="Arial MT"/>
              </a:rPr>
              <a:t> </a:t>
            </a:r>
            <a:r>
              <a:rPr sz="2000" dirty="0">
                <a:solidFill>
                  <a:srgbClr val="363639"/>
                </a:solidFill>
                <a:latin typeface="Arial MT"/>
                <a:cs typeface="Arial MT"/>
              </a:rPr>
              <a:t>structures</a:t>
            </a:r>
            <a:r>
              <a:rPr sz="2000" spc="-25" dirty="0">
                <a:solidFill>
                  <a:srgbClr val="363639"/>
                </a:solidFill>
                <a:latin typeface="Arial MT"/>
                <a:cs typeface="Arial MT"/>
              </a:rPr>
              <a:t> </a:t>
            </a:r>
            <a:r>
              <a:rPr sz="2000" dirty="0">
                <a:solidFill>
                  <a:srgbClr val="363639"/>
                </a:solidFill>
                <a:latin typeface="Arial MT"/>
                <a:cs typeface="Arial MT"/>
              </a:rPr>
              <a:t>and</a:t>
            </a:r>
            <a:r>
              <a:rPr sz="2000" spc="-30" dirty="0">
                <a:solidFill>
                  <a:srgbClr val="363639"/>
                </a:solidFill>
                <a:latin typeface="Arial MT"/>
                <a:cs typeface="Arial MT"/>
              </a:rPr>
              <a:t> </a:t>
            </a:r>
            <a:r>
              <a:rPr sz="2000" spc="-10" dirty="0">
                <a:solidFill>
                  <a:srgbClr val="363639"/>
                </a:solidFill>
                <a:latin typeface="Arial MT"/>
                <a:cs typeface="Arial MT"/>
              </a:rPr>
              <a:t>algorithms</a:t>
            </a:r>
            <a:endParaRPr sz="2000">
              <a:latin typeface="Arial MT"/>
              <a:cs typeface="Arial MT"/>
            </a:endParaRPr>
          </a:p>
          <a:p>
            <a:pPr lvl="1">
              <a:lnSpc>
                <a:spcPct val="100000"/>
              </a:lnSpc>
              <a:spcBef>
                <a:spcPts val="2100"/>
              </a:spcBef>
              <a:buClr>
                <a:srgbClr val="363639"/>
              </a:buClr>
              <a:buFont typeface="Arial MT"/>
              <a:buAutoNum type="alphaLcParenR"/>
            </a:pPr>
            <a:endParaRPr sz="2000">
              <a:latin typeface="Arial MT"/>
              <a:cs typeface="Arial MT"/>
            </a:endParaRPr>
          </a:p>
          <a:p>
            <a:pPr marL="393065" indent="-380365">
              <a:lnSpc>
                <a:spcPct val="100000"/>
              </a:lnSpc>
              <a:buAutoNum type="arabicParenR"/>
              <a:tabLst>
                <a:tab pos="393065" algn="l"/>
              </a:tabLst>
            </a:pPr>
            <a:r>
              <a:rPr sz="2000" dirty="0">
                <a:solidFill>
                  <a:srgbClr val="363639"/>
                </a:solidFill>
                <a:latin typeface="Arial MT"/>
                <a:cs typeface="Arial MT"/>
              </a:rPr>
              <a:t>It</a:t>
            </a:r>
            <a:r>
              <a:rPr sz="2000" spc="-25" dirty="0">
                <a:solidFill>
                  <a:srgbClr val="363639"/>
                </a:solidFill>
                <a:latin typeface="Arial MT"/>
                <a:cs typeface="Arial MT"/>
              </a:rPr>
              <a:t> </a:t>
            </a:r>
            <a:r>
              <a:rPr sz="2000" dirty="0">
                <a:solidFill>
                  <a:srgbClr val="363639"/>
                </a:solidFill>
                <a:latin typeface="Arial MT"/>
                <a:cs typeface="Arial MT"/>
              </a:rPr>
              <a:t>increases</a:t>
            </a:r>
            <a:r>
              <a:rPr sz="2000" spc="-20" dirty="0">
                <a:solidFill>
                  <a:srgbClr val="363639"/>
                </a:solidFill>
                <a:latin typeface="Arial MT"/>
                <a:cs typeface="Arial MT"/>
              </a:rPr>
              <a:t> </a:t>
            </a:r>
            <a:r>
              <a:rPr sz="2000" dirty="0">
                <a:solidFill>
                  <a:srgbClr val="363639"/>
                </a:solidFill>
                <a:latin typeface="Arial MT"/>
                <a:cs typeface="Arial MT"/>
              </a:rPr>
              <a:t>program</a:t>
            </a:r>
            <a:r>
              <a:rPr sz="2000" spc="-30" dirty="0">
                <a:solidFill>
                  <a:srgbClr val="363639"/>
                </a:solidFill>
                <a:latin typeface="Arial MT"/>
                <a:cs typeface="Arial MT"/>
              </a:rPr>
              <a:t> </a:t>
            </a:r>
            <a:r>
              <a:rPr sz="2000" dirty="0">
                <a:solidFill>
                  <a:srgbClr val="363639"/>
                </a:solidFill>
                <a:latin typeface="Arial MT"/>
                <a:cs typeface="Arial MT"/>
              </a:rPr>
              <a:t>speed</a:t>
            </a:r>
            <a:r>
              <a:rPr sz="2000" spc="-25" dirty="0">
                <a:solidFill>
                  <a:srgbClr val="363639"/>
                </a:solidFill>
                <a:latin typeface="Arial MT"/>
                <a:cs typeface="Arial MT"/>
              </a:rPr>
              <a:t> </a:t>
            </a:r>
            <a:r>
              <a:rPr sz="2000" dirty="0">
                <a:solidFill>
                  <a:srgbClr val="363639"/>
                </a:solidFill>
                <a:latin typeface="Arial MT"/>
                <a:cs typeface="Arial MT"/>
              </a:rPr>
              <a:t>and</a:t>
            </a:r>
            <a:r>
              <a:rPr sz="2000" spc="-15" dirty="0">
                <a:solidFill>
                  <a:srgbClr val="363639"/>
                </a:solidFill>
                <a:latin typeface="Arial MT"/>
                <a:cs typeface="Arial MT"/>
              </a:rPr>
              <a:t> </a:t>
            </a:r>
            <a:r>
              <a:rPr sz="2000" spc="-10" dirty="0">
                <a:solidFill>
                  <a:srgbClr val="363639"/>
                </a:solidFill>
                <a:latin typeface="Arial MT"/>
                <a:cs typeface="Arial MT"/>
              </a:rPr>
              <a:t>quality</a:t>
            </a:r>
            <a:endParaRPr sz="2000">
              <a:latin typeface="Arial MT"/>
              <a:cs typeface="Arial MT"/>
            </a:endParaRPr>
          </a:p>
          <a:p>
            <a:pPr marL="970915" lvl="1" indent="-381000">
              <a:lnSpc>
                <a:spcPct val="100000"/>
              </a:lnSpc>
              <a:spcBef>
                <a:spcPts val="1000"/>
              </a:spcBef>
              <a:buAutoNum type="alphaLcParenR"/>
              <a:tabLst>
                <a:tab pos="970915" algn="l"/>
              </a:tabLst>
            </a:pPr>
            <a:r>
              <a:rPr sz="2000" dirty="0">
                <a:solidFill>
                  <a:srgbClr val="363639"/>
                </a:solidFill>
                <a:latin typeface="Arial MT"/>
                <a:cs typeface="Arial MT"/>
              </a:rPr>
              <a:t>High</a:t>
            </a:r>
            <a:r>
              <a:rPr sz="2000" spc="-30" dirty="0">
                <a:solidFill>
                  <a:srgbClr val="363639"/>
                </a:solidFill>
                <a:latin typeface="Arial MT"/>
                <a:cs typeface="Arial MT"/>
              </a:rPr>
              <a:t> </a:t>
            </a:r>
            <a:r>
              <a:rPr sz="2000" dirty="0">
                <a:solidFill>
                  <a:srgbClr val="363639"/>
                </a:solidFill>
                <a:latin typeface="Arial MT"/>
                <a:cs typeface="Arial MT"/>
              </a:rPr>
              <a:t>quality</a:t>
            </a:r>
            <a:r>
              <a:rPr sz="2000" spc="-25" dirty="0">
                <a:solidFill>
                  <a:srgbClr val="363639"/>
                </a:solidFill>
                <a:latin typeface="Arial MT"/>
                <a:cs typeface="Arial MT"/>
              </a:rPr>
              <a:t> </a:t>
            </a:r>
            <a:r>
              <a:rPr sz="2000" spc="-10" dirty="0">
                <a:solidFill>
                  <a:srgbClr val="363639"/>
                </a:solidFill>
                <a:latin typeface="Arial MT"/>
                <a:cs typeface="Arial MT"/>
              </a:rPr>
              <a:t>implementations</a:t>
            </a:r>
            <a:endParaRPr sz="2000">
              <a:latin typeface="Arial MT"/>
              <a:cs typeface="Arial MT"/>
            </a:endParaRPr>
          </a:p>
          <a:p>
            <a:pPr marL="970915" lvl="1" indent="-381000">
              <a:lnSpc>
                <a:spcPct val="100000"/>
              </a:lnSpc>
              <a:spcBef>
                <a:spcPts val="1000"/>
              </a:spcBef>
              <a:buAutoNum type="alphaLcParenR"/>
              <a:tabLst>
                <a:tab pos="970915" algn="l"/>
              </a:tabLst>
            </a:pPr>
            <a:r>
              <a:rPr sz="2000" dirty="0">
                <a:solidFill>
                  <a:srgbClr val="363639"/>
                </a:solidFill>
                <a:latin typeface="Arial MT"/>
                <a:cs typeface="Arial MT"/>
              </a:rPr>
              <a:t>Fine</a:t>
            </a:r>
            <a:r>
              <a:rPr sz="2000" spc="-35" dirty="0">
                <a:solidFill>
                  <a:srgbClr val="363639"/>
                </a:solidFill>
                <a:latin typeface="Arial MT"/>
                <a:cs typeface="Arial MT"/>
              </a:rPr>
              <a:t> </a:t>
            </a:r>
            <a:r>
              <a:rPr sz="2000" dirty="0">
                <a:solidFill>
                  <a:srgbClr val="363639"/>
                </a:solidFill>
                <a:latin typeface="Arial MT"/>
                <a:cs typeface="Arial MT"/>
              </a:rPr>
              <a:t>tuning</a:t>
            </a:r>
            <a:r>
              <a:rPr sz="2000" spc="-25" dirty="0">
                <a:solidFill>
                  <a:srgbClr val="363639"/>
                </a:solidFill>
                <a:latin typeface="Arial MT"/>
                <a:cs typeface="Arial MT"/>
              </a:rPr>
              <a:t> </a:t>
            </a:r>
            <a:r>
              <a:rPr sz="2000" dirty="0">
                <a:solidFill>
                  <a:srgbClr val="363639"/>
                </a:solidFill>
                <a:latin typeface="Arial MT"/>
                <a:cs typeface="Arial MT"/>
              </a:rPr>
              <a:t>by</a:t>
            </a:r>
            <a:r>
              <a:rPr sz="2000" spc="-25" dirty="0">
                <a:solidFill>
                  <a:srgbClr val="363639"/>
                </a:solidFill>
                <a:latin typeface="Arial MT"/>
                <a:cs typeface="Arial MT"/>
              </a:rPr>
              <a:t> </a:t>
            </a:r>
            <a:r>
              <a:rPr sz="2000" dirty="0">
                <a:solidFill>
                  <a:srgbClr val="363639"/>
                </a:solidFill>
                <a:latin typeface="Arial MT"/>
                <a:cs typeface="Arial MT"/>
              </a:rPr>
              <a:t>switching</a:t>
            </a:r>
            <a:r>
              <a:rPr sz="2000" spc="-25" dirty="0">
                <a:solidFill>
                  <a:srgbClr val="363639"/>
                </a:solidFill>
                <a:latin typeface="Arial MT"/>
                <a:cs typeface="Arial MT"/>
              </a:rPr>
              <a:t> </a:t>
            </a:r>
            <a:r>
              <a:rPr sz="2000" spc="-10" dirty="0">
                <a:solidFill>
                  <a:srgbClr val="363639"/>
                </a:solidFill>
                <a:latin typeface="Arial MT"/>
                <a:cs typeface="Arial MT"/>
              </a:rPr>
              <a:t>implementations</a:t>
            </a:r>
            <a:endParaRPr sz="2000">
              <a:latin typeface="Arial MT"/>
              <a:cs typeface="Arial MT"/>
            </a:endParaRPr>
          </a:p>
          <a:p>
            <a:pPr lvl="1">
              <a:lnSpc>
                <a:spcPct val="100000"/>
              </a:lnSpc>
              <a:spcBef>
                <a:spcPts val="2100"/>
              </a:spcBef>
              <a:buClr>
                <a:srgbClr val="363639"/>
              </a:buClr>
              <a:buFont typeface="Arial MT"/>
              <a:buAutoNum type="alphaLcParenR"/>
            </a:pPr>
            <a:endParaRPr sz="2000">
              <a:latin typeface="Arial MT"/>
              <a:cs typeface="Arial MT"/>
            </a:endParaRPr>
          </a:p>
          <a:p>
            <a:pPr marL="393065" indent="-380365">
              <a:lnSpc>
                <a:spcPct val="100000"/>
              </a:lnSpc>
              <a:buAutoNum type="arabicParenR"/>
              <a:tabLst>
                <a:tab pos="393065" algn="l"/>
              </a:tabLst>
            </a:pPr>
            <a:r>
              <a:rPr sz="2000" dirty="0">
                <a:solidFill>
                  <a:srgbClr val="363639"/>
                </a:solidFill>
                <a:latin typeface="Arial MT"/>
                <a:cs typeface="Arial MT"/>
              </a:rPr>
              <a:t>It</a:t>
            </a:r>
            <a:r>
              <a:rPr sz="2000" spc="-40" dirty="0">
                <a:solidFill>
                  <a:srgbClr val="363639"/>
                </a:solidFill>
                <a:latin typeface="Arial MT"/>
                <a:cs typeface="Arial MT"/>
              </a:rPr>
              <a:t> </a:t>
            </a:r>
            <a:r>
              <a:rPr sz="2000" dirty="0">
                <a:solidFill>
                  <a:srgbClr val="363639"/>
                </a:solidFill>
                <a:latin typeface="Arial MT"/>
                <a:cs typeface="Arial MT"/>
              </a:rPr>
              <a:t>allows</a:t>
            </a:r>
            <a:r>
              <a:rPr sz="2000" spc="-30" dirty="0">
                <a:solidFill>
                  <a:srgbClr val="363639"/>
                </a:solidFill>
                <a:latin typeface="Arial MT"/>
                <a:cs typeface="Arial MT"/>
              </a:rPr>
              <a:t> </a:t>
            </a:r>
            <a:r>
              <a:rPr sz="2000" dirty="0">
                <a:solidFill>
                  <a:srgbClr val="363639"/>
                </a:solidFill>
                <a:latin typeface="Arial MT"/>
                <a:cs typeface="Arial MT"/>
              </a:rPr>
              <a:t>interoperability</a:t>
            </a:r>
            <a:r>
              <a:rPr sz="2000" spc="-40" dirty="0">
                <a:solidFill>
                  <a:srgbClr val="363639"/>
                </a:solidFill>
                <a:latin typeface="Arial MT"/>
                <a:cs typeface="Arial MT"/>
              </a:rPr>
              <a:t> </a:t>
            </a:r>
            <a:r>
              <a:rPr sz="2000" dirty="0">
                <a:solidFill>
                  <a:srgbClr val="363639"/>
                </a:solidFill>
                <a:latin typeface="Arial MT"/>
                <a:cs typeface="Arial MT"/>
              </a:rPr>
              <a:t>among</a:t>
            </a:r>
            <a:r>
              <a:rPr sz="2000" spc="-30" dirty="0">
                <a:solidFill>
                  <a:srgbClr val="363639"/>
                </a:solidFill>
                <a:latin typeface="Arial MT"/>
                <a:cs typeface="Arial MT"/>
              </a:rPr>
              <a:t> </a:t>
            </a:r>
            <a:r>
              <a:rPr sz="2000" dirty="0">
                <a:solidFill>
                  <a:srgbClr val="363639"/>
                </a:solidFill>
                <a:latin typeface="Arial MT"/>
                <a:cs typeface="Arial MT"/>
              </a:rPr>
              <a:t>unrelated</a:t>
            </a:r>
            <a:r>
              <a:rPr sz="2000" spc="-35" dirty="0">
                <a:solidFill>
                  <a:srgbClr val="363639"/>
                </a:solidFill>
                <a:latin typeface="Arial MT"/>
                <a:cs typeface="Arial MT"/>
              </a:rPr>
              <a:t> </a:t>
            </a:r>
            <a:r>
              <a:rPr sz="2000" spc="-20" dirty="0">
                <a:solidFill>
                  <a:srgbClr val="363639"/>
                </a:solidFill>
                <a:latin typeface="Arial MT"/>
                <a:cs typeface="Arial MT"/>
              </a:rPr>
              <a:t>APIs</a:t>
            </a:r>
            <a:endParaRPr sz="2000">
              <a:latin typeface="Arial MT"/>
              <a:cs typeface="Arial MT"/>
            </a:endParaRPr>
          </a:p>
          <a:p>
            <a:pPr marL="970915" lvl="1" indent="-381000">
              <a:lnSpc>
                <a:spcPct val="100000"/>
              </a:lnSpc>
              <a:spcBef>
                <a:spcPts val="1005"/>
              </a:spcBef>
              <a:buAutoNum type="alphaLcParenR"/>
              <a:tabLst>
                <a:tab pos="970915" algn="l"/>
              </a:tabLst>
            </a:pPr>
            <a:r>
              <a:rPr sz="2000" dirty="0">
                <a:solidFill>
                  <a:srgbClr val="363639"/>
                </a:solidFill>
                <a:latin typeface="Arial MT"/>
                <a:cs typeface="Arial MT"/>
              </a:rPr>
              <a:t>Passing</a:t>
            </a:r>
            <a:r>
              <a:rPr sz="2000" spc="-30" dirty="0">
                <a:solidFill>
                  <a:srgbClr val="363639"/>
                </a:solidFill>
                <a:latin typeface="Arial MT"/>
                <a:cs typeface="Arial MT"/>
              </a:rPr>
              <a:t> </a:t>
            </a:r>
            <a:r>
              <a:rPr sz="2000" dirty="0">
                <a:solidFill>
                  <a:srgbClr val="363639"/>
                </a:solidFill>
                <a:latin typeface="Arial MT"/>
                <a:cs typeface="Arial MT"/>
              </a:rPr>
              <a:t>objects</a:t>
            </a:r>
            <a:r>
              <a:rPr sz="2000" spc="-25" dirty="0">
                <a:solidFill>
                  <a:srgbClr val="363639"/>
                </a:solidFill>
                <a:latin typeface="Arial MT"/>
                <a:cs typeface="Arial MT"/>
              </a:rPr>
              <a:t> </a:t>
            </a:r>
            <a:r>
              <a:rPr sz="2000" dirty="0">
                <a:solidFill>
                  <a:srgbClr val="363639"/>
                </a:solidFill>
                <a:latin typeface="Arial MT"/>
                <a:cs typeface="Arial MT"/>
              </a:rPr>
              <a:t>around</a:t>
            </a:r>
            <a:r>
              <a:rPr sz="2000" spc="-25" dirty="0">
                <a:solidFill>
                  <a:srgbClr val="363639"/>
                </a:solidFill>
                <a:latin typeface="Arial MT"/>
                <a:cs typeface="Arial MT"/>
              </a:rPr>
              <a:t> </a:t>
            </a:r>
            <a:r>
              <a:rPr sz="2000" dirty="0">
                <a:solidFill>
                  <a:srgbClr val="363639"/>
                </a:solidFill>
                <a:latin typeface="Arial MT"/>
                <a:cs typeface="Arial MT"/>
              </a:rPr>
              <a:t>from</a:t>
            </a:r>
            <a:r>
              <a:rPr sz="2000" spc="-25" dirty="0">
                <a:solidFill>
                  <a:srgbClr val="363639"/>
                </a:solidFill>
                <a:latin typeface="Arial MT"/>
                <a:cs typeface="Arial MT"/>
              </a:rPr>
              <a:t> </a:t>
            </a:r>
            <a:r>
              <a:rPr sz="2000" dirty="0">
                <a:solidFill>
                  <a:srgbClr val="363639"/>
                </a:solidFill>
                <a:latin typeface="Arial MT"/>
                <a:cs typeface="Arial MT"/>
              </a:rPr>
              <a:t>one</a:t>
            </a:r>
            <a:r>
              <a:rPr sz="2000" spc="-25" dirty="0">
                <a:solidFill>
                  <a:srgbClr val="363639"/>
                </a:solidFill>
                <a:latin typeface="Arial MT"/>
                <a:cs typeface="Arial MT"/>
              </a:rPr>
              <a:t> </a:t>
            </a:r>
            <a:r>
              <a:rPr sz="2000" dirty="0">
                <a:solidFill>
                  <a:srgbClr val="363639"/>
                </a:solidFill>
                <a:latin typeface="Arial MT"/>
                <a:cs typeface="Arial MT"/>
              </a:rPr>
              <a:t>API</a:t>
            </a:r>
            <a:r>
              <a:rPr sz="2000" spc="-30" dirty="0">
                <a:solidFill>
                  <a:srgbClr val="363639"/>
                </a:solidFill>
                <a:latin typeface="Arial MT"/>
                <a:cs typeface="Arial MT"/>
              </a:rPr>
              <a:t> </a:t>
            </a:r>
            <a:r>
              <a:rPr sz="2000" dirty="0">
                <a:solidFill>
                  <a:srgbClr val="363639"/>
                </a:solidFill>
                <a:latin typeface="Arial MT"/>
                <a:cs typeface="Arial MT"/>
              </a:rPr>
              <a:t>to</a:t>
            </a:r>
            <a:r>
              <a:rPr sz="2000" spc="-25" dirty="0">
                <a:solidFill>
                  <a:srgbClr val="363639"/>
                </a:solidFill>
                <a:latin typeface="Arial MT"/>
                <a:cs typeface="Arial MT"/>
              </a:rPr>
              <a:t> </a:t>
            </a:r>
            <a:r>
              <a:rPr sz="2000" spc="-10" dirty="0">
                <a:solidFill>
                  <a:srgbClr val="363639"/>
                </a:solidFill>
                <a:latin typeface="Arial MT"/>
                <a:cs typeface="Arial MT"/>
              </a:rPr>
              <a:t>another</a:t>
            </a:r>
            <a:endParaRPr sz="2000">
              <a:latin typeface="Arial MT"/>
              <a:cs typeface="Arial MT"/>
            </a:endParaRPr>
          </a:p>
        </p:txBody>
      </p:sp>
    </p:spTree>
    <p:extLst>
      <p:ext uri="{BB962C8B-B14F-4D97-AF65-F5344CB8AC3E}">
        <p14:creationId xmlns:p14="http://schemas.microsoft.com/office/powerpoint/2010/main" val="36602733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67355" y="661194"/>
            <a:ext cx="10451715" cy="689291"/>
          </a:xfrm>
          <a:prstGeom prst="rect">
            <a:avLst/>
          </a:prstGeom>
        </p:spPr>
        <p:txBody>
          <a:bodyPr vert="horz" wrap="square" lIns="0" tIns="12065" rIns="0" bIns="0" rtlCol="0">
            <a:spAutoFit/>
          </a:bodyPr>
          <a:lstStyle/>
          <a:p>
            <a:pPr marL="12700">
              <a:lnSpc>
                <a:spcPct val="100000"/>
              </a:lnSpc>
              <a:spcBef>
                <a:spcPts val="95"/>
              </a:spcBef>
              <a:tabLst>
                <a:tab pos="8609330" algn="l"/>
              </a:tabLst>
            </a:pPr>
            <a:r>
              <a:rPr u="heavy" dirty="0">
                <a:uFill>
                  <a:solidFill>
                    <a:srgbClr val="D64A2A"/>
                  </a:solidFill>
                </a:uFill>
                <a:latin typeface="Arial MT"/>
                <a:cs typeface="Arial MT"/>
              </a:rPr>
              <a:t>Benefits</a:t>
            </a:r>
            <a:r>
              <a:rPr u="heavy" spc="-120" dirty="0">
                <a:uFill>
                  <a:solidFill>
                    <a:srgbClr val="D64A2A"/>
                  </a:solidFill>
                </a:uFill>
                <a:latin typeface="Arial MT"/>
                <a:cs typeface="Arial MT"/>
              </a:rPr>
              <a:t> </a:t>
            </a:r>
            <a:r>
              <a:rPr u="heavy" spc="-50" dirty="0">
                <a:uFill>
                  <a:solidFill>
                    <a:srgbClr val="D64A2A"/>
                  </a:solidFill>
                </a:uFill>
                <a:latin typeface="Arial MT"/>
                <a:cs typeface="Arial MT"/>
              </a:rPr>
              <a:t>2</a:t>
            </a:r>
            <a:r>
              <a:rPr u="heavy" dirty="0">
                <a:uFill>
                  <a:solidFill>
                    <a:srgbClr val="D64A2A"/>
                  </a:solidFill>
                </a:uFill>
                <a:latin typeface="Arial MT"/>
                <a:cs typeface="Arial MT"/>
              </a:rPr>
              <a:t>	</a:t>
            </a:r>
          </a:p>
        </p:txBody>
      </p:sp>
      <p:sp>
        <p:nvSpPr>
          <p:cNvPr id="4" name="object 4"/>
          <p:cNvSpPr txBox="1"/>
          <p:nvPr/>
        </p:nvSpPr>
        <p:spPr>
          <a:xfrm>
            <a:off x="1052308" y="1301629"/>
            <a:ext cx="6898024" cy="3525965"/>
          </a:xfrm>
          <a:prstGeom prst="rect">
            <a:avLst/>
          </a:prstGeom>
        </p:spPr>
        <p:txBody>
          <a:bodyPr vert="horz" wrap="square" lIns="0" tIns="139065" rIns="0" bIns="0" rtlCol="0">
            <a:spAutoFit/>
          </a:bodyPr>
          <a:lstStyle/>
          <a:p>
            <a:pPr marL="463550" indent="-450850">
              <a:lnSpc>
                <a:spcPct val="100000"/>
              </a:lnSpc>
              <a:spcBef>
                <a:spcPts val="1095"/>
              </a:spcBef>
              <a:buAutoNum type="arabicParenR" startAt="4"/>
              <a:tabLst>
                <a:tab pos="463550" algn="l"/>
              </a:tabLst>
            </a:pPr>
            <a:r>
              <a:rPr sz="2000" dirty="0">
                <a:solidFill>
                  <a:srgbClr val="363639"/>
                </a:solidFill>
                <a:latin typeface="Arial MT"/>
                <a:cs typeface="Arial MT"/>
              </a:rPr>
              <a:t>It</a:t>
            </a:r>
            <a:r>
              <a:rPr sz="2000" spc="-25" dirty="0">
                <a:solidFill>
                  <a:srgbClr val="363639"/>
                </a:solidFill>
                <a:latin typeface="Arial MT"/>
                <a:cs typeface="Arial MT"/>
              </a:rPr>
              <a:t> </a:t>
            </a:r>
            <a:r>
              <a:rPr sz="2000" dirty="0">
                <a:solidFill>
                  <a:srgbClr val="363639"/>
                </a:solidFill>
                <a:latin typeface="Arial MT"/>
                <a:cs typeface="Arial MT"/>
              </a:rPr>
              <a:t>reduces</a:t>
            </a:r>
            <a:r>
              <a:rPr sz="2000" spc="-15" dirty="0">
                <a:solidFill>
                  <a:srgbClr val="363639"/>
                </a:solidFill>
                <a:latin typeface="Arial MT"/>
                <a:cs typeface="Arial MT"/>
              </a:rPr>
              <a:t> </a:t>
            </a:r>
            <a:r>
              <a:rPr sz="2000" dirty="0">
                <a:solidFill>
                  <a:srgbClr val="363639"/>
                </a:solidFill>
                <a:latin typeface="Arial MT"/>
                <a:cs typeface="Arial MT"/>
              </a:rPr>
              <a:t>the</a:t>
            </a:r>
            <a:r>
              <a:rPr sz="2000" spc="-15" dirty="0">
                <a:solidFill>
                  <a:srgbClr val="363639"/>
                </a:solidFill>
                <a:latin typeface="Arial MT"/>
                <a:cs typeface="Arial MT"/>
              </a:rPr>
              <a:t> </a:t>
            </a:r>
            <a:r>
              <a:rPr sz="2000" dirty="0">
                <a:solidFill>
                  <a:srgbClr val="363639"/>
                </a:solidFill>
                <a:latin typeface="Arial MT"/>
                <a:cs typeface="Arial MT"/>
              </a:rPr>
              <a:t>effort</a:t>
            </a:r>
            <a:r>
              <a:rPr sz="2000" spc="-20" dirty="0">
                <a:solidFill>
                  <a:srgbClr val="363639"/>
                </a:solidFill>
                <a:latin typeface="Arial MT"/>
                <a:cs typeface="Arial MT"/>
              </a:rPr>
              <a:t> </a:t>
            </a:r>
            <a:r>
              <a:rPr sz="2000" dirty="0">
                <a:solidFill>
                  <a:srgbClr val="363639"/>
                </a:solidFill>
                <a:latin typeface="Arial MT"/>
                <a:cs typeface="Arial MT"/>
              </a:rPr>
              <a:t>to</a:t>
            </a:r>
            <a:r>
              <a:rPr sz="2000" spc="-25" dirty="0">
                <a:solidFill>
                  <a:srgbClr val="363639"/>
                </a:solidFill>
                <a:latin typeface="Arial MT"/>
                <a:cs typeface="Arial MT"/>
              </a:rPr>
              <a:t> </a:t>
            </a:r>
            <a:r>
              <a:rPr sz="2000" dirty="0">
                <a:solidFill>
                  <a:srgbClr val="363639"/>
                </a:solidFill>
                <a:latin typeface="Arial MT"/>
                <a:cs typeface="Arial MT"/>
              </a:rPr>
              <a:t>learn</a:t>
            </a:r>
            <a:r>
              <a:rPr sz="2000" spc="-15" dirty="0">
                <a:solidFill>
                  <a:srgbClr val="363639"/>
                </a:solidFill>
                <a:latin typeface="Arial MT"/>
                <a:cs typeface="Arial MT"/>
              </a:rPr>
              <a:t> </a:t>
            </a:r>
            <a:r>
              <a:rPr sz="2000" dirty="0">
                <a:solidFill>
                  <a:srgbClr val="363639"/>
                </a:solidFill>
                <a:latin typeface="Arial MT"/>
                <a:cs typeface="Arial MT"/>
              </a:rPr>
              <a:t>and</a:t>
            </a:r>
            <a:r>
              <a:rPr sz="2000" spc="-15" dirty="0">
                <a:solidFill>
                  <a:srgbClr val="363639"/>
                </a:solidFill>
                <a:latin typeface="Arial MT"/>
                <a:cs typeface="Arial MT"/>
              </a:rPr>
              <a:t> </a:t>
            </a:r>
            <a:r>
              <a:rPr sz="2000" dirty="0">
                <a:solidFill>
                  <a:srgbClr val="363639"/>
                </a:solidFill>
                <a:latin typeface="Arial MT"/>
                <a:cs typeface="Arial MT"/>
              </a:rPr>
              <a:t>use</a:t>
            </a:r>
            <a:r>
              <a:rPr sz="2000" spc="-25" dirty="0">
                <a:solidFill>
                  <a:srgbClr val="363639"/>
                </a:solidFill>
                <a:latin typeface="Arial MT"/>
                <a:cs typeface="Arial MT"/>
              </a:rPr>
              <a:t> </a:t>
            </a:r>
            <a:r>
              <a:rPr sz="2000" dirty="0">
                <a:solidFill>
                  <a:srgbClr val="363639"/>
                </a:solidFill>
                <a:latin typeface="Arial MT"/>
                <a:cs typeface="Arial MT"/>
              </a:rPr>
              <a:t>new</a:t>
            </a:r>
            <a:r>
              <a:rPr sz="2000" spc="-15" dirty="0">
                <a:solidFill>
                  <a:srgbClr val="363639"/>
                </a:solidFill>
                <a:latin typeface="Arial MT"/>
                <a:cs typeface="Arial MT"/>
              </a:rPr>
              <a:t> </a:t>
            </a:r>
            <a:r>
              <a:rPr sz="2000" spc="-20" dirty="0">
                <a:solidFill>
                  <a:srgbClr val="363639"/>
                </a:solidFill>
                <a:latin typeface="Arial MT"/>
                <a:cs typeface="Arial MT"/>
              </a:rPr>
              <a:t>APIs</a:t>
            </a:r>
            <a:endParaRPr sz="2000">
              <a:latin typeface="Arial MT"/>
              <a:cs typeface="Arial MT"/>
            </a:endParaRPr>
          </a:p>
          <a:p>
            <a:pPr marL="970915" lvl="1" indent="-381000">
              <a:lnSpc>
                <a:spcPct val="100000"/>
              </a:lnSpc>
              <a:spcBef>
                <a:spcPts val="994"/>
              </a:spcBef>
              <a:buAutoNum type="alphaLcParenR"/>
              <a:tabLst>
                <a:tab pos="970915" algn="l"/>
              </a:tabLst>
            </a:pPr>
            <a:r>
              <a:rPr sz="2000" dirty="0">
                <a:solidFill>
                  <a:srgbClr val="363639"/>
                </a:solidFill>
                <a:latin typeface="Arial MT"/>
                <a:cs typeface="Arial MT"/>
              </a:rPr>
              <a:t>Uniformity</a:t>
            </a:r>
            <a:r>
              <a:rPr sz="2000" spc="-25" dirty="0">
                <a:solidFill>
                  <a:srgbClr val="363639"/>
                </a:solidFill>
                <a:latin typeface="Arial MT"/>
                <a:cs typeface="Arial MT"/>
              </a:rPr>
              <a:t> </a:t>
            </a:r>
            <a:r>
              <a:rPr sz="2000" dirty="0">
                <a:solidFill>
                  <a:srgbClr val="363639"/>
                </a:solidFill>
                <a:latin typeface="Arial MT"/>
                <a:cs typeface="Arial MT"/>
              </a:rPr>
              <a:t>of</a:t>
            </a:r>
            <a:r>
              <a:rPr sz="2000" spc="-30" dirty="0">
                <a:solidFill>
                  <a:srgbClr val="363639"/>
                </a:solidFill>
                <a:latin typeface="Arial MT"/>
                <a:cs typeface="Arial MT"/>
              </a:rPr>
              <a:t> </a:t>
            </a:r>
            <a:r>
              <a:rPr sz="2000" dirty="0">
                <a:solidFill>
                  <a:srgbClr val="363639"/>
                </a:solidFill>
                <a:latin typeface="Arial MT"/>
                <a:cs typeface="Arial MT"/>
              </a:rPr>
              <a:t>the</a:t>
            </a:r>
            <a:r>
              <a:rPr sz="2000" spc="-35" dirty="0">
                <a:solidFill>
                  <a:srgbClr val="363639"/>
                </a:solidFill>
                <a:latin typeface="Arial MT"/>
                <a:cs typeface="Arial MT"/>
              </a:rPr>
              <a:t> </a:t>
            </a:r>
            <a:r>
              <a:rPr sz="2000" spc="-10" dirty="0">
                <a:solidFill>
                  <a:srgbClr val="363639"/>
                </a:solidFill>
                <a:latin typeface="Arial MT"/>
                <a:cs typeface="Arial MT"/>
              </a:rPr>
              <a:t>framework</a:t>
            </a:r>
            <a:endParaRPr sz="2000">
              <a:latin typeface="Arial MT"/>
              <a:cs typeface="Arial MT"/>
            </a:endParaRPr>
          </a:p>
          <a:p>
            <a:pPr marL="1042035" lvl="1" indent="-452120">
              <a:lnSpc>
                <a:spcPct val="100000"/>
              </a:lnSpc>
              <a:spcBef>
                <a:spcPts val="1005"/>
              </a:spcBef>
              <a:buAutoNum type="alphaLcParenR"/>
              <a:tabLst>
                <a:tab pos="1042035" algn="l"/>
              </a:tabLst>
            </a:pPr>
            <a:r>
              <a:rPr sz="2000" dirty="0">
                <a:solidFill>
                  <a:srgbClr val="363639"/>
                </a:solidFill>
                <a:latin typeface="Arial MT"/>
                <a:cs typeface="Arial MT"/>
              </a:rPr>
              <a:t>APIs</a:t>
            </a:r>
            <a:r>
              <a:rPr sz="2000" spc="-30" dirty="0">
                <a:solidFill>
                  <a:srgbClr val="363639"/>
                </a:solidFill>
                <a:latin typeface="Arial MT"/>
                <a:cs typeface="Arial MT"/>
              </a:rPr>
              <a:t> </a:t>
            </a:r>
            <a:r>
              <a:rPr sz="2000" dirty="0">
                <a:solidFill>
                  <a:srgbClr val="363639"/>
                </a:solidFill>
                <a:latin typeface="Arial MT"/>
                <a:cs typeface="Arial MT"/>
              </a:rPr>
              <a:t>of</a:t>
            </a:r>
            <a:r>
              <a:rPr sz="2000" spc="-20" dirty="0">
                <a:solidFill>
                  <a:srgbClr val="363639"/>
                </a:solidFill>
                <a:latin typeface="Arial MT"/>
                <a:cs typeface="Arial MT"/>
              </a:rPr>
              <a:t> </a:t>
            </a:r>
            <a:r>
              <a:rPr sz="2000" spc="-10" dirty="0">
                <a:solidFill>
                  <a:srgbClr val="363639"/>
                </a:solidFill>
                <a:latin typeface="Arial MT"/>
                <a:cs typeface="Arial MT"/>
              </a:rPr>
              <a:t>applications</a:t>
            </a:r>
            <a:endParaRPr sz="2000">
              <a:latin typeface="Arial MT"/>
              <a:cs typeface="Arial MT"/>
            </a:endParaRPr>
          </a:p>
          <a:p>
            <a:pPr lvl="1">
              <a:lnSpc>
                <a:spcPct val="100000"/>
              </a:lnSpc>
              <a:spcBef>
                <a:spcPts val="2095"/>
              </a:spcBef>
              <a:buClr>
                <a:srgbClr val="363639"/>
              </a:buClr>
              <a:buFont typeface="Arial MT"/>
              <a:buAutoNum type="alphaLcParenR"/>
            </a:pPr>
            <a:endParaRPr sz="2000">
              <a:latin typeface="Arial MT"/>
              <a:cs typeface="Arial MT"/>
            </a:endParaRPr>
          </a:p>
          <a:p>
            <a:pPr marL="393065" indent="-380365">
              <a:lnSpc>
                <a:spcPct val="100000"/>
              </a:lnSpc>
              <a:buAutoNum type="arabicParenR" startAt="4"/>
              <a:tabLst>
                <a:tab pos="393065" algn="l"/>
              </a:tabLst>
            </a:pPr>
            <a:r>
              <a:rPr sz="2000" dirty="0">
                <a:solidFill>
                  <a:srgbClr val="363639"/>
                </a:solidFill>
                <a:latin typeface="Arial MT"/>
                <a:cs typeface="Arial MT"/>
              </a:rPr>
              <a:t>It</a:t>
            </a:r>
            <a:r>
              <a:rPr sz="2000" spc="-25" dirty="0">
                <a:solidFill>
                  <a:srgbClr val="363639"/>
                </a:solidFill>
                <a:latin typeface="Arial MT"/>
                <a:cs typeface="Arial MT"/>
              </a:rPr>
              <a:t> </a:t>
            </a:r>
            <a:r>
              <a:rPr sz="2000" dirty="0">
                <a:solidFill>
                  <a:srgbClr val="363639"/>
                </a:solidFill>
                <a:latin typeface="Arial MT"/>
                <a:cs typeface="Arial MT"/>
              </a:rPr>
              <a:t>reduces</a:t>
            </a:r>
            <a:r>
              <a:rPr sz="2000" spc="-20" dirty="0">
                <a:solidFill>
                  <a:srgbClr val="363639"/>
                </a:solidFill>
                <a:latin typeface="Arial MT"/>
                <a:cs typeface="Arial MT"/>
              </a:rPr>
              <a:t> </a:t>
            </a:r>
            <a:r>
              <a:rPr sz="2000" dirty="0">
                <a:solidFill>
                  <a:srgbClr val="363639"/>
                </a:solidFill>
                <a:latin typeface="Arial MT"/>
                <a:cs typeface="Arial MT"/>
              </a:rPr>
              <a:t>effort</a:t>
            </a:r>
            <a:r>
              <a:rPr sz="2000" spc="-25" dirty="0">
                <a:solidFill>
                  <a:srgbClr val="363639"/>
                </a:solidFill>
                <a:latin typeface="Arial MT"/>
                <a:cs typeface="Arial MT"/>
              </a:rPr>
              <a:t> </a:t>
            </a:r>
            <a:r>
              <a:rPr sz="2000" dirty="0">
                <a:solidFill>
                  <a:srgbClr val="363639"/>
                </a:solidFill>
                <a:latin typeface="Arial MT"/>
                <a:cs typeface="Arial MT"/>
              </a:rPr>
              <a:t>to</a:t>
            </a:r>
            <a:r>
              <a:rPr sz="2000" spc="-30" dirty="0">
                <a:solidFill>
                  <a:srgbClr val="363639"/>
                </a:solidFill>
                <a:latin typeface="Arial MT"/>
                <a:cs typeface="Arial MT"/>
              </a:rPr>
              <a:t> </a:t>
            </a:r>
            <a:r>
              <a:rPr sz="2000" dirty="0">
                <a:solidFill>
                  <a:srgbClr val="363639"/>
                </a:solidFill>
                <a:latin typeface="Arial MT"/>
                <a:cs typeface="Arial MT"/>
              </a:rPr>
              <a:t>design</a:t>
            </a:r>
            <a:r>
              <a:rPr sz="2000" spc="-10" dirty="0">
                <a:solidFill>
                  <a:srgbClr val="363639"/>
                </a:solidFill>
                <a:latin typeface="Arial MT"/>
                <a:cs typeface="Arial MT"/>
              </a:rPr>
              <a:t> </a:t>
            </a:r>
            <a:r>
              <a:rPr sz="2000" dirty="0">
                <a:solidFill>
                  <a:srgbClr val="363639"/>
                </a:solidFill>
                <a:latin typeface="Arial MT"/>
                <a:cs typeface="Arial MT"/>
              </a:rPr>
              <a:t>new</a:t>
            </a:r>
            <a:r>
              <a:rPr sz="2000" spc="-20" dirty="0">
                <a:solidFill>
                  <a:srgbClr val="363639"/>
                </a:solidFill>
                <a:latin typeface="Arial MT"/>
                <a:cs typeface="Arial MT"/>
              </a:rPr>
              <a:t> APIs</a:t>
            </a:r>
            <a:endParaRPr sz="2000">
              <a:latin typeface="Arial MT"/>
              <a:cs typeface="Arial MT"/>
            </a:endParaRPr>
          </a:p>
          <a:p>
            <a:pPr>
              <a:lnSpc>
                <a:spcPct val="100000"/>
              </a:lnSpc>
              <a:spcBef>
                <a:spcPts val="2105"/>
              </a:spcBef>
              <a:buClr>
                <a:srgbClr val="363639"/>
              </a:buClr>
              <a:buFont typeface="Arial MT"/>
              <a:buAutoNum type="arabicParenR" startAt="4"/>
            </a:pPr>
            <a:endParaRPr sz="2000">
              <a:latin typeface="Arial MT"/>
              <a:cs typeface="Arial MT"/>
            </a:endParaRPr>
          </a:p>
          <a:p>
            <a:pPr marL="393065" indent="-380365">
              <a:lnSpc>
                <a:spcPct val="100000"/>
              </a:lnSpc>
              <a:buAutoNum type="arabicParenR" startAt="4"/>
              <a:tabLst>
                <a:tab pos="393065" algn="l"/>
              </a:tabLst>
            </a:pPr>
            <a:r>
              <a:rPr sz="2000" dirty="0">
                <a:solidFill>
                  <a:srgbClr val="363639"/>
                </a:solidFill>
                <a:latin typeface="Arial MT"/>
                <a:cs typeface="Arial MT"/>
              </a:rPr>
              <a:t>It</a:t>
            </a:r>
            <a:r>
              <a:rPr sz="2000" spc="-30" dirty="0">
                <a:solidFill>
                  <a:srgbClr val="363639"/>
                </a:solidFill>
                <a:latin typeface="Arial MT"/>
                <a:cs typeface="Arial MT"/>
              </a:rPr>
              <a:t> </a:t>
            </a:r>
            <a:r>
              <a:rPr sz="2000" dirty="0">
                <a:solidFill>
                  <a:srgbClr val="363639"/>
                </a:solidFill>
                <a:latin typeface="Arial MT"/>
                <a:cs typeface="Arial MT"/>
              </a:rPr>
              <a:t>fosters</a:t>
            </a:r>
            <a:r>
              <a:rPr sz="2000" spc="-25" dirty="0">
                <a:solidFill>
                  <a:srgbClr val="363639"/>
                </a:solidFill>
                <a:latin typeface="Arial MT"/>
                <a:cs typeface="Arial MT"/>
              </a:rPr>
              <a:t> </a:t>
            </a:r>
            <a:r>
              <a:rPr sz="2000" dirty="0">
                <a:solidFill>
                  <a:srgbClr val="363639"/>
                </a:solidFill>
                <a:latin typeface="Arial MT"/>
                <a:cs typeface="Arial MT"/>
              </a:rPr>
              <a:t>software</a:t>
            </a:r>
            <a:r>
              <a:rPr sz="2000" spc="-25" dirty="0">
                <a:solidFill>
                  <a:srgbClr val="363639"/>
                </a:solidFill>
                <a:latin typeface="Arial MT"/>
                <a:cs typeface="Arial MT"/>
              </a:rPr>
              <a:t> </a:t>
            </a:r>
            <a:r>
              <a:rPr sz="2000" spc="-20" dirty="0">
                <a:solidFill>
                  <a:srgbClr val="363639"/>
                </a:solidFill>
                <a:latin typeface="Arial MT"/>
                <a:cs typeface="Arial MT"/>
              </a:rPr>
              <a:t>reuse</a:t>
            </a:r>
            <a:endParaRPr sz="2000">
              <a:latin typeface="Arial MT"/>
              <a:cs typeface="Arial MT"/>
            </a:endParaRPr>
          </a:p>
          <a:p>
            <a:pPr marL="970915" lvl="1" indent="-381000">
              <a:lnSpc>
                <a:spcPct val="100000"/>
              </a:lnSpc>
              <a:spcBef>
                <a:spcPts val="1000"/>
              </a:spcBef>
              <a:buAutoNum type="alphaLcParenR"/>
              <a:tabLst>
                <a:tab pos="970915" algn="l"/>
              </a:tabLst>
            </a:pPr>
            <a:r>
              <a:rPr sz="2000" dirty="0">
                <a:solidFill>
                  <a:srgbClr val="363639"/>
                </a:solidFill>
                <a:latin typeface="Arial MT"/>
                <a:cs typeface="Arial MT"/>
              </a:rPr>
              <a:t>New</a:t>
            </a:r>
            <a:r>
              <a:rPr sz="2000" spc="-25" dirty="0">
                <a:solidFill>
                  <a:srgbClr val="363639"/>
                </a:solidFill>
                <a:latin typeface="Arial MT"/>
                <a:cs typeface="Arial MT"/>
              </a:rPr>
              <a:t> </a:t>
            </a:r>
            <a:r>
              <a:rPr sz="2000" dirty="0">
                <a:solidFill>
                  <a:srgbClr val="363639"/>
                </a:solidFill>
                <a:latin typeface="Arial MT"/>
                <a:cs typeface="Arial MT"/>
              </a:rPr>
              <a:t>data</a:t>
            </a:r>
            <a:r>
              <a:rPr sz="2000" spc="-30" dirty="0">
                <a:solidFill>
                  <a:srgbClr val="363639"/>
                </a:solidFill>
                <a:latin typeface="Arial MT"/>
                <a:cs typeface="Arial MT"/>
              </a:rPr>
              <a:t> </a:t>
            </a:r>
            <a:r>
              <a:rPr sz="2000" dirty="0">
                <a:solidFill>
                  <a:srgbClr val="363639"/>
                </a:solidFill>
                <a:latin typeface="Arial MT"/>
                <a:cs typeface="Arial MT"/>
              </a:rPr>
              <a:t>structures</a:t>
            </a:r>
            <a:r>
              <a:rPr sz="2000" spc="-20" dirty="0">
                <a:solidFill>
                  <a:srgbClr val="363639"/>
                </a:solidFill>
                <a:latin typeface="Arial MT"/>
                <a:cs typeface="Arial MT"/>
              </a:rPr>
              <a:t> </a:t>
            </a:r>
            <a:r>
              <a:rPr sz="2000" dirty="0">
                <a:solidFill>
                  <a:srgbClr val="363639"/>
                </a:solidFill>
                <a:latin typeface="Arial MT"/>
                <a:cs typeface="Arial MT"/>
              </a:rPr>
              <a:t>and</a:t>
            </a:r>
            <a:r>
              <a:rPr sz="2000" spc="-30" dirty="0">
                <a:solidFill>
                  <a:srgbClr val="363639"/>
                </a:solidFill>
                <a:latin typeface="Arial MT"/>
                <a:cs typeface="Arial MT"/>
              </a:rPr>
              <a:t> </a:t>
            </a:r>
            <a:r>
              <a:rPr sz="2000" spc="-10" dirty="0">
                <a:solidFill>
                  <a:srgbClr val="363639"/>
                </a:solidFill>
                <a:latin typeface="Arial MT"/>
                <a:cs typeface="Arial MT"/>
              </a:rPr>
              <a:t>algorithms</a:t>
            </a:r>
            <a:endParaRPr sz="2000">
              <a:latin typeface="Arial MT"/>
              <a:cs typeface="Arial MT"/>
            </a:endParaRPr>
          </a:p>
        </p:txBody>
      </p:sp>
    </p:spTree>
    <p:extLst>
      <p:ext uri="{BB962C8B-B14F-4D97-AF65-F5344CB8AC3E}">
        <p14:creationId xmlns:p14="http://schemas.microsoft.com/office/powerpoint/2010/main" val="31505829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67355" y="661194"/>
            <a:ext cx="10451715" cy="689291"/>
          </a:xfrm>
          <a:prstGeom prst="rect">
            <a:avLst/>
          </a:prstGeom>
        </p:spPr>
        <p:txBody>
          <a:bodyPr vert="horz" wrap="square" lIns="0" tIns="12065" rIns="0" bIns="0" rtlCol="0">
            <a:spAutoFit/>
          </a:bodyPr>
          <a:lstStyle/>
          <a:p>
            <a:pPr marL="12700">
              <a:lnSpc>
                <a:spcPct val="100000"/>
              </a:lnSpc>
              <a:spcBef>
                <a:spcPts val="95"/>
              </a:spcBef>
              <a:tabLst>
                <a:tab pos="8609330" algn="l"/>
              </a:tabLst>
            </a:pPr>
            <a:r>
              <a:rPr u="heavy" dirty="0">
                <a:uFill>
                  <a:solidFill>
                    <a:srgbClr val="D64A2A"/>
                  </a:solidFill>
                </a:uFill>
                <a:latin typeface="Arial MT"/>
                <a:cs typeface="Arial MT"/>
              </a:rPr>
              <a:t>Core</a:t>
            </a:r>
            <a:r>
              <a:rPr u="heavy" spc="-155" dirty="0">
                <a:uFill>
                  <a:solidFill>
                    <a:srgbClr val="D64A2A"/>
                  </a:solidFill>
                </a:uFill>
                <a:latin typeface="Arial MT"/>
                <a:cs typeface="Arial MT"/>
              </a:rPr>
              <a:t> </a:t>
            </a:r>
            <a:r>
              <a:rPr u="heavy" dirty="0">
                <a:uFill>
                  <a:solidFill>
                    <a:srgbClr val="D64A2A"/>
                  </a:solidFill>
                </a:uFill>
                <a:latin typeface="Arial MT"/>
                <a:cs typeface="Arial MT"/>
              </a:rPr>
              <a:t>Collection</a:t>
            </a:r>
            <a:r>
              <a:rPr u="heavy" spc="-140" dirty="0">
                <a:uFill>
                  <a:solidFill>
                    <a:srgbClr val="D64A2A"/>
                  </a:solidFill>
                </a:uFill>
                <a:latin typeface="Arial MT"/>
                <a:cs typeface="Arial MT"/>
              </a:rPr>
              <a:t> </a:t>
            </a:r>
            <a:r>
              <a:rPr u="heavy" dirty="0">
                <a:uFill>
                  <a:solidFill>
                    <a:srgbClr val="D64A2A"/>
                  </a:solidFill>
                </a:uFill>
                <a:latin typeface="Arial MT"/>
                <a:cs typeface="Arial MT"/>
              </a:rPr>
              <a:t>Interfaces</a:t>
            </a:r>
            <a:r>
              <a:rPr u="heavy" spc="-130" dirty="0">
                <a:uFill>
                  <a:solidFill>
                    <a:srgbClr val="D64A2A"/>
                  </a:solidFill>
                </a:uFill>
                <a:latin typeface="Arial MT"/>
                <a:cs typeface="Arial MT"/>
              </a:rPr>
              <a:t> </a:t>
            </a:r>
            <a:r>
              <a:rPr u="heavy" spc="-50" dirty="0">
                <a:uFill>
                  <a:solidFill>
                    <a:srgbClr val="D64A2A"/>
                  </a:solidFill>
                </a:uFill>
                <a:latin typeface="Arial MT"/>
                <a:cs typeface="Arial MT"/>
              </a:rPr>
              <a:t>1</a:t>
            </a:r>
            <a:r>
              <a:rPr u="heavy" dirty="0">
                <a:uFill>
                  <a:solidFill>
                    <a:srgbClr val="D64A2A"/>
                  </a:solidFill>
                </a:uFill>
                <a:latin typeface="Arial MT"/>
                <a:cs typeface="Arial MT"/>
              </a:rPr>
              <a:t>	</a:t>
            </a:r>
          </a:p>
        </p:txBody>
      </p:sp>
      <p:sp>
        <p:nvSpPr>
          <p:cNvPr id="4" name="object 4"/>
          <p:cNvSpPr txBox="1"/>
          <p:nvPr/>
        </p:nvSpPr>
        <p:spPr>
          <a:xfrm>
            <a:off x="1052302" y="1447127"/>
            <a:ext cx="9929859" cy="4321055"/>
          </a:xfrm>
          <a:prstGeom prst="rect">
            <a:avLst/>
          </a:prstGeom>
        </p:spPr>
        <p:txBody>
          <a:bodyPr vert="horz" wrap="square" lIns="0" tIns="12065" rIns="0" bIns="0" rtlCol="0">
            <a:spAutoFit/>
          </a:bodyPr>
          <a:lstStyle/>
          <a:p>
            <a:pPr marL="12700" marR="5080">
              <a:lnSpc>
                <a:spcPct val="100000"/>
              </a:lnSpc>
              <a:spcBef>
                <a:spcPts val="95"/>
              </a:spcBef>
            </a:pPr>
            <a:r>
              <a:rPr sz="2000" dirty="0">
                <a:solidFill>
                  <a:srgbClr val="363639"/>
                </a:solidFill>
                <a:latin typeface="Arial MT"/>
                <a:cs typeface="Arial MT"/>
              </a:rPr>
              <a:t>These</a:t>
            </a:r>
            <a:r>
              <a:rPr sz="2000" spc="-25" dirty="0">
                <a:solidFill>
                  <a:srgbClr val="363639"/>
                </a:solidFill>
                <a:latin typeface="Arial MT"/>
                <a:cs typeface="Arial MT"/>
              </a:rPr>
              <a:t> </a:t>
            </a:r>
            <a:r>
              <a:rPr sz="2000" dirty="0">
                <a:solidFill>
                  <a:srgbClr val="363639"/>
                </a:solidFill>
                <a:latin typeface="Arial MT"/>
                <a:cs typeface="Arial MT"/>
              </a:rPr>
              <a:t>are</a:t>
            </a:r>
            <a:r>
              <a:rPr sz="2000" spc="-25" dirty="0">
                <a:solidFill>
                  <a:srgbClr val="363639"/>
                </a:solidFill>
                <a:latin typeface="Arial MT"/>
                <a:cs typeface="Arial MT"/>
              </a:rPr>
              <a:t> </a:t>
            </a:r>
            <a:r>
              <a:rPr sz="2000" dirty="0">
                <a:solidFill>
                  <a:srgbClr val="363639"/>
                </a:solidFill>
                <a:latin typeface="Arial MT"/>
                <a:cs typeface="Arial MT"/>
              </a:rPr>
              <a:t>interfaces</a:t>
            </a:r>
            <a:r>
              <a:rPr sz="2000" spc="-25" dirty="0">
                <a:solidFill>
                  <a:srgbClr val="363639"/>
                </a:solidFill>
                <a:latin typeface="Arial MT"/>
                <a:cs typeface="Arial MT"/>
              </a:rPr>
              <a:t> </a:t>
            </a:r>
            <a:r>
              <a:rPr sz="2000" dirty="0">
                <a:solidFill>
                  <a:srgbClr val="363639"/>
                </a:solidFill>
                <a:latin typeface="Arial MT"/>
                <a:cs typeface="Arial MT"/>
              </a:rPr>
              <a:t>used</a:t>
            </a:r>
            <a:r>
              <a:rPr sz="2000" spc="-30" dirty="0">
                <a:solidFill>
                  <a:srgbClr val="363639"/>
                </a:solidFill>
                <a:latin typeface="Arial MT"/>
                <a:cs typeface="Arial MT"/>
              </a:rPr>
              <a:t> </a:t>
            </a:r>
            <a:r>
              <a:rPr sz="2000" dirty="0">
                <a:solidFill>
                  <a:srgbClr val="363639"/>
                </a:solidFill>
                <a:latin typeface="Arial MT"/>
                <a:cs typeface="Arial MT"/>
              </a:rPr>
              <a:t>to</a:t>
            </a:r>
            <a:r>
              <a:rPr sz="2000" spc="-25" dirty="0">
                <a:solidFill>
                  <a:srgbClr val="363639"/>
                </a:solidFill>
                <a:latin typeface="Arial MT"/>
                <a:cs typeface="Arial MT"/>
              </a:rPr>
              <a:t> </a:t>
            </a:r>
            <a:r>
              <a:rPr sz="2000" dirty="0">
                <a:solidFill>
                  <a:srgbClr val="363639"/>
                </a:solidFill>
                <a:latin typeface="Arial MT"/>
                <a:cs typeface="Arial MT"/>
              </a:rPr>
              <a:t>manipulate</a:t>
            </a:r>
            <a:r>
              <a:rPr sz="2000" spc="-25" dirty="0">
                <a:solidFill>
                  <a:srgbClr val="363639"/>
                </a:solidFill>
                <a:latin typeface="Arial MT"/>
                <a:cs typeface="Arial MT"/>
              </a:rPr>
              <a:t> </a:t>
            </a:r>
            <a:r>
              <a:rPr sz="2000" dirty="0">
                <a:solidFill>
                  <a:srgbClr val="363639"/>
                </a:solidFill>
                <a:latin typeface="Arial MT"/>
                <a:cs typeface="Arial MT"/>
              </a:rPr>
              <a:t>collections,</a:t>
            </a:r>
            <a:r>
              <a:rPr sz="2000" spc="-20" dirty="0">
                <a:solidFill>
                  <a:srgbClr val="363639"/>
                </a:solidFill>
                <a:latin typeface="Arial MT"/>
                <a:cs typeface="Arial MT"/>
              </a:rPr>
              <a:t> </a:t>
            </a:r>
            <a:r>
              <a:rPr sz="2000" dirty="0">
                <a:solidFill>
                  <a:srgbClr val="363639"/>
                </a:solidFill>
                <a:latin typeface="Arial MT"/>
                <a:cs typeface="Arial MT"/>
              </a:rPr>
              <a:t>and</a:t>
            </a:r>
            <a:r>
              <a:rPr sz="2000" spc="-25" dirty="0">
                <a:solidFill>
                  <a:srgbClr val="363639"/>
                </a:solidFill>
                <a:latin typeface="Arial MT"/>
                <a:cs typeface="Arial MT"/>
              </a:rPr>
              <a:t> </a:t>
            </a:r>
            <a:r>
              <a:rPr sz="2000" dirty="0">
                <a:solidFill>
                  <a:srgbClr val="363639"/>
                </a:solidFill>
                <a:latin typeface="Arial MT"/>
                <a:cs typeface="Arial MT"/>
              </a:rPr>
              <a:t>pass</a:t>
            </a:r>
            <a:r>
              <a:rPr sz="2000" spc="-25" dirty="0">
                <a:solidFill>
                  <a:srgbClr val="363639"/>
                </a:solidFill>
                <a:latin typeface="Arial MT"/>
                <a:cs typeface="Arial MT"/>
              </a:rPr>
              <a:t> </a:t>
            </a:r>
            <a:r>
              <a:rPr sz="2000" dirty="0">
                <a:solidFill>
                  <a:srgbClr val="363639"/>
                </a:solidFill>
                <a:latin typeface="Arial MT"/>
                <a:cs typeface="Arial MT"/>
              </a:rPr>
              <a:t>them</a:t>
            </a:r>
            <a:r>
              <a:rPr sz="2000" spc="-30" dirty="0">
                <a:solidFill>
                  <a:srgbClr val="363639"/>
                </a:solidFill>
                <a:latin typeface="Arial MT"/>
                <a:cs typeface="Arial MT"/>
              </a:rPr>
              <a:t> </a:t>
            </a:r>
            <a:r>
              <a:rPr sz="2000" spc="-20" dirty="0">
                <a:solidFill>
                  <a:srgbClr val="363639"/>
                </a:solidFill>
                <a:latin typeface="Arial MT"/>
                <a:cs typeface="Arial MT"/>
              </a:rPr>
              <a:t>from </a:t>
            </a:r>
            <a:r>
              <a:rPr sz="2000" dirty="0">
                <a:solidFill>
                  <a:srgbClr val="363639"/>
                </a:solidFill>
                <a:latin typeface="Arial MT"/>
                <a:cs typeface="Arial MT"/>
              </a:rPr>
              <a:t>one</a:t>
            </a:r>
            <a:r>
              <a:rPr sz="2000" spc="-15" dirty="0">
                <a:solidFill>
                  <a:srgbClr val="363639"/>
                </a:solidFill>
                <a:latin typeface="Arial MT"/>
                <a:cs typeface="Arial MT"/>
              </a:rPr>
              <a:t> </a:t>
            </a:r>
            <a:r>
              <a:rPr sz="2000" dirty="0">
                <a:solidFill>
                  <a:srgbClr val="363639"/>
                </a:solidFill>
                <a:latin typeface="Arial MT"/>
                <a:cs typeface="Arial MT"/>
              </a:rPr>
              <a:t>method</a:t>
            </a:r>
            <a:r>
              <a:rPr sz="2000" spc="-20" dirty="0">
                <a:solidFill>
                  <a:srgbClr val="363639"/>
                </a:solidFill>
                <a:latin typeface="Arial MT"/>
                <a:cs typeface="Arial MT"/>
              </a:rPr>
              <a:t> </a:t>
            </a:r>
            <a:r>
              <a:rPr sz="2000" dirty="0">
                <a:solidFill>
                  <a:srgbClr val="363639"/>
                </a:solidFill>
                <a:latin typeface="Arial MT"/>
                <a:cs typeface="Arial MT"/>
              </a:rPr>
              <a:t>to</a:t>
            </a:r>
            <a:r>
              <a:rPr sz="2000" spc="-15" dirty="0">
                <a:solidFill>
                  <a:srgbClr val="363639"/>
                </a:solidFill>
                <a:latin typeface="Arial MT"/>
                <a:cs typeface="Arial MT"/>
              </a:rPr>
              <a:t> </a:t>
            </a:r>
            <a:r>
              <a:rPr sz="2000" spc="-10" dirty="0">
                <a:solidFill>
                  <a:srgbClr val="363639"/>
                </a:solidFill>
                <a:latin typeface="Arial MT"/>
                <a:cs typeface="Arial MT"/>
              </a:rPr>
              <a:t>another.</a:t>
            </a:r>
            <a:endParaRPr sz="2000">
              <a:latin typeface="Arial MT"/>
              <a:cs typeface="Arial MT"/>
            </a:endParaRPr>
          </a:p>
          <a:p>
            <a:pPr>
              <a:lnSpc>
                <a:spcPct val="100000"/>
              </a:lnSpc>
              <a:spcBef>
                <a:spcPts val="2100"/>
              </a:spcBef>
            </a:pPr>
            <a:endParaRPr sz="2000">
              <a:latin typeface="Arial MT"/>
              <a:cs typeface="Arial MT"/>
            </a:endParaRPr>
          </a:p>
          <a:p>
            <a:pPr marL="12700">
              <a:lnSpc>
                <a:spcPct val="100000"/>
              </a:lnSpc>
            </a:pPr>
            <a:r>
              <a:rPr sz="2000" spc="-10" dirty="0">
                <a:solidFill>
                  <a:srgbClr val="363639"/>
                </a:solidFill>
                <a:latin typeface="Arial MT"/>
                <a:cs typeface="Arial MT"/>
              </a:rPr>
              <a:t>Purpose:</a:t>
            </a:r>
            <a:endParaRPr sz="2000">
              <a:latin typeface="Arial MT"/>
              <a:cs typeface="Arial MT"/>
            </a:endParaRPr>
          </a:p>
          <a:p>
            <a:pPr marL="236220" marR="211454" indent="-228600">
              <a:lnSpc>
                <a:spcPct val="100000"/>
              </a:lnSpc>
              <a:spcBef>
                <a:spcPts val="1000"/>
              </a:spcBef>
              <a:buSzPct val="95000"/>
              <a:buAutoNum type="arabicParenR"/>
              <a:tabLst>
                <a:tab pos="250825" algn="l"/>
              </a:tabLst>
            </a:pPr>
            <a:r>
              <a:rPr sz="2000" dirty="0">
                <a:solidFill>
                  <a:srgbClr val="363639"/>
                </a:solidFill>
                <a:latin typeface="Arial MT"/>
                <a:cs typeface="Arial MT"/>
              </a:rPr>
              <a:t>To</a:t>
            </a:r>
            <a:r>
              <a:rPr sz="2000" spc="-30" dirty="0">
                <a:solidFill>
                  <a:srgbClr val="363639"/>
                </a:solidFill>
                <a:latin typeface="Arial MT"/>
                <a:cs typeface="Arial MT"/>
              </a:rPr>
              <a:t> </a:t>
            </a:r>
            <a:r>
              <a:rPr sz="2000" dirty="0">
                <a:solidFill>
                  <a:srgbClr val="363639"/>
                </a:solidFill>
                <a:latin typeface="Arial MT"/>
                <a:cs typeface="Arial MT"/>
              </a:rPr>
              <a:t>allow</a:t>
            </a:r>
            <a:r>
              <a:rPr sz="2000" spc="-25" dirty="0">
                <a:solidFill>
                  <a:srgbClr val="363639"/>
                </a:solidFill>
                <a:latin typeface="Arial MT"/>
                <a:cs typeface="Arial MT"/>
              </a:rPr>
              <a:t> </a:t>
            </a:r>
            <a:r>
              <a:rPr sz="2000" dirty="0">
                <a:solidFill>
                  <a:srgbClr val="363639"/>
                </a:solidFill>
                <a:latin typeface="Arial MT"/>
                <a:cs typeface="Arial MT"/>
              </a:rPr>
              <a:t>collections</a:t>
            </a:r>
            <a:r>
              <a:rPr sz="2000" spc="-25" dirty="0">
                <a:solidFill>
                  <a:srgbClr val="363639"/>
                </a:solidFill>
                <a:latin typeface="Arial MT"/>
                <a:cs typeface="Arial MT"/>
              </a:rPr>
              <a:t> </a:t>
            </a:r>
            <a:r>
              <a:rPr sz="2000" dirty="0">
                <a:solidFill>
                  <a:srgbClr val="363639"/>
                </a:solidFill>
                <a:latin typeface="Arial MT"/>
                <a:cs typeface="Arial MT"/>
              </a:rPr>
              <a:t>to</a:t>
            </a:r>
            <a:r>
              <a:rPr sz="2000" spc="-30" dirty="0">
                <a:solidFill>
                  <a:srgbClr val="363639"/>
                </a:solidFill>
                <a:latin typeface="Arial MT"/>
                <a:cs typeface="Arial MT"/>
              </a:rPr>
              <a:t> </a:t>
            </a:r>
            <a:r>
              <a:rPr sz="2000" dirty="0">
                <a:solidFill>
                  <a:srgbClr val="363639"/>
                </a:solidFill>
                <a:latin typeface="Arial MT"/>
                <a:cs typeface="Arial MT"/>
              </a:rPr>
              <a:t>be</a:t>
            </a:r>
            <a:r>
              <a:rPr sz="2000" spc="-40" dirty="0">
                <a:solidFill>
                  <a:srgbClr val="363639"/>
                </a:solidFill>
                <a:latin typeface="Arial MT"/>
                <a:cs typeface="Arial MT"/>
              </a:rPr>
              <a:t> </a:t>
            </a:r>
            <a:r>
              <a:rPr sz="2000" dirty="0">
                <a:solidFill>
                  <a:srgbClr val="363639"/>
                </a:solidFill>
                <a:latin typeface="Arial MT"/>
                <a:cs typeface="Arial MT"/>
              </a:rPr>
              <a:t>manipulated</a:t>
            </a:r>
            <a:r>
              <a:rPr sz="2000" spc="-30" dirty="0">
                <a:solidFill>
                  <a:srgbClr val="363639"/>
                </a:solidFill>
                <a:latin typeface="Arial MT"/>
                <a:cs typeface="Arial MT"/>
              </a:rPr>
              <a:t> </a:t>
            </a:r>
            <a:r>
              <a:rPr sz="2000" dirty="0">
                <a:solidFill>
                  <a:srgbClr val="363639"/>
                </a:solidFill>
                <a:latin typeface="Arial MT"/>
                <a:cs typeface="Arial MT"/>
              </a:rPr>
              <a:t>independently</a:t>
            </a:r>
            <a:r>
              <a:rPr sz="2000" spc="-30" dirty="0">
                <a:solidFill>
                  <a:srgbClr val="363639"/>
                </a:solidFill>
                <a:latin typeface="Arial MT"/>
                <a:cs typeface="Arial MT"/>
              </a:rPr>
              <a:t> </a:t>
            </a:r>
            <a:r>
              <a:rPr sz="2000" dirty="0">
                <a:solidFill>
                  <a:srgbClr val="363639"/>
                </a:solidFill>
                <a:latin typeface="Arial MT"/>
                <a:cs typeface="Arial MT"/>
              </a:rPr>
              <a:t>of</a:t>
            </a:r>
            <a:r>
              <a:rPr sz="2000" spc="-30" dirty="0">
                <a:solidFill>
                  <a:srgbClr val="363639"/>
                </a:solidFill>
                <a:latin typeface="Arial MT"/>
                <a:cs typeface="Arial MT"/>
              </a:rPr>
              <a:t> </a:t>
            </a:r>
            <a:r>
              <a:rPr sz="2000" dirty="0">
                <a:solidFill>
                  <a:srgbClr val="363639"/>
                </a:solidFill>
                <a:latin typeface="Arial MT"/>
                <a:cs typeface="Arial MT"/>
              </a:rPr>
              <a:t>the</a:t>
            </a:r>
            <a:r>
              <a:rPr sz="2000" spc="-25" dirty="0">
                <a:solidFill>
                  <a:srgbClr val="363639"/>
                </a:solidFill>
                <a:latin typeface="Arial MT"/>
                <a:cs typeface="Arial MT"/>
              </a:rPr>
              <a:t> </a:t>
            </a:r>
            <a:r>
              <a:rPr sz="2000" dirty="0">
                <a:solidFill>
                  <a:srgbClr val="363639"/>
                </a:solidFill>
                <a:latin typeface="Arial MT"/>
                <a:cs typeface="Arial MT"/>
              </a:rPr>
              <a:t>details</a:t>
            </a:r>
            <a:r>
              <a:rPr sz="2000" spc="-25" dirty="0">
                <a:solidFill>
                  <a:srgbClr val="363639"/>
                </a:solidFill>
                <a:latin typeface="Arial MT"/>
                <a:cs typeface="Arial MT"/>
              </a:rPr>
              <a:t> of 	</a:t>
            </a:r>
            <a:r>
              <a:rPr sz="2000" dirty="0">
                <a:solidFill>
                  <a:srgbClr val="363639"/>
                </a:solidFill>
                <a:latin typeface="Arial MT"/>
                <a:cs typeface="Arial MT"/>
              </a:rPr>
              <a:t>their</a:t>
            </a:r>
            <a:r>
              <a:rPr sz="2000" spc="-25" dirty="0">
                <a:solidFill>
                  <a:srgbClr val="363639"/>
                </a:solidFill>
                <a:latin typeface="Arial MT"/>
                <a:cs typeface="Arial MT"/>
              </a:rPr>
              <a:t> </a:t>
            </a:r>
            <a:r>
              <a:rPr sz="2000" spc="-10" dirty="0">
                <a:solidFill>
                  <a:srgbClr val="363639"/>
                </a:solidFill>
                <a:latin typeface="Arial MT"/>
                <a:cs typeface="Arial MT"/>
              </a:rPr>
              <a:t>representation.</a:t>
            </a:r>
            <a:endParaRPr sz="2000">
              <a:latin typeface="Arial MT"/>
              <a:cs typeface="Arial MT"/>
            </a:endParaRPr>
          </a:p>
          <a:p>
            <a:pPr>
              <a:lnSpc>
                <a:spcPct val="100000"/>
              </a:lnSpc>
              <a:spcBef>
                <a:spcPts val="2100"/>
              </a:spcBef>
              <a:buClr>
                <a:srgbClr val="363639"/>
              </a:buClr>
              <a:buFont typeface="Arial MT"/>
              <a:buAutoNum type="arabicParenR"/>
            </a:pPr>
            <a:endParaRPr sz="2000">
              <a:latin typeface="Arial MT"/>
              <a:cs typeface="Arial MT"/>
            </a:endParaRPr>
          </a:p>
          <a:p>
            <a:pPr marL="12700">
              <a:lnSpc>
                <a:spcPct val="100000"/>
              </a:lnSpc>
            </a:pPr>
            <a:r>
              <a:rPr sz="2000" spc="-10" dirty="0">
                <a:solidFill>
                  <a:srgbClr val="363639"/>
                </a:solidFill>
                <a:latin typeface="Arial MT"/>
                <a:cs typeface="Arial MT"/>
              </a:rPr>
              <a:t>Note:</a:t>
            </a:r>
            <a:endParaRPr sz="2000">
              <a:latin typeface="Arial MT"/>
              <a:cs typeface="Arial MT"/>
            </a:endParaRPr>
          </a:p>
          <a:p>
            <a:pPr marL="369570" lvl="1" indent="-356870">
              <a:lnSpc>
                <a:spcPct val="100000"/>
              </a:lnSpc>
              <a:spcBef>
                <a:spcPts val="1000"/>
              </a:spcBef>
              <a:buAutoNum type="arabicParenR"/>
              <a:tabLst>
                <a:tab pos="369570" algn="l"/>
              </a:tabLst>
            </a:pPr>
            <a:r>
              <a:rPr sz="2000" dirty="0">
                <a:solidFill>
                  <a:srgbClr val="363639"/>
                </a:solidFill>
                <a:latin typeface="Arial MT"/>
                <a:cs typeface="Arial MT"/>
              </a:rPr>
              <a:t>They</a:t>
            </a:r>
            <a:r>
              <a:rPr sz="2000" spc="-15" dirty="0">
                <a:solidFill>
                  <a:srgbClr val="363639"/>
                </a:solidFill>
                <a:latin typeface="Arial MT"/>
                <a:cs typeface="Arial MT"/>
              </a:rPr>
              <a:t> </a:t>
            </a:r>
            <a:r>
              <a:rPr sz="2000" dirty="0">
                <a:solidFill>
                  <a:srgbClr val="363639"/>
                </a:solidFill>
                <a:latin typeface="Arial MT"/>
                <a:cs typeface="Arial MT"/>
              </a:rPr>
              <a:t>are</a:t>
            </a:r>
            <a:r>
              <a:rPr sz="2000" spc="-25" dirty="0">
                <a:solidFill>
                  <a:srgbClr val="363639"/>
                </a:solidFill>
                <a:latin typeface="Arial MT"/>
                <a:cs typeface="Arial MT"/>
              </a:rPr>
              <a:t> </a:t>
            </a:r>
            <a:r>
              <a:rPr sz="2000" dirty="0">
                <a:solidFill>
                  <a:srgbClr val="363639"/>
                </a:solidFill>
                <a:latin typeface="Arial MT"/>
                <a:cs typeface="Arial MT"/>
              </a:rPr>
              <a:t>the</a:t>
            </a:r>
            <a:r>
              <a:rPr sz="2000" spc="-30" dirty="0">
                <a:solidFill>
                  <a:srgbClr val="363639"/>
                </a:solidFill>
                <a:latin typeface="Arial MT"/>
                <a:cs typeface="Arial MT"/>
              </a:rPr>
              <a:t> </a:t>
            </a:r>
            <a:r>
              <a:rPr sz="2000" dirty="0">
                <a:solidFill>
                  <a:srgbClr val="363639"/>
                </a:solidFill>
                <a:latin typeface="Arial MT"/>
                <a:cs typeface="Arial MT"/>
              </a:rPr>
              <a:t>heart</a:t>
            </a:r>
            <a:r>
              <a:rPr sz="2000" spc="-25" dirty="0">
                <a:solidFill>
                  <a:srgbClr val="363639"/>
                </a:solidFill>
                <a:latin typeface="Arial MT"/>
                <a:cs typeface="Arial MT"/>
              </a:rPr>
              <a:t> </a:t>
            </a:r>
            <a:r>
              <a:rPr sz="2000" dirty="0">
                <a:solidFill>
                  <a:srgbClr val="363639"/>
                </a:solidFill>
                <a:latin typeface="Arial MT"/>
                <a:cs typeface="Arial MT"/>
              </a:rPr>
              <a:t>and</a:t>
            </a:r>
            <a:r>
              <a:rPr sz="2000" spc="-15" dirty="0">
                <a:solidFill>
                  <a:srgbClr val="363639"/>
                </a:solidFill>
                <a:latin typeface="Arial MT"/>
                <a:cs typeface="Arial MT"/>
              </a:rPr>
              <a:t> </a:t>
            </a:r>
            <a:r>
              <a:rPr sz="2000" dirty="0">
                <a:solidFill>
                  <a:srgbClr val="363639"/>
                </a:solidFill>
                <a:latin typeface="Arial MT"/>
                <a:cs typeface="Arial MT"/>
              </a:rPr>
              <a:t>soul</a:t>
            </a:r>
            <a:r>
              <a:rPr sz="2000" spc="-15" dirty="0">
                <a:solidFill>
                  <a:srgbClr val="363639"/>
                </a:solidFill>
                <a:latin typeface="Arial MT"/>
                <a:cs typeface="Arial MT"/>
              </a:rPr>
              <a:t> </a:t>
            </a:r>
            <a:r>
              <a:rPr sz="2000" dirty="0">
                <a:solidFill>
                  <a:srgbClr val="363639"/>
                </a:solidFill>
                <a:latin typeface="Arial MT"/>
                <a:cs typeface="Arial MT"/>
              </a:rPr>
              <a:t>of</a:t>
            </a:r>
            <a:r>
              <a:rPr sz="2000" spc="-25" dirty="0">
                <a:solidFill>
                  <a:srgbClr val="363639"/>
                </a:solidFill>
                <a:latin typeface="Arial MT"/>
                <a:cs typeface="Arial MT"/>
              </a:rPr>
              <a:t> </a:t>
            </a:r>
            <a:r>
              <a:rPr sz="2000" dirty="0">
                <a:solidFill>
                  <a:srgbClr val="363639"/>
                </a:solidFill>
                <a:latin typeface="Arial MT"/>
                <a:cs typeface="Arial MT"/>
              </a:rPr>
              <a:t>the</a:t>
            </a:r>
            <a:r>
              <a:rPr sz="2000" spc="-20" dirty="0">
                <a:solidFill>
                  <a:srgbClr val="363639"/>
                </a:solidFill>
                <a:latin typeface="Arial MT"/>
                <a:cs typeface="Arial MT"/>
              </a:rPr>
              <a:t> </a:t>
            </a:r>
            <a:r>
              <a:rPr sz="2000" dirty="0">
                <a:solidFill>
                  <a:srgbClr val="363639"/>
                </a:solidFill>
                <a:latin typeface="Arial MT"/>
                <a:cs typeface="Arial MT"/>
              </a:rPr>
              <a:t>collections</a:t>
            </a:r>
            <a:r>
              <a:rPr sz="2000" spc="-15" dirty="0">
                <a:solidFill>
                  <a:srgbClr val="363639"/>
                </a:solidFill>
                <a:latin typeface="Arial MT"/>
                <a:cs typeface="Arial MT"/>
              </a:rPr>
              <a:t> </a:t>
            </a:r>
            <a:r>
              <a:rPr sz="2000" spc="-10" dirty="0">
                <a:solidFill>
                  <a:srgbClr val="363639"/>
                </a:solidFill>
                <a:latin typeface="Arial MT"/>
                <a:cs typeface="Arial MT"/>
              </a:rPr>
              <a:t>framework.</a:t>
            </a:r>
            <a:endParaRPr sz="2000">
              <a:latin typeface="Arial MT"/>
              <a:cs typeface="Arial MT"/>
            </a:endParaRPr>
          </a:p>
          <a:p>
            <a:pPr marL="369570" marR="59055" lvl="1" indent="-357505">
              <a:lnSpc>
                <a:spcPct val="100000"/>
              </a:lnSpc>
              <a:spcBef>
                <a:spcPts val="1005"/>
              </a:spcBef>
              <a:buAutoNum type="arabicParenR"/>
              <a:tabLst>
                <a:tab pos="391795" algn="l"/>
              </a:tabLst>
            </a:pPr>
            <a:r>
              <a:rPr sz="2000" dirty="0">
                <a:solidFill>
                  <a:srgbClr val="363639"/>
                </a:solidFill>
                <a:latin typeface="Arial MT"/>
                <a:cs typeface="Arial MT"/>
              </a:rPr>
              <a:t>When</a:t>
            </a:r>
            <a:r>
              <a:rPr sz="2000" spc="-20" dirty="0">
                <a:solidFill>
                  <a:srgbClr val="363639"/>
                </a:solidFill>
                <a:latin typeface="Arial MT"/>
                <a:cs typeface="Arial MT"/>
              </a:rPr>
              <a:t> </a:t>
            </a:r>
            <a:r>
              <a:rPr sz="2000" dirty="0">
                <a:solidFill>
                  <a:srgbClr val="363639"/>
                </a:solidFill>
                <a:latin typeface="Arial MT"/>
                <a:cs typeface="Arial MT"/>
              </a:rPr>
              <a:t>you</a:t>
            </a:r>
            <a:r>
              <a:rPr sz="2000" spc="-20" dirty="0">
                <a:solidFill>
                  <a:srgbClr val="363639"/>
                </a:solidFill>
                <a:latin typeface="Arial MT"/>
                <a:cs typeface="Arial MT"/>
              </a:rPr>
              <a:t> </a:t>
            </a:r>
            <a:r>
              <a:rPr sz="2000" dirty="0">
                <a:solidFill>
                  <a:srgbClr val="363639"/>
                </a:solidFill>
                <a:latin typeface="Arial MT"/>
                <a:cs typeface="Arial MT"/>
              </a:rPr>
              <a:t>understand</a:t>
            </a:r>
            <a:r>
              <a:rPr sz="2000" spc="-20" dirty="0">
                <a:solidFill>
                  <a:srgbClr val="363639"/>
                </a:solidFill>
                <a:latin typeface="Arial MT"/>
                <a:cs typeface="Arial MT"/>
              </a:rPr>
              <a:t> </a:t>
            </a:r>
            <a:r>
              <a:rPr sz="2000" dirty="0">
                <a:solidFill>
                  <a:srgbClr val="363639"/>
                </a:solidFill>
                <a:latin typeface="Arial MT"/>
                <a:cs typeface="Arial MT"/>
              </a:rPr>
              <a:t>how</a:t>
            </a:r>
            <a:r>
              <a:rPr sz="2000" spc="-20" dirty="0">
                <a:solidFill>
                  <a:srgbClr val="363639"/>
                </a:solidFill>
                <a:latin typeface="Arial MT"/>
                <a:cs typeface="Arial MT"/>
              </a:rPr>
              <a:t> </a:t>
            </a:r>
            <a:r>
              <a:rPr sz="2000" dirty="0">
                <a:solidFill>
                  <a:srgbClr val="363639"/>
                </a:solidFill>
                <a:latin typeface="Arial MT"/>
                <a:cs typeface="Arial MT"/>
              </a:rPr>
              <a:t>to</a:t>
            </a:r>
            <a:r>
              <a:rPr sz="2000" spc="-25" dirty="0">
                <a:solidFill>
                  <a:srgbClr val="363639"/>
                </a:solidFill>
                <a:latin typeface="Arial MT"/>
                <a:cs typeface="Arial MT"/>
              </a:rPr>
              <a:t> </a:t>
            </a:r>
            <a:r>
              <a:rPr sz="2000" dirty="0">
                <a:solidFill>
                  <a:srgbClr val="363639"/>
                </a:solidFill>
                <a:latin typeface="Arial MT"/>
                <a:cs typeface="Arial MT"/>
              </a:rPr>
              <a:t>use</a:t>
            </a:r>
            <a:r>
              <a:rPr sz="2000" spc="-25" dirty="0">
                <a:solidFill>
                  <a:srgbClr val="363639"/>
                </a:solidFill>
                <a:latin typeface="Arial MT"/>
                <a:cs typeface="Arial MT"/>
              </a:rPr>
              <a:t> </a:t>
            </a:r>
            <a:r>
              <a:rPr sz="2000" dirty="0">
                <a:solidFill>
                  <a:srgbClr val="363639"/>
                </a:solidFill>
                <a:latin typeface="Arial MT"/>
                <a:cs typeface="Arial MT"/>
              </a:rPr>
              <a:t>these</a:t>
            </a:r>
            <a:r>
              <a:rPr sz="2000" spc="-20" dirty="0">
                <a:solidFill>
                  <a:srgbClr val="363639"/>
                </a:solidFill>
                <a:latin typeface="Arial MT"/>
                <a:cs typeface="Arial MT"/>
              </a:rPr>
              <a:t> </a:t>
            </a:r>
            <a:r>
              <a:rPr sz="2000" dirty="0">
                <a:solidFill>
                  <a:srgbClr val="363639"/>
                </a:solidFill>
                <a:latin typeface="Arial MT"/>
                <a:cs typeface="Arial MT"/>
              </a:rPr>
              <a:t>interfaces,</a:t>
            </a:r>
            <a:r>
              <a:rPr sz="2000" spc="-25" dirty="0">
                <a:solidFill>
                  <a:srgbClr val="363639"/>
                </a:solidFill>
                <a:latin typeface="Arial MT"/>
                <a:cs typeface="Arial MT"/>
              </a:rPr>
              <a:t> </a:t>
            </a:r>
            <a:r>
              <a:rPr sz="2000" dirty="0">
                <a:solidFill>
                  <a:srgbClr val="363639"/>
                </a:solidFill>
                <a:latin typeface="Arial MT"/>
                <a:cs typeface="Arial MT"/>
              </a:rPr>
              <a:t>you</a:t>
            </a:r>
            <a:r>
              <a:rPr sz="2000" spc="-20" dirty="0">
                <a:solidFill>
                  <a:srgbClr val="363639"/>
                </a:solidFill>
                <a:latin typeface="Arial MT"/>
                <a:cs typeface="Arial MT"/>
              </a:rPr>
              <a:t> </a:t>
            </a:r>
            <a:r>
              <a:rPr sz="2000" dirty="0">
                <a:solidFill>
                  <a:srgbClr val="363639"/>
                </a:solidFill>
                <a:latin typeface="Arial MT"/>
                <a:cs typeface="Arial MT"/>
              </a:rPr>
              <a:t>know</a:t>
            </a:r>
            <a:r>
              <a:rPr sz="2000" spc="-20" dirty="0">
                <a:solidFill>
                  <a:srgbClr val="363639"/>
                </a:solidFill>
                <a:latin typeface="Arial MT"/>
                <a:cs typeface="Arial MT"/>
              </a:rPr>
              <a:t> </a:t>
            </a:r>
            <a:r>
              <a:rPr sz="2000" dirty="0">
                <a:solidFill>
                  <a:srgbClr val="363639"/>
                </a:solidFill>
                <a:latin typeface="Arial MT"/>
                <a:cs typeface="Arial MT"/>
              </a:rPr>
              <a:t>most</a:t>
            </a:r>
            <a:r>
              <a:rPr sz="2000" spc="-20" dirty="0">
                <a:solidFill>
                  <a:srgbClr val="363639"/>
                </a:solidFill>
                <a:latin typeface="Arial MT"/>
                <a:cs typeface="Arial MT"/>
              </a:rPr>
              <a:t> </a:t>
            </a:r>
            <a:r>
              <a:rPr sz="2000" spc="-25" dirty="0">
                <a:solidFill>
                  <a:srgbClr val="363639"/>
                </a:solidFill>
                <a:latin typeface="Arial MT"/>
                <a:cs typeface="Arial MT"/>
              </a:rPr>
              <a:t>of 	</a:t>
            </a:r>
            <a:r>
              <a:rPr sz="2000" dirty="0">
                <a:solidFill>
                  <a:srgbClr val="363639"/>
                </a:solidFill>
                <a:latin typeface="Arial MT"/>
                <a:cs typeface="Arial MT"/>
              </a:rPr>
              <a:t>what</a:t>
            </a:r>
            <a:r>
              <a:rPr sz="2000" spc="-25" dirty="0">
                <a:solidFill>
                  <a:srgbClr val="363639"/>
                </a:solidFill>
                <a:latin typeface="Arial MT"/>
                <a:cs typeface="Arial MT"/>
              </a:rPr>
              <a:t> </a:t>
            </a:r>
            <a:r>
              <a:rPr sz="2000" dirty="0">
                <a:solidFill>
                  <a:srgbClr val="363639"/>
                </a:solidFill>
                <a:latin typeface="Arial MT"/>
                <a:cs typeface="Arial MT"/>
              </a:rPr>
              <a:t>there</a:t>
            </a:r>
            <a:r>
              <a:rPr sz="2000" spc="-20" dirty="0">
                <a:solidFill>
                  <a:srgbClr val="363639"/>
                </a:solidFill>
                <a:latin typeface="Arial MT"/>
                <a:cs typeface="Arial MT"/>
              </a:rPr>
              <a:t> </a:t>
            </a:r>
            <a:r>
              <a:rPr sz="2000" dirty="0">
                <a:solidFill>
                  <a:srgbClr val="363639"/>
                </a:solidFill>
                <a:latin typeface="Arial MT"/>
                <a:cs typeface="Arial MT"/>
              </a:rPr>
              <a:t>is</a:t>
            </a:r>
            <a:r>
              <a:rPr sz="2000" spc="-20" dirty="0">
                <a:solidFill>
                  <a:srgbClr val="363639"/>
                </a:solidFill>
                <a:latin typeface="Arial MT"/>
                <a:cs typeface="Arial MT"/>
              </a:rPr>
              <a:t> </a:t>
            </a:r>
            <a:r>
              <a:rPr sz="2000" dirty="0">
                <a:solidFill>
                  <a:srgbClr val="363639"/>
                </a:solidFill>
                <a:latin typeface="Arial MT"/>
                <a:cs typeface="Arial MT"/>
              </a:rPr>
              <a:t>to</a:t>
            </a:r>
            <a:r>
              <a:rPr sz="2000" spc="-25" dirty="0">
                <a:solidFill>
                  <a:srgbClr val="363639"/>
                </a:solidFill>
                <a:latin typeface="Arial MT"/>
                <a:cs typeface="Arial MT"/>
              </a:rPr>
              <a:t> </a:t>
            </a:r>
            <a:r>
              <a:rPr sz="2000" dirty="0">
                <a:solidFill>
                  <a:srgbClr val="363639"/>
                </a:solidFill>
                <a:latin typeface="Arial MT"/>
                <a:cs typeface="Arial MT"/>
              </a:rPr>
              <a:t>know</a:t>
            </a:r>
            <a:r>
              <a:rPr sz="2000" spc="-15" dirty="0">
                <a:solidFill>
                  <a:srgbClr val="363639"/>
                </a:solidFill>
                <a:latin typeface="Arial MT"/>
                <a:cs typeface="Arial MT"/>
              </a:rPr>
              <a:t> </a:t>
            </a:r>
            <a:r>
              <a:rPr sz="2000" dirty="0">
                <a:solidFill>
                  <a:srgbClr val="363639"/>
                </a:solidFill>
                <a:latin typeface="Arial MT"/>
                <a:cs typeface="Arial MT"/>
              </a:rPr>
              <a:t>about</a:t>
            </a:r>
            <a:r>
              <a:rPr sz="2000" spc="-20" dirty="0">
                <a:solidFill>
                  <a:srgbClr val="363639"/>
                </a:solidFill>
                <a:latin typeface="Arial MT"/>
                <a:cs typeface="Arial MT"/>
              </a:rPr>
              <a:t> </a:t>
            </a:r>
            <a:r>
              <a:rPr sz="2000" dirty="0">
                <a:solidFill>
                  <a:srgbClr val="363639"/>
                </a:solidFill>
                <a:latin typeface="Arial MT"/>
                <a:cs typeface="Arial MT"/>
              </a:rPr>
              <a:t>the</a:t>
            </a:r>
            <a:r>
              <a:rPr sz="2000" spc="-25" dirty="0">
                <a:solidFill>
                  <a:srgbClr val="363639"/>
                </a:solidFill>
                <a:latin typeface="Arial MT"/>
                <a:cs typeface="Arial MT"/>
              </a:rPr>
              <a:t> </a:t>
            </a:r>
            <a:r>
              <a:rPr sz="2000" spc="-10" dirty="0">
                <a:solidFill>
                  <a:srgbClr val="363639"/>
                </a:solidFill>
                <a:latin typeface="Arial MT"/>
                <a:cs typeface="Arial MT"/>
              </a:rPr>
              <a:t>framework.</a:t>
            </a:r>
            <a:endParaRPr sz="2000">
              <a:latin typeface="Arial MT"/>
              <a:cs typeface="Arial MT"/>
            </a:endParaRPr>
          </a:p>
        </p:txBody>
      </p:sp>
    </p:spTree>
    <p:extLst>
      <p:ext uri="{BB962C8B-B14F-4D97-AF65-F5344CB8AC3E}">
        <p14:creationId xmlns:p14="http://schemas.microsoft.com/office/powerpoint/2010/main" val="40204180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16632"/>
            <a:ext cx="8642176" cy="471587"/>
          </a:xfrm>
        </p:spPr>
        <p:txBody>
          <a:bodyPr/>
          <a:lstStyle/>
          <a:p>
            <a:r>
              <a:rPr lang="en-US" sz="4000" b="1" dirty="0" smtClean="0">
                <a:solidFill>
                  <a:schemeClr val="accent1"/>
                </a:solidFill>
                <a:latin typeface="Cambria" panose="02040503050406030204" pitchFamily="18" charset="0"/>
                <a:ea typeface="Cambria" panose="02040503050406030204" pitchFamily="18" charset="0"/>
              </a:rPr>
              <a:t>Hierarchy of Collection Framework</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666001"/>
            <a:ext cx="10730408" cy="720080"/>
          </a:xfrm>
        </p:spPr>
        <p:txBody>
          <a:bodyPr/>
          <a:lstStyle/>
          <a:p>
            <a:r>
              <a:rPr lang="en-GB" sz="2400" dirty="0" smtClean="0">
                <a:latin typeface="Cambria" panose="02040503050406030204" pitchFamily="18" charset="0"/>
                <a:ea typeface="Cambria" panose="02040503050406030204" pitchFamily="18" charset="0"/>
              </a:rPr>
              <a:t>The </a:t>
            </a:r>
            <a:r>
              <a:rPr lang="en-GB" sz="2400" b="1" dirty="0" err="1" smtClean="0">
                <a:latin typeface="Cambria" panose="02040503050406030204" pitchFamily="18" charset="0"/>
                <a:ea typeface="Cambria" panose="02040503050406030204" pitchFamily="18" charset="0"/>
              </a:rPr>
              <a:t>java.util</a:t>
            </a:r>
            <a:r>
              <a:rPr lang="en-GB" sz="2400" dirty="0" smtClean="0">
                <a:latin typeface="Cambria" panose="02040503050406030204" pitchFamily="18" charset="0"/>
                <a:ea typeface="Cambria" panose="02040503050406030204" pitchFamily="18" charset="0"/>
              </a:rPr>
              <a:t> package contains all the classes and interfaces for the Collection framework.</a:t>
            </a:r>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11</a:t>
            </a:fld>
            <a:endParaRPr lang="en-US" altLang="en-US">
              <a:latin typeface="Cambria" panose="02040503050406030204" pitchFamily="18" charset="0"/>
              <a:ea typeface="Cambria" panose="02040503050406030204" pitchFamily="18" charset="0"/>
            </a:endParaRPr>
          </a:p>
        </p:txBody>
      </p:sp>
      <p:pic>
        <p:nvPicPr>
          <p:cNvPr id="5" name="Picture 4" descr="Hierarchy of Java Collection framework"/>
          <p:cNvPicPr/>
          <p:nvPr/>
        </p:nvPicPr>
        <p:blipFill>
          <a:blip r:embed="rId2"/>
          <a:srcRect/>
          <a:stretch>
            <a:fillRect/>
          </a:stretch>
        </p:blipFill>
        <p:spPr bwMode="auto">
          <a:xfrm>
            <a:off x="771342" y="1268760"/>
            <a:ext cx="10077186" cy="43924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80" y="116632"/>
            <a:ext cx="7772400" cy="471587"/>
          </a:xfrm>
        </p:spPr>
        <p:txBody>
          <a:bodyPr/>
          <a:lstStyle/>
          <a:p>
            <a:r>
              <a:rPr lang="en-US" sz="3600" b="1" dirty="0" smtClean="0">
                <a:solidFill>
                  <a:schemeClr val="accent1"/>
                </a:solidFill>
                <a:latin typeface="Cambria" panose="02040503050406030204" pitchFamily="18" charset="0"/>
                <a:ea typeface="Cambria" panose="02040503050406030204" pitchFamily="18" charset="0"/>
              </a:rPr>
              <a:t>Methods of Collection interface</a:t>
            </a:r>
            <a:endParaRPr lang="en-US" sz="3600" b="1" dirty="0">
              <a:solidFill>
                <a:schemeClr val="accent1"/>
              </a:solidFill>
              <a:latin typeface="Cambria" panose="02040503050406030204" pitchFamily="18" charset="0"/>
              <a:ea typeface="Cambria" panose="02040503050406030204" pitchFamily="18"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998251070"/>
              </p:ext>
            </p:extLst>
          </p:nvPr>
        </p:nvGraphicFramePr>
        <p:xfrm>
          <a:off x="407367" y="594571"/>
          <a:ext cx="10946433" cy="5158456"/>
        </p:xfrm>
        <a:graphic>
          <a:graphicData uri="http://schemas.openxmlformats.org/drawingml/2006/table">
            <a:tbl>
              <a:tblPr firstRow="1" bandRow="1">
                <a:tableStyleId>{5C22544A-7EE6-4342-B048-85BDC9FD1C3A}</a:tableStyleId>
              </a:tblPr>
              <a:tblGrid>
                <a:gridCol w="639500">
                  <a:extLst>
                    <a:ext uri="{9D8B030D-6E8A-4147-A177-3AD203B41FA5}">
                      <a16:colId xmlns:a16="http://schemas.microsoft.com/office/drawing/2014/main" val="20000"/>
                    </a:ext>
                  </a:extLst>
                </a:gridCol>
                <a:gridCol w="5409173">
                  <a:extLst>
                    <a:ext uri="{9D8B030D-6E8A-4147-A177-3AD203B41FA5}">
                      <a16:colId xmlns:a16="http://schemas.microsoft.com/office/drawing/2014/main" val="20001"/>
                    </a:ext>
                  </a:extLst>
                </a:gridCol>
                <a:gridCol w="4897760">
                  <a:extLst>
                    <a:ext uri="{9D8B030D-6E8A-4147-A177-3AD203B41FA5}">
                      <a16:colId xmlns:a16="http://schemas.microsoft.com/office/drawing/2014/main" val="20002"/>
                    </a:ext>
                  </a:extLst>
                </a:gridCol>
              </a:tblGrid>
              <a:tr h="480246">
                <a:tc>
                  <a:txBody>
                    <a:bodyPr/>
                    <a:lstStyle/>
                    <a:p>
                      <a:pPr algn="ctr" fontAlgn="t"/>
                      <a:r>
                        <a:rPr lang="en-US" dirty="0">
                          <a:solidFill>
                            <a:srgbClr val="000000"/>
                          </a:solidFill>
                          <a:latin typeface="Cambria" panose="02040503050406030204" pitchFamily="18" charset="0"/>
                          <a:ea typeface="Cambria" panose="02040503050406030204" pitchFamily="18" charset="0"/>
                        </a:rPr>
                        <a:t>No.</a:t>
                      </a:r>
                    </a:p>
                  </a:txBody>
                  <a:tcPr marL="114300" marR="114300" marT="114300" marB="114300" anchor="ctr"/>
                </a:tc>
                <a:tc>
                  <a:txBody>
                    <a:bodyPr/>
                    <a:lstStyle/>
                    <a:p>
                      <a:pPr algn="ctr" fontAlgn="t"/>
                      <a:r>
                        <a:rPr lang="en-US" dirty="0">
                          <a:solidFill>
                            <a:srgbClr val="000000"/>
                          </a:solidFill>
                          <a:latin typeface="Cambria" panose="02040503050406030204" pitchFamily="18" charset="0"/>
                          <a:ea typeface="Cambria" panose="02040503050406030204" pitchFamily="18" charset="0"/>
                        </a:rPr>
                        <a:t>Method</a:t>
                      </a:r>
                    </a:p>
                  </a:txBody>
                  <a:tcPr marL="114300" marR="114300" marT="114300" marB="114300" anchor="ctr"/>
                </a:tc>
                <a:tc>
                  <a:txBody>
                    <a:bodyPr/>
                    <a:lstStyle/>
                    <a:p>
                      <a:pPr algn="ctr" fontAlgn="t"/>
                      <a:r>
                        <a:rPr lang="en-US" dirty="0">
                          <a:solidFill>
                            <a:srgbClr val="000000"/>
                          </a:solidFill>
                          <a:latin typeface="Cambria" panose="02040503050406030204" pitchFamily="18" charset="0"/>
                          <a:ea typeface="Cambria" panose="02040503050406030204" pitchFamily="18" charset="0"/>
                        </a:rPr>
                        <a:t>Description</a:t>
                      </a:r>
                    </a:p>
                  </a:txBody>
                  <a:tcPr marL="114300" marR="114300" marT="114300" marB="114300" anchor="ctr"/>
                </a:tc>
                <a:extLst>
                  <a:ext uri="{0D108BD9-81ED-4DB2-BD59-A6C34878D82A}">
                    <a16:rowId xmlns:a16="http://schemas.microsoft.com/office/drawing/2014/main" val="10000"/>
                  </a:ext>
                </a:extLst>
              </a:tr>
              <a:tr h="459301">
                <a:tc>
                  <a:txBody>
                    <a:bodyPr/>
                    <a:lstStyle/>
                    <a:p>
                      <a:pPr algn="ctr" fontAlgn="t"/>
                      <a:r>
                        <a:rPr lang="en-US" dirty="0">
                          <a:solidFill>
                            <a:srgbClr val="333333"/>
                          </a:solidFill>
                          <a:latin typeface="Cambria" panose="02040503050406030204" pitchFamily="18" charset="0"/>
                          <a:ea typeface="Cambria" panose="02040503050406030204" pitchFamily="18" charset="0"/>
                        </a:rPr>
                        <a:t>1</a:t>
                      </a:r>
                    </a:p>
                  </a:txBody>
                  <a:tcPr marL="76200" marR="76200" marT="76200" marB="76200" anchor="ctr"/>
                </a:tc>
                <a:tc>
                  <a:txBody>
                    <a:bodyPr/>
                    <a:lstStyle/>
                    <a:p>
                      <a:pPr algn="just" fontAlgn="t"/>
                      <a:r>
                        <a:rPr lang="en-US" dirty="0">
                          <a:solidFill>
                            <a:srgbClr val="333333"/>
                          </a:solidFill>
                          <a:latin typeface="Cambria" panose="02040503050406030204" pitchFamily="18" charset="0"/>
                          <a:ea typeface="Cambria" panose="02040503050406030204" pitchFamily="18" charset="0"/>
                        </a:rPr>
                        <a:t>public boolean add(E e)</a:t>
                      </a:r>
                    </a:p>
                  </a:txBody>
                  <a:tcPr marL="76200" marR="76200" marT="76200" marB="76200" anchor="ctr"/>
                </a:tc>
                <a:tc>
                  <a:txBody>
                    <a:bodyPr/>
                    <a:lstStyle/>
                    <a:p>
                      <a:pPr algn="just" fontAlgn="t"/>
                      <a:r>
                        <a:rPr lang="en-GB">
                          <a:solidFill>
                            <a:srgbClr val="333333"/>
                          </a:solidFill>
                          <a:latin typeface="Cambria" panose="02040503050406030204" pitchFamily="18" charset="0"/>
                          <a:ea typeface="Cambria" panose="02040503050406030204" pitchFamily="18" charset="0"/>
                        </a:rPr>
                        <a:t>It is used to insert an element in this collection.</a:t>
                      </a:r>
                    </a:p>
                  </a:txBody>
                  <a:tcPr marL="76200" marR="76200" marT="76200" marB="76200" anchor="ctr"/>
                </a:tc>
                <a:extLst>
                  <a:ext uri="{0D108BD9-81ED-4DB2-BD59-A6C34878D82A}">
                    <a16:rowId xmlns:a16="http://schemas.microsoft.com/office/drawing/2014/main" val="10001"/>
                  </a:ext>
                </a:extLst>
              </a:tr>
              <a:tr h="669433">
                <a:tc>
                  <a:txBody>
                    <a:bodyPr/>
                    <a:lstStyle/>
                    <a:p>
                      <a:pPr algn="ctr" fontAlgn="t"/>
                      <a:r>
                        <a:rPr lang="en-US" dirty="0">
                          <a:solidFill>
                            <a:srgbClr val="333333"/>
                          </a:solidFill>
                          <a:latin typeface="Cambria" panose="02040503050406030204" pitchFamily="18" charset="0"/>
                          <a:ea typeface="Cambria" panose="02040503050406030204" pitchFamily="18" charset="0"/>
                        </a:rPr>
                        <a:t>2</a:t>
                      </a:r>
                    </a:p>
                  </a:txBody>
                  <a:tcPr marL="76200" marR="76200" marT="76200" marB="76200" anchor="ctr"/>
                </a:tc>
                <a:tc>
                  <a:txBody>
                    <a:bodyPr/>
                    <a:lstStyle/>
                    <a:p>
                      <a:pPr algn="just" fontAlgn="t"/>
                      <a:r>
                        <a:rPr lang="en-GB" dirty="0">
                          <a:solidFill>
                            <a:srgbClr val="333333"/>
                          </a:solidFill>
                          <a:latin typeface="Cambria" panose="02040503050406030204" pitchFamily="18" charset="0"/>
                          <a:ea typeface="Cambria" panose="02040503050406030204" pitchFamily="18" charset="0"/>
                        </a:rPr>
                        <a:t>public boolean addAll(Collection&lt;? extends E&gt; c)</a:t>
                      </a:r>
                    </a:p>
                  </a:txBody>
                  <a:tcPr marL="76200" marR="76200" marT="76200" marB="76200" anchor="ctr"/>
                </a:tc>
                <a:tc>
                  <a:txBody>
                    <a:bodyPr/>
                    <a:lstStyle/>
                    <a:p>
                      <a:pPr algn="just" fontAlgn="t"/>
                      <a:r>
                        <a:rPr lang="en-GB">
                          <a:solidFill>
                            <a:srgbClr val="333333"/>
                          </a:solidFill>
                          <a:latin typeface="Cambria" panose="02040503050406030204" pitchFamily="18" charset="0"/>
                          <a:ea typeface="Cambria" panose="02040503050406030204" pitchFamily="18" charset="0"/>
                        </a:rPr>
                        <a:t>It is used to insert the specified collection elements in the invoking collection.</a:t>
                      </a:r>
                    </a:p>
                  </a:txBody>
                  <a:tcPr marL="76200" marR="76200" marT="76200" marB="76200" anchor="ctr"/>
                </a:tc>
                <a:extLst>
                  <a:ext uri="{0D108BD9-81ED-4DB2-BD59-A6C34878D82A}">
                    <a16:rowId xmlns:a16="http://schemas.microsoft.com/office/drawing/2014/main" val="10002"/>
                  </a:ext>
                </a:extLst>
              </a:tr>
              <a:tr h="669433">
                <a:tc>
                  <a:txBody>
                    <a:bodyPr/>
                    <a:lstStyle/>
                    <a:p>
                      <a:pPr algn="ctr" fontAlgn="t"/>
                      <a:r>
                        <a:rPr lang="en-US" dirty="0">
                          <a:solidFill>
                            <a:srgbClr val="333333"/>
                          </a:solidFill>
                          <a:latin typeface="Cambria" panose="02040503050406030204" pitchFamily="18" charset="0"/>
                          <a:ea typeface="Cambria" panose="02040503050406030204" pitchFamily="18" charset="0"/>
                        </a:rPr>
                        <a:t>3</a:t>
                      </a:r>
                    </a:p>
                  </a:txBody>
                  <a:tcPr marL="76200" marR="76200" marT="76200" marB="76200" anchor="ctr"/>
                </a:tc>
                <a:tc>
                  <a:txBody>
                    <a:bodyPr/>
                    <a:lstStyle/>
                    <a:p>
                      <a:pPr algn="just" fontAlgn="t"/>
                      <a:r>
                        <a:rPr lang="en-US" dirty="0">
                          <a:solidFill>
                            <a:srgbClr val="333333"/>
                          </a:solidFill>
                          <a:latin typeface="Cambria" panose="02040503050406030204" pitchFamily="18" charset="0"/>
                          <a:ea typeface="Cambria" panose="02040503050406030204" pitchFamily="18" charset="0"/>
                        </a:rPr>
                        <a:t>public boolean remove(Object element)</a:t>
                      </a:r>
                    </a:p>
                  </a:txBody>
                  <a:tcPr marL="76200" marR="76200" marT="76200" marB="76200" anchor="ctr"/>
                </a:tc>
                <a:tc>
                  <a:txBody>
                    <a:bodyPr/>
                    <a:lstStyle/>
                    <a:p>
                      <a:pPr algn="just" fontAlgn="t"/>
                      <a:r>
                        <a:rPr lang="en-GB" dirty="0">
                          <a:solidFill>
                            <a:srgbClr val="333333"/>
                          </a:solidFill>
                          <a:latin typeface="Cambria" panose="02040503050406030204" pitchFamily="18" charset="0"/>
                          <a:ea typeface="Cambria" panose="02040503050406030204" pitchFamily="18" charset="0"/>
                        </a:rPr>
                        <a:t>It is used to delete an element from the collection.</a:t>
                      </a:r>
                    </a:p>
                  </a:txBody>
                  <a:tcPr marL="76200" marR="76200" marT="76200" marB="76200" anchor="ctr"/>
                </a:tc>
                <a:extLst>
                  <a:ext uri="{0D108BD9-81ED-4DB2-BD59-A6C34878D82A}">
                    <a16:rowId xmlns:a16="http://schemas.microsoft.com/office/drawing/2014/main" val="10003"/>
                  </a:ext>
                </a:extLst>
              </a:tr>
              <a:tr h="931385">
                <a:tc>
                  <a:txBody>
                    <a:bodyPr/>
                    <a:lstStyle/>
                    <a:p>
                      <a:pPr algn="ctr" fontAlgn="t"/>
                      <a:r>
                        <a:rPr lang="en-US" dirty="0">
                          <a:solidFill>
                            <a:srgbClr val="333333"/>
                          </a:solidFill>
                          <a:latin typeface="Cambria" panose="02040503050406030204" pitchFamily="18" charset="0"/>
                          <a:ea typeface="Cambria" panose="02040503050406030204" pitchFamily="18" charset="0"/>
                        </a:rPr>
                        <a:t>4</a:t>
                      </a:r>
                    </a:p>
                  </a:txBody>
                  <a:tcPr marL="76200" marR="76200" marT="76200" marB="76200" anchor="ctr"/>
                </a:tc>
                <a:tc>
                  <a:txBody>
                    <a:bodyPr/>
                    <a:lstStyle/>
                    <a:p>
                      <a:pPr algn="just" fontAlgn="t"/>
                      <a:r>
                        <a:rPr lang="en-US" dirty="0">
                          <a:solidFill>
                            <a:srgbClr val="333333"/>
                          </a:solidFill>
                          <a:latin typeface="Cambria" panose="02040503050406030204" pitchFamily="18" charset="0"/>
                          <a:ea typeface="Cambria" panose="02040503050406030204" pitchFamily="18" charset="0"/>
                        </a:rPr>
                        <a:t>public boolean removeAll(Collection&lt;?&gt; c)</a:t>
                      </a:r>
                    </a:p>
                  </a:txBody>
                  <a:tcPr marL="76200" marR="76200" marT="76200" marB="76200" anchor="ctr"/>
                </a:tc>
                <a:tc>
                  <a:txBody>
                    <a:bodyPr/>
                    <a:lstStyle/>
                    <a:p>
                      <a:pPr algn="just" fontAlgn="t"/>
                      <a:r>
                        <a:rPr lang="en-GB">
                          <a:solidFill>
                            <a:srgbClr val="333333"/>
                          </a:solidFill>
                          <a:latin typeface="Cambria" panose="02040503050406030204" pitchFamily="18" charset="0"/>
                          <a:ea typeface="Cambria" panose="02040503050406030204" pitchFamily="18" charset="0"/>
                        </a:rPr>
                        <a:t>It is used to delete all the elements of the specified collection from the invoking collection.</a:t>
                      </a:r>
                    </a:p>
                  </a:txBody>
                  <a:tcPr marL="76200" marR="76200" marT="76200" marB="76200" anchor="ctr"/>
                </a:tc>
                <a:extLst>
                  <a:ext uri="{0D108BD9-81ED-4DB2-BD59-A6C34878D82A}">
                    <a16:rowId xmlns:a16="http://schemas.microsoft.com/office/drawing/2014/main" val="10004"/>
                  </a:ext>
                </a:extLst>
              </a:tr>
              <a:tr h="931385">
                <a:tc>
                  <a:txBody>
                    <a:bodyPr/>
                    <a:lstStyle/>
                    <a:p>
                      <a:pPr algn="ctr" fontAlgn="t"/>
                      <a:r>
                        <a:rPr lang="en-US" dirty="0">
                          <a:solidFill>
                            <a:srgbClr val="333333"/>
                          </a:solidFill>
                          <a:latin typeface="Cambria" panose="02040503050406030204" pitchFamily="18" charset="0"/>
                          <a:ea typeface="Cambria" panose="02040503050406030204" pitchFamily="18" charset="0"/>
                        </a:rPr>
                        <a:t>5</a:t>
                      </a:r>
                    </a:p>
                  </a:txBody>
                  <a:tcPr marL="76200" marR="76200" marT="76200" marB="76200" anchor="ctr"/>
                </a:tc>
                <a:tc>
                  <a:txBody>
                    <a:bodyPr/>
                    <a:lstStyle/>
                    <a:p>
                      <a:pPr algn="just" fontAlgn="t"/>
                      <a:r>
                        <a:rPr lang="en-US" dirty="0">
                          <a:solidFill>
                            <a:srgbClr val="333333"/>
                          </a:solidFill>
                          <a:latin typeface="Cambria" panose="02040503050406030204" pitchFamily="18" charset="0"/>
                          <a:ea typeface="Cambria" panose="02040503050406030204" pitchFamily="18" charset="0"/>
                        </a:rPr>
                        <a:t>default boolean removeIf(Predicate&lt;? super E&gt; filter)</a:t>
                      </a:r>
                    </a:p>
                  </a:txBody>
                  <a:tcPr marL="76200" marR="76200" marT="76200" marB="76200" anchor="ctr"/>
                </a:tc>
                <a:tc>
                  <a:txBody>
                    <a:bodyPr/>
                    <a:lstStyle/>
                    <a:p>
                      <a:pPr algn="just" fontAlgn="t"/>
                      <a:r>
                        <a:rPr lang="en-GB">
                          <a:solidFill>
                            <a:srgbClr val="333333"/>
                          </a:solidFill>
                          <a:latin typeface="Cambria" panose="02040503050406030204" pitchFamily="18" charset="0"/>
                          <a:ea typeface="Cambria" panose="02040503050406030204" pitchFamily="18" charset="0"/>
                        </a:rPr>
                        <a:t>It is used to delete all the elements of the collection that satisfy the specified predicate.</a:t>
                      </a:r>
                    </a:p>
                  </a:txBody>
                  <a:tcPr marL="76200" marR="76200" marT="76200" marB="76200" anchor="ctr"/>
                </a:tc>
                <a:extLst>
                  <a:ext uri="{0D108BD9-81ED-4DB2-BD59-A6C34878D82A}">
                    <a16:rowId xmlns:a16="http://schemas.microsoft.com/office/drawing/2014/main" val="10005"/>
                  </a:ext>
                </a:extLst>
              </a:tr>
              <a:tr h="931385">
                <a:tc>
                  <a:txBody>
                    <a:bodyPr/>
                    <a:lstStyle/>
                    <a:p>
                      <a:pPr algn="ctr" fontAlgn="t"/>
                      <a:r>
                        <a:rPr lang="en-US" dirty="0">
                          <a:solidFill>
                            <a:srgbClr val="333333"/>
                          </a:solidFill>
                          <a:latin typeface="Cambria" panose="02040503050406030204" pitchFamily="18" charset="0"/>
                          <a:ea typeface="Cambria" panose="02040503050406030204" pitchFamily="18" charset="0"/>
                        </a:rPr>
                        <a:t>6</a:t>
                      </a:r>
                    </a:p>
                  </a:txBody>
                  <a:tcPr marL="76200" marR="76200" marT="76200" marB="76200" anchor="ctr"/>
                </a:tc>
                <a:tc>
                  <a:txBody>
                    <a:bodyPr/>
                    <a:lstStyle/>
                    <a:p>
                      <a:pPr algn="just" fontAlgn="t"/>
                      <a:r>
                        <a:rPr lang="en-US" dirty="0">
                          <a:solidFill>
                            <a:srgbClr val="333333"/>
                          </a:solidFill>
                          <a:latin typeface="Cambria" panose="02040503050406030204" pitchFamily="18" charset="0"/>
                          <a:ea typeface="Cambria" panose="02040503050406030204" pitchFamily="18" charset="0"/>
                        </a:rPr>
                        <a:t>public boolean retainAll(Collection&lt;?&gt; c)</a:t>
                      </a:r>
                    </a:p>
                  </a:txBody>
                  <a:tcPr marL="76200" marR="76200" marT="76200" marB="76200" anchor="ctr"/>
                </a:tc>
                <a:tc>
                  <a:txBody>
                    <a:bodyPr/>
                    <a:lstStyle/>
                    <a:p>
                      <a:pPr algn="just" fontAlgn="t"/>
                      <a:r>
                        <a:rPr lang="en-GB" dirty="0">
                          <a:solidFill>
                            <a:srgbClr val="333333"/>
                          </a:solidFill>
                          <a:latin typeface="Cambria" panose="02040503050406030204" pitchFamily="18" charset="0"/>
                          <a:ea typeface="Cambria" panose="02040503050406030204" pitchFamily="18" charset="0"/>
                        </a:rPr>
                        <a:t>It is used to delete all the elements of invoking collection except the specified collection.</a:t>
                      </a:r>
                    </a:p>
                  </a:txBody>
                  <a:tcPr marL="76200" marR="76200" marT="76200" marB="76200" anchor="ctr"/>
                </a:tc>
                <a:extLst>
                  <a:ext uri="{0D108BD9-81ED-4DB2-BD59-A6C34878D82A}">
                    <a16:rowId xmlns:a16="http://schemas.microsoft.com/office/drawing/2014/main" val="10006"/>
                  </a:ext>
                </a:extLst>
              </a:tr>
            </a:tbl>
          </a:graphicData>
        </a:graphic>
      </p:graphicFrame>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12</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80" y="116632"/>
            <a:ext cx="8745016" cy="471587"/>
          </a:xfrm>
        </p:spPr>
        <p:txBody>
          <a:bodyPr/>
          <a:lstStyle/>
          <a:p>
            <a:r>
              <a:rPr lang="en-US" sz="3600" b="1" dirty="0" smtClean="0">
                <a:solidFill>
                  <a:schemeClr val="accent1"/>
                </a:solidFill>
                <a:latin typeface="Cambria" panose="02040503050406030204" pitchFamily="18" charset="0"/>
                <a:ea typeface="Cambria" panose="02040503050406030204" pitchFamily="18" charset="0"/>
              </a:rPr>
              <a:t>Methods of Collection interface </a:t>
            </a:r>
            <a:r>
              <a:rPr lang="en-US" sz="2400" b="1" dirty="0" smtClean="0">
                <a:solidFill>
                  <a:schemeClr val="accent1"/>
                </a:solidFill>
                <a:latin typeface="Cambria" panose="02040503050406030204" pitchFamily="18" charset="0"/>
                <a:ea typeface="Cambria" panose="02040503050406030204" pitchFamily="18" charset="0"/>
              </a:rPr>
              <a:t>(contd...)</a:t>
            </a:r>
            <a:endParaRPr lang="en-US" sz="3600" b="1" dirty="0">
              <a:solidFill>
                <a:schemeClr val="accent1"/>
              </a:solidFill>
              <a:latin typeface="Cambria" panose="02040503050406030204" pitchFamily="18" charset="0"/>
              <a:ea typeface="Cambria" panose="02040503050406030204" pitchFamily="18"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57849668"/>
              </p:ext>
            </p:extLst>
          </p:nvPr>
        </p:nvGraphicFramePr>
        <p:xfrm>
          <a:off x="479376" y="588219"/>
          <a:ext cx="10945216" cy="5289051"/>
        </p:xfrm>
        <a:graphic>
          <a:graphicData uri="http://schemas.openxmlformats.org/drawingml/2006/table">
            <a:tbl>
              <a:tblPr firstRow="1" bandRow="1">
                <a:tableStyleId>{5C22544A-7EE6-4342-B048-85BDC9FD1C3A}</a:tableStyleId>
              </a:tblPr>
              <a:tblGrid>
                <a:gridCol w="639429">
                  <a:extLst>
                    <a:ext uri="{9D8B030D-6E8A-4147-A177-3AD203B41FA5}">
                      <a16:colId xmlns:a16="http://schemas.microsoft.com/office/drawing/2014/main" val="20000"/>
                    </a:ext>
                  </a:extLst>
                </a:gridCol>
                <a:gridCol w="4905187">
                  <a:extLst>
                    <a:ext uri="{9D8B030D-6E8A-4147-A177-3AD203B41FA5}">
                      <a16:colId xmlns:a16="http://schemas.microsoft.com/office/drawing/2014/main" val="20001"/>
                    </a:ext>
                  </a:extLst>
                </a:gridCol>
                <a:gridCol w="5400600">
                  <a:extLst>
                    <a:ext uri="{9D8B030D-6E8A-4147-A177-3AD203B41FA5}">
                      <a16:colId xmlns:a16="http://schemas.microsoft.com/office/drawing/2014/main" val="20002"/>
                    </a:ext>
                  </a:extLst>
                </a:gridCol>
              </a:tblGrid>
              <a:tr h="502994">
                <a:tc>
                  <a:txBody>
                    <a:bodyPr/>
                    <a:lstStyle/>
                    <a:p>
                      <a:pPr algn="ctr" fontAlgn="t"/>
                      <a:r>
                        <a:rPr lang="en-US" dirty="0">
                          <a:solidFill>
                            <a:srgbClr val="000000"/>
                          </a:solidFill>
                          <a:latin typeface="Cambria" panose="02040503050406030204" pitchFamily="18" charset="0"/>
                          <a:ea typeface="Cambria" panose="02040503050406030204" pitchFamily="18" charset="0"/>
                        </a:rPr>
                        <a:t>No.</a:t>
                      </a:r>
                    </a:p>
                  </a:txBody>
                  <a:tcPr marL="114300" marR="114300" marT="114300" marB="114300" anchor="ctr"/>
                </a:tc>
                <a:tc>
                  <a:txBody>
                    <a:bodyPr/>
                    <a:lstStyle/>
                    <a:p>
                      <a:pPr algn="ctr" fontAlgn="t"/>
                      <a:r>
                        <a:rPr lang="en-US" dirty="0">
                          <a:solidFill>
                            <a:srgbClr val="000000"/>
                          </a:solidFill>
                          <a:latin typeface="Cambria" panose="02040503050406030204" pitchFamily="18" charset="0"/>
                          <a:ea typeface="Cambria" panose="02040503050406030204" pitchFamily="18" charset="0"/>
                        </a:rPr>
                        <a:t>Method</a:t>
                      </a:r>
                    </a:p>
                  </a:txBody>
                  <a:tcPr marL="114300" marR="114300" marT="114300" marB="114300" anchor="ctr"/>
                </a:tc>
                <a:tc>
                  <a:txBody>
                    <a:bodyPr/>
                    <a:lstStyle/>
                    <a:p>
                      <a:pPr algn="ctr" fontAlgn="t"/>
                      <a:r>
                        <a:rPr lang="en-US" dirty="0">
                          <a:solidFill>
                            <a:srgbClr val="000000"/>
                          </a:solidFill>
                          <a:latin typeface="Cambria" panose="02040503050406030204" pitchFamily="18" charset="0"/>
                          <a:ea typeface="Cambria" panose="02040503050406030204" pitchFamily="18" charset="0"/>
                        </a:rPr>
                        <a:t>Description</a:t>
                      </a:r>
                    </a:p>
                  </a:txBody>
                  <a:tcPr marL="114300" marR="114300" marT="114300" marB="114300" anchor="ctr"/>
                </a:tc>
                <a:extLst>
                  <a:ext uri="{0D108BD9-81ED-4DB2-BD59-A6C34878D82A}">
                    <a16:rowId xmlns:a16="http://schemas.microsoft.com/office/drawing/2014/main" val="10000"/>
                  </a:ext>
                </a:extLst>
              </a:tr>
              <a:tr h="701142">
                <a:tc>
                  <a:txBody>
                    <a:bodyPr/>
                    <a:lstStyle/>
                    <a:p>
                      <a:pPr algn="ctr" fontAlgn="t"/>
                      <a:r>
                        <a:rPr lang="en-US" dirty="0">
                          <a:solidFill>
                            <a:srgbClr val="333333"/>
                          </a:solidFill>
                          <a:latin typeface="Cambria" panose="02040503050406030204" pitchFamily="18" charset="0"/>
                          <a:ea typeface="Cambria" panose="02040503050406030204" pitchFamily="18" charset="0"/>
                        </a:rPr>
                        <a:t>7</a:t>
                      </a:r>
                    </a:p>
                  </a:txBody>
                  <a:tcPr marL="76200" marR="76200" marT="76200" marB="76200" anchor="ctr"/>
                </a:tc>
                <a:tc>
                  <a:txBody>
                    <a:bodyPr/>
                    <a:lstStyle/>
                    <a:p>
                      <a:pPr algn="just" fontAlgn="t"/>
                      <a:r>
                        <a:rPr lang="en-US" dirty="0">
                          <a:solidFill>
                            <a:srgbClr val="333333"/>
                          </a:solidFill>
                          <a:latin typeface="Cambria" panose="02040503050406030204" pitchFamily="18" charset="0"/>
                          <a:ea typeface="Cambria" panose="02040503050406030204" pitchFamily="18" charset="0"/>
                        </a:rPr>
                        <a:t>public int size()</a:t>
                      </a:r>
                    </a:p>
                  </a:txBody>
                  <a:tcPr marL="76200" marR="76200" marT="76200" marB="76200" anchor="ctr"/>
                </a:tc>
                <a:tc>
                  <a:txBody>
                    <a:bodyPr/>
                    <a:lstStyle/>
                    <a:p>
                      <a:pPr algn="just" fontAlgn="t"/>
                      <a:r>
                        <a:rPr lang="en-GB">
                          <a:solidFill>
                            <a:srgbClr val="333333"/>
                          </a:solidFill>
                          <a:latin typeface="Cambria" panose="02040503050406030204" pitchFamily="18" charset="0"/>
                          <a:ea typeface="Cambria" panose="02040503050406030204" pitchFamily="18" charset="0"/>
                        </a:rPr>
                        <a:t>It returns the total number of elements in the collection.</a:t>
                      </a:r>
                    </a:p>
                  </a:txBody>
                  <a:tcPr marL="76200" marR="76200" marT="76200" marB="76200" anchor="ctr"/>
                </a:tc>
                <a:extLst>
                  <a:ext uri="{0D108BD9-81ED-4DB2-BD59-A6C34878D82A}">
                    <a16:rowId xmlns:a16="http://schemas.microsoft.com/office/drawing/2014/main" val="10001"/>
                  </a:ext>
                </a:extLst>
              </a:tr>
              <a:tr h="701142">
                <a:tc>
                  <a:txBody>
                    <a:bodyPr/>
                    <a:lstStyle/>
                    <a:p>
                      <a:pPr algn="ctr" fontAlgn="t"/>
                      <a:r>
                        <a:rPr lang="en-US" dirty="0">
                          <a:solidFill>
                            <a:srgbClr val="333333"/>
                          </a:solidFill>
                          <a:latin typeface="Cambria" panose="02040503050406030204" pitchFamily="18" charset="0"/>
                          <a:ea typeface="Cambria" panose="02040503050406030204" pitchFamily="18" charset="0"/>
                        </a:rPr>
                        <a:t>8</a:t>
                      </a:r>
                    </a:p>
                  </a:txBody>
                  <a:tcPr marL="76200" marR="76200" marT="76200" marB="76200" anchor="ctr"/>
                </a:tc>
                <a:tc>
                  <a:txBody>
                    <a:bodyPr/>
                    <a:lstStyle/>
                    <a:p>
                      <a:pPr algn="just" fontAlgn="t"/>
                      <a:r>
                        <a:rPr lang="en-US" dirty="0">
                          <a:solidFill>
                            <a:srgbClr val="333333"/>
                          </a:solidFill>
                          <a:latin typeface="Cambria" panose="02040503050406030204" pitchFamily="18" charset="0"/>
                          <a:ea typeface="Cambria" panose="02040503050406030204" pitchFamily="18" charset="0"/>
                        </a:rPr>
                        <a:t>public void clear()</a:t>
                      </a:r>
                    </a:p>
                  </a:txBody>
                  <a:tcPr marL="76200" marR="76200" marT="76200" marB="76200" anchor="ctr"/>
                </a:tc>
                <a:tc>
                  <a:txBody>
                    <a:bodyPr/>
                    <a:lstStyle/>
                    <a:p>
                      <a:pPr algn="just" fontAlgn="t"/>
                      <a:r>
                        <a:rPr lang="en-GB" dirty="0">
                          <a:solidFill>
                            <a:srgbClr val="333333"/>
                          </a:solidFill>
                          <a:latin typeface="Cambria" panose="02040503050406030204" pitchFamily="18" charset="0"/>
                          <a:ea typeface="Cambria" panose="02040503050406030204" pitchFamily="18" charset="0"/>
                        </a:rPr>
                        <a:t>It removes the total number of elements from the collection.</a:t>
                      </a:r>
                    </a:p>
                  </a:txBody>
                  <a:tcPr marL="76200" marR="76200" marT="76200" marB="76200" anchor="ctr"/>
                </a:tc>
                <a:extLst>
                  <a:ext uri="{0D108BD9-81ED-4DB2-BD59-A6C34878D82A}">
                    <a16:rowId xmlns:a16="http://schemas.microsoft.com/office/drawing/2014/main" val="10002"/>
                  </a:ext>
                </a:extLst>
              </a:tr>
              <a:tr h="426782">
                <a:tc>
                  <a:txBody>
                    <a:bodyPr/>
                    <a:lstStyle/>
                    <a:p>
                      <a:pPr algn="ctr" fontAlgn="t"/>
                      <a:r>
                        <a:rPr lang="en-US" dirty="0">
                          <a:solidFill>
                            <a:srgbClr val="333333"/>
                          </a:solidFill>
                          <a:latin typeface="Cambria" panose="02040503050406030204" pitchFamily="18" charset="0"/>
                          <a:ea typeface="Cambria" panose="02040503050406030204" pitchFamily="18" charset="0"/>
                        </a:rPr>
                        <a:t>9</a:t>
                      </a:r>
                    </a:p>
                  </a:txBody>
                  <a:tcPr marL="76200" marR="76200" marT="76200" marB="76200" anchor="ctr"/>
                </a:tc>
                <a:tc>
                  <a:txBody>
                    <a:bodyPr/>
                    <a:lstStyle/>
                    <a:p>
                      <a:pPr algn="just" fontAlgn="t"/>
                      <a:r>
                        <a:rPr lang="en-US" dirty="0">
                          <a:solidFill>
                            <a:srgbClr val="333333"/>
                          </a:solidFill>
                          <a:latin typeface="Cambria" panose="02040503050406030204" pitchFamily="18" charset="0"/>
                          <a:ea typeface="Cambria" panose="02040503050406030204" pitchFamily="18" charset="0"/>
                        </a:rPr>
                        <a:t>public boolean contains(Object element)</a:t>
                      </a:r>
                    </a:p>
                  </a:txBody>
                  <a:tcPr marL="76200" marR="76200" marT="76200" marB="76200" anchor="ctr"/>
                </a:tc>
                <a:tc>
                  <a:txBody>
                    <a:bodyPr/>
                    <a:lstStyle/>
                    <a:p>
                      <a:pPr algn="just" fontAlgn="t"/>
                      <a:r>
                        <a:rPr lang="en-GB" dirty="0">
                          <a:solidFill>
                            <a:srgbClr val="333333"/>
                          </a:solidFill>
                          <a:latin typeface="Cambria" panose="02040503050406030204" pitchFamily="18" charset="0"/>
                          <a:ea typeface="Cambria" panose="02040503050406030204" pitchFamily="18" charset="0"/>
                        </a:rPr>
                        <a:t>It is used to search an element.</a:t>
                      </a:r>
                    </a:p>
                  </a:txBody>
                  <a:tcPr marL="76200" marR="76200" marT="76200" marB="76200" anchor="ctr"/>
                </a:tc>
                <a:extLst>
                  <a:ext uri="{0D108BD9-81ED-4DB2-BD59-A6C34878D82A}">
                    <a16:rowId xmlns:a16="http://schemas.microsoft.com/office/drawing/2014/main" val="10003"/>
                  </a:ext>
                </a:extLst>
              </a:tr>
              <a:tr h="701142">
                <a:tc>
                  <a:txBody>
                    <a:bodyPr/>
                    <a:lstStyle/>
                    <a:p>
                      <a:pPr algn="ctr" fontAlgn="t"/>
                      <a:r>
                        <a:rPr lang="en-US" dirty="0">
                          <a:solidFill>
                            <a:srgbClr val="333333"/>
                          </a:solidFill>
                          <a:latin typeface="Cambria" panose="02040503050406030204" pitchFamily="18" charset="0"/>
                          <a:ea typeface="Cambria" panose="02040503050406030204" pitchFamily="18" charset="0"/>
                        </a:rPr>
                        <a:t>10</a:t>
                      </a:r>
                    </a:p>
                  </a:txBody>
                  <a:tcPr marL="76200" marR="76200" marT="76200" marB="76200" anchor="ctr"/>
                </a:tc>
                <a:tc>
                  <a:txBody>
                    <a:bodyPr/>
                    <a:lstStyle/>
                    <a:p>
                      <a:pPr algn="just" fontAlgn="t"/>
                      <a:r>
                        <a:rPr lang="en-US">
                          <a:solidFill>
                            <a:srgbClr val="333333"/>
                          </a:solidFill>
                          <a:latin typeface="Cambria" panose="02040503050406030204" pitchFamily="18" charset="0"/>
                          <a:ea typeface="Cambria" panose="02040503050406030204" pitchFamily="18" charset="0"/>
                        </a:rPr>
                        <a:t>public boolean containsAll(Collection&lt;?&gt; c)</a:t>
                      </a:r>
                    </a:p>
                  </a:txBody>
                  <a:tcPr marL="76200" marR="76200" marT="76200" marB="76200" anchor="ctr"/>
                </a:tc>
                <a:tc>
                  <a:txBody>
                    <a:bodyPr/>
                    <a:lstStyle/>
                    <a:p>
                      <a:pPr algn="just" fontAlgn="t"/>
                      <a:r>
                        <a:rPr lang="en-GB" dirty="0">
                          <a:solidFill>
                            <a:srgbClr val="333333"/>
                          </a:solidFill>
                          <a:latin typeface="Cambria" panose="02040503050406030204" pitchFamily="18" charset="0"/>
                          <a:ea typeface="Cambria" panose="02040503050406030204" pitchFamily="18" charset="0"/>
                        </a:rPr>
                        <a:t>It is used to search the specified collection in the collection.</a:t>
                      </a:r>
                    </a:p>
                  </a:txBody>
                  <a:tcPr marL="76200" marR="76200" marT="76200" marB="76200" anchor="ctr"/>
                </a:tc>
                <a:extLst>
                  <a:ext uri="{0D108BD9-81ED-4DB2-BD59-A6C34878D82A}">
                    <a16:rowId xmlns:a16="http://schemas.microsoft.com/office/drawing/2014/main" val="10004"/>
                  </a:ext>
                </a:extLst>
              </a:tr>
              <a:tr h="426782">
                <a:tc>
                  <a:txBody>
                    <a:bodyPr/>
                    <a:lstStyle/>
                    <a:p>
                      <a:pPr algn="ctr" fontAlgn="t"/>
                      <a:r>
                        <a:rPr lang="en-US" dirty="0">
                          <a:solidFill>
                            <a:srgbClr val="333333"/>
                          </a:solidFill>
                          <a:latin typeface="Cambria" panose="02040503050406030204" pitchFamily="18" charset="0"/>
                          <a:ea typeface="Cambria" panose="02040503050406030204" pitchFamily="18" charset="0"/>
                        </a:rPr>
                        <a:t>11</a:t>
                      </a:r>
                    </a:p>
                  </a:txBody>
                  <a:tcPr marL="76200" marR="76200" marT="76200" marB="76200" anchor="ctr"/>
                </a:tc>
                <a:tc>
                  <a:txBody>
                    <a:bodyPr/>
                    <a:lstStyle/>
                    <a:p>
                      <a:pPr algn="just" fontAlgn="t"/>
                      <a:r>
                        <a:rPr lang="en-US">
                          <a:solidFill>
                            <a:srgbClr val="333333"/>
                          </a:solidFill>
                          <a:latin typeface="Cambria" panose="02040503050406030204" pitchFamily="18" charset="0"/>
                          <a:ea typeface="Cambria" panose="02040503050406030204" pitchFamily="18" charset="0"/>
                        </a:rPr>
                        <a:t>public Iterator iterator()</a:t>
                      </a:r>
                    </a:p>
                  </a:txBody>
                  <a:tcPr marL="76200" marR="76200" marT="76200" marB="76200" anchor="ctr"/>
                </a:tc>
                <a:tc>
                  <a:txBody>
                    <a:bodyPr/>
                    <a:lstStyle/>
                    <a:p>
                      <a:pPr algn="just" fontAlgn="t"/>
                      <a:r>
                        <a:rPr lang="en-US" dirty="0">
                          <a:solidFill>
                            <a:srgbClr val="333333"/>
                          </a:solidFill>
                          <a:latin typeface="Cambria" panose="02040503050406030204" pitchFamily="18" charset="0"/>
                          <a:ea typeface="Cambria" panose="02040503050406030204" pitchFamily="18" charset="0"/>
                        </a:rPr>
                        <a:t>It returns an iterator.</a:t>
                      </a:r>
                    </a:p>
                  </a:txBody>
                  <a:tcPr marL="76200" marR="76200" marT="76200" marB="76200" anchor="ctr"/>
                </a:tc>
                <a:extLst>
                  <a:ext uri="{0D108BD9-81ED-4DB2-BD59-A6C34878D82A}">
                    <a16:rowId xmlns:a16="http://schemas.microsoft.com/office/drawing/2014/main" val="10005"/>
                  </a:ext>
                </a:extLst>
              </a:tr>
              <a:tr h="426782">
                <a:tc>
                  <a:txBody>
                    <a:bodyPr/>
                    <a:lstStyle/>
                    <a:p>
                      <a:pPr algn="ctr" fontAlgn="t"/>
                      <a:r>
                        <a:rPr lang="en-US" dirty="0">
                          <a:solidFill>
                            <a:srgbClr val="333333"/>
                          </a:solidFill>
                          <a:latin typeface="Cambria" panose="02040503050406030204" pitchFamily="18" charset="0"/>
                          <a:ea typeface="Cambria" panose="02040503050406030204" pitchFamily="18" charset="0"/>
                        </a:rPr>
                        <a:t>12</a:t>
                      </a:r>
                    </a:p>
                  </a:txBody>
                  <a:tcPr marL="76200" marR="76200" marT="76200" marB="76200" anchor="ctr"/>
                </a:tc>
                <a:tc>
                  <a:txBody>
                    <a:bodyPr/>
                    <a:lstStyle/>
                    <a:p>
                      <a:pPr algn="just" fontAlgn="t"/>
                      <a:r>
                        <a:rPr lang="en-US">
                          <a:solidFill>
                            <a:srgbClr val="333333"/>
                          </a:solidFill>
                          <a:latin typeface="Cambria" panose="02040503050406030204" pitchFamily="18" charset="0"/>
                          <a:ea typeface="Cambria" panose="02040503050406030204" pitchFamily="18" charset="0"/>
                        </a:rPr>
                        <a:t>public Object[] toArray()</a:t>
                      </a:r>
                    </a:p>
                  </a:txBody>
                  <a:tcPr marL="76200" marR="76200" marT="76200" marB="76200" anchor="ctr"/>
                </a:tc>
                <a:tc>
                  <a:txBody>
                    <a:bodyPr/>
                    <a:lstStyle/>
                    <a:p>
                      <a:pPr algn="just" fontAlgn="t"/>
                      <a:r>
                        <a:rPr lang="en-GB" dirty="0">
                          <a:solidFill>
                            <a:srgbClr val="333333"/>
                          </a:solidFill>
                          <a:latin typeface="Cambria" panose="02040503050406030204" pitchFamily="18" charset="0"/>
                          <a:ea typeface="Cambria" panose="02040503050406030204" pitchFamily="18" charset="0"/>
                        </a:rPr>
                        <a:t>It converts collection into array.</a:t>
                      </a:r>
                    </a:p>
                  </a:txBody>
                  <a:tcPr marL="76200" marR="76200" marT="76200" marB="76200" anchor="ctr"/>
                </a:tc>
                <a:extLst>
                  <a:ext uri="{0D108BD9-81ED-4DB2-BD59-A6C34878D82A}">
                    <a16:rowId xmlns:a16="http://schemas.microsoft.com/office/drawing/2014/main" val="10006"/>
                  </a:ext>
                </a:extLst>
              </a:tr>
              <a:tr h="975503">
                <a:tc>
                  <a:txBody>
                    <a:bodyPr/>
                    <a:lstStyle/>
                    <a:p>
                      <a:pPr algn="ctr" fontAlgn="t"/>
                      <a:r>
                        <a:rPr lang="en-US" dirty="0">
                          <a:solidFill>
                            <a:srgbClr val="333333"/>
                          </a:solidFill>
                          <a:latin typeface="Cambria" panose="02040503050406030204" pitchFamily="18" charset="0"/>
                          <a:ea typeface="Cambria" panose="02040503050406030204" pitchFamily="18" charset="0"/>
                        </a:rPr>
                        <a:t>13</a:t>
                      </a:r>
                    </a:p>
                  </a:txBody>
                  <a:tcPr marL="76200" marR="76200" marT="76200" marB="76200" anchor="ctr"/>
                </a:tc>
                <a:tc>
                  <a:txBody>
                    <a:bodyPr/>
                    <a:lstStyle/>
                    <a:p>
                      <a:pPr algn="just" fontAlgn="t"/>
                      <a:r>
                        <a:rPr lang="fr-FR">
                          <a:solidFill>
                            <a:srgbClr val="333333"/>
                          </a:solidFill>
                          <a:latin typeface="Cambria" panose="02040503050406030204" pitchFamily="18" charset="0"/>
                          <a:ea typeface="Cambria" panose="02040503050406030204" pitchFamily="18" charset="0"/>
                        </a:rPr>
                        <a:t>public &lt;T&gt; T[] toArray(T[] a)</a:t>
                      </a:r>
                    </a:p>
                  </a:txBody>
                  <a:tcPr marL="76200" marR="76200" marT="76200" marB="76200" anchor="ctr"/>
                </a:tc>
                <a:tc>
                  <a:txBody>
                    <a:bodyPr/>
                    <a:lstStyle/>
                    <a:p>
                      <a:pPr algn="just" fontAlgn="t"/>
                      <a:r>
                        <a:rPr lang="en-GB" dirty="0">
                          <a:solidFill>
                            <a:srgbClr val="333333"/>
                          </a:solidFill>
                          <a:latin typeface="Cambria" panose="02040503050406030204" pitchFamily="18" charset="0"/>
                          <a:ea typeface="Cambria" panose="02040503050406030204" pitchFamily="18" charset="0"/>
                        </a:rPr>
                        <a:t>It converts collection into array. Here, the runtime type of the returned array is that of the specified array.</a:t>
                      </a:r>
                    </a:p>
                  </a:txBody>
                  <a:tcPr marL="76200" marR="76200" marT="76200" marB="76200" anchor="ctr"/>
                </a:tc>
                <a:extLst>
                  <a:ext uri="{0D108BD9-81ED-4DB2-BD59-A6C34878D82A}">
                    <a16:rowId xmlns:a16="http://schemas.microsoft.com/office/drawing/2014/main" val="10007"/>
                  </a:ext>
                </a:extLst>
              </a:tr>
              <a:tr h="426782">
                <a:tc>
                  <a:txBody>
                    <a:bodyPr/>
                    <a:lstStyle/>
                    <a:p>
                      <a:pPr algn="ctr" fontAlgn="t"/>
                      <a:r>
                        <a:rPr lang="en-US" dirty="0">
                          <a:solidFill>
                            <a:srgbClr val="333333"/>
                          </a:solidFill>
                          <a:latin typeface="Cambria" panose="02040503050406030204" pitchFamily="18" charset="0"/>
                          <a:ea typeface="Cambria" panose="02040503050406030204" pitchFamily="18" charset="0"/>
                        </a:rPr>
                        <a:t>14</a:t>
                      </a:r>
                    </a:p>
                  </a:txBody>
                  <a:tcPr marL="76200" marR="76200" marT="76200" marB="76200" anchor="ctr"/>
                </a:tc>
                <a:tc>
                  <a:txBody>
                    <a:bodyPr/>
                    <a:lstStyle/>
                    <a:p>
                      <a:pPr algn="just" fontAlgn="t"/>
                      <a:r>
                        <a:rPr lang="en-US">
                          <a:solidFill>
                            <a:srgbClr val="333333"/>
                          </a:solidFill>
                          <a:latin typeface="Cambria" panose="02040503050406030204" pitchFamily="18" charset="0"/>
                          <a:ea typeface="Cambria" panose="02040503050406030204" pitchFamily="18" charset="0"/>
                        </a:rPr>
                        <a:t>public boolean isEmpty()</a:t>
                      </a:r>
                    </a:p>
                  </a:txBody>
                  <a:tcPr marL="76200" marR="76200" marT="76200" marB="76200" anchor="ctr"/>
                </a:tc>
                <a:tc>
                  <a:txBody>
                    <a:bodyPr/>
                    <a:lstStyle/>
                    <a:p>
                      <a:pPr algn="just" fontAlgn="t"/>
                      <a:r>
                        <a:rPr lang="en-GB" dirty="0">
                          <a:solidFill>
                            <a:srgbClr val="333333"/>
                          </a:solidFill>
                          <a:latin typeface="Cambria" panose="02040503050406030204" pitchFamily="18" charset="0"/>
                          <a:ea typeface="Cambria" panose="02040503050406030204" pitchFamily="18" charset="0"/>
                        </a:rPr>
                        <a:t>It checks if collection is empty.</a:t>
                      </a:r>
                    </a:p>
                  </a:txBody>
                  <a:tcPr marL="76200" marR="76200" marT="76200" marB="76200" anchor="ctr"/>
                </a:tc>
                <a:extLst>
                  <a:ext uri="{0D108BD9-81ED-4DB2-BD59-A6C34878D82A}">
                    <a16:rowId xmlns:a16="http://schemas.microsoft.com/office/drawing/2014/main" val="10008"/>
                  </a:ext>
                </a:extLst>
              </a:tr>
            </a:tbl>
          </a:graphicData>
        </a:graphic>
      </p:graphicFrame>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13</a:t>
            </a:fld>
            <a:endParaRPr lang="en-US" alt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02971800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352" y="1"/>
            <a:ext cx="5400600" cy="548680"/>
          </a:xfrm>
        </p:spPr>
        <p:txBody>
          <a:bodyPr/>
          <a:lstStyle/>
          <a:p>
            <a:r>
              <a:rPr lang="en-US" sz="4000" b="1" dirty="0" smtClean="0">
                <a:solidFill>
                  <a:schemeClr val="accent1"/>
                </a:solidFill>
                <a:latin typeface="Cambria" panose="02040503050406030204" pitchFamily="18" charset="0"/>
                <a:ea typeface="Cambria" panose="02040503050406030204" pitchFamily="18" charset="0"/>
              </a:rPr>
              <a:t>Iterable Interface</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623392" y="980728"/>
            <a:ext cx="10586392" cy="3295268"/>
          </a:xfrm>
        </p:spPr>
        <p:txBody>
          <a:bodyPr/>
          <a:lstStyle/>
          <a:p>
            <a:pPr algn="just"/>
            <a:r>
              <a:rPr lang="en-GB" dirty="0" smtClean="0">
                <a:latin typeface="Cambria" panose="02040503050406030204" pitchFamily="18" charset="0"/>
                <a:ea typeface="Cambria" panose="02040503050406030204" pitchFamily="18" charset="0"/>
              </a:rPr>
              <a:t>The </a:t>
            </a:r>
            <a:r>
              <a:rPr lang="en-GB" dirty="0" err="1" smtClean="0">
                <a:latin typeface="Cambria" panose="02040503050406030204" pitchFamily="18" charset="0"/>
                <a:ea typeface="Cambria" panose="02040503050406030204" pitchFamily="18" charset="0"/>
              </a:rPr>
              <a:t>Iterable</a:t>
            </a:r>
            <a:r>
              <a:rPr lang="en-GB" dirty="0" smtClean="0">
                <a:latin typeface="Cambria" panose="02040503050406030204" pitchFamily="18" charset="0"/>
                <a:ea typeface="Cambria" panose="02040503050406030204" pitchFamily="18" charset="0"/>
              </a:rPr>
              <a:t> interface is the root interface for all the collection classes. The Collection interface extends the </a:t>
            </a:r>
            <a:r>
              <a:rPr lang="en-GB" dirty="0" err="1" smtClean="0">
                <a:latin typeface="Cambria" panose="02040503050406030204" pitchFamily="18" charset="0"/>
                <a:ea typeface="Cambria" panose="02040503050406030204" pitchFamily="18" charset="0"/>
              </a:rPr>
              <a:t>Iterable</a:t>
            </a:r>
            <a:r>
              <a:rPr lang="en-GB" dirty="0" smtClean="0">
                <a:latin typeface="Cambria" panose="02040503050406030204" pitchFamily="18" charset="0"/>
                <a:ea typeface="Cambria" panose="02040503050406030204" pitchFamily="18" charset="0"/>
              </a:rPr>
              <a:t> interface and therefore all the subclasses of Collection interface also implement the </a:t>
            </a:r>
            <a:r>
              <a:rPr lang="en-GB" dirty="0" err="1" smtClean="0">
                <a:latin typeface="Cambria" panose="02040503050406030204" pitchFamily="18" charset="0"/>
                <a:ea typeface="Cambria" panose="02040503050406030204" pitchFamily="18" charset="0"/>
              </a:rPr>
              <a:t>Iterable</a:t>
            </a:r>
            <a:r>
              <a:rPr lang="en-GB" dirty="0" smtClean="0">
                <a:latin typeface="Cambria" panose="02040503050406030204" pitchFamily="18" charset="0"/>
                <a:ea typeface="Cambria" panose="02040503050406030204" pitchFamily="18" charset="0"/>
              </a:rPr>
              <a:t> interface.</a:t>
            </a:r>
          </a:p>
          <a:p>
            <a:pPr algn="just"/>
            <a:r>
              <a:rPr lang="en-GB" dirty="0" smtClean="0">
                <a:latin typeface="Cambria" panose="02040503050406030204" pitchFamily="18" charset="0"/>
                <a:ea typeface="Cambria" panose="02040503050406030204" pitchFamily="18" charset="0"/>
              </a:rPr>
              <a:t>It contains only one abstract method. i.e.,</a:t>
            </a:r>
          </a:p>
          <a:p>
            <a:pPr algn="just"/>
            <a:r>
              <a:rPr lang="en-GB" dirty="0" err="1" smtClean="0">
                <a:latin typeface="Cambria" panose="02040503050406030204" pitchFamily="18" charset="0"/>
                <a:ea typeface="Cambria" panose="02040503050406030204" pitchFamily="18" charset="0"/>
              </a:rPr>
              <a:t>Iterator</a:t>
            </a:r>
            <a:r>
              <a:rPr lang="en-GB" dirty="0" smtClean="0">
                <a:latin typeface="Cambria" panose="02040503050406030204" pitchFamily="18" charset="0"/>
                <a:ea typeface="Cambria" panose="02040503050406030204" pitchFamily="18" charset="0"/>
              </a:rPr>
              <a:t>&lt;T&gt; </a:t>
            </a:r>
            <a:r>
              <a:rPr lang="en-GB" dirty="0" err="1" smtClean="0">
                <a:latin typeface="Cambria" panose="02040503050406030204" pitchFamily="18" charset="0"/>
                <a:ea typeface="Cambria" panose="02040503050406030204" pitchFamily="18" charset="0"/>
              </a:rPr>
              <a:t>iterator</a:t>
            </a:r>
            <a:r>
              <a:rPr lang="en-GB" dirty="0" smtClean="0">
                <a:latin typeface="Cambria" panose="02040503050406030204" pitchFamily="18" charset="0"/>
                <a:ea typeface="Cambria" panose="02040503050406030204" pitchFamily="18" charset="0"/>
              </a:rPr>
              <a:t>()  </a:t>
            </a:r>
          </a:p>
          <a:p>
            <a:pPr algn="just"/>
            <a:r>
              <a:rPr lang="en-GB" dirty="0" smtClean="0">
                <a:latin typeface="Cambria" panose="02040503050406030204" pitchFamily="18" charset="0"/>
                <a:ea typeface="Cambria" panose="02040503050406030204" pitchFamily="18" charset="0"/>
              </a:rPr>
              <a:t>It returns the </a:t>
            </a:r>
            <a:r>
              <a:rPr lang="en-GB" dirty="0" err="1" smtClean="0">
                <a:latin typeface="Cambria" panose="02040503050406030204" pitchFamily="18" charset="0"/>
                <a:ea typeface="Cambria" panose="02040503050406030204" pitchFamily="18" charset="0"/>
              </a:rPr>
              <a:t>iterator</a:t>
            </a:r>
            <a:r>
              <a:rPr lang="en-GB" dirty="0" smtClean="0">
                <a:latin typeface="Cambria" panose="02040503050406030204" pitchFamily="18" charset="0"/>
                <a:ea typeface="Cambria" panose="02040503050406030204" pitchFamily="18" charset="0"/>
              </a:rPr>
              <a:t> over the elements of type T.</a:t>
            </a: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14</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1605" y="31686"/>
            <a:ext cx="5190339" cy="540748"/>
          </a:xfrm>
        </p:spPr>
        <p:txBody>
          <a:bodyPr/>
          <a:lstStyle/>
          <a:p>
            <a:r>
              <a:rPr lang="en-US" sz="4000" b="1" dirty="0" smtClean="0">
                <a:solidFill>
                  <a:schemeClr val="accent1"/>
                </a:solidFill>
                <a:latin typeface="Cambria" panose="02040503050406030204" pitchFamily="18" charset="0"/>
                <a:ea typeface="Cambria" panose="02040503050406030204" pitchFamily="18" charset="0"/>
              </a:rPr>
              <a:t>Iterator interface</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1054" y="857709"/>
            <a:ext cx="10730408" cy="928694"/>
          </a:xfrm>
        </p:spPr>
        <p:txBody>
          <a:bodyPr/>
          <a:lstStyle/>
          <a:p>
            <a:pPr algn="just"/>
            <a:r>
              <a:rPr lang="en-GB" dirty="0" err="1" smtClean="0">
                <a:latin typeface="Cambria" panose="02040503050406030204" pitchFamily="18" charset="0"/>
                <a:ea typeface="Cambria" panose="02040503050406030204" pitchFamily="18" charset="0"/>
              </a:rPr>
              <a:t>Iterator</a:t>
            </a:r>
            <a:r>
              <a:rPr lang="en-GB" dirty="0" smtClean="0">
                <a:latin typeface="Cambria" panose="02040503050406030204" pitchFamily="18" charset="0"/>
                <a:ea typeface="Cambria" panose="02040503050406030204" pitchFamily="18" charset="0"/>
              </a:rPr>
              <a:t> interface provides the facility of iterating the elements in a forward direction only.</a:t>
            </a: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15</a:t>
            </a:fld>
            <a:endParaRPr lang="en-US" altLang="en-US">
              <a:latin typeface="Cambria" panose="02040503050406030204" pitchFamily="18" charset="0"/>
              <a:ea typeface="Cambria" panose="020405030504060302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925641329"/>
              </p:ext>
            </p:extLst>
          </p:nvPr>
        </p:nvGraphicFramePr>
        <p:xfrm>
          <a:off x="823640" y="1786403"/>
          <a:ext cx="10377821" cy="3154766"/>
        </p:xfrm>
        <a:graphic>
          <a:graphicData uri="http://schemas.openxmlformats.org/drawingml/2006/table">
            <a:tbl>
              <a:tblPr firstRow="1" bandRow="1">
                <a:tableStyleId>{5C22544A-7EE6-4342-B048-85BDC9FD1C3A}</a:tableStyleId>
              </a:tblPr>
              <a:tblGrid>
                <a:gridCol w="912119">
                  <a:extLst>
                    <a:ext uri="{9D8B030D-6E8A-4147-A177-3AD203B41FA5}">
                      <a16:colId xmlns:a16="http://schemas.microsoft.com/office/drawing/2014/main" val="20000"/>
                    </a:ext>
                  </a:extLst>
                </a:gridCol>
                <a:gridCol w="3648479">
                  <a:extLst>
                    <a:ext uri="{9D8B030D-6E8A-4147-A177-3AD203B41FA5}">
                      <a16:colId xmlns:a16="http://schemas.microsoft.com/office/drawing/2014/main" val="20001"/>
                    </a:ext>
                  </a:extLst>
                </a:gridCol>
                <a:gridCol w="5817223">
                  <a:extLst>
                    <a:ext uri="{9D8B030D-6E8A-4147-A177-3AD203B41FA5}">
                      <a16:colId xmlns:a16="http://schemas.microsoft.com/office/drawing/2014/main" val="20002"/>
                    </a:ext>
                  </a:extLst>
                </a:gridCol>
              </a:tblGrid>
              <a:tr h="549851">
                <a:tc>
                  <a:txBody>
                    <a:bodyPr/>
                    <a:lstStyle/>
                    <a:p>
                      <a:pPr algn="ctr" fontAlgn="t"/>
                      <a:r>
                        <a:rPr lang="en-US" dirty="0">
                          <a:solidFill>
                            <a:srgbClr val="000000"/>
                          </a:solidFill>
                          <a:latin typeface="Cambria" panose="02040503050406030204" pitchFamily="18" charset="0"/>
                          <a:ea typeface="Cambria" panose="02040503050406030204" pitchFamily="18" charset="0"/>
                        </a:rPr>
                        <a:t>No.</a:t>
                      </a:r>
                    </a:p>
                  </a:txBody>
                  <a:tcPr marL="114300" marR="114300" marT="114300" marB="114300" anchor="ctr"/>
                </a:tc>
                <a:tc>
                  <a:txBody>
                    <a:bodyPr/>
                    <a:lstStyle/>
                    <a:p>
                      <a:pPr algn="ctr" fontAlgn="t"/>
                      <a:r>
                        <a:rPr lang="en-US" dirty="0">
                          <a:solidFill>
                            <a:srgbClr val="000000"/>
                          </a:solidFill>
                          <a:latin typeface="Cambria" panose="02040503050406030204" pitchFamily="18" charset="0"/>
                          <a:ea typeface="Cambria" panose="02040503050406030204" pitchFamily="18" charset="0"/>
                        </a:rPr>
                        <a:t>Method</a:t>
                      </a:r>
                    </a:p>
                  </a:txBody>
                  <a:tcPr marL="114300" marR="114300" marT="114300" marB="114300" anchor="ctr"/>
                </a:tc>
                <a:tc>
                  <a:txBody>
                    <a:bodyPr/>
                    <a:lstStyle/>
                    <a:p>
                      <a:pPr algn="ctr" fontAlgn="t"/>
                      <a:r>
                        <a:rPr lang="en-US" dirty="0">
                          <a:solidFill>
                            <a:srgbClr val="000000"/>
                          </a:solidFill>
                          <a:latin typeface="Cambria" panose="02040503050406030204" pitchFamily="18" charset="0"/>
                          <a:ea typeface="Cambria" panose="02040503050406030204" pitchFamily="18" charset="0"/>
                        </a:rPr>
                        <a:t>Description</a:t>
                      </a:r>
                    </a:p>
                  </a:txBody>
                  <a:tcPr marL="114300" marR="114300" marT="114300" marB="114300" anchor="ctr"/>
                </a:tc>
                <a:extLst>
                  <a:ext uri="{0D108BD9-81ED-4DB2-BD59-A6C34878D82A}">
                    <a16:rowId xmlns:a16="http://schemas.microsoft.com/office/drawing/2014/main" val="10000"/>
                  </a:ext>
                </a:extLst>
              </a:tr>
              <a:tr h="868305">
                <a:tc>
                  <a:txBody>
                    <a:bodyPr/>
                    <a:lstStyle/>
                    <a:p>
                      <a:pPr algn="ctr" fontAlgn="t"/>
                      <a:r>
                        <a:rPr lang="en-US" dirty="0">
                          <a:solidFill>
                            <a:srgbClr val="333333"/>
                          </a:solidFill>
                          <a:latin typeface="Cambria" panose="02040503050406030204" pitchFamily="18" charset="0"/>
                          <a:ea typeface="Cambria" panose="02040503050406030204" pitchFamily="18" charset="0"/>
                        </a:rPr>
                        <a:t>1</a:t>
                      </a:r>
                    </a:p>
                  </a:txBody>
                  <a:tcPr marL="76200" marR="76200" marT="76200" marB="76200" anchor="ctr"/>
                </a:tc>
                <a:tc>
                  <a:txBody>
                    <a:bodyPr/>
                    <a:lstStyle/>
                    <a:p>
                      <a:pPr algn="just" fontAlgn="t"/>
                      <a:r>
                        <a:rPr lang="en-US" dirty="0">
                          <a:solidFill>
                            <a:srgbClr val="333333"/>
                          </a:solidFill>
                          <a:latin typeface="Cambria" panose="02040503050406030204" pitchFamily="18" charset="0"/>
                          <a:ea typeface="Cambria" panose="02040503050406030204" pitchFamily="18" charset="0"/>
                        </a:rPr>
                        <a:t>public boolean hasNext()</a:t>
                      </a:r>
                    </a:p>
                  </a:txBody>
                  <a:tcPr marL="76200" marR="76200" marT="76200" marB="76200" anchor="ctr"/>
                </a:tc>
                <a:tc>
                  <a:txBody>
                    <a:bodyPr/>
                    <a:lstStyle/>
                    <a:p>
                      <a:pPr algn="just" fontAlgn="t"/>
                      <a:r>
                        <a:rPr lang="en-GB" dirty="0">
                          <a:solidFill>
                            <a:srgbClr val="333333"/>
                          </a:solidFill>
                          <a:latin typeface="Cambria" panose="02040503050406030204" pitchFamily="18" charset="0"/>
                          <a:ea typeface="Cambria" panose="02040503050406030204" pitchFamily="18" charset="0"/>
                        </a:rPr>
                        <a:t>It returns true if the iterator has more </a:t>
                      </a:r>
                      <a:r>
                        <a:rPr lang="en-GB" dirty="0" smtClean="0">
                          <a:solidFill>
                            <a:srgbClr val="333333"/>
                          </a:solidFill>
                          <a:latin typeface="Cambria" panose="02040503050406030204" pitchFamily="18" charset="0"/>
                          <a:ea typeface="Cambria" panose="02040503050406030204" pitchFamily="18" charset="0"/>
                        </a:rPr>
                        <a:t>elements, </a:t>
                      </a:r>
                      <a:r>
                        <a:rPr lang="en-GB" dirty="0">
                          <a:solidFill>
                            <a:srgbClr val="333333"/>
                          </a:solidFill>
                          <a:latin typeface="Cambria" panose="02040503050406030204" pitchFamily="18" charset="0"/>
                          <a:ea typeface="Cambria" panose="02040503050406030204" pitchFamily="18" charset="0"/>
                        </a:rPr>
                        <a:t>otherwise it returns false.</a:t>
                      </a:r>
                    </a:p>
                  </a:txBody>
                  <a:tcPr marL="76200" marR="76200" marT="76200" marB="76200" anchor="ctr"/>
                </a:tc>
                <a:extLst>
                  <a:ext uri="{0D108BD9-81ED-4DB2-BD59-A6C34878D82A}">
                    <a16:rowId xmlns:a16="http://schemas.microsoft.com/office/drawing/2014/main" val="10001"/>
                  </a:ext>
                </a:extLst>
              </a:tr>
              <a:tr h="868305">
                <a:tc>
                  <a:txBody>
                    <a:bodyPr/>
                    <a:lstStyle/>
                    <a:p>
                      <a:pPr algn="ctr" fontAlgn="t"/>
                      <a:r>
                        <a:rPr lang="en-US" dirty="0">
                          <a:solidFill>
                            <a:srgbClr val="333333"/>
                          </a:solidFill>
                          <a:latin typeface="Cambria" panose="02040503050406030204" pitchFamily="18" charset="0"/>
                          <a:ea typeface="Cambria" panose="02040503050406030204" pitchFamily="18" charset="0"/>
                        </a:rPr>
                        <a:t>2</a:t>
                      </a:r>
                    </a:p>
                  </a:txBody>
                  <a:tcPr marL="76200" marR="76200" marT="76200" marB="76200" anchor="ctr"/>
                </a:tc>
                <a:tc>
                  <a:txBody>
                    <a:bodyPr/>
                    <a:lstStyle/>
                    <a:p>
                      <a:pPr algn="just" fontAlgn="t"/>
                      <a:r>
                        <a:rPr lang="en-US" dirty="0">
                          <a:solidFill>
                            <a:srgbClr val="333333"/>
                          </a:solidFill>
                          <a:latin typeface="Cambria" panose="02040503050406030204" pitchFamily="18" charset="0"/>
                          <a:ea typeface="Cambria" panose="02040503050406030204" pitchFamily="18" charset="0"/>
                        </a:rPr>
                        <a:t>public Object next()</a:t>
                      </a:r>
                    </a:p>
                  </a:txBody>
                  <a:tcPr marL="76200" marR="76200" marT="76200" marB="76200" anchor="ctr"/>
                </a:tc>
                <a:tc>
                  <a:txBody>
                    <a:bodyPr/>
                    <a:lstStyle/>
                    <a:p>
                      <a:pPr algn="just" fontAlgn="t"/>
                      <a:r>
                        <a:rPr lang="en-GB" dirty="0">
                          <a:solidFill>
                            <a:srgbClr val="333333"/>
                          </a:solidFill>
                          <a:latin typeface="Cambria" panose="02040503050406030204" pitchFamily="18" charset="0"/>
                          <a:ea typeface="Cambria" panose="02040503050406030204" pitchFamily="18" charset="0"/>
                        </a:rPr>
                        <a:t>It returns the element and moves the cursor pointer to the next element.</a:t>
                      </a:r>
                    </a:p>
                  </a:txBody>
                  <a:tcPr marL="76200" marR="76200" marT="76200" marB="76200" anchor="ctr"/>
                </a:tc>
                <a:extLst>
                  <a:ext uri="{0D108BD9-81ED-4DB2-BD59-A6C34878D82A}">
                    <a16:rowId xmlns:a16="http://schemas.microsoft.com/office/drawing/2014/main" val="10002"/>
                  </a:ext>
                </a:extLst>
              </a:tr>
              <a:tr h="868305">
                <a:tc>
                  <a:txBody>
                    <a:bodyPr/>
                    <a:lstStyle/>
                    <a:p>
                      <a:pPr algn="ctr" fontAlgn="t"/>
                      <a:r>
                        <a:rPr lang="en-US" dirty="0">
                          <a:solidFill>
                            <a:srgbClr val="333333"/>
                          </a:solidFill>
                          <a:latin typeface="Cambria" panose="02040503050406030204" pitchFamily="18" charset="0"/>
                          <a:ea typeface="Cambria" panose="02040503050406030204" pitchFamily="18" charset="0"/>
                        </a:rPr>
                        <a:t>3</a:t>
                      </a:r>
                    </a:p>
                  </a:txBody>
                  <a:tcPr marL="76200" marR="76200" marT="76200" marB="76200" anchor="ctr"/>
                </a:tc>
                <a:tc>
                  <a:txBody>
                    <a:bodyPr/>
                    <a:lstStyle/>
                    <a:p>
                      <a:pPr algn="just" fontAlgn="t"/>
                      <a:r>
                        <a:rPr lang="en-US">
                          <a:solidFill>
                            <a:srgbClr val="333333"/>
                          </a:solidFill>
                          <a:latin typeface="Cambria" panose="02040503050406030204" pitchFamily="18" charset="0"/>
                          <a:ea typeface="Cambria" panose="02040503050406030204" pitchFamily="18" charset="0"/>
                        </a:rPr>
                        <a:t>public void remove()</a:t>
                      </a:r>
                    </a:p>
                  </a:txBody>
                  <a:tcPr marL="76200" marR="76200" marT="76200" marB="76200" anchor="ctr"/>
                </a:tc>
                <a:tc>
                  <a:txBody>
                    <a:bodyPr/>
                    <a:lstStyle/>
                    <a:p>
                      <a:pPr algn="just" fontAlgn="t"/>
                      <a:r>
                        <a:rPr lang="en-GB" dirty="0">
                          <a:solidFill>
                            <a:srgbClr val="333333"/>
                          </a:solidFill>
                          <a:latin typeface="Cambria" panose="02040503050406030204" pitchFamily="18" charset="0"/>
                          <a:ea typeface="Cambria" panose="02040503050406030204" pitchFamily="18" charset="0"/>
                        </a:rPr>
                        <a:t>It removes the last elements returned by </a:t>
                      </a:r>
                      <a:r>
                        <a:rPr lang="en-GB" dirty="0" smtClean="0">
                          <a:solidFill>
                            <a:srgbClr val="333333"/>
                          </a:solidFill>
                          <a:latin typeface="Cambria" panose="02040503050406030204" pitchFamily="18" charset="0"/>
                          <a:ea typeface="Cambria" panose="02040503050406030204" pitchFamily="18" charset="0"/>
                        </a:rPr>
                        <a:t>an </a:t>
                      </a:r>
                      <a:r>
                        <a:rPr lang="en-GB" dirty="0">
                          <a:solidFill>
                            <a:srgbClr val="333333"/>
                          </a:solidFill>
                          <a:latin typeface="Cambria" panose="02040503050406030204" pitchFamily="18" charset="0"/>
                          <a:ea typeface="Cambria" panose="02040503050406030204" pitchFamily="18" charset="0"/>
                        </a:rPr>
                        <a:t>iterator</a:t>
                      </a:r>
                      <a:r>
                        <a:rPr lang="en-GB" dirty="0" smtClean="0">
                          <a:solidFill>
                            <a:srgbClr val="333333"/>
                          </a:solidFill>
                          <a:latin typeface="Cambria" panose="02040503050406030204" pitchFamily="18" charset="0"/>
                          <a:ea typeface="Cambria" panose="02040503050406030204" pitchFamily="18" charset="0"/>
                        </a:rPr>
                        <a:t>.</a:t>
                      </a:r>
                      <a:endParaRPr lang="en-GB" dirty="0">
                        <a:solidFill>
                          <a:srgbClr val="333333"/>
                        </a:solidFill>
                        <a:latin typeface="Cambria" panose="02040503050406030204" pitchFamily="18" charset="0"/>
                        <a:ea typeface="Cambria" panose="02040503050406030204" pitchFamily="18" charset="0"/>
                      </a:endParaRPr>
                    </a:p>
                  </a:txBody>
                  <a:tcPr marL="76200" marR="76200" marT="76200" marB="76200" anchor="ct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88640"/>
            <a:ext cx="3673624" cy="543595"/>
          </a:xfrm>
        </p:spPr>
        <p:txBody>
          <a:bodyPr/>
          <a:lstStyle/>
          <a:p>
            <a:pPr algn="just"/>
            <a:r>
              <a:rPr lang="en-GB" b="1" dirty="0" smtClean="0">
                <a:solidFill>
                  <a:schemeClr val="accent1"/>
                </a:solidFill>
                <a:latin typeface="Cambria" panose="02040503050406030204" pitchFamily="18" charset="0"/>
                <a:ea typeface="Cambria" panose="02040503050406030204" pitchFamily="18" charset="0"/>
              </a:rPr>
              <a:t>Java Cursor</a:t>
            </a:r>
            <a:endParaRPr lang="en-US" b="1" dirty="0">
              <a:solidFill>
                <a:schemeClr val="accent1"/>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16</a:t>
            </a:fld>
            <a:endParaRPr lang="en-US" altLang="en-US">
              <a:latin typeface="Cambria" panose="02040503050406030204" pitchFamily="18" charset="0"/>
              <a:ea typeface="Cambria" panose="02040503050406030204" pitchFamily="18" charset="0"/>
            </a:endParaRPr>
          </a:p>
        </p:txBody>
      </p:sp>
      <p:pic>
        <p:nvPicPr>
          <p:cNvPr id="5" name="Content Placeholder 4" descr="Java Cursors"/>
          <p:cNvPicPr>
            <a:picLocks noGrp="1"/>
          </p:cNvPicPr>
          <p:nvPr>
            <p:ph idx="1"/>
          </p:nvPr>
        </p:nvPicPr>
        <p:blipFill>
          <a:blip r:embed="rId2"/>
          <a:srcRect/>
          <a:stretch>
            <a:fillRect/>
          </a:stretch>
        </p:blipFill>
        <p:spPr bwMode="auto">
          <a:xfrm>
            <a:off x="335360" y="1852375"/>
            <a:ext cx="5688632" cy="3572743"/>
          </a:xfrm>
          <a:prstGeom prst="rect">
            <a:avLst/>
          </a:prstGeom>
          <a:noFill/>
          <a:ln w="9525">
            <a:noFill/>
            <a:miter lim="800000"/>
            <a:headEnd/>
            <a:tailEnd/>
          </a:ln>
        </p:spPr>
      </p:pic>
      <p:sp>
        <p:nvSpPr>
          <p:cNvPr id="6" name="Rectangle 5"/>
          <p:cNvSpPr/>
          <p:nvPr/>
        </p:nvSpPr>
        <p:spPr>
          <a:xfrm>
            <a:off x="551384" y="836712"/>
            <a:ext cx="4680520" cy="1015663"/>
          </a:xfrm>
          <a:prstGeom prst="rect">
            <a:avLst/>
          </a:prstGeom>
        </p:spPr>
        <p:txBody>
          <a:bodyPr wrap="square">
            <a:spAutoFit/>
          </a:bodyPr>
          <a:lstStyle/>
          <a:p>
            <a:pPr marL="285750" indent="-285750" algn="just">
              <a:buFont typeface="Wingdings" panose="05000000000000000000" pitchFamily="2" charset="2"/>
              <a:buChar char="Ø"/>
            </a:pPr>
            <a:r>
              <a:rPr lang="en-GB" sz="2000" dirty="0" smtClean="0">
                <a:latin typeface="Cambria" panose="02040503050406030204" pitchFamily="18" charset="0"/>
                <a:ea typeface="Cambria" panose="02040503050406030204" pitchFamily="18" charset="0"/>
              </a:rPr>
              <a:t>used to iterate or traverse or retrieve a Collection or Stream object’s elements one by one.</a:t>
            </a:r>
            <a:endParaRPr lang="en-US" sz="2000" dirty="0">
              <a:latin typeface="Cambria" panose="02040503050406030204" pitchFamily="18" charset="0"/>
              <a:ea typeface="Cambria" panose="02040503050406030204" pitchFamily="18" charset="0"/>
            </a:endParaRPr>
          </a:p>
        </p:txBody>
      </p:sp>
      <p:sp>
        <p:nvSpPr>
          <p:cNvPr id="7" name="Title 1"/>
          <p:cNvSpPr txBox="1">
            <a:spLocks/>
          </p:cNvSpPr>
          <p:nvPr/>
        </p:nvSpPr>
        <p:spPr bwMode="auto">
          <a:xfrm>
            <a:off x="6384032" y="740038"/>
            <a:ext cx="5329808" cy="687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hangingPunct="1"/>
            <a:r>
              <a:rPr lang="en-GB" smtClean="0">
                <a:latin typeface="Cambria" panose="02040503050406030204" pitchFamily="18" charset="0"/>
                <a:ea typeface="Cambria" panose="02040503050406030204" pitchFamily="18" charset="0"/>
              </a:rPr>
              <a:t>Access collection by </a:t>
            </a:r>
            <a:endParaRPr lang="en-US" dirty="0">
              <a:latin typeface="Cambria" panose="02040503050406030204" pitchFamily="18" charset="0"/>
              <a:ea typeface="Cambria" panose="02040503050406030204" pitchFamily="18" charset="0"/>
            </a:endParaRPr>
          </a:p>
        </p:txBody>
      </p:sp>
      <p:sp>
        <p:nvSpPr>
          <p:cNvPr id="8" name="Content Placeholder 2"/>
          <p:cNvSpPr txBox="1">
            <a:spLocks/>
          </p:cNvSpPr>
          <p:nvPr/>
        </p:nvSpPr>
        <p:spPr bwMode="auto">
          <a:xfrm>
            <a:off x="6529264" y="1455705"/>
            <a:ext cx="5184576" cy="1700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GB" dirty="0" smtClean="0">
                <a:latin typeface="Cambria" panose="02040503050406030204" pitchFamily="18" charset="0"/>
                <a:ea typeface="Cambria" panose="02040503050406030204" pitchFamily="18" charset="0"/>
              </a:rPr>
              <a:t>Using </a:t>
            </a:r>
            <a:r>
              <a:rPr lang="en-GB" b="1" dirty="0" smtClean="0">
                <a:latin typeface="Cambria" panose="02040503050406030204" pitchFamily="18" charset="0"/>
                <a:ea typeface="Cambria" panose="02040503050406030204" pitchFamily="18" charset="0"/>
              </a:rPr>
              <a:t>iterator()</a:t>
            </a:r>
            <a:r>
              <a:rPr lang="en-GB" dirty="0" smtClean="0">
                <a:latin typeface="Cambria" panose="02040503050406030204" pitchFamily="18" charset="0"/>
                <a:ea typeface="Cambria" panose="02040503050406030204" pitchFamily="18" charset="0"/>
              </a:rPr>
              <a:t> Method</a:t>
            </a:r>
          </a:p>
          <a:p>
            <a:pPr eaLnBrk="1" hangingPunct="1"/>
            <a:r>
              <a:rPr lang="en-GB" dirty="0" smtClean="0">
                <a:latin typeface="Cambria" panose="02040503050406030204" pitchFamily="18" charset="0"/>
                <a:ea typeface="Cambria" panose="02040503050406030204" pitchFamily="18" charset="0"/>
              </a:rPr>
              <a:t>Using </a:t>
            </a:r>
            <a:r>
              <a:rPr lang="en-GB" b="1" dirty="0" smtClean="0">
                <a:latin typeface="Cambria" panose="02040503050406030204" pitchFamily="18" charset="0"/>
                <a:ea typeface="Cambria" panose="02040503050406030204" pitchFamily="18" charset="0"/>
              </a:rPr>
              <a:t>forEach()</a:t>
            </a:r>
            <a:r>
              <a:rPr lang="en-GB" dirty="0" smtClean="0">
                <a:latin typeface="Cambria" panose="02040503050406030204" pitchFamily="18" charset="0"/>
                <a:ea typeface="Cambria" panose="02040503050406030204" pitchFamily="18" charset="0"/>
              </a:rPr>
              <a:t> Method</a:t>
            </a:r>
          </a:p>
          <a:p>
            <a:pPr eaLnBrk="1" hangingPunct="1"/>
            <a:r>
              <a:rPr lang="en-GB" dirty="0" smtClean="0">
                <a:latin typeface="Cambria" panose="02040503050406030204" pitchFamily="18" charset="0"/>
                <a:ea typeface="Cambria" panose="02040503050406030204" pitchFamily="18" charset="0"/>
              </a:rPr>
              <a:t>Using </a:t>
            </a:r>
            <a:r>
              <a:rPr lang="en-GB" b="1" dirty="0" smtClean="0">
                <a:latin typeface="Cambria" panose="02040503050406030204" pitchFamily="18" charset="0"/>
                <a:ea typeface="Cambria" panose="02040503050406030204" pitchFamily="18" charset="0"/>
              </a:rPr>
              <a:t>listIterator()</a:t>
            </a:r>
            <a:r>
              <a:rPr lang="en-GB" dirty="0" smtClean="0">
                <a:latin typeface="Cambria" panose="02040503050406030204" pitchFamily="18" charset="0"/>
                <a:ea typeface="Cambria" panose="02040503050406030204" pitchFamily="18" charset="0"/>
              </a:rPr>
              <a:t> Method</a:t>
            </a:r>
          </a:p>
        </p:txBody>
      </p:sp>
    </p:spTree>
    <p:extLst>
      <p:ext uri="{BB962C8B-B14F-4D97-AF65-F5344CB8AC3E}">
        <p14:creationId xmlns:p14="http://schemas.microsoft.com/office/powerpoint/2010/main" val="332439933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352" y="0"/>
            <a:ext cx="4825752" cy="543595"/>
          </a:xfrm>
        </p:spPr>
        <p:txBody>
          <a:bodyPr/>
          <a:lstStyle/>
          <a:p>
            <a:r>
              <a:rPr lang="en-US" sz="4000" b="1" dirty="0" smtClean="0">
                <a:solidFill>
                  <a:schemeClr val="accent1"/>
                </a:solidFill>
                <a:latin typeface="Cambria" panose="02040503050406030204" pitchFamily="18" charset="0"/>
                <a:ea typeface="Cambria" panose="02040503050406030204" pitchFamily="18" charset="0"/>
              </a:rPr>
              <a:t>Collection Interface</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623392" y="764705"/>
            <a:ext cx="10730408" cy="3600400"/>
          </a:xfrm>
        </p:spPr>
        <p:txBody>
          <a:bodyPr/>
          <a:lstStyle/>
          <a:p>
            <a:pPr algn="just"/>
            <a:r>
              <a:rPr lang="en-GB" dirty="0" smtClean="0">
                <a:latin typeface="Cambria" panose="02040503050406030204" pitchFamily="18" charset="0"/>
                <a:ea typeface="Cambria" panose="02040503050406030204" pitchFamily="18" charset="0"/>
              </a:rPr>
              <a:t>The Collection interface is the interface which is implemented by all the classes in the collection framework. It declares the methods that every collection will have. In other words, we can say that the Collection interface builds the foundation on which the collection framework depends.</a:t>
            </a:r>
          </a:p>
          <a:p>
            <a:pPr algn="just"/>
            <a:r>
              <a:rPr lang="en-GB" dirty="0" smtClean="0">
                <a:latin typeface="Cambria" panose="02040503050406030204" pitchFamily="18" charset="0"/>
                <a:ea typeface="Cambria" panose="02040503050406030204" pitchFamily="18" charset="0"/>
              </a:rPr>
              <a:t>Some of the methods of Collection interface are Boolean add ( Object </a:t>
            </a:r>
            <a:r>
              <a:rPr lang="en-GB" dirty="0" err="1" smtClean="0">
                <a:latin typeface="Cambria" panose="02040503050406030204" pitchFamily="18" charset="0"/>
                <a:ea typeface="Cambria" panose="02040503050406030204" pitchFamily="18" charset="0"/>
              </a:rPr>
              <a:t>obj</a:t>
            </a:r>
            <a:r>
              <a:rPr lang="en-GB" dirty="0" smtClean="0">
                <a:latin typeface="Cambria" panose="02040503050406030204" pitchFamily="18" charset="0"/>
                <a:ea typeface="Cambria" panose="02040503050406030204" pitchFamily="18" charset="0"/>
              </a:rPr>
              <a:t>), Boolean </a:t>
            </a:r>
            <a:r>
              <a:rPr lang="en-GB" dirty="0" err="1" smtClean="0">
                <a:latin typeface="Cambria" panose="02040503050406030204" pitchFamily="18" charset="0"/>
                <a:ea typeface="Cambria" panose="02040503050406030204" pitchFamily="18" charset="0"/>
              </a:rPr>
              <a:t>addAll</a:t>
            </a:r>
            <a:r>
              <a:rPr lang="en-GB" dirty="0" smtClean="0">
                <a:latin typeface="Cambria" panose="02040503050406030204" pitchFamily="18" charset="0"/>
                <a:ea typeface="Cambria" panose="02040503050406030204" pitchFamily="18" charset="0"/>
              </a:rPr>
              <a:t> ( Collection c), void clear(), etc. which are implemented by all the subclasses of Collection interface.</a:t>
            </a: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17</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352" y="116632"/>
            <a:ext cx="3889648" cy="543595"/>
          </a:xfrm>
        </p:spPr>
        <p:txBody>
          <a:bodyPr/>
          <a:lstStyle/>
          <a:p>
            <a:r>
              <a:rPr lang="en-US" b="1" dirty="0" smtClean="0">
                <a:solidFill>
                  <a:schemeClr val="accent1"/>
                </a:solidFill>
                <a:latin typeface="Cambria" panose="02040503050406030204" pitchFamily="18" charset="0"/>
                <a:ea typeface="Cambria" panose="02040503050406030204" pitchFamily="18" charset="0"/>
              </a:rPr>
              <a:t>List Interface</a:t>
            </a:r>
            <a:endParaRPr lang="en-US"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51384" y="634654"/>
            <a:ext cx="11161240" cy="4929013"/>
          </a:xfrm>
        </p:spPr>
        <p:txBody>
          <a:bodyPr/>
          <a:lstStyle/>
          <a:p>
            <a:pPr algn="just"/>
            <a:r>
              <a:rPr lang="en-GB" sz="2400" dirty="0" smtClean="0">
                <a:latin typeface="Cambria" panose="02040503050406030204" pitchFamily="18" charset="0"/>
                <a:ea typeface="Cambria" panose="02040503050406030204" pitchFamily="18" charset="0"/>
              </a:rPr>
              <a:t>List interface is the child interface of Collection interface. It inhibits a list type data structure in which we can store the ordered collection of objects. It can have duplicate values.</a:t>
            </a:r>
          </a:p>
          <a:p>
            <a:pPr algn="just"/>
            <a:r>
              <a:rPr lang="en-GB" sz="2400" dirty="0" smtClean="0">
                <a:latin typeface="Cambria" panose="02040503050406030204" pitchFamily="18" charset="0"/>
                <a:ea typeface="Cambria" panose="02040503050406030204" pitchFamily="18" charset="0"/>
              </a:rPr>
              <a:t>List interface is implemented by the classes </a:t>
            </a:r>
            <a:r>
              <a:rPr lang="en-GB" sz="2400" dirty="0" err="1" smtClean="0">
                <a:latin typeface="Cambria" panose="02040503050406030204" pitchFamily="18" charset="0"/>
                <a:ea typeface="Cambria" panose="02040503050406030204" pitchFamily="18" charset="0"/>
              </a:rPr>
              <a:t>ArrayList</a:t>
            </a:r>
            <a:r>
              <a:rPr lang="en-GB" sz="2400" dirty="0" smtClean="0">
                <a:latin typeface="Cambria" panose="02040503050406030204" pitchFamily="18" charset="0"/>
                <a:ea typeface="Cambria" panose="02040503050406030204" pitchFamily="18" charset="0"/>
              </a:rPr>
              <a:t>, </a:t>
            </a:r>
            <a:r>
              <a:rPr lang="en-GB" sz="2400" dirty="0" err="1" smtClean="0">
                <a:latin typeface="Cambria" panose="02040503050406030204" pitchFamily="18" charset="0"/>
                <a:ea typeface="Cambria" panose="02040503050406030204" pitchFamily="18" charset="0"/>
              </a:rPr>
              <a:t>LinkedList</a:t>
            </a:r>
            <a:r>
              <a:rPr lang="en-GB" sz="2400" dirty="0" smtClean="0">
                <a:latin typeface="Cambria" panose="02040503050406030204" pitchFamily="18" charset="0"/>
                <a:ea typeface="Cambria" panose="02040503050406030204" pitchFamily="18" charset="0"/>
              </a:rPr>
              <a:t>, Vector, and Stack.</a:t>
            </a:r>
          </a:p>
          <a:p>
            <a:pPr algn="just"/>
            <a:r>
              <a:rPr lang="en-GB" sz="2400" dirty="0" smtClean="0">
                <a:latin typeface="Cambria" panose="02040503050406030204" pitchFamily="18" charset="0"/>
                <a:ea typeface="Cambria" panose="02040503050406030204" pitchFamily="18" charset="0"/>
              </a:rPr>
              <a:t>To instantiate the List interface, we must use :</a:t>
            </a:r>
          </a:p>
          <a:p>
            <a:pPr algn="just"/>
            <a:r>
              <a:rPr lang="en-GB" sz="2400" dirty="0" smtClean="0">
                <a:latin typeface="Cambria" panose="02040503050406030204" pitchFamily="18" charset="0"/>
                <a:ea typeface="Cambria" panose="02040503050406030204" pitchFamily="18" charset="0"/>
              </a:rPr>
              <a:t>List &lt;data-type&gt; list1= </a:t>
            </a:r>
            <a:r>
              <a:rPr lang="en-GB" sz="2400" b="1" dirty="0" smtClean="0">
                <a:latin typeface="Cambria" panose="02040503050406030204" pitchFamily="18" charset="0"/>
                <a:ea typeface="Cambria" panose="02040503050406030204" pitchFamily="18" charset="0"/>
              </a:rPr>
              <a:t>new</a:t>
            </a:r>
            <a:r>
              <a:rPr lang="en-GB" sz="2400" dirty="0" smtClean="0">
                <a:latin typeface="Cambria" panose="02040503050406030204" pitchFamily="18" charset="0"/>
                <a:ea typeface="Cambria" panose="02040503050406030204" pitchFamily="18" charset="0"/>
              </a:rPr>
              <a:t> </a:t>
            </a:r>
            <a:r>
              <a:rPr lang="en-GB" sz="2400" dirty="0" err="1" smtClean="0">
                <a:latin typeface="Cambria" panose="02040503050406030204" pitchFamily="18" charset="0"/>
                <a:ea typeface="Cambria" panose="02040503050406030204" pitchFamily="18" charset="0"/>
              </a:rPr>
              <a:t>ArrayList</a:t>
            </a:r>
            <a:r>
              <a:rPr lang="en-GB" sz="2400" dirty="0" smtClean="0">
                <a:latin typeface="Cambria" panose="02040503050406030204" pitchFamily="18" charset="0"/>
                <a:ea typeface="Cambria" panose="02040503050406030204" pitchFamily="18" charset="0"/>
              </a:rPr>
              <a:t>();  </a:t>
            </a:r>
          </a:p>
          <a:p>
            <a:pPr algn="just"/>
            <a:r>
              <a:rPr lang="en-GB" sz="2400" dirty="0" smtClean="0">
                <a:latin typeface="Cambria" panose="02040503050406030204" pitchFamily="18" charset="0"/>
                <a:ea typeface="Cambria" panose="02040503050406030204" pitchFamily="18" charset="0"/>
              </a:rPr>
              <a:t>List &lt;data-type&gt; list2 = </a:t>
            </a:r>
            <a:r>
              <a:rPr lang="en-GB" sz="2400" b="1" dirty="0" smtClean="0">
                <a:latin typeface="Cambria" panose="02040503050406030204" pitchFamily="18" charset="0"/>
                <a:ea typeface="Cambria" panose="02040503050406030204" pitchFamily="18" charset="0"/>
              </a:rPr>
              <a:t>new</a:t>
            </a:r>
            <a:r>
              <a:rPr lang="en-GB" sz="2400" dirty="0" smtClean="0">
                <a:latin typeface="Cambria" panose="02040503050406030204" pitchFamily="18" charset="0"/>
                <a:ea typeface="Cambria" panose="02040503050406030204" pitchFamily="18" charset="0"/>
              </a:rPr>
              <a:t> </a:t>
            </a:r>
            <a:r>
              <a:rPr lang="en-GB" sz="2400" dirty="0" err="1" smtClean="0">
                <a:latin typeface="Cambria" panose="02040503050406030204" pitchFamily="18" charset="0"/>
                <a:ea typeface="Cambria" panose="02040503050406030204" pitchFamily="18" charset="0"/>
              </a:rPr>
              <a:t>LinkedList</a:t>
            </a:r>
            <a:r>
              <a:rPr lang="en-GB" sz="2400" dirty="0" smtClean="0">
                <a:latin typeface="Cambria" panose="02040503050406030204" pitchFamily="18" charset="0"/>
                <a:ea typeface="Cambria" panose="02040503050406030204" pitchFamily="18" charset="0"/>
              </a:rPr>
              <a:t>();  </a:t>
            </a:r>
          </a:p>
          <a:p>
            <a:pPr algn="just"/>
            <a:r>
              <a:rPr lang="en-GB" sz="2400" dirty="0" smtClean="0">
                <a:latin typeface="Cambria" panose="02040503050406030204" pitchFamily="18" charset="0"/>
                <a:ea typeface="Cambria" panose="02040503050406030204" pitchFamily="18" charset="0"/>
              </a:rPr>
              <a:t>List &lt;data-type&gt; list3 = </a:t>
            </a:r>
            <a:r>
              <a:rPr lang="en-GB" sz="2400" b="1" dirty="0" smtClean="0">
                <a:latin typeface="Cambria" panose="02040503050406030204" pitchFamily="18" charset="0"/>
                <a:ea typeface="Cambria" panose="02040503050406030204" pitchFamily="18" charset="0"/>
              </a:rPr>
              <a:t>new</a:t>
            </a:r>
            <a:r>
              <a:rPr lang="en-GB" sz="2400" dirty="0" smtClean="0">
                <a:latin typeface="Cambria" panose="02040503050406030204" pitchFamily="18" charset="0"/>
                <a:ea typeface="Cambria" panose="02040503050406030204" pitchFamily="18" charset="0"/>
              </a:rPr>
              <a:t> Vector();  </a:t>
            </a:r>
          </a:p>
          <a:p>
            <a:pPr algn="just"/>
            <a:r>
              <a:rPr lang="en-GB" sz="2400" dirty="0" smtClean="0">
                <a:latin typeface="Cambria" panose="02040503050406030204" pitchFamily="18" charset="0"/>
                <a:ea typeface="Cambria" panose="02040503050406030204" pitchFamily="18" charset="0"/>
              </a:rPr>
              <a:t>List &lt;data-type&gt; list4 = </a:t>
            </a:r>
            <a:r>
              <a:rPr lang="en-GB" sz="2400" b="1" dirty="0" smtClean="0">
                <a:latin typeface="Cambria" panose="02040503050406030204" pitchFamily="18" charset="0"/>
                <a:ea typeface="Cambria" panose="02040503050406030204" pitchFamily="18" charset="0"/>
              </a:rPr>
              <a:t>new</a:t>
            </a:r>
            <a:r>
              <a:rPr lang="en-GB" sz="2400" dirty="0" smtClean="0">
                <a:latin typeface="Cambria" panose="02040503050406030204" pitchFamily="18" charset="0"/>
                <a:ea typeface="Cambria" panose="02040503050406030204" pitchFamily="18" charset="0"/>
              </a:rPr>
              <a:t> Stack();  </a:t>
            </a:r>
          </a:p>
          <a:p>
            <a:pPr algn="just"/>
            <a:r>
              <a:rPr lang="en-GB" sz="2400" dirty="0" smtClean="0">
                <a:latin typeface="Cambria" panose="02040503050406030204" pitchFamily="18" charset="0"/>
                <a:ea typeface="Cambria" panose="02040503050406030204" pitchFamily="18" charset="0"/>
              </a:rPr>
              <a:t>There are various methods in List interface that can be used to insert, delete, and access the elements from the list.</a:t>
            </a:r>
          </a:p>
          <a:p>
            <a:pPr algn="just"/>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18</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574" y="12032"/>
            <a:ext cx="3071664" cy="492932"/>
          </a:xfrm>
        </p:spPr>
        <p:txBody>
          <a:bodyPr/>
          <a:lstStyle/>
          <a:p>
            <a:pPr algn="just"/>
            <a:r>
              <a:rPr lang="en-US" sz="4000" b="1" dirty="0" smtClean="0">
                <a:latin typeface="Cambria" panose="02040503050406030204" pitchFamily="18" charset="0"/>
                <a:ea typeface="Cambria" panose="02040503050406030204" pitchFamily="18" charset="0"/>
              </a:rPr>
              <a:t>ArrayList</a:t>
            </a:r>
            <a:endParaRPr lang="en-US" sz="4000" b="1"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1917" y="482843"/>
            <a:ext cx="8498379" cy="4674349"/>
          </a:xfrm>
        </p:spPr>
        <p:txBody>
          <a:bodyPr/>
          <a:lstStyle/>
          <a:p>
            <a:pPr algn="just"/>
            <a:r>
              <a:rPr lang="en-GB" sz="2400" dirty="0" smtClean="0">
                <a:latin typeface="Cambria" panose="02040503050406030204" pitchFamily="18" charset="0"/>
                <a:ea typeface="Cambria" panose="02040503050406030204" pitchFamily="18" charset="0"/>
              </a:rPr>
              <a:t>The </a:t>
            </a:r>
            <a:r>
              <a:rPr lang="en-GB" sz="2400" dirty="0" err="1" smtClean="0">
                <a:latin typeface="Cambria" panose="02040503050406030204" pitchFamily="18" charset="0"/>
                <a:ea typeface="Cambria" panose="02040503050406030204" pitchFamily="18" charset="0"/>
              </a:rPr>
              <a:t>ArrayList</a:t>
            </a:r>
            <a:r>
              <a:rPr lang="en-GB" sz="2400" dirty="0" smtClean="0">
                <a:latin typeface="Cambria" panose="02040503050406030204" pitchFamily="18" charset="0"/>
                <a:ea typeface="Cambria" panose="02040503050406030204" pitchFamily="18" charset="0"/>
              </a:rPr>
              <a:t> class implements the List interface. It uses a dynamic array to store the duplicate element of different data types. The ArrayList class maintains the insertion order and is </a:t>
            </a:r>
            <a:r>
              <a:rPr lang="en-GB" sz="2400" b="1" dirty="0" smtClean="0">
                <a:solidFill>
                  <a:schemeClr val="accent1"/>
                </a:solidFill>
                <a:latin typeface="Cambria" panose="02040503050406030204" pitchFamily="18" charset="0"/>
                <a:ea typeface="Cambria" panose="02040503050406030204" pitchFamily="18" charset="0"/>
              </a:rPr>
              <a:t>non-synchronized. </a:t>
            </a:r>
            <a:r>
              <a:rPr lang="en-GB" sz="2400" dirty="0" smtClean="0">
                <a:latin typeface="Cambria" panose="02040503050406030204" pitchFamily="18" charset="0"/>
                <a:ea typeface="Cambria" panose="02040503050406030204" pitchFamily="18" charset="0"/>
              </a:rPr>
              <a:t>The elements stored in the </a:t>
            </a:r>
            <a:r>
              <a:rPr lang="en-GB" sz="2400" dirty="0" err="1" smtClean="0">
                <a:latin typeface="Cambria" panose="02040503050406030204" pitchFamily="18" charset="0"/>
                <a:ea typeface="Cambria" panose="02040503050406030204" pitchFamily="18" charset="0"/>
              </a:rPr>
              <a:t>ArrayList</a:t>
            </a:r>
            <a:r>
              <a:rPr lang="en-GB" sz="2400" dirty="0" smtClean="0">
                <a:latin typeface="Cambria" panose="02040503050406030204" pitchFamily="18" charset="0"/>
                <a:ea typeface="Cambria" panose="02040503050406030204" pitchFamily="18" charset="0"/>
              </a:rPr>
              <a:t> class can be randomly accessed.</a:t>
            </a:r>
          </a:p>
          <a:p>
            <a:pPr algn="just"/>
            <a:r>
              <a:rPr lang="en-GB" sz="2400" dirty="0" smtClean="0">
                <a:latin typeface="Cambria" panose="02040503050406030204" pitchFamily="18" charset="0"/>
                <a:ea typeface="Cambria" panose="02040503050406030204" pitchFamily="18" charset="0"/>
              </a:rPr>
              <a:t>It is like an array, but there is </a:t>
            </a:r>
            <a:r>
              <a:rPr lang="en-GB" sz="2400" b="1" i="1" dirty="0" smtClean="0">
                <a:solidFill>
                  <a:srgbClr val="FF0000"/>
                </a:solidFill>
                <a:latin typeface="Cambria" panose="02040503050406030204" pitchFamily="18" charset="0"/>
                <a:ea typeface="Cambria" panose="02040503050406030204" pitchFamily="18" charset="0"/>
              </a:rPr>
              <a:t>no size limit</a:t>
            </a:r>
            <a:r>
              <a:rPr lang="en-GB" sz="2400" b="1" dirty="0" smtClean="0">
                <a:solidFill>
                  <a:srgbClr val="FF0000"/>
                </a:solidFill>
                <a:latin typeface="Cambria" panose="02040503050406030204" pitchFamily="18" charset="0"/>
                <a:ea typeface="Cambria" panose="02040503050406030204" pitchFamily="18" charset="0"/>
              </a:rPr>
              <a:t>. </a:t>
            </a:r>
            <a:r>
              <a:rPr lang="en-GB" sz="2400" dirty="0" smtClean="0">
                <a:latin typeface="Cambria" panose="02040503050406030204" pitchFamily="18" charset="0"/>
                <a:ea typeface="Cambria" panose="02040503050406030204" pitchFamily="18" charset="0"/>
              </a:rPr>
              <a:t>We can add or remove elements anytime. So, it is much more flexible than the traditional array. It is found in the </a:t>
            </a:r>
            <a:r>
              <a:rPr lang="en-GB" sz="2400" b="1" i="1" dirty="0" smtClean="0">
                <a:solidFill>
                  <a:srgbClr val="FF0000"/>
                </a:solidFill>
                <a:latin typeface="Cambria" panose="02040503050406030204" pitchFamily="18" charset="0"/>
                <a:ea typeface="Cambria" panose="02040503050406030204" pitchFamily="18" charset="0"/>
              </a:rPr>
              <a:t>java.util</a:t>
            </a:r>
            <a:r>
              <a:rPr lang="en-GB" sz="2400" dirty="0" smtClean="0">
                <a:latin typeface="Cambria" panose="02040503050406030204" pitchFamily="18" charset="0"/>
                <a:ea typeface="Cambria" panose="02040503050406030204" pitchFamily="18" charset="0"/>
              </a:rPr>
              <a:t> package. </a:t>
            </a:r>
          </a:p>
          <a:p>
            <a:pPr algn="just"/>
            <a:r>
              <a:rPr lang="en-GB" sz="2400" dirty="0" smtClean="0">
                <a:latin typeface="Cambria" panose="02040503050406030204" pitchFamily="18" charset="0"/>
                <a:ea typeface="Cambria" panose="02040503050406030204" pitchFamily="18" charset="0"/>
              </a:rPr>
              <a:t>It inherits the AbstractList class and implements </a:t>
            </a:r>
            <a:r>
              <a:rPr lang="en-GB" sz="2400" dirty="0" smtClean="0">
                <a:latin typeface="Cambria" panose="02040503050406030204" pitchFamily="18" charset="0"/>
                <a:ea typeface="Cambria" panose="02040503050406030204" pitchFamily="18" charset="0"/>
                <a:hlinkClick r:id="rId2"/>
              </a:rPr>
              <a:t>List interface</a:t>
            </a:r>
            <a:r>
              <a:rPr lang="en-GB" sz="2400" dirty="0" smtClean="0">
                <a:latin typeface="Cambria" panose="02040503050406030204" pitchFamily="18" charset="0"/>
                <a:ea typeface="Cambria" panose="02040503050406030204" pitchFamily="18" charset="0"/>
              </a:rPr>
              <a:t>.</a:t>
            </a:r>
          </a:p>
          <a:p>
            <a:pPr algn="just"/>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19</a:t>
            </a:fld>
            <a:endParaRPr lang="en-US" altLang="en-US">
              <a:latin typeface="Cambria" panose="02040503050406030204" pitchFamily="18" charset="0"/>
              <a:ea typeface="Cambria" panose="02040503050406030204" pitchFamily="18" charset="0"/>
            </a:endParaRPr>
          </a:p>
        </p:txBody>
      </p:sp>
      <p:pic>
        <p:nvPicPr>
          <p:cNvPr id="5" name="Picture 4" descr="Java ArrayList class hierarchy"/>
          <p:cNvPicPr/>
          <p:nvPr/>
        </p:nvPicPr>
        <p:blipFill>
          <a:blip r:embed="rId3"/>
          <a:srcRect/>
          <a:stretch>
            <a:fillRect/>
          </a:stretch>
        </p:blipFill>
        <p:spPr bwMode="auto">
          <a:xfrm>
            <a:off x="9552384" y="908720"/>
            <a:ext cx="2232248" cy="388843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1384" y="548680"/>
            <a:ext cx="10297144" cy="4032448"/>
          </a:xfrm>
        </p:spPr>
        <p:txBody>
          <a:bodyPr/>
          <a:lstStyle/>
          <a:p>
            <a:pPr algn="just"/>
            <a:r>
              <a:rPr lang="en-GB" dirty="0" smtClean="0">
                <a:latin typeface="Cambria" panose="02040503050406030204" pitchFamily="18" charset="0"/>
                <a:ea typeface="Cambria" panose="02040503050406030204" pitchFamily="18" charset="0"/>
              </a:rPr>
              <a:t>In ArrayList, manipulation is a little bit slower than the LinkedList in Java, because a lot of shifting needs to occur if any element is removed from the array list.</a:t>
            </a:r>
          </a:p>
          <a:p>
            <a:pPr algn="just"/>
            <a:r>
              <a:rPr lang="en-GB" b="1" dirty="0" smtClean="0">
                <a:solidFill>
                  <a:schemeClr val="accent1"/>
                </a:solidFill>
                <a:latin typeface="Cambria" panose="02040503050406030204" pitchFamily="18" charset="0"/>
                <a:ea typeface="Cambria" panose="02040503050406030204" pitchFamily="18" charset="0"/>
              </a:rPr>
              <a:t>We can not create an array list of the primitive types, such as </a:t>
            </a:r>
            <a:r>
              <a:rPr lang="en-GB" b="1" dirty="0" err="1" smtClean="0">
                <a:solidFill>
                  <a:schemeClr val="accent1"/>
                </a:solidFill>
                <a:latin typeface="Cambria" panose="02040503050406030204" pitchFamily="18" charset="0"/>
                <a:ea typeface="Cambria" panose="02040503050406030204" pitchFamily="18" charset="0"/>
              </a:rPr>
              <a:t>int</a:t>
            </a:r>
            <a:r>
              <a:rPr lang="en-GB" b="1" dirty="0" smtClean="0">
                <a:solidFill>
                  <a:schemeClr val="accent1"/>
                </a:solidFill>
                <a:latin typeface="Cambria" panose="02040503050406030204" pitchFamily="18" charset="0"/>
                <a:ea typeface="Cambria" panose="02040503050406030204" pitchFamily="18" charset="0"/>
              </a:rPr>
              <a:t>, float, char, etc. It is required to use the required wrapper class in such cases. </a:t>
            </a: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20</a:t>
            </a:fld>
            <a:endParaRPr lang="en-US" alt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
            <a:ext cx="3456384" cy="476671"/>
          </a:xfrm>
        </p:spPr>
        <p:txBody>
          <a:bodyPr/>
          <a:lstStyle/>
          <a:p>
            <a:r>
              <a:rPr lang="en-GB" sz="4000" b="1" dirty="0" smtClean="0">
                <a:solidFill>
                  <a:schemeClr val="accent1"/>
                </a:solidFill>
                <a:latin typeface="Cambria" panose="02040503050406030204" pitchFamily="18" charset="0"/>
                <a:ea typeface="Cambria" panose="02040503050406030204" pitchFamily="18" charset="0"/>
              </a:rPr>
              <a:t>Example</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51384" y="692696"/>
            <a:ext cx="11305256" cy="4680520"/>
          </a:xfrm>
        </p:spPr>
        <p:txBody>
          <a:bodyPr/>
          <a:lstStyle/>
          <a:p>
            <a:pPr>
              <a:spcBef>
                <a:spcPts val="0"/>
              </a:spcBef>
              <a:buNone/>
            </a:pPr>
            <a:r>
              <a:rPr lang="en-US" sz="2400" b="1" dirty="0" smtClean="0">
                <a:latin typeface="Cambria" panose="02040503050406030204" pitchFamily="18" charset="0"/>
                <a:ea typeface="Cambria" panose="02040503050406030204" pitchFamily="18" charset="0"/>
              </a:rPr>
              <a:t>import</a:t>
            </a:r>
            <a:r>
              <a:rPr lang="en-US" sz="2400" dirty="0" smtClean="0">
                <a:latin typeface="Cambria" panose="02040503050406030204" pitchFamily="18" charset="0"/>
                <a:ea typeface="Cambria" panose="02040503050406030204" pitchFamily="18" charset="0"/>
              </a:rPr>
              <a:t> </a:t>
            </a:r>
            <a:r>
              <a:rPr lang="en-US" sz="2400" dirty="0" err="1" smtClean="0">
                <a:latin typeface="Cambria" panose="02040503050406030204" pitchFamily="18" charset="0"/>
                <a:ea typeface="Cambria" panose="02040503050406030204" pitchFamily="18" charset="0"/>
              </a:rPr>
              <a:t>java.util</a:t>
            </a:r>
            <a:r>
              <a:rPr lang="en-US" sz="2400" dirty="0" smtClean="0">
                <a:latin typeface="Cambria" panose="02040503050406030204" pitchFamily="18" charset="0"/>
                <a:ea typeface="Cambria" panose="02040503050406030204" pitchFamily="18" charset="0"/>
              </a:rPr>
              <a:t>.*;  </a:t>
            </a:r>
          </a:p>
          <a:p>
            <a:pPr>
              <a:spcBef>
                <a:spcPts val="0"/>
              </a:spcBef>
              <a:buNone/>
            </a:pPr>
            <a:r>
              <a:rPr lang="en-US" sz="2400" b="1" dirty="0" smtClean="0">
                <a:latin typeface="Cambria" panose="02040503050406030204" pitchFamily="18" charset="0"/>
                <a:ea typeface="Cambria" panose="02040503050406030204" pitchFamily="18" charset="0"/>
              </a:rPr>
              <a:t>public</a:t>
            </a:r>
            <a:r>
              <a:rPr lang="en-US" sz="2400" dirty="0" smtClean="0">
                <a:latin typeface="Cambria" panose="02040503050406030204" pitchFamily="18" charset="0"/>
                <a:ea typeface="Cambria" panose="02040503050406030204" pitchFamily="18" charset="0"/>
              </a:rPr>
              <a:t> </a:t>
            </a:r>
            <a:r>
              <a:rPr lang="en-US" sz="2400" b="1" dirty="0" smtClean="0">
                <a:latin typeface="Cambria" panose="02040503050406030204" pitchFamily="18" charset="0"/>
                <a:ea typeface="Cambria" panose="02040503050406030204" pitchFamily="18" charset="0"/>
              </a:rPr>
              <a:t>class</a:t>
            </a:r>
            <a:r>
              <a:rPr lang="en-US" sz="2400" dirty="0" smtClean="0">
                <a:latin typeface="Cambria" panose="02040503050406030204" pitchFamily="18" charset="0"/>
                <a:ea typeface="Cambria" panose="02040503050406030204" pitchFamily="18" charset="0"/>
              </a:rPr>
              <a:t> ArrayListExample2{  </a:t>
            </a:r>
          </a:p>
          <a:p>
            <a:pPr>
              <a:spcBef>
                <a:spcPts val="0"/>
              </a:spcBef>
              <a:buNone/>
            </a:pPr>
            <a:r>
              <a:rPr lang="en-US" sz="2400" dirty="0" smtClean="0">
                <a:latin typeface="Cambria" panose="02040503050406030204" pitchFamily="18" charset="0"/>
                <a:ea typeface="Cambria" panose="02040503050406030204" pitchFamily="18" charset="0"/>
              </a:rPr>
              <a:t> 	</a:t>
            </a:r>
            <a:r>
              <a:rPr lang="en-US" sz="2400" b="1" dirty="0" smtClean="0">
                <a:latin typeface="Cambria" panose="02040503050406030204" pitchFamily="18" charset="0"/>
                <a:ea typeface="Cambria" panose="02040503050406030204" pitchFamily="18" charset="0"/>
              </a:rPr>
              <a:t>public</a:t>
            </a:r>
            <a:r>
              <a:rPr lang="en-US" sz="2400" dirty="0" smtClean="0">
                <a:latin typeface="Cambria" panose="02040503050406030204" pitchFamily="18" charset="0"/>
                <a:ea typeface="Cambria" panose="02040503050406030204" pitchFamily="18" charset="0"/>
              </a:rPr>
              <a:t> </a:t>
            </a:r>
            <a:r>
              <a:rPr lang="en-US" sz="2400" b="1" dirty="0" smtClean="0">
                <a:latin typeface="Cambria" panose="02040503050406030204" pitchFamily="18" charset="0"/>
                <a:ea typeface="Cambria" panose="02040503050406030204" pitchFamily="18" charset="0"/>
              </a:rPr>
              <a:t>static</a:t>
            </a:r>
            <a:r>
              <a:rPr lang="en-US" sz="2400" dirty="0" smtClean="0">
                <a:latin typeface="Cambria" panose="02040503050406030204" pitchFamily="18" charset="0"/>
                <a:ea typeface="Cambria" panose="02040503050406030204" pitchFamily="18" charset="0"/>
              </a:rPr>
              <a:t> </a:t>
            </a:r>
            <a:r>
              <a:rPr lang="en-US" sz="2400" b="1" dirty="0" smtClean="0">
                <a:latin typeface="Cambria" panose="02040503050406030204" pitchFamily="18" charset="0"/>
                <a:ea typeface="Cambria" panose="02040503050406030204" pitchFamily="18" charset="0"/>
              </a:rPr>
              <a:t>void</a:t>
            </a:r>
            <a:r>
              <a:rPr lang="en-US" sz="2400" dirty="0" smtClean="0">
                <a:latin typeface="Cambria" panose="02040503050406030204" pitchFamily="18" charset="0"/>
                <a:ea typeface="Cambria" panose="02040503050406030204" pitchFamily="18" charset="0"/>
              </a:rPr>
              <a:t> main(String args[]){  </a:t>
            </a:r>
          </a:p>
          <a:p>
            <a:pPr algn="just">
              <a:spcBef>
                <a:spcPts val="0"/>
              </a:spcBef>
              <a:buNone/>
            </a:pPr>
            <a:r>
              <a:rPr lang="en-US" sz="2400" dirty="0" smtClean="0">
                <a:latin typeface="Cambria" panose="02040503050406030204" pitchFamily="18" charset="0"/>
                <a:ea typeface="Cambria" panose="02040503050406030204" pitchFamily="18" charset="0"/>
              </a:rPr>
              <a:t>  		ArrayList&lt;String&gt; list=</a:t>
            </a:r>
            <a:r>
              <a:rPr lang="en-US" sz="2400" b="1" dirty="0" smtClean="0">
                <a:latin typeface="Cambria" panose="02040503050406030204" pitchFamily="18" charset="0"/>
                <a:ea typeface="Cambria" panose="02040503050406030204" pitchFamily="18" charset="0"/>
              </a:rPr>
              <a:t>new</a:t>
            </a:r>
            <a:r>
              <a:rPr lang="en-US" sz="2400" dirty="0" smtClean="0">
                <a:latin typeface="Cambria" panose="02040503050406030204" pitchFamily="18" charset="0"/>
                <a:ea typeface="Cambria" panose="02040503050406030204" pitchFamily="18" charset="0"/>
              </a:rPr>
              <a:t> ArrayList&lt;String&gt;();//Creating arraylist  </a:t>
            </a:r>
          </a:p>
          <a:p>
            <a:pPr>
              <a:spcBef>
                <a:spcPts val="0"/>
              </a:spcBef>
              <a:buNone/>
            </a:pPr>
            <a:r>
              <a:rPr lang="en-US" sz="2400" dirty="0" smtClean="0">
                <a:latin typeface="Cambria" panose="02040503050406030204" pitchFamily="18" charset="0"/>
                <a:ea typeface="Cambria" panose="02040503050406030204" pitchFamily="18" charset="0"/>
              </a:rPr>
              <a:t>  		list.add("Mango");//Adding object in arraylist    </a:t>
            </a:r>
          </a:p>
          <a:p>
            <a:pPr>
              <a:spcBef>
                <a:spcPts val="0"/>
              </a:spcBef>
              <a:buNone/>
            </a:pPr>
            <a:r>
              <a:rPr lang="en-US" sz="2400" dirty="0" smtClean="0">
                <a:latin typeface="Cambria" panose="02040503050406030204" pitchFamily="18" charset="0"/>
                <a:ea typeface="Cambria" panose="02040503050406030204" pitchFamily="18" charset="0"/>
              </a:rPr>
              <a:t>		list.add("Apple");    </a:t>
            </a:r>
          </a:p>
          <a:p>
            <a:pPr>
              <a:spcBef>
                <a:spcPts val="0"/>
              </a:spcBef>
              <a:buNone/>
            </a:pPr>
            <a:r>
              <a:rPr lang="en-US" sz="2400" dirty="0" smtClean="0">
                <a:latin typeface="Cambria" panose="02040503050406030204" pitchFamily="18" charset="0"/>
                <a:ea typeface="Cambria" panose="02040503050406030204" pitchFamily="18" charset="0"/>
              </a:rPr>
              <a:t>		list.add("Banana");    </a:t>
            </a:r>
          </a:p>
          <a:p>
            <a:pPr>
              <a:spcBef>
                <a:spcPts val="0"/>
              </a:spcBef>
              <a:buNone/>
            </a:pPr>
            <a:r>
              <a:rPr lang="en-US" sz="2400" dirty="0" smtClean="0">
                <a:latin typeface="Cambria" panose="02040503050406030204" pitchFamily="18" charset="0"/>
                <a:ea typeface="Cambria" panose="02040503050406030204" pitchFamily="18" charset="0"/>
              </a:rPr>
              <a:t>		list.add("Grapes");    </a:t>
            </a:r>
          </a:p>
          <a:p>
            <a:pPr>
              <a:spcBef>
                <a:spcPts val="0"/>
              </a:spcBef>
              <a:buNone/>
            </a:pPr>
            <a:r>
              <a:rPr lang="en-US" sz="2400" dirty="0" smtClean="0">
                <a:latin typeface="Cambria" panose="02040503050406030204" pitchFamily="18" charset="0"/>
                <a:ea typeface="Cambria" panose="02040503050406030204" pitchFamily="18" charset="0"/>
              </a:rPr>
              <a:t>		//Traversing list through an Iterator  </a:t>
            </a:r>
          </a:p>
          <a:p>
            <a:pPr>
              <a:spcBef>
                <a:spcPts val="0"/>
              </a:spcBef>
              <a:buNone/>
            </a:pPr>
            <a:r>
              <a:rPr lang="en-US" sz="2400" dirty="0" smtClean="0">
                <a:latin typeface="Cambria" panose="02040503050406030204" pitchFamily="18" charset="0"/>
                <a:ea typeface="Cambria" panose="02040503050406030204" pitchFamily="18" charset="0"/>
              </a:rPr>
              <a:t>		Iterator itr=list.iterator();//getting the Iterator  </a:t>
            </a:r>
          </a:p>
          <a:p>
            <a:pPr>
              <a:spcBef>
                <a:spcPts val="0"/>
              </a:spcBef>
              <a:buNone/>
            </a:pPr>
            <a:r>
              <a:rPr lang="en-US" sz="2400" dirty="0" smtClean="0">
                <a:latin typeface="Cambria" panose="02040503050406030204" pitchFamily="18" charset="0"/>
                <a:ea typeface="Cambria" panose="02040503050406030204" pitchFamily="18" charset="0"/>
              </a:rPr>
              <a:t>		</a:t>
            </a:r>
            <a:r>
              <a:rPr lang="en-US" sz="2400" b="1" dirty="0" smtClean="0">
                <a:latin typeface="Cambria" panose="02040503050406030204" pitchFamily="18" charset="0"/>
                <a:ea typeface="Cambria" panose="02040503050406030204" pitchFamily="18" charset="0"/>
              </a:rPr>
              <a:t>while</a:t>
            </a:r>
            <a:r>
              <a:rPr lang="en-US" sz="2400" dirty="0" smtClean="0">
                <a:latin typeface="Cambria" panose="02040503050406030204" pitchFamily="18" charset="0"/>
                <a:ea typeface="Cambria" panose="02040503050406030204" pitchFamily="18" charset="0"/>
              </a:rPr>
              <a:t>(itr.hasNext())//check if iterator has the elements  					System.out.println(itr.next());//printing the element and move to next  </a:t>
            </a:r>
          </a:p>
          <a:p>
            <a:pPr>
              <a:spcBef>
                <a:spcPts val="0"/>
              </a:spcBef>
              <a:buNone/>
            </a:pPr>
            <a:r>
              <a:rPr lang="en-US" sz="2400" dirty="0" smtClean="0">
                <a:latin typeface="Cambria" panose="02040503050406030204" pitchFamily="18" charset="0"/>
                <a:ea typeface="Cambria" panose="02040503050406030204" pitchFamily="18" charset="0"/>
              </a:rPr>
              <a:t>	   }  </a:t>
            </a:r>
          </a:p>
          <a:p>
            <a:pPr>
              <a:spcBef>
                <a:spcPts val="0"/>
              </a:spcBef>
              <a:buNone/>
            </a:pPr>
            <a:r>
              <a:rPr lang="en-US" sz="2400" dirty="0" smtClean="0">
                <a:latin typeface="Cambria" panose="02040503050406030204" pitchFamily="18" charset="0"/>
                <a:ea typeface="Cambria" panose="02040503050406030204" pitchFamily="18" charset="0"/>
              </a:rPr>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21</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56" y="7803"/>
            <a:ext cx="10506944" cy="756901"/>
          </a:xfrm>
        </p:spPr>
        <p:txBody>
          <a:bodyPr/>
          <a:lstStyle/>
          <a:p>
            <a:r>
              <a:rPr lang="en-GB" b="1" dirty="0" smtClean="0">
                <a:solidFill>
                  <a:schemeClr val="accent1"/>
                </a:solidFill>
                <a:latin typeface="Cambria" panose="02040503050406030204" pitchFamily="18" charset="0"/>
                <a:ea typeface="Cambria" panose="02040503050406030204" pitchFamily="18" charset="0"/>
              </a:rPr>
              <a:t>Example</a:t>
            </a:r>
            <a:endParaRPr lang="en-US"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376" y="764704"/>
            <a:ext cx="5256584" cy="4123264"/>
          </a:xfrm>
        </p:spPr>
        <p:txBody>
          <a:bodyPr/>
          <a:lstStyle/>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java.util</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class</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SortArrayList</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static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void</a:t>
            </a:r>
            <a:r>
              <a:rPr lang="en-US" sz="2000" dirty="0" smtClean="0">
                <a:latin typeface="Cambria" panose="02040503050406030204" pitchFamily="18" charset="0"/>
                <a:ea typeface="Cambria" panose="02040503050406030204" pitchFamily="18" charset="0"/>
              </a:rPr>
              <a:t> main(String </a:t>
            </a:r>
            <a:r>
              <a:rPr lang="en-US" sz="2000" dirty="0" err="1" smtClean="0">
                <a:latin typeface="Cambria" panose="02040503050406030204" pitchFamily="18" charset="0"/>
                <a:ea typeface="Cambria" panose="02040503050406030204" pitchFamily="18" charset="0"/>
              </a:rPr>
              <a:t>args</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//Creating a list of fruits  </a:t>
            </a:r>
          </a:p>
          <a:p>
            <a:pPr>
              <a:spcBef>
                <a:spcPts val="0"/>
              </a:spcBef>
              <a:buNone/>
            </a:pPr>
            <a:r>
              <a:rPr lang="en-US" sz="2000" dirty="0" smtClean="0">
                <a:latin typeface="Cambria" panose="02040503050406030204" pitchFamily="18" charset="0"/>
                <a:ea typeface="Cambria" panose="02040503050406030204" pitchFamily="18" charset="0"/>
              </a:rPr>
              <a:t>  List&lt;String&gt; list1=</a:t>
            </a:r>
            <a:r>
              <a:rPr lang="en-US" sz="2000" b="1" dirty="0" smtClean="0">
                <a:latin typeface="Cambria" panose="02040503050406030204" pitchFamily="18" charset="0"/>
                <a:ea typeface="Cambria" panose="02040503050406030204" pitchFamily="18" charset="0"/>
              </a:rPr>
              <a:t>new</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ArrayList</a:t>
            </a:r>
            <a:r>
              <a:rPr lang="en-US" sz="2000" dirty="0" smtClean="0">
                <a:latin typeface="Cambria" panose="02040503050406030204" pitchFamily="18" charset="0"/>
                <a:ea typeface="Cambria" panose="02040503050406030204" pitchFamily="18" charset="0"/>
              </a:rPr>
              <a:t>&lt;String&gt;();  </a:t>
            </a:r>
          </a:p>
          <a:p>
            <a:pPr>
              <a:spcBef>
                <a:spcPts val="0"/>
              </a:spcBef>
              <a:buNone/>
            </a:pPr>
            <a:r>
              <a:rPr lang="en-US" sz="2000" dirty="0" smtClean="0">
                <a:latin typeface="Cambria" panose="02040503050406030204" pitchFamily="18" charset="0"/>
                <a:ea typeface="Cambria" panose="02040503050406030204" pitchFamily="18" charset="0"/>
              </a:rPr>
              <a:t>  list1.add("Mango");  </a:t>
            </a:r>
          </a:p>
          <a:p>
            <a:pPr>
              <a:spcBef>
                <a:spcPts val="0"/>
              </a:spcBef>
              <a:buNone/>
            </a:pPr>
            <a:r>
              <a:rPr lang="en-US" sz="2000" dirty="0" smtClean="0">
                <a:latin typeface="Cambria" panose="02040503050406030204" pitchFamily="18" charset="0"/>
                <a:ea typeface="Cambria" panose="02040503050406030204" pitchFamily="18" charset="0"/>
              </a:rPr>
              <a:t>  list1.add("Apple");  </a:t>
            </a:r>
          </a:p>
          <a:p>
            <a:pPr>
              <a:spcBef>
                <a:spcPts val="0"/>
              </a:spcBef>
              <a:buNone/>
            </a:pPr>
            <a:r>
              <a:rPr lang="en-US" sz="2000" dirty="0" smtClean="0">
                <a:latin typeface="Cambria" panose="02040503050406030204" pitchFamily="18" charset="0"/>
                <a:ea typeface="Cambria" panose="02040503050406030204" pitchFamily="18" charset="0"/>
              </a:rPr>
              <a:t>  list1.add("Banana");  </a:t>
            </a:r>
          </a:p>
          <a:p>
            <a:pPr>
              <a:spcBef>
                <a:spcPts val="0"/>
              </a:spcBef>
              <a:buNone/>
            </a:pPr>
            <a:r>
              <a:rPr lang="en-US" sz="2000" dirty="0" smtClean="0">
                <a:latin typeface="Cambria" panose="02040503050406030204" pitchFamily="18" charset="0"/>
                <a:ea typeface="Cambria" panose="02040503050406030204" pitchFamily="18" charset="0"/>
              </a:rPr>
              <a:t>  list1.add("Grapes");  </a:t>
            </a:r>
          </a:p>
          <a:p>
            <a:pPr>
              <a:spcBef>
                <a:spcPts val="0"/>
              </a:spcBef>
              <a:buNone/>
            </a:pPr>
            <a:r>
              <a:rPr lang="en-US" sz="2000" dirty="0" smtClean="0">
                <a:latin typeface="Cambria" panose="02040503050406030204" pitchFamily="18" charset="0"/>
                <a:ea typeface="Cambria" panose="02040503050406030204" pitchFamily="18" charset="0"/>
              </a:rPr>
              <a:t>  //Sorting the list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Collections.sort</a:t>
            </a:r>
            <a:r>
              <a:rPr lang="en-US" sz="2000" dirty="0" smtClean="0">
                <a:latin typeface="Cambria" panose="02040503050406030204" pitchFamily="18" charset="0"/>
                <a:ea typeface="Cambria" panose="02040503050406030204" pitchFamily="18" charset="0"/>
              </a:rPr>
              <a:t>(list1);  </a:t>
            </a:r>
          </a:p>
          <a:p>
            <a:pPr>
              <a:spcBef>
                <a:spcPts val="0"/>
              </a:spcBef>
              <a:buNone/>
            </a:pPr>
            <a:r>
              <a:rPr lang="en-US" sz="2000" dirty="0" smtClean="0">
                <a:latin typeface="Cambria" panose="02040503050406030204" pitchFamily="18" charset="0"/>
                <a:ea typeface="Cambria" panose="02040503050406030204" pitchFamily="18" charset="0"/>
              </a:rPr>
              <a:t>   //Traversing list through for-each loop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for</a:t>
            </a:r>
            <a:r>
              <a:rPr lang="en-US" sz="2000" dirty="0" smtClean="0">
                <a:latin typeface="Cambria" panose="02040503050406030204" pitchFamily="18" charset="0"/>
                <a:ea typeface="Cambria" panose="02040503050406030204" pitchFamily="18" charset="0"/>
              </a:rPr>
              <a:t>(String fruit:list1)  </a:t>
            </a:r>
          </a:p>
          <a:p>
            <a:pPr>
              <a:spcBef>
                <a:spcPts val="0"/>
              </a:spcBef>
              <a:buNone/>
            </a:pPr>
            <a:r>
              <a:rPr lang="en-US" sz="2000" dirty="0" smtClean="0">
                <a:latin typeface="Cambria" panose="02040503050406030204" pitchFamily="18" charset="0"/>
                <a:ea typeface="Cambria" panose="02040503050406030204" pitchFamily="18" charset="0"/>
              </a:rPr>
              <a:t>    System.out.println(fruit);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22</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6645805" y="620688"/>
            <a:ext cx="4968552" cy="3970318"/>
          </a:xfrm>
          <a:prstGeom prst="rect">
            <a:avLst/>
          </a:prstGeom>
        </p:spPr>
        <p:txBody>
          <a:bodyPr wrap="square">
            <a:spAutoFit/>
          </a:bodyPr>
          <a:lstStyle/>
          <a:p>
            <a:pPr>
              <a:spcBef>
                <a:spcPts val="0"/>
              </a:spcBef>
              <a:buNone/>
            </a:pPr>
            <a:r>
              <a:rPr lang="en-US" dirty="0">
                <a:latin typeface="Cambria" panose="02040503050406030204" pitchFamily="18" charset="0"/>
                <a:ea typeface="Cambria" panose="02040503050406030204" pitchFamily="18" charset="0"/>
              </a:rPr>
              <a:t>System.out.println("Sorting numbers...");  </a:t>
            </a:r>
          </a:p>
          <a:p>
            <a:pPr>
              <a:spcBef>
                <a:spcPts val="0"/>
              </a:spcBef>
              <a:buNone/>
            </a:pPr>
            <a:r>
              <a:rPr lang="en-US" dirty="0">
                <a:latin typeface="Cambria" panose="02040503050406030204" pitchFamily="18" charset="0"/>
                <a:ea typeface="Cambria" panose="02040503050406030204" pitchFamily="18" charset="0"/>
              </a:rPr>
              <a:t>  //Creating a list of numbers  </a:t>
            </a:r>
          </a:p>
          <a:p>
            <a:pPr>
              <a:spcBef>
                <a:spcPts val="0"/>
              </a:spcBef>
              <a:buNone/>
            </a:pPr>
            <a:r>
              <a:rPr lang="en-US" dirty="0">
                <a:latin typeface="Cambria" panose="02040503050406030204" pitchFamily="18" charset="0"/>
                <a:ea typeface="Cambria" panose="02040503050406030204" pitchFamily="18" charset="0"/>
              </a:rPr>
              <a:t>  List&lt;Integer&gt; list2=</a:t>
            </a:r>
            <a:r>
              <a:rPr lang="en-US" b="1" dirty="0">
                <a:latin typeface="Cambria" panose="02040503050406030204" pitchFamily="18" charset="0"/>
                <a:ea typeface="Cambria" panose="02040503050406030204" pitchFamily="18" charset="0"/>
              </a:rPr>
              <a:t>new</a:t>
            </a:r>
            <a:r>
              <a:rPr lang="en-US" dirty="0">
                <a:latin typeface="Cambria" panose="02040503050406030204" pitchFamily="18" charset="0"/>
                <a:ea typeface="Cambria" panose="02040503050406030204" pitchFamily="18" charset="0"/>
              </a:rPr>
              <a:t> ArrayList&lt;Integer&gt;();  </a:t>
            </a:r>
          </a:p>
          <a:p>
            <a:pPr>
              <a:spcBef>
                <a:spcPts val="0"/>
              </a:spcBef>
              <a:buNone/>
            </a:pPr>
            <a:r>
              <a:rPr lang="en-US" dirty="0">
                <a:latin typeface="Cambria" panose="02040503050406030204" pitchFamily="18" charset="0"/>
                <a:ea typeface="Cambria" panose="02040503050406030204" pitchFamily="18" charset="0"/>
              </a:rPr>
              <a:t>  list2.add(21);  </a:t>
            </a:r>
          </a:p>
          <a:p>
            <a:pPr>
              <a:spcBef>
                <a:spcPts val="0"/>
              </a:spcBef>
              <a:buNone/>
            </a:pPr>
            <a:r>
              <a:rPr lang="en-US" dirty="0">
                <a:latin typeface="Cambria" panose="02040503050406030204" pitchFamily="18" charset="0"/>
                <a:ea typeface="Cambria" panose="02040503050406030204" pitchFamily="18" charset="0"/>
              </a:rPr>
              <a:t>  list2.add(11);  </a:t>
            </a:r>
          </a:p>
          <a:p>
            <a:pPr>
              <a:spcBef>
                <a:spcPts val="0"/>
              </a:spcBef>
              <a:buNone/>
            </a:pPr>
            <a:r>
              <a:rPr lang="en-US" dirty="0">
                <a:latin typeface="Cambria" panose="02040503050406030204" pitchFamily="18" charset="0"/>
                <a:ea typeface="Cambria" panose="02040503050406030204" pitchFamily="18" charset="0"/>
              </a:rPr>
              <a:t>  list2.add(51);  </a:t>
            </a:r>
          </a:p>
          <a:p>
            <a:pPr>
              <a:spcBef>
                <a:spcPts val="0"/>
              </a:spcBef>
              <a:buNone/>
            </a:pPr>
            <a:r>
              <a:rPr lang="en-US" dirty="0">
                <a:latin typeface="Cambria" panose="02040503050406030204" pitchFamily="18" charset="0"/>
                <a:ea typeface="Cambria" panose="02040503050406030204" pitchFamily="18" charset="0"/>
              </a:rPr>
              <a:t>  list2.add(1);  </a:t>
            </a:r>
          </a:p>
          <a:p>
            <a:pPr>
              <a:spcBef>
                <a:spcPts val="0"/>
              </a:spcBef>
              <a:buNone/>
            </a:pPr>
            <a:r>
              <a:rPr lang="en-US" dirty="0">
                <a:latin typeface="Cambria" panose="02040503050406030204" pitchFamily="18" charset="0"/>
                <a:ea typeface="Cambria" panose="02040503050406030204" pitchFamily="18" charset="0"/>
              </a:rPr>
              <a:t>  //Sorting the list  </a:t>
            </a:r>
          </a:p>
          <a:p>
            <a:pPr>
              <a:spcBef>
                <a:spcPts val="0"/>
              </a:spcBef>
              <a:buNone/>
            </a:pPr>
            <a:r>
              <a:rPr lang="en-US" dirty="0">
                <a:latin typeface="Cambria" panose="02040503050406030204" pitchFamily="18" charset="0"/>
                <a:ea typeface="Cambria" panose="02040503050406030204" pitchFamily="18" charset="0"/>
              </a:rPr>
              <a:t>  Collections.sort(list2);  </a:t>
            </a:r>
          </a:p>
          <a:p>
            <a:pPr>
              <a:spcBef>
                <a:spcPts val="0"/>
              </a:spcBef>
              <a:buNone/>
            </a:pPr>
            <a:r>
              <a:rPr lang="en-US" dirty="0">
                <a:latin typeface="Cambria" panose="02040503050406030204" pitchFamily="18" charset="0"/>
                <a:ea typeface="Cambria" panose="02040503050406030204" pitchFamily="18" charset="0"/>
              </a:rPr>
              <a:t>   //Traversing list </a:t>
            </a:r>
            <a:r>
              <a:rPr lang="en-US" dirty="0" smtClean="0">
                <a:latin typeface="Cambria" panose="02040503050406030204" pitchFamily="18" charset="0"/>
                <a:ea typeface="Cambria" panose="02040503050406030204" pitchFamily="18" charset="0"/>
              </a:rPr>
              <a:t>through</a:t>
            </a:r>
            <a:r>
              <a:rPr lang="en-US" dirty="0">
                <a:latin typeface="Cambria" panose="02040503050406030204" pitchFamily="18" charset="0"/>
                <a:ea typeface="Cambria" panose="02040503050406030204" pitchFamily="18" charset="0"/>
              </a:rPr>
              <a:t> for-each loop  </a:t>
            </a:r>
          </a:p>
          <a:p>
            <a:pPr>
              <a:spcBef>
                <a:spcPts val="0"/>
              </a:spcBef>
              <a:buNone/>
            </a:pP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for</a:t>
            </a:r>
            <a:r>
              <a:rPr lang="en-US" dirty="0">
                <a:latin typeface="Cambria" panose="02040503050406030204" pitchFamily="18" charset="0"/>
                <a:ea typeface="Cambria" panose="02040503050406030204" pitchFamily="18" charset="0"/>
              </a:rPr>
              <a:t>(Integer number:list2)  </a:t>
            </a:r>
          </a:p>
          <a:p>
            <a:pPr>
              <a:spcBef>
                <a:spcPts val="0"/>
              </a:spcBef>
              <a:buNone/>
            </a:pPr>
            <a:r>
              <a:rPr lang="en-US" dirty="0">
                <a:latin typeface="Cambria" panose="02040503050406030204" pitchFamily="18" charset="0"/>
                <a:ea typeface="Cambria" panose="02040503050406030204" pitchFamily="18" charset="0"/>
              </a:rPr>
              <a:t>    System.out.println(number);  </a:t>
            </a:r>
          </a:p>
          <a:p>
            <a:pPr>
              <a:spcBef>
                <a:spcPts val="0"/>
              </a:spcBef>
              <a:buNone/>
            </a:pPr>
            <a:r>
              <a:rPr lang="en-US" dirty="0">
                <a:latin typeface="Cambria" panose="02040503050406030204" pitchFamily="18" charset="0"/>
                <a:ea typeface="Cambria" panose="02040503050406030204" pitchFamily="18" charset="0"/>
              </a:rPr>
              <a:t> }  </a:t>
            </a:r>
            <a:endParaRPr lang="en-US" dirty="0" smtClean="0">
              <a:latin typeface="Cambria" panose="02040503050406030204" pitchFamily="18" charset="0"/>
              <a:ea typeface="Cambria" panose="02040503050406030204" pitchFamily="18" charset="0"/>
            </a:endParaRPr>
          </a:p>
          <a:p>
            <a:pPr>
              <a:spcBef>
                <a:spcPts val="0"/>
              </a:spcBef>
              <a:buNone/>
            </a:pPr>
            <a:r>
              <a:rPr lang="en-US" dirty="0" smtClean="0">
                <a:latin typeface="Cambria" panose="02040503050406030204" pitchFamily="18" charset="0"/>
                <a:ea typeface="Cambria" panose="02040503050406030204" pitchFamily="18" charset="0"/>
              </a:rPr>
              <a:t>}</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8" y="329388"/>
            <a:ext cx="5627786" cy="1008112"/>
          </a:xfrm>
        </p:spPr>
        <p:txBody>
          <a:bodyPr/>
          <a:lstStyle/>
          <a:p>
            <a:r>
              <a:rPr lang="en-GB" sz="3200" b="1" dirty="0" smtClean="0">
                <a:solidFill>
                  <a:srgbClr val="0070C0"/>
                </a:solidFill>
                <a:latin typeface="Cambria" panose="02040503050406030204" pitchFamily="18" charset="0"/>
                <a:ea typeface="Cambria" panose="02040503050406030204" pitchFamily="18" charset="0"/>
              </a:rPr>
              <a:t>Example: </a:t>
            </a:r>
            <a:r>
              <a:rPr lang="en-GB" sz="3200" dirty="0">
                <a:solidFill>
                  <a:srgbClr val="0070C0"/>
                </a:solidFill>
                <a:latin typeface="Cambria" panose="02040503050406030204" pitchFamily="18" charset="0"/>
                <a:ea typeface="Cambria" panose="02040503050406030204" pitchFamily="18" charset="0"/>
              </a:rPr>
              <a:t>User-defined class objects in Java ArrayList</a:t>
            </a:r>
            <a:br>
              <a:rPr lang="en-GB" sz="3200" dirty="0">
                <a:solidFill>
                  <a:srgbClr val="0070C0"/>
                </a:solidFill>
                <a:latin typeface="Cambria" panose="02040503050406030204" pitchFamily="18" charset="0"/>
                <a:ea typeface="Cambria" panose="02040503050406030204" pitchFamily="18" charset="0"/>
              </a:rPr>
            </a:br>
            <a:endParaRPr lang="en-US" sz="3200" b="1" dirty="0">
              <a:solidFill>
                <a:srgbClr val="0070C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1556792"/>
            <a:ext cx="4680520" cy="3600400"/>
          </a:xfrm>
        </p:spPr>
        <p:txBody>
          <a:bodyPr/>
          <a:lstStyle/>
          <a:p>
            <a:pPr>
              <a:spcBef>
                <a:spcPts val="0"/>
              </a:spcBef>
              <a:buNone/>
            </a:pPr>
            <a:r>
              <a:rPr lang="en-US" sz="2000" b="1" dirty="0">
                <a:latin typeface="Cambria" panose="02040503050406030204" pitchFamily="18" charset="0"/>
                <a:ea typeface="Cambria" panose="02040503050406030204" pitchFamily="18" charset="0"/>
              </a:rPr>
              <a:t>class</a:t>
            </a:r>
            <a:r>
              <a:rPr lang="en-US" sz="2000" dirty="0">
                <a:latin typeface="Cambria" panose="02040503050406030204" pitchFamily="18" charset="0"/>
                <a:ea typeface="Cambria" panose="02040503050406030204" pitchFamily="18" charset="0"/>
              </a:rPr>
              <a:t> Student{  </a:t>
            </a:r>
          </a:p>
          <a:p>
            <a:pPr>
              <a:spcBef>
                <a:spcPts val="0"/>
              </a:spcBef>
              <a:buNone/>
            </a:pPr>
            <a:r>
              <a:rPr lang="en-US" sz="2000" dirty="0">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int</a:t>
            </a:r>
            <a:r>
              <a:rPr lang="en-US" sz="2000" dirty="0">
                <a:latin typeface="Cambria" panose="02040503050406030204" pitchFamily="18" charset="0"/>
                <a:ea typeface="Cambria" panose="02040503050406030204" pitchFamily="18" charset="0"/>
              </a:rPr>
              <a:t> rollno;  </a:t>
            </a:r>
          </a:p>
          <a:p>
            <a:pPr>
              <a:spcBef>
                <a:spcPts val="0"/>
              </a:spcBef>
              <a:buNone/>
            </a:pPr>
            <a:r>
              <a:rPr lang="en-US" sz="2000" dirty="0">
                <a:latin typeface="Cambria" panose="02040503050406030204" pitchFamily="18" charset="0"/>
                <a:ea typeface="Cambria" panose="02040503050406030204" pitchFamily="18" charset="0"/>
              </a:rPr>
              <a:t>  String name;  </a:t>
            </a:r>
          </a:p>
          <a:p>
            <a:pPr>
              <a:spcBef>
                <a:spcPts val="0"/>
              </a:spcBef>
              <a:buNone/>
            </a:pPr>
            <a:r>
              <a:rPr lang="en-US" sz="2000" dirty="0">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int</a:t>
            </a:r>
            <a:r>
              <a:rPr lang="en-US" sz="2000" dirty="0">
                <a:latin typeface="Cambria" panose="02040503050406030204" pitchFamily="18" charset="0"/>
                <a:ea typeface="Cambria" panose="02040503050406030204" pitchFamily="18" charset="0"/>
              </a:rPr>
              <a:t> age;  </a:t>
            </a:r>
          </a:p>
          <a:p>
            <a:pPr>
              <a:spcBef>
                <a:spcPts val="0"/>
              </a:spcBef>
              <a:buNone/>
            </a:pPr>
            <a:r>
              <a:rPr lang="en-US" sz="2000" dirty="0">
                <a:latin typeface="Cambria" panose="02040503050406030204" pitchFamily="18" charset="0"/>
                <a:ea typeface="Cambria" panose="02040503050406030204" pitchFamily="18" charset="0"/>
              </a:rPr>
              <a:t>  Student(</a:t>
            </a:r>
            <a:r>
              <a:rPr lang="en-US" sz="2000" b="1" dirty="0">
                <a:latin typeface="Cambria" panose="02040503050406030204" pitchFamily="18" charset="0"/>
                <a:ea typeface="Cambria" panose="02040503050406030204" pitchFamily="18" charset="0"/>
              </a:rPr>
              <a:t>int</a:t>
            </a:r>
            <a:r>
              <a:rPr lang="en-US" sz="2000" dirty="0">
                <a:latin typeface="Cambria" panose="02040503050406030204" pitchFamily="18" charset="0"/>
                <a:ea typeface="Cambria" panose="02040503050406030204" pitchFamily="18" charset="0"/>
              </a:rPr>
              <a:t> rollno,String name,</a:t>
            </a:r>
            <a:r>
              <a:rPr lang="en-US" sz="2000" b="1" dirty="0">
                <a:latin typeface="Cambria" panose="02040503050406030204" pitchFamily="18" charset="0"/>
                <a:ea typeface="Cambria" panose="02040503050406030204" pitchFamily="18" charset="0"/>
              </a:rPr>
              <a:t>int</a:t>
            </a:r>
            <a:r>
              <a:rPr lang="en-US" sz="2000" dirty="0">
                <a:latin typeface="Cambria" panose="02040503050406030204" pitchFamily="18" charset="0"/>
                <a:ea typeface="Cambria" panose="02040503050406030204" pitchFamily="18" charset="0"/>
              </a:rPr>
              <a:t> age</a:t>
            </a:r>
            <a:r>
              <a:rPr lang="en-US" sz="2000" dirty="0" smtClean="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a:p>
            <a:pPr>
              <a:spcBef>
                <a:spcPts val="0"/>
              </a:spcBef>
              <a:buNone/>
            </a:pPr>
            <a:r>
              <a:rPr lang="en-US" sz="2000" dirty="0">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this</a:t>
            </a:r>
            <a:r>
              <a:rPr lang="en-US" sz="2000" dirty="0">
                <a:latin typeface="Cambria" panose="02040503050406030204" pitchFamily="18" charset="0"/>
                <a:ea typeface="Cambria" panose="02040503050406030204" pitchFamily="18" charset="0"/>
              </a:rPr>
              <a:t>.rollno=rollno;  </a:t>
            </a:r>
          </a:p>
          <a:p>
            <a:pPr>
              <a:spcBef>
                <a:spcPts val="0"/>
              </a:spcBef>
              <a:buNone/>
            </a:pPr>
            <a:r>
              <a:rPr lang="en-US" sz="2000" dirty="0">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this</a:t>
            </a:r>
            <a:r>
              <a:rPr lang="en-US" sz="2000" dirty="0">
                <a:latin typeface="Cambria" panose="02040503050406030204" pitchFamily="18" charset="0"/>
                <a:ea typeface="Cambria" panose="02040503050406030204" pitchFamily="18" charset="0"/>
              </a:rPr>
              <a:t>.name=name;  </a:t>
            </a:r>
          </a:p>
          <a:p>
            <a:pPr>
              <a:spcBef>
                <a:spcPts val="0"/>
              </a:spcBef>
              <a:buNone/>
            </a:pPr>
            <a:r>
              <a:rPr lang="en-US" sz="2000" dirty="0">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this</a:t>
            </a:r>
            <a:r>
              <a:rPr lang="en-US" sz="2000" dirty="0">
                <a:latin typeface="Cambria" panose="02040503050406030204" pitchFamily="18" charset="0"/>
                <a:ea typeface="Cambria" panose="02040503050406030204" pitchFamily="18" charset="0"/>
              </a:rPr>
              <a:t>.age=age;  </a:t>
            </a:r>
          </a:p>
          <a:p>
            <a:pPr>
              <a:spcBef>
                <a:spcPts val="0"/>
              </a:spcBef>
              <a:buNone/>
            </a:pPr>
            <a:r>
              <a:rPr lang="en-US" sz="2000" dirty="0">
                <a:latin typeface="Cambria" panose="02040503050406030204" pitchFamily="18" charset="0"/>
                <a:ea typeface="Cambria" panose="02040503050406030204" pitchFamily="18" charset="0"/>
              </a:rPr>
              <a:t>  }  </a:t>
            </a:r>
          </a:p>
          <a:p>
            <a:pPr>
              <a:spcBef>
                <a:spcPts val="0"/>
              </a:spcBef>
              <a:buNone/>
            </a:pPr>
            <a:r>
              <a:rPr lang="en-US" sz="2000" dirty="0">
                <a:latin typeface="Cambria" panose="02040503050406030204" pitchFamily="18" charset="0"/>
                <a:ea typeface="Cambria" panose="02040503050406030204" pitchFamily="18" charset="0"/>
              </a:rPr>
              <a:t>}  </a:t>
            </a:r>
          </a:p>
          <a:p>
            <a:pPr>
              <a:spcBef>
                <a:spcPts val="0"/>
              </a:spcBef>
              <a:buNone/>
            </a:pPr>
            <a:r>
              <a:rPr lang="en-US" sz="2000" dirty="0">
                <a:latin typeface="Cambria" panose="02040503050406030204" pitchFamily="18" charset="0"/>
                <a:ea typeface="Cambria" panose="02040503050406030204" pitchFamily="18" charset="0"/>
              </a:rPr>
              <a:t/>
            </a:r>
            <a:br>
              <a:rPr lang="en-US" sz="2000" dirty="0">
                <a:latin typeface="Cambria" panose="02040503050406030204" pitchFamily="18" charset="0"/>
                <a:ea typeface="Cambria" panose="02040503050406030204" pitchFamily="18" charset="0"/>
              </a:rPr>
            </a:b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23</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5622268" y="248915"/>
            <a:ext cx="5976664" cy="6186309"/>
          </a:xfrm>
          <a:prstGeom prst="rect">
            <a:avLst/>
          </a:prstGeom>
        </p:spPr>
        <p:txBody>
          <a:bodyPr wrap="square">
            <a:spAutoFit/>
          </a:bodyPr>
          <a:lstStyle/>
          <a:p>
            <a:pPr>
              <a:spcBef>
                <a:spcPts val="0"/>
              </a:spcBef>
              <a:buNone/>
            </a:pPr>
            <a:r>
              <a:rPr lang="en-US" b="1" dirty="0" smtClean="0">
                <a:latin typeface="Cambria" panose="02040503050406030204" pitchFamily="18" charset="0"/>
                <a:ea typeface="Cambria" panose="02040503050406030204" pitchFamily="18" charset="0"/>
              </a:rPr>
              <a:t>import</a:t>
            </a:r>
            <a:r>
              <a:rPr lang="en-US" dirty="0">
                <a:latin typeface="Cambria" panose="02040503050406030204" pitchFamily="18" charset="0"/>
                <a:ea typeface="Cambria" panose="02040503050406030204" pitchFamily="18" charset="0"/>
              </a:rPr>
              <a:t> java.util.*;  </a:t>
            </a:r>
          </a:p>
          <a:p>
            <a:pPr>
              <a:spcBef>
                <a:spcPts val="0"/>
              </a:spcBef>
              <a:buNone/>
            </a:pP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 ArrayList5{  </a:t>
            </a:r>
          </a:p>
          <a:p>
            <a:pPr>
              <a:spcBef>
                <a:spcPts val="0"/>
              </a:spcBef>
              <a:buNone/>
            </a:pP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public</a:t>
            </a: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static</a:t>
            </a: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void</a:t>
            </a:r>
            <a:r>
              <a:rPr lang="en-US" dirty="0">
                <a:latin typeface="Cambria" panose="02040503050406030204" pitchFamily="18" charset="0"/>
                <a:ea typeface="Cambria" panose="02040503050406030204" pitchFamily="18" charset="0"/>
              </a:rPr>
              <a:t> main(String args[]){  </a:t>
            </a:r>
          </a:p>
          <a:p>
            <a:pPr>
              <a:spcBef>
                <a:spcPts val="0"/>
              </a:spcBef>
              <a:buNone/>
            </a:pPr>
            <a:r>
              <a:rPr lang="en-US" dirty="0">
                <a:latin typeface="Cambria" panose="02040503050406030204" pitchFamily="18" charset="0"/>
                <a:ea typeface="Cambria" panose="02040503050406030204" pitchFamily="18" charset="0"/>
              </a:rPr>
              <a:t>  //Creating user-defined class objects  </a:t>
            </a:r>
          </a:p>
          <a:p>
            <a:pPr>
              <a:spcBef>
                <a:spcPts val="0"/>
              </a:spcBef>
              <a:buNone/>
            </a:pPr>
            <a:r>
              <a:rPr lang="en-US" dirty="0">
                <a:latin typeface="Cambria" panose="02040503050406030204" pitchFamily="18" charset="0"/>
                <a:ea typeface="Cambria" panose="02040503050406030204" pitchFamily="18" charset="0"/>
              </a:rPr>
              <a:t>  Student s1=</a:t>
            </a:r>
            <a:r>
              <a:rPr lang="en-US" b="1" dirty="0">
                <a:latin typeface="Cambria" panose="02040503050406030204" pitchFamily="18" charset="0"/>
                <a:ea typeface="Cambria" panose="02040503050406030204" pitchFamily="18" charset="0"/>
              </a:rPr>
              <a:t>new</a:t>
            </a:r>
            <a:r>
              <a:rPr lang="en-US" dirty="0">
                <a:latin typeface="Cambria" panose="02040503050406030204" pitchFamily="18" charset="0"/>
                <a:ea typeface="Cambria" panose="02040503050406030204" pitchFamily="18" charset="0"/>
              </a:rPr>
              <a:t> Student(101,"Sonoo",23);  </a:t>
            </a:r>
          </a:p>
          <a:p>
            <a:pPr>
              <a:spcBef>
                <a:spcPts val="0"/>
              </a:spcBef>
              <a:buNone/>
            </a:pPr>
            <a:r>
              <a:rPr lang="en-US" dirty="0">
                <a:latin typeface="Cambria" panose="02040503050406030204" pitchFamily="18" charset="0"/>
                <a:ea typeface="Cambria" panose="02040503050406030204" pitchFamily="18" charset="0"/>
              </a:rPr>
              <a:t>  Student s2=</a:t>
            </a:r>
            <a:r>
              <a:rPr lang="en-US" b="1" dirty="0">
                <a:latin typeface="Cambria" panose="02040503050406030204" pitchFamily="18" charset="0"/>
                <a:ea typeface="Cambria" panose="02040503050406030204" pitchFamily="18" charset="0"/>
              </a:rPr>
              <a:t>new</a:t>
            </a:r>
            <a:r>
              <a:rPr lang="en-US" dirty="0">
                <a:latin typeface="Cambria" panose="02040503050406030204" pitchFamily="18" charset="0"/>
                <a:ea typeface="Cambria" panose="02040503050406030204" pitchFamily="18" charset="0"/>
              </a:rPr>
              <a:t> Student(102,"Ravi",21);  </a:t>
            </a:r>
          </a:p>
          <a:p>
            <a:pPr>
              <a:spcBef>
                <a:spcPts val="0"/>
              </a:spcBef>
              <a:buNone/>
            </a:pPr>
            <a:r>
              <a:rPr lang="en-US" dirty="0">
                <a:latin typeface="Cambria" panose="02040503050406030204" pitchFamily="18" charset="0"/>
                <a:ea typeface="Cambria" panose="02040503050406030204" pitchFamily="18" charset="0"/>
              </a:rPr>
              <a:t>  Student </a:t>
            </a:r>
            <a:r>
              <a:rPr lang="en-US" dirty="0" smtClean="0">
                <a:latin typeface="Cambria" panose="02040503050406030204" pitchFamily="18" charset="0"/>
                <a:ea typeface="Cambria" panose="02040503050406030204" pitchFamily="18" charset="0"/>
              </a:rPr>
              <a:t>s3=</a:t>
            </a:r>
            <a:r>
              <a:rPr lang="en-US" b="1" dirty="0" smtClean="0">
                <a:latin typeface="Cambria" panose="02040503050406030204" pitchFamily="18" charset="0"/>
                <a:ea typeface="Cambria" panose="02040503050406030204" pitchFamily="18" charset="0"/>
              </a:rPr>
              <a:t>new</a:t>
            </a:r>
            <a:r>
              <a:rPr lang="en-US" dirty="0">
                <a:latin typeface="Cambria" panose="02040503050406030204" pitchFamily="18" charset="0"/>
                <a:ea typeface="Cambria" panose="02040503050406030204" pitchFamily="18" charset="0"/>
              </a:rPr>
              <a:t> Student(103</a:t>
            </a:r>
            <a:r>
              <a:rPr lang="en-US" dirty="0" smtClean="0">
                <a:latin typeface="Cambria" panose="02040503050406030204" pitchFamily="18" charset="0"/>
                <a:ea typeface="Cambria" panose="02040503050406030204" pitchFamily="18" charset="0"/>
              </a:rPr>
              <a:t>,“Manju",</a:t>
            </a:r>
            <a:r>
              <a:rPr lang="en-US" dirty="0">
                <a:latin typeface="Cambria" panose="02040503050406030204" pitchFamily="18" charset="0"/>
                <a:ea typeface="Cambria" panose="02040503050406030204" pitchFamily="18" charset="0"/>
              </a:rPr>
              <a:t>25);  </a:t>
            </a:r>
          </a:p>
          <a:p>
            <a:pPr>
              <a:spcBef>
                <a:spcPts val="0"/>
              </a:spcBef>
              <a:buNone/>
            </a:pPr>
            <a:r>
              <a:rPr lang="en-US" dirty="0">
                <a:latin typeface="Cambria" panose="02040503050406030204" pitchFamily="18" charset="0"/>
                <a:ea typeface="Cambria" panose="02040503050406030204" pitchFamily="18" charset="0"/>
              </a:rPr>
              <a:t>  //creating arraylist  </a:t>
            </a:r>
            <a:endParaRPr lang="en-US" dirty="0" smtClean="0">
              <a:latin typeface="Cambria" panose="02040503050406030204" pitchFamily="18" charset="0"/>
              <a:ea typeface="Cambria" panose="02040503050406030204" pitchFamily="18" charset="0"/>
            </a:endParaRPr>
          </a:p>
          <a:p>
            <a:pPr>
              <a:spcBef>
                <a:spcPts val="0"/>
              </a:spcBef>
              <a:buNone/>
            </a:pPr>
            <a:r>
              <a:rPr lang="en-US" dirty="0" smtClean="0">
                <a:latin typeface="Cambria" panose="02040503050406030204" pitchFamily="18" charset="0"/>
                <a:ea typeface="Cambria" panose="02040503050406030204" pitchFamily="18" charset="0"/>
              </a:rPr>
              <a:t>List&lt;Student&gt; l=new </a:t>
            </a:r>
            <a:r>
              <a:rPr lang="en-US" dirty="0" err="1" smtClean="0">
                <a:latin typeface="Cambria" panose="02040503050406030204" pitchFamily="18" charset="0"/>
                <a:ea typeface="Cambria" panose="02040503050406030204" pitchFamily="18" charset="0"/>
              </a:rPr>
              <a:t>ArrayList</a:t>
            </a:r>
            <a:r>
              <a:rPr lang="en-US" dirty="0" smtClean="0">
                <a:latin typeface="Cambria" panose="02040503050406030204" pitchFamily="18" charset="0"/>
                <a:ea typeface="Cambria" panose="02040503050406030204" pitchFamily="18" charset="0"/>
              </a:rPr>
              <a:t>&lt;Student&gt;(); or</a:t>
            </a:r>
            <a:endParaRPr lang="en-US" dirty="0">
              <a:latin typeface="Cambria" panose="02040503050406030204" pitchFamily="18" charset="0"/>
              <a:ea typeface="Cambria" panose="02040503050406030204" pitchFamily="18" charset="0"/>
            </a:endParaRPr>
          </a:p>
          <a:p>
            <a:pPr>
              <a:spcBef>
                <a:spcPts val="0"/>
              </a:spcBef>
              <a:buNone/>
            </a:pPr>
            <a:r>
              <a:rPr lang="en-US" dirty="0">
                <a:latin typeface="Cambria" panose="02040503050406030204" pitchFamily="18" charset="0"/>
                <a:ea typeface="Cambria" panose="02040503050406030204" pitchFamily="18" charset="0"/>
              </a:rPr>
              <a:t>   </a:t>
            </a:r>
          </a:p>
          <a:p>
            <a:pPr>
              <a:spcBef>
                <a:spcPts val="0"/>
              </a:spcBef>
              <a:buNone/>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a:t>
            </a:r>
            <a:r>
              <a:rPr lang="en-US" dirty="0" err="1" smtClean="0">
                <a:latin typeface="Cambria" panose="02040503050406030204" pitchFamily="18" charset="0"/>
                <a:ea typeface="Cambria" panose="02040503050406030204" pitchFamily="18" charset="0"/>
              </a:rPr>
              <a:t>.add</a:t>
            </a:r>
            <a:r>
              <a:rPr lang="en-US" dirty="0" smtClean="0">
                <a:latin typeface="Cambria" panose="02040503050406030204" pitchFamily="18" charset="0"/>
                <a:ea typeface="Cambria" panose="02040503050406030204" pitchFamily="18" charset="0"/>
              </a:rPr>
              <a:t>(s1</a:t>
            </a:r>
            <a:r>
              <a:rPr lang="en-US" dirty="0">
                <a:latin typeface="Cambria" panose="02040503050406030204" pitchFamily="18" charset="0"/>
                <a:ea typeface="Cambria" panose="02040503050406030204" pitchFamily="18" charset="0"/>
              </a:rPr>
              <a:t>);//adding Student class object  </a:t>
            </a:r>
          </a:p>
          <a:p>
            <a:pPr>
              <a:spcBef>
                <a:spcPts val="0"/>
              </a:spcBef>
              <a:buNone/>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a:t>
            </a:r>
            <a:r>
              <a:rPr lang="en-US" dirty="0" err="1" smtClean="0">
                <a:latin typeface="Cambria" panose="02040503050406030204" pitchFamily="18" charset="0"/>
                <a:ea typeface="Cambria" panose="02040503050406030204" pitchFamily="18" charset="0"/>
              </a:rPr>
              <a:t>.add</a:t>
            </a:r>
            <a:r>
              <a:rPr lang="en-US" dirty="0" smtClean="0">
                <a:latin typeface="Cambria" panose="02040503050406030204" pitchFamily="18" charset="0"/>
                <a:ea typeface="Cambria" panose="02040503050406030204" pitchFamily="18" charset="0"/>
              </a:rPr>
              <a:t>(s2</a:t>
            </a:r>
            <a:r>
              <a:rPr lang="en-US" dirty="0">
                <a:latin typeface="Cambria" panose="02040503050406030204" pitchFamily="18" charset="0"/>
                <a:ea typeface="Cambria" panose="02040503050406030204" pitchFamily="18" charset="0"/>
              </a:rPr>
              <a:t>);  </a:t>
            </a:r>
          </a:p>
          <a:p>
            <a:pPr>
              <a:spcBef>
                <a:spcPts val="0"/>
              </a:spcBef>
              <a:buNone/>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a:t>
            </a:r>
            <a:r>
              <a:rPr lang="en-US" dirty="0" err="1" smtClean="0">
                <a:latin typeface="Cambria" panose="02040503050406030204" pitchFamily="18" charset="0"/>
                <a:ea typeface="Cambria" panose="02040503050406030204" pitchFamily="18" charset="0"/>
              </a:rPr>
              <a:t>.add</a:t>
            </a:r>
            <a:r>
              <a:rPr lang="en-US" dirty="0" smtClean="0">
                <a:latin typeface="Cambria" panose="02040503050406030204" pitchFamily="18" charset="0"/>
                <a:ea typeface="Cambria" panose="02040503050406030204" pitchFamily="18" charset="0"/>
              </a:rPr>
              <a:t>(s3</a:t>
            </a:r>
            <a:r>
              <a:rPr lang="en-US" dirty="0">
                <a:latin typeface="Cambria" panose="02040503050406030204" pitchFamily="18" charset="0"/>
                <a:ea typeface="Cambria" panose="02040503050406030204" pitchFamily="18" charset="0"/>
              </a:rPr>
              <a:t>);  </a:t>
            </a:r>
          </a:p>
          <a:p>
            <a:pPr>
              <a:spcBef>
                <a:spcPts val="0"/>
              </a:spcBef>
              <a:buNone/>
            </a:pPr>
            <a:r>
              <a:rPr lang="en-US" dirty="0">
                <a:latin typeface="Cambria" panose="02040503050406030204" pitchFamily="18" charset="0"/>
                <a:ea typeface="Cambria" panose="02040503050406030204" pitchFamily="18" charset="0"/>
              </a:rPr>
              <a:t>  //Getting Iterator  </a:t>
            </a:r>
          </a:p>
          <a:p>
            <a:pPr>
              <a:spcBef>
                <a:spcPts val="0"/>
              </a:spcBef>
              <a:buNone/>
            </a:pPr>
            <a:r>
              <a:rPr lang="en-US" dirty="0">
                <a:latin typeface="Cambria" panose="02040503050406030204" pitchFamily="18" charset="0"/>
                <a:ea typeface="Cambria" panose="02040503050406030204" pitchFamily="18" charset="0"/>
              </a:rPr>
              <a:t>  </a:t>
            </a:r>
            <a:r>
              <a:rPr lang="en-US" dirty="0" err="1" smtClean="0">
                <a:latin typeface="Cambria" panose="02040503050406030204" pitchFamily="18" charset="0"/>
                <a:ea typeface="Cambria" panose="02040503050406030204" pitchFamily="18" charset="0"/>
              </a:rPr>
              <a:t>ListIterator</a:t>
            </a:r>
            <a:r>
              <a:rPr lang="en-US" dirty="0">
                <a:latin typeface="Cambria" panose="02040503050406030204" pitchFamily="18" charset="0"/>
                <a:ea typeface="Cambria" panose="02040503050406030204" pitchFamily="18" charset="0"/>
              </a:rPr>
              <a:t> </a:t>
            </a:r>
            <a:r>
              <a:rPr lang="en-US" dirty="0" err="1" smtClean="0">
                <a:latin typeface="Cambria" panose="02040503050406030204" pitchFamily="18" charset="0"/>
                <a:ea typeface="Cambria" panose="02040503050406030204" pitchFamily="18" charset="0"/>
              </a:rPr>
              <a:t>itr</a:t>
            </a:r>
            <a:r>
              <a:rPr lang="en-US" dirty="0" smtClean="0">
                <a:latin typeface="Cambria" panose="02040503050406030204" pitchFamily="18" charset="0"/>
                <a:ea typeface="Cambria" panose="02040503050406030204" pitchFamily="18" charset="0"/>
              </a:rPr>
              <a:t>=</a:t>
            </a:r>
            <a:r>
              <a:rPr lang="en-US" dirty="0" err="1" smtClean="0">
                <a:latin typeface="Cambria" panose="02040503050406030204" pitchFamily="18" charset="0"/>
                <a:ea typeface="Cambria" panose="02040503050406030204" pitchFamily="18" charset="0"/>
              </a:rPr>
              <a:t>l.listIterator</a:t>
            </a:r>
            <a:r>
              <a:rPr lang="en-US" dirty="0">
                <a:latin typeface="Cambria" panose="02040503050406030204" pitchFamily="18" charset="0"/>
                <a:ea typeface="Cambria" panose="02040503050406030204" pitchFamily="18" charset="0"/>
              </a:rPr>
              <a:t>();  </a:t>
            </a:r>
          </a:p>
          <a:p>
            <a:pPr>
              <a:spcBef>
                <a:spcPts val="0"/>
              </a:spcBef>
              <a:buNone/>
            </a:pPr>
            <a:r>
              <a:rPr lang="en-US" dirty="0">
                <a:latin typeface="Cambria" panose="02040503050406030204" pitchFamily="18" charset="0"/>
                <a:ea typeface="Cambria" panose="02040503050406030204" pitchFamily="18" charset="0"/>
              </a:rPr>
              <a:t>  //traversing elements of ArrayList object  </a:t>
            </a:r>
          </a:p>
          <a:p>
            <a:pPr>
              <a:spcBef>
                <a:spcPts val="0"/>
              </a:spcBef>
              <a:buNone/>
            </a:pP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while</a:t>
            </a:r>
            <a:r>
              <a:rPr lang="en-US" dirty="0">
                <a:latin typeface="Cambria" panose="02040503050406030204" pitchFamily="18" charset="0"/>
                <a:ea typeface="Cambria" panose="02040503050406030204" pitchFamily="18" charset="0"/>
              </a:rPr>
              <a:t>(itr.hasNext()){  </a:t>
            </a:r>
          </a:p>
          <a:p>
            <a:pPr>
              <a:spcBef>
                <a:spcPts val="0"/>
              </a:spcBef>
              <a:buNone/>
            </a:pPr>
            <a:r>
              <a:rPr lang="en-US" dirty="0">
                <a:latin typeface="Cambria" panose="02040503050406030204" pitchFamily="18" charset="0"/>
                <a:ea typeface="Cambria" panose="02040503050406030204" pitchFamily="18" charset="0"/>
              </a:rPr>
              <a:t>    Student st=(Student)itr.next();  </a:t>
            </a:r>
          </a:p>
          <a:p>
            <a:pPr>
              <a:spcBef>
                <a:spcPts val="0"/>
              </a:spcBef>
              <a:buNone/>
            </a:pPr>
            <a:r>
              <a:rPr lang="en-US" dirty="0">
                <a:latin typeface="Cambria" panose="02040503050406030204" pitchFamily="18" charset="0"/>
                <a:ea typeface="Cambria" panose="02040503050406030204" pitchFamily="18" charset="0"/>
              </a:rPr>
              <a:t>    System.out.println(st.rollno+" "+st.name+" "+st.age);  </a:t>
            </a:r>
          </a:p>
          <a:p>
            <a:pPr>
              <a:spcBef>
                <a:spcPts val="0"/>
              </a:spcBef>
              <a:buNone/>
            </a:pPr>
            <a:r>
              <a:rPr lang="en-US" dirty="0">
                <a:latin typeface="Cambria" panose="02040503050406030204" pitchFamily="18" charset="0"/>
                <a:ea typeface="Cambria" panose="02040503050406030204" pitchFamily="18" charset="0"/>
              </a:rPr>
              <a:t>  }  </a:t>
            </a:r>
          </a:p>
          <a:p>
            <a:pPr>
              <a:spcBef>
                <a:spcPts val="0"/>
              </a:spcBef>
              <a:buNone/>
            </a:pPr>
            <a:r>
              <a:rPr lang="en-US" dirty="0">
                <a:latin typeface="Cambria" panose="02040503050406030204" pitchFamily="18" charset="0"/>
                <a:ea typeface="Cambria" panose="02040503050406030204" pitchFamily="18" charset="0"/>
              </a:rPr>
              <a:t> }  </a:t>
            </a:r>
          </a:p>
          <a:p>
            <a:pPr>
              <a:spcBef>
                <a:spcPts val="0"/>
              </a:spcBef>
              <a:buNone/>
            </a:pPr>
            <a:r>
              <a:rPr lang="en-US"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307776852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16632"/>
            <a:ext cx="2737520" cy="615603"/>
          </a:xfrm>
        </p:spPr>
        <p:txBody>
          <a:bodyPr/>
          <a:lstStyle/>
          <a:p>
            <a:r>
              <a:rPr lang="en-GB" sz="4000" b="1" dirty="0" smtClean="0">
                <a:solidFill>
                  <a:schemeClr val="accent1"/>
                </a:solidFill>
                <a:latin typeface="Cambria" panose="02040503050406030204" pitchFamily="18" charset="0"/>
                <a:ea typeface="Cambria" panose="02040503050406030204" pitchFamily="18" charset="0"/>
              </a:rPr>
              <a:t>Vector</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376" y="836713"/>
            <a:ext cx="11017224" cy="3600400"/>
          </a:xfrm>
        </p:spPr>
        <p:txBody>
          <a:bodyPr/>
          <a:lstStyle/>
          <a:p>
            <a:pPr algn="just"/>
            <a:r>
              <a:rPr lang="en-GB" b="1" dirty="0" smtClean="0">
                <a:latin typeface="Cambria" panose="02040503050406030204" pitchFamily="18" charset="0"/>
                <a:ea typeface="Cambria" panose="02040503050406030204" pitchFamily="18" charset="0"/>
              </a:rPr>
              <a:t>Vector</a:t>
            </a:r>
            <a:r>
              <a:rPr lang="en-GB" dirty="0" smtClean="0">
                <a:latin typeface="Cambria" panose="02040503050406030204" pitchFamily="18" charset="0"/>
                <a:ea typeface="Cambria" panose="02040503050406030204" pitchFamily="18" charset="0"/>
              </a:rPr>
              <a:t> is like the </a:t>
            </a:r>
            <a:r>
              <a:rPr lang="en-GB" i="1" dirty="0" smtClean="0">
                <a:latin typeface="Cambria" panose="02040503050406030204" pitchFamily="18" charset="0"/>
                <a:ea typeface="Cambria" panose="02040503050406030204" pitchFamily="18" charset="0"/>
              </a:rPr>
              <a:t>dynamic array</a:t>
            </a:r>
            <a:r>
              <a:rPr lang="en-GB" dirty="0" smtClean="0">
                <a:latin typeface="Cambria" panose="02040503050406030204" pitchFamily="18" charset="0"/>
                <a:ea typeface="Cambria" panose="02040503050406030204" pitchFamily="18" charset="0"/>
              </a:rPr>
              <a:t> which can grow or shrink its size. Unlike array, we can store n-number of elements in it as there is no size limit.</a:t>
            </a:r>
          </a:p>
          <a:p>
            <a:pPr algn="just"/>
            <a:r>
              <a:rPr lang="en-GB" dirty="0" smtClean="0">
                <a:latin typeface="Cambria" panose="02040503050406030204" pitchFamily="18" charset="0"/>
                <a:ea typeface="Cambria" panose="02040503050406030204" pitchFamily="18" charset="0"/>
              </a:rPr>
              <a:t>It is similar to the </a:t>
            </a:r>
            <a:r>
              <a:rPr lang="en-GB" dirty="0" err="1" smtClean="0">
                <a:latin typeface="Cambria" panose="02040503050406030204" pitchFamily="18" charset="0"/>
                <a:ea typeface="Cambria" panose="02040503050406030204" pitchFamily="18" charset="0"/>
              </a:rPr>
              <a:t>ArrayList</a:t>
            </a:r>
            <a:r>
              <a:rPr lang="en-GB" dirty="0" smtClean="0">
                <a:latin typeface="Cambria" panose="02040503050406030204" pitchFamily="18" charset="0"/>
                <a:ea typeface="Cambria" panose="02040503050406030204" pitchFamily="18" charset="0"/>
              </a:rPr>
              <a:t>, but with two differences-</a:t>
            </a:r>
          </a:p>
          <a:p>
            <a:pPr algn="just"/>
            <a:r>
              <a:rPr lang="en-GB" dirty="0" smtClean="0">
                <a:latin typeface="Cambria" panose="02040503050406030204" pitchFamily="18" charset="0"/>
                <a:ea typeface="Cambria" panose="02040503050406030204" pitchFamily="18" charset="0"/>
              </a:rPr>
              <a:t>Vector is </a:t>
            </a:r>
            <a:r>
              <a:rPr lang="en-GB" b="1" dirty="0" smtClean="0">
                <a:latin typeface="Cambria" panose="02040503050406030204" pitchFamily="18" charset="0"/>
                <a:ea typeface="Cambria" panose="02040503050406030204" pitchFamily="18" charset="0"/>
              </a:rPr>
              <a:t>synchronized.</a:t>
            </a:r>
          </a:p>
          <a:p>
            <a:pPr algn="just"/>
            <a:r>
              <a:rPr lang="en-GB" dirty="0" smtClean="0">
                <a:latin typeface="Cambria" panose="02040503050406030204" pitchFamily="18" charset="0"/>
                <a:ea typeface="Cambria" panose="02040503050406030204" pitchFamily="18" charset="0"/>
              </a:rPr>
              <a:t>Java Vector contains many legacy methods that are not the part of a collections framework.</a:t>
            </a: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24</a:t>
            </a:fld>
            <a:endParaRPr lang="en-US" alt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44790552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53" y="0"/>
            <a:ext cx="10041287" cy="764704"/>
          </a:xfrm>
        </p:spPr>
        <p:txBody>
          <a:bodyPr/>
          <a:lstStyle/>
          <a:p>
            <a:r>
              <a:rPr lang="en-GB" sz="4000" b="1" dirty="0" smtClean="0">
                <a:solidFill>
                  <a:schemeClr val="accent1"/>
                </a:solidFill>
                <a:latin typeface="Cambria" panose="02040503050406030204" pitchFamily="18" charset="0"/>
                <a:ea typeface="Cambria" panose="02040503050406030204" pitchFamily="18" charset="0"/>
              </a:rPr>
              <a:t>Difference between ArrayList and Vector</a:t>
            </a:r>
            <a:endParaRPr lang="en-US" sz="4000" b="1" dirty="0">
              <a:solidFill>
                <a:schemeClr val="accent1"/>
              </a:solidFill>
              <a:latin typeface="Cambria" panose="02040503050406030204" pitchFamily="18" charset="0"/>
              <a:ea typeface="Cambria" panose="02040503050406030204" pitchFamily="18"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094421033"/>
              </p:ext>
            </p:extLst>
          </p:nvPr>
        </p:nvGraphicFramePr>
        <p:xfrm>
          <a:off x="551384" y="692696"/>
          <a:ext cx="10401336" cy="4230548"/>
        </p:xfrm>
        <a:graphic>
          <a:graphicData uri="http://schemas.openxmlformats.org/drawingml/2006/table">
            <a:tbl>
              <a:tblPr firstRow="1" bandRow="1">
                <a:tableStyleId>{5C22544A-7EE6-4342-B048-85BDC9FD1C3A}</a:tableStyleId>
              </a:tblPr>
              <a:tblGrid>
                <a:gridCol w="5200668">
                  <a:extLst>
                    <a:ext uri="{9D8B030D-6E8A-4147-A177-3AD203B41FA5}">
                      <a16:colId xmlns:a16="http://schemas.microsoft.com/office/drawing/2014/main" val="20000"/>
                    </a:ext>
                  </a:extLst>
                </a:gridCol>
                <a:gridCol w="5200668">
                  <a:extLst>
                    <a:ext uri="{9D8B030D-6E8A-4147-A177-3AD203B41FA5}">
                      <a16:colId xmlns:a16="http://schemas.microsoft.com/office/drawing/2014/main" val="20001"/>
                    </a:ext>
                  </a:extLst>
                </a:gridCol>
              </a:tblGrid>
              <a:tr h="594031">
                <a:tc>
                  <a:txBody>
                    <a:bodyPr/>
                    <a:lstStyle/>
                    <a:p>
                      <a:pPr algn="ctr" fontAlgn="t"/>
                      <a:r>
                        <a:rPr lang="en-US" sz="2400" dirty="0" err="1">
                          <a:solidFill>
                            <a:srgbClr val="000000"/>
                          </a:solidFill>
                          <a:latin typeface="Cambria" panose="02040503050406030204" pitchFamily="18" charset="0"/>
                          <a:ea typeface="Cambria" panose="02040503050406030204" pitchFamily="18" charset="0"/>
                        </a:rPr>
                        <a:t>ArrayList</a:t>
                      </a:r>
                      <a:endParaRPr lang="en-US" sz="2400" dirty="0">
                        <a:solidFill>
                          <a:srgbClr val="000000"/>
                        </a:solidFill>
                        <a:latin typeface="Cambria" panose="02040503050406030204" pitchFamily="18" charset="0"/>
                        <a:ea typeface="Cambria" panose="02040503050406030204" pitchFamily="18" charset="0"/>
                      </a:endParaRPr>
                    </a:p>
                  </a:txBody>
                  <a:tcPr marL="114300" marR="114300" marT="114300" marB="114300"/>
                </a:tc>
                <a:tc>
                  <a:txBody>
                    <a:bodyPr/>
                    <a:lstStyle/>
                    <a:p>
                      <a:pPr algn="ctr" fontAlgn="t"/>
                      <a:r>
                        <a:rPr lang="en-US" sz="2400" dirty="0">
                          <a:solidFill>
                            <a:srgbClr val="000000"/>
                          </a:solidFill>
                          <a:latin typeface="Cambria" panose="02040503050406030204" pitchFamily="18" charset="0"/>
                          <a:ea typeface="Cambria" panose="02040503050406030204" pitchFamily="18" charset="0"/>
                        </a:rPr>
                        <a:t>Vector</a:t>
                      </a:r>
                    </a:p>
                  </a:txBody>
                  <a:tcPr marL="114300" marR="114300" marT="114300" marB="114300"/>
                </a:tc>
                <a:extLst>
                  <a:ext uri="{0D108BD9-81ED-4DB2-BD59-A6C34878D82A}">
                    <a16:rowId xmlns:a16="http://schemas.microsoft.com/office/drawing/2014/main" val="10000"/>
                  </a:ext>
                </a:extLst>
              </a:tr>
              <a:tr h="504026">
                <a:tc>
                  <a:txBody>
                    <a:bodyPr/>
                    <a:lstStyle/>
                    <a:p>
                      <a:pPr algn="just" fontAlgn="t"/>
                      <a:r>
                        <a:rPr lang="en-GB" dirty="0">
                          <a:solidFill>
                            <a:srgbClr val="333333"/>
                          </a:solidFill>
                          <a:latin typeface="Cambria" panose="02040503050406030204" pitchFamily="18" charset="0"/>
                          <a:ea typeface="Cambria" panose="02040503050406030204" pitchFamily="18" charset="0"/>
                        </a:rPr>
                        <a:t>1) ArrayList is </a:t>
                      </a:r>
                      <a:r>
                        <a:rPr lang="en-GB" b="1" dirty="0">
                          <a:solidFill>
                            <a:srgbClr val="333333"/>
                          </a:solidFill>
                          <a:latin typeface="Cambria" panose="02040503050406030204" pitchFamily="18" charset="0"/>
                          <a:ea typeface="Cambria" panose="02040503050406030204" pitchFamily="18" charset="0"/>
                        </a:rPr>
                        <a:t>not synchronized</a:t>
                      </a:r>
                      <a:r>
                        <a:rPr lang="en-GB" dirty="0">
                          <a:solidFill>
                            <a:srgbClr val="333333"/>
                          </a:solidFill>
                          <a:latin typeface="Cambria" panose="02040503050406030204" pitchFamily="18" charset="0"/>
                          <a:ea typeface="Cambria" panose="02040503050406030204" pitchFamily="18" charset="0"/>
                        </a:rPr>
                        <a:t>.</a:t>
                      </a:r>
                    </a:p>
                  </a:txBody>
                  <a:tcPr marL="76200" marR="76200" marT="76200" marB="76200"/>
                </a:tc>
                <a:tc>
                  <a:txBody>
                    <a:bodyPr/>
                    <a:lstStyle/>
                    <a:p>
                      <a:pPr algn="just" fontAlgn="t"/>
                      <a:r>
                        <a:rPr lang="en-US">
                          <a:solidFill>
                            <a:srgbClr val="333333"/>
                          </a:solidFill>
                          <a:latin typeface="Cambria" panose="02040503050406030204" pitchFamily="18" charset="0"/>
                          <a:ea typeface="Cambria" panose="02040503050406030204" pitchFamily="18" charset="0"/>
                        </a:rPr>
                        <a:t>Vector is </a:t>
                      </a:r>
                      <a:r>
                        <a:rPr lang="en-US" b="1">
                          <a:solidFill>
                            <a:srgbClr val="333333"/>
                          </a:solidFill>
                          <a:latin typeface="Cambria" panose="02040503050406030204" pitchFamily="18" charset="0"/>
                          <a:ea typeface="Cambria" panose="02040503050406030204" pitchFamily="18" charset="0"/>
                        </a:rPr>
                        <a:t>synchronized</a:t>
                      </a:r>
                      <a:r>
                        <a:rPr lang="en-US">
                          <a:solidFill>
                            <a:srgbClr val="333333"/>
                          </a:solidFill>
                          <a:latin typeface="Cambria" panose="02040503050406030204" pitchFamily="18" charset="0"/>
                          <a:ea typeface="Cambria" panose="02040503050406030204" pitchFamily="18" charset="0"/>
                        </a:rPr>
                        <a:t>.</a:t>
                      </a:r>
                    </a:p>
                  </a:txBody>
                  <a:tcPr marL="76200" marR="76200" marT="76200" marB="76200"/>
                </a:tc>
                <a:extLst>
                  <a:ext uri="{0D108BD9-81ED-4DB2-BD59-A6C34878D82A}">
                    <a16:rowId xmlns:a16="http://schemas.microsoft.com/office/drawing/2014/main" val="10001"/>
                  </a:ext>
                </a:extLst>
              </a:tr>
              <a:tr h="828043">
                <a:tc>
                  <a:txBody>
                    <a:bodyPr/>
                    <a:lstStyle/>
                    <a:p>
                      <a:pPr algn="just" fontAlgn="t"/>
                      <a:r>
                        <a:rPr lang="en-GB" dirty="0">
                          <a:solidFill>
                            <a:srgbClr val="333333"/>
                          </a:solidFill>
                          <a:latin typeface="Cambria" panose="02040503050406030204" pitchFamily="18" charset="0"/>
                          <a:ea typeface="Cambria" panose="02040503050406030204" pitchFamily="18" charset="0"/>
                        </a:rPr>
                        <a:t>2</a:t>
                      </a:r>
                      <a:r>
                        <a:rPr lang="en-GB" dirty="0" smtClean="0">
                          <a:solidFill>
                            <a:srgbClr val="333333"/>
                          </a:solidFill>
                          <a:latin typeface="Cambria" panose="02040503050406030204" pitchFamily="18" charset="0"/>
                          <a:ea typeface="Cambria" panose="02040503050406030204" pitchFamily="18" charset="0"/>
                        </a:rPr>
                        <a:t>) </a:t>
                      </a:r>
                      <a:r>
                        <a:rPr lang="en-GB" dirty="0">
                          <a:solidFill>
                            <a:srgbClr val="333333"/>
                          </a:solidFill>
                          <a:latin typeface="Cambria" panose="02040503050406030204" pitchFamily="18" charset="0"/>
                          <a:ea typeface="Cambria" panose="02040503050406030204" pitchFamily="18" charset="0"/>
                        </a:rPr>
                        <a:t>ArrayList is </a:t>
                      </a:r>
                      <a:r>
                        <a:rPr lang="en-GB" b="1" dirty="0">
                          <a:solidFill>
                            <a:srgbClr val="333333"/>
                          </a:solidFill>
                          <a:latin typeface="Cambria" panose="02040503050406030204" pitchFamily="18" charset="0"/>
                          <a:ea typeface="Cambria" panose="02040503050406030204" pitchFamily="18" charset="0"/>
                        </a:rPr>
                        <a:t>not a legacy</a:t>
                      </a:r>
                      <a:r>
                        <a:rPr lang="en-GB" dirty="0">
                          <a:solidFill>
                            <a:srgbClr val="333333"/>
                          </a:solidFill>
                          <a:latin typeface="Cambria" panose="02040503050406030204" pitchFamily="18" charset="0"/>
                          <a:ea typeface="Cambria" panose="02040503050406030204" pitchFamily="18" charset="0"/>
                        </a:rPr>
                        <a:t> class. It is introduced in JDK 1.2.</a:t>
                      </a:r>
                    </a:p>
                  </a:txBody>
                  <a:tcPr marL="76200" marR="76200" marT="76200" marB="76200"/>
                </a:tc>
                <a:tc>
                  <a:txBody>
                    <a:bodyPr/>
                    <a:lstStyle/>
                    <a:p>
                      <a:pPr algn="just" fontAlgn="t"/>
                      <a:r>
                        <a:rPr lang="en-GB" dirty="0">
                          <a:solidFill>
                            <a:srgbClr val="333333"/>
                          </a:solidFill>
                          <a:latin typeface="Cambria" panose="02040503050406030204" pitchFamily="18" charset="0"/>
                          <a:ea typeface="Cambria" panose="02040503050406030204" pitchFamily="18" charset="0"/>
                        </a:rPr>
                        <a:t>Vector is a </a:t>
                      </a:r>
                      <a:r>
                        <a:rPr lang="en-GB" b="1" dirty="0">
                          <a:solidFill>
                            <a:srgbClr val="333333"/>
                          </a:solidFill>
                          <a:latin typeface="Cambria" panose="02040503050406030204" pitchFamily="18" charset="0"/>
                          <a:ea typeface="Cambria" panose="02040503050406030204" pitchFamily="18" charset="0"/>
                        </a:rPr>
                        <a:t>legacy</a:t>
                      </a:r>
                      <a:r>
                        <a:rPr lang="en-GB" dirty="0">
                          <a:solidFill>
                            <a:srgbClr val="333333"/>
                          </a:solidFill>
                          <a:latin typeface="Cambria" panose="02040503050406030204" pitchFamily="18" charset="0"/>
                          <a:ea typeface="Cambria" panose="02040503050406030204" pitchFamily="18" charset="0"/>
                        </a:rPr>
                        <a:t> class.</a:t>
                      </a:r>
                    </a:p>
                  </a:txBody>
                  <a:tcPr marL="76200" marR="76200" marT="76200" marB="76200"/>
                </a:tc>
                <a:extLst>
                  <a:ext uri="{0D108BD9-81ED-4DB2-BD59-A6C34878D82A}">
                    <a16:rowId xmlns:a16="http://schemas.microsoft.com/office/drawing/2014/main" val="10002"/>
                  </a:ext>
                </a:extLst>
              </a:tr>
              <a:tr h="1476076">
                <a:tc>
                  <a:txBody>
                    <a:bodyPr/>
                    <a:lstStyle/>
                    <a:p>
                      <a:pPr algn="just" fontAlgn="t"/>
                      <a:r>
                        <a:rPr lang="en-GB" dirty="0">
                          <a:solidFill>
                            <a:srgbClr val="333333"/>
                          </a:solidFill>
                          <a:latin typeface="Cambria" panose="02040503050406030204" pitchFamily="18" charset="0"/>
                          <a:ea typeface="Cambria" panose="02040503050406030204" pitchFamily="18" charset="0"/>
                        </a:rPr>
                        <a:t>3</a:t>
                      </a:r>
                      <a:r>
                        <a:rPr lang="en-GB" dirty="0" smtClean="0">
                          <a:solidFill>
                            <a:srgbClr val="333333"/>
                          </a:solidFill>
                          <a:latin typeface="Cambria" panose="02040503050406030204" pitchFamily="18" charset="0"/>
                          <a:ea typeface="Cambria" panose="02040503050406030204" pitchFamily="18" charset="0"/>
                        </a:rPr>
                        <a:t>) </a:t>
                      </a:r>
                      <a:r>
                        <a:rPr lang="en-GB" dirty="0">
                          <a:solidFill>
                            <a:srgbClr val="333333"/>
                          </a:solidFill>
                          <a:latin typeface="Cambria" panose="02040503050406030204" pitchFamily="18" charset="0"/>
                          <a:ea typeface="Cambria" panose="02040503050406030204" pitchFamily="18" charset="0"/>
                        </a:rPr>
                        <a:t>ArrayList is </a:t>
                      </a:r>
                      <a:r>
                        <a:rPr lang="en-GB" b="1" dirty="0">
                          <a:solidFill>
                            <a:srgbClr val="333333"/>
                          </a:solidFill>
                          <a:latin typeface="Cambria" panose="02040503050406030204" pitchFamily="18" charset="0"/>
                          <a:ea typeface="Cambria" panose="02040503050406030204" pitchFamily="18" charset="0"/>
                        </a:rPr>
                        <a:t>fast</a:t>
                      </a:r>
                      <a:r>
                        <a:rPr lang="en-GB" dirty="0">
                          <a:solidFill>
                            <a:srgbClr val="333333"/>
                          </a:solidFill>
                          <a:latin typeface="Cambria" panose="02040503050406030204" pitchFamily="18" charset="0"/>
                          <a:ea typeface="Cambria" panose="02040503050406030204" pitchFamily="18" charset="0"/>
                        </a:rPr>
                        <a:t> because it is non-synchronized.</a:t>
                      </a:r>
                    </a:p>
                  </a:txBody>
                  <a:tcPr marL="76200" marR="76200" marT="76200" marB="76200"/>
                </a:tc>
                <a:tc>
                  <a:txBody>
                    <a:bodyPr/>
                    <a:lstStyle/>
                    <a:p>
                      <a:pPr algn="just" fontAlgn="t"/>
                      <a:r>
                        <a:rPr lang="en-GB" dirty="0">
                          <a:solidFill>
                            <a:srgbClr val="333333"/>
                          </a:solidFill>
                          <a:latin typeface="Cambria" panose="02040503050406030204" pitchFamily="18" charset="0"/>
                          <a:ea typeface="Cambria" panose="02040503050406030204" pitchFamily="18" charset="0"/>
                        </a:rPr>
                        <a:t>Vector is </a:t>
                      </a:r>
                      <a:r>
                        <a:rPr lang="en-GB" b="1" dirty="0">
                          <a:solidFill>
                            <a:srgbClr val="333333"/>
                          </a:solidFill>
                          <a:latin typeface="Cambria" panose="02040503050406030204" pitchFamily="18" charset="0"/>
                          <a:ea typeface="Cambria" panose="02040503050406030204" pitchFamily="18" charset="0"/>
                        </a:rPr>
                        <a:t>slow</a:t>
                      </a:r>
                      <a:r>
                        <a:rPr lang="en-GB" dirty="0">
                          <a:solidFill>
                            <a:srgbClr val="333333"/>
                          </a:solidFill>
                          <a:latin typeface="Cambria" panose="02040503050406030204" pitchFamily="18" charset="0"/>
                          <a:ea typeface="Cambria" panose="02040503050406030204" pitchFamily="18" charset="0"/>
                        </a:rPr>
                        <a:t> because it is synchronized, i.e., in a multithreading environment, it holds the other threads in runnable or non-runnable state until current thread releases the lock of the object.</a:t>
                      </a:r>
                    </a:p>
                  </a:txBody>
                  <a:tcPr marL="76200" marR="76200" marT="76200" marB="76200"/>
                </a:tc>
                <a:extLst>
                  <a:ext uri="{0D108BD9-81ED-4DB2-BD59-A6C34878D82A}">
                    <a16:rowId xmlns:a16="http://schemas.microsoft.com/office/drawing/2014/main" val="10003"/>
                  </a:ext>
                </a:extLst>
              </a:tr>
              <a:tr h="828043">
                <a:tc>
                  <a:txBody>
                    <a:bodyPr/>
                    <a:lstStyle/>
                    <a:p>
                      <a:pPr algn="just" fontAlgn="t"/>
                      <a:r>
                        <a:rPr lang="en-GB" dirty="0">
                          <a:solidFill>
                            <a:srgbClr val="333333"/>
                          </a:solidFill>
                          <a:latin typeface="Cambria" panose="02040503050406030204" pitchFamily="18" charset="0"/>
                          <a:ea typeface="Cambria" panose="02040503050406030204" pitchFamily="18" charset="0"/>
                        </a:rPr>
                        <a:t>4</a:t>
                      </a:r>
                      <a:r>
                        <a:rPr lang="en-GB" dirty="0" smtClean="0">
                          <a:solidFill>
                            <a:srgbClr val="333333"/>
                          </a:solidFill>
                          <a:latin typeface="Cambria" panose="02040503050406030204" pitchFamily="18" charset="0"/>
                          <a:ea typeface="Cambria" panose="02040503050406030204" pitchFamily="18" charset="0"/>
                        </a:rPr>
                        <a:t>) </a:t>
                      </a:r>
                      <a:r>
                        <a:rPr lang="en-GB" dirty="0">
                          <a:solidFill>
                            <a:srgbClr val="333333"/>
                          </a:solidFill>
                          <a:latin typeface="Cambria" panose="02040503050406030204" pitchFamily="18" charset="0"/>
                          <a:ea typeface="Cambria" panose="02040503050406030204" pitchFamily="18" charset="0"/>
                        </a:rPr>
                        <a:t>ArrayList uses the </a:t>
                      </a:r>
                      <a:r>
                        <a:rPr lang="en-GB" b="1" dirty="0">
                          <a:solidFill>
                            <a:srgbClr val="333333"/>
                          </a:solidFill>
                          <a:latin typeface="Cambria" panose="02040503050406030204" pitchFamily="18" charset="0"/>
                          <a:ea typeface="Cambria" panose="02040503050406030204" pitchFamily="18" charset="0"/>
                        </a:rPr>
                        <a:t>Iterator</a:t>
                      </a:r>
                      <a:r>
                        <a:rPr lang="en-GB" dirty="0">
                          <a:solidFill>
                            <a:srgbClr val="333333"/>
                          </a:solidFill>
                          <a:latin typeface="Cambria" panose="02040503050406030204" pitchFamily="18" charset="0"/>
                          <a:ea typeface="Cambria" panose="02040503050406030204" pitchFamily="18" charset="0"/>
                        </a:rPr>
                        <a:t> interface to traverse the elements.</a:t>
                      </a:r>
                    </a:p>
                  </a:txBody>
                  <a:tcPr marL="76200" marR="76200" marT="76200" marB="76200"/>
                </a:tc>
                <a:tc>
                  <a:txBody>
                    <a:bodyPr/>
                    <a:lstStyle/>
                    <a:p>
                      <a:pPr algn="just" fontAlgn="t"/>
                      <a:r>
                        <a:rPr lang="en-GB" dirty="0">
                          <a:solidFill>
                            <a:srgbClr val="333333"/>
                          </a:solidFill>
                          <a:latin typeface="Cambria" panose="02040503050406030204" pitchFamily="18" charset="0"/>
                          <a:ea typeface="Cambria" panose="02040503050406030204" pitchFamily="18" charset="0"/>
                        </a:rPr>
                        <a:t>A Vector can use the </a:t>
                      </a:r>
                      <a:r>
                        <a:rPr lang="en-GB" b="1" dirty="0" err="1">
                          <a:solidFill>
                            <a:srgbClr val="333333"/>
                          </a:solidFill>
                          <a:latin typeface="Cambria" panose="02040503050406030204" pitchFamily="18" charset="0"/>
                          <a:ea typeface="Cambria" panose="02040503050406030204" pitchFamily="18" charset="0"/>
                        </a:rPr>
                        <a:t>Iterator</a:t>
                      </a:r>
                      <a:r>
                        <a:rPr lang="en-GB" dirty="0">
                          <a:solidFill>
                            <a:srgbClr val="333333"/>
                          </a:solidFill>
                          <a:latin typeface="Cambria" panose="02040503050406030204" pitchFamily="18" charset="0"/>
                          <a:ea typeface="Cambria" panose="02040503050406030204" pitchFamily="18" charset="0"/>
                        </a:rPr>
                        <a:t> interface </a:t>
                      </a:r>
                    </a:p>
                  </a:txBody>
                  <a:tcPr marL="76200" marR="76200" marT="76200" marB="76200"/>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25</a:t>
            </a:fld>
            <a:endParaRPr lang="en-US" alt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8014678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9653"/>
            <a:ext cx="2665512" cy="543595"/>
          </a:xfrm>
        </p:spPr>
        <p:txBody>
          <a:bodyPr/>
          <a:lstStyle/>
          <a:p>
            <a:r>
              <a:rPr lang="en-GB" sz="4000" b="1" dirty="0" smtClean="0">
                <a:solidFill>
                  <a:schemeClr val="accent1"/>
                </a:solidFill>
                <a:latin typeface="Cambria" panose="02040503050406030204" pitchFamily="18" charset="0"/>
                <a:ea typeface="Cambria" panose="02040503050406030204" pitchFamily="18" charset="0"/>
              </a:rPr>
              <a:t>Stack</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51384" y="590540"/>
            <a:ext cx="5616624" cy="3846572"/>
          </a:xfrm>
        </p:spPr>
        <p:txBody>
          <a:bodyPr/>
          <a:lstStyle/>
          <a:p>
            <a:pPr algn="just"/>
            <a:r>
              <a:rPr lang="en-GB" dirty="0" smtClean="0">
                <a:latin typeface="Cambria" panose="02040503050406030204" pitchFamily="18" charset="0"/>
                <a:ea typeface="Cambria" panose="02040503050406030204" pitchFamily="18" charset="0"/>
              </a:rPr>
              <a:t>In Java, </a:t>
            </a:r>
            <a:r>
              <a:rPr lang="en-GB" b="1" dirty="0" smtClean="0">
                <a:latin typeface="Cambria" panose="02040503050406030204" pitchFamily="18" charset="0"/>
                <a:ea typeface="Cambria" panose="02040503050406030204" pitchFamily="18" charset="0"/>
              </a:rPr>
              <a:t>Stack</a:t>
            </a:r>
            <a:r>
              <a:rPr lang="en-GB" dirty="0" smtClean="0">
                <a:latin typeface="Cambria" panose="02040503050406030204" pitchFamily="18" charset="0"/>
                <a:ea typeface="Cambria" panose="02040503050406030204" pitchFamily="18" charset="0"/>
              </a:rPr>
              <a:t> is a class that falls under the Collection framework that extends the </a:t>
            </a:r>
            <a:r>
              <a:rPr lang="en-GB" b="1" dirty="0" smtClean="0">
                <a:latin typeface="Cambria" panose="02040503050406030204" pitchFamily="18" charset="0"/>
                <a:ea typeface="Cambria" panose="02040503050406030204" pitchFamily="18" charset="0"/>
              </a:rPr>
              <a:t>Vector</a:t>
            </a:r>
            <a:r>
              <a:rPr lang="en-GB" dirty="0" smtClean="0">
                <a:latin typeface="Cambria" panose="02040503050406030204" pitchFamily="18" charset="0"/>
                <a:ea typeface="Cambria" panose="02040503050406030204" pitchFamily="18" charset="0"/>
              </a:rPr>
              <a:t> class. It also implements interfaces </a:t>
            </a:r>
            <a:r>
              <a:rPr lang="en-GB" b="1" dirty="0" smtClean="0">
                <a:latin typeface="Cambria" panose="02040503050406030204" pitchFamily="18" charset="0"/>
                <a:ea typeface="Cambria" panose="02040503050406030204" pitchFamily="18" charset="0"/>
              </a:rPr>
              <a:t>List, Collection, </a:t>
            </a:r>
            <a:r>
              <a:rPr lang="en-GB" b="1" dirty="0" err="1" smtClean="0">
                <a:latin typeface="Cambria" panose="02040503050406030204" pitchFamily="18" charset="0"/>
                <a:ea typeface="Cambria" panose="02040503050406030204" pitchFamily="18" charset="0"/>
              </a:rPr>
              <a:t>Iterable</a:t>
            </a:r>
            <a:r>
              <a:rPr lang="en-GB" b="1" dirty="0" smtClean="0">
                <a:latin typeface="Cambria" panose="02040503050406030204" pitchFamily="18" charset="0"/>
                <a:ea typeface="Cambria" panose="02040503050406030204" pitchFamily="18" charset="0"/>
              </a:rPr>
              <a:t>, </a:t>
            </a:r>
            <a:r>
              <a:rPr lang="en-GB" b="1" dirty="0" err="1" smtClean="0">
                <a:latin typeface="Cambria" panose="02040503050406030204" pitchFamily="18" charset="0"/>
                <a:ea typeface="Cambria" panose="02040503050406030204" pitchFamily="18" charset="0"/>
              </a:rPr>
              <a:t>Cloneable</a:t>
            </a:r>
            <a:r>
              <a:rPr lang="en-GB" b="1" dirty="0" smtClean="0">
                <a:latin typeface="Cambria" panose="02040503050406030204" pitchFamily="18" charset="0"/>
                <a:ea typeface="Cambria" panose="02040503050406030204" pitchFamily="18" charset="0"/>
              </a:rPr>
              <a:t>, </a:t>
            </a:r>
            <a:r>
              <a:rPr lang="en-GB" b="1" dirty="0" err="1" smtClean="0">
                <a:latin typeface="Cambria" panose="02040503050406030204" pitchFamily="18" charset="0"/>
                <a:ea typeface="Cambria" panose="02040503050406030204" pitchFamily="18" charset="0"/>
              </a:rPr>
              <a:t>Serializable</a:t>
            </a:r>
            <a:r>
              <a:rPr lang="en-GB" b="1" dirty="0" smtClean="0">
                <a:latin typeface="Cambria" panose="02040503050406030204" pitchFamily="18" charset="0"/>
                <a:ea typeface="Cambria" panose="02040503050406030204" pitchFamily="18" charset="0"/>
              </a:rPr>
              <a:t>.</a:t>
            </a:r>
            <a:r>
              <a:rPr lang="en-GB" dirty="0" smtClean="0">
                <a:latin typeface="Cambria" panose="02040503050406030204" pitchFamily="18" charset="0"/>
                <a:ea typeface="Cambria" panose="02040503050406030204" pitchFamily="18" charset="0"/>
              </a:rPr>
              <a:t> It represents the LIFO stack of objects. Before using the Stack class, we must import the </a:t>
            </a:r>
            <a:r>
              <a:rPr lang="en-GB" dirty="0" err="1" smtClean="0">
                <a:latin typeface="Cambria" panose="02040503050406030204" pitchFamily="18" charset="0"/>
                <a:ea typeface="Cambria" panose="02040503050406030204" pitchFamily="18" charset="0"/>
              </a:rPr>
              <a:t>java.util</a:t>
            </a:r>
            <a:r>
              <a:rPr lang="en-GB" dirty="0" smtClean="0">
                <a:latin typeface="Cambria" panose="02040503050406030204" pitchFamily="18" charset="0"/>
                <a:ea typeface="Cambria" panose="02040503050406030204" pitchFamily="18" charset="0"/>
              </a:rPr>
              <a:t> package. </a:t>
            </a: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26</a:t>
            </a:fld>
            <a:endParaRPr lang="en-US" altLang="en-US">
              <a:latin typeface="Cambria" panose="02040503050406030204" pitchFamily="18" charset="0"/>
              <a:ea typeface="Cambria" panose="02040503050406030204" pitchFamily="18" charset="0"/>
            </a:endParaRPr>
          </a:p>
        </p:txBody>
      </p:sp>
      <p:pic>
        <p:nvPicPr>
          <p:cNvPr id="5" name="Picture 4" descr="Java Stack"/>
          <p:cNvPicPr/>
          <p:nvPr/>
        </p:nvPicPr>
        <p:blipFill>
          <a:blip r:embed="rId2"/>
          <a:srcRect/>
          <a:stretch>
            <a:fillRect/>
          </a:stretch>
        </p:blipFill>
        <p:spPr bwMode="auto">
          <a:xfrm>
            <a:off x="7032104" y="767382"/>
            <a:ext cx="4105281" cy="3105153"/>
          </a:xfrm>
          <a:prstGeom prst="rect">
            <a:avLst/>
          </a:prstGeom>
          <a:noFill/>
          <a:ln w="9525">
            <a:noFill/>
            <a:miter lim="800000"/>
            <a:headEnd/>
            <a:tailEnd/>
          </a:ln>
        </p:spPr>
      </p:pic>
    </p:spTree>
    <p:extLst>
      <p:ext uri="{BB962C8B-B14F-4D97-AF65-F5344CB8AC3E}">
        <p14:creationId xmlns:p14="http://schemas.microsoft.com/office/powerpoint/2010/main" val="105123251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16632"/>
            <a:ext cx="4033664" cy="543595"/>
          </a:xfrm>
        </p:spPr>
        <p:txBody>
          <a:bodyPr/>
          <a:lstStyle/>
          <a:p>
            <a:r>
              <a:rPr lang="en-GB" b="1" dirty="0" smtClean="0">
                <a:solidFill>
                  <a:schemeClr val="accent1"/>
                </a:solidFill>
                <a:latin typeface="Cambria" panose="02040503050406030204" pitchFamily="18" charset="0"/>
                <a:ea typeface="Cambria" panose="02040503050406030204" pitchFamily="18" charset="0"/>
              </a:rPr>
              <a:t>Example</a:t>
            </a:r>
            <a:endParaRPr lang="en-US"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279576" y="694812"/>
            <a:ext cx="7490048" cy="4424957"/>
          </a:xfrm>
        </p:spPr>
        <p:txBody>
          <a:bodyPr/>
          <a:lstStyle/>
          <a:p>
            <a:pPr>
              <a:buNone/>
            </a:pPr>
            <a:r>
              <a:rPr lang="en-US" sz="2000" dirty="0" smtClean="0">
                <a:latin typeface="Cambria" panose="02040503050406030204" pitchFamily="18" charset="0"/>
                <a:ea typeface="Cambria" panose="02040503050406030204" pitchFamily="18" charset="0"/>
              </a:rPr>
              <a:t>import </a:t>
            </a:r>
            <a:r>
              <a:rPr lang="en-US" sz="2000" dirty="0" err="1" smtClean="0">
                <a:latin typeface="Cambria" panose="02040503050406030204" pitchFamily="18" charset="0"/>
                <a:ea typeface="Cambria" panose="02040503050406030204" pitchFamily="18" charset="0"/>
              </a:rPr>
              <a:t>java.util.Stack</a:t>
            </a:r>
            <a:r>
              <a:rPr lang="en-US" sz="2000" dirty="0" smtClean="0">
                <a:latin typeface="Cambria" panose="02040503050406030204" pitchFamily="18" charset="0"/>
                <a:ea typeface="Cambria" panose="02040503050406030204" pitchFamily="18" charset="0"/>
              </a:rPr>
              <a:t>; </a:t>
            </a:r>
          </a:p>
          <a:p>
            <a:pPr>
              <a:buNone/>
            </a:pPr>
            <a:r>
              <a:rPr lang="en-US" sz="2000" dirty="0" smtClean="0">
                <a:latin typeface="Cambria" panose="02040503050406030204" pitchFamily="18" charset="0"/>
                <a:ea typeface="Cambria" panose="02040503050406030204" pitchFamily="18" charset="0"/>
              </a:rPr>
              <a:t>class Main { public static void main(String[] </a:t>
            </a:r>
            <a:r>
              <a:rPr lang="en-US" sz="2000" dirty="0" err="1" smtClean="0">
                <a:latin typeface="Cambria" panose="02040503050406030204" pitchFamily="18" charset="0"/>
                <a:ea typeface="Cambria" panose="02040503050406030204" pitchFamily="18" charset="0"/>
              </a:rPr>
              <a:t>args</a:t>
            </a:r>
            <a:r>
              <a:rPr lang="en-US" sz="2000" dirty="0" smtClean="0">
                <a:latin typeface="Cambria" panose="02040503050406030204" pitchFamily="18" charset="0"/>
                <a:ea typeface="Cambria" panose="02040503050406030204" pitchFamily="18" charset="0"/>
              </a:rPr>
              <a:t>) {</a:t>
            </a:r>
          </a:p>
          <a:p>
            <a:pPr>
              <a:buNone/>
            </a:pPr>
            <a:r>
              <a:rPr lang="en-US" sz="2000" dirty="0" smtClean="0">
                <a:latin typeface="Cambria" panose="02040503050406030204" pitchFamily="18" charset="0"/>
                <a:ea typeface="Cambria" panose="02040503050406030204" pitchFamily="18" charset="0"/>
              </a:rPr>
              <a:t>        Stack&lt;String&gt; animals= new Stack&lt;String&gt;();  </a:t>
            </a:r>
          </a:p>
          <a:p>
            <a:pPr>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animals.push</a:t>
            </a:r>
            <a:r>
              <a:rPr lang="en-US" sz="2000" dirty="0" smtClean="0">
                <a:latin typeface="Cambria" panose="02040503050406030204" pitchFamily="18" charset="0"/>
                <a:ea typeface="Cambria" panose="02040503050406030204" pitchFamily="18" charset="0"/>
              </a:rPr>
              <a:t>("Dog"); </a:t>
            </a:r>
          </a:p>
          <a:p>
            <a:pPr>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animals.push</a:t>
            </a:r>
            <a:r>
              <a:rPr lang="en-US" sz="2000" dirty="0" smtClean="0">
                <a:latin typeface="Cambria" panose="02040503050406030204" pitchFamily="18" charset="0"/>
                <a:ea typeface="Cambria" panose="02040503050406030204" pitchFamily="18" charset="0"/>
              </a:rPr>
              <a:t>("Horse"); </a:t>
            </a:r>
          </a:p>
          <a:p>
            <a:pPr>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animals.push</a:t>
            </a:r>
            <a:r>
              <a:rPr lang="en-US" sz="2000" dirty="0" smtClean="0">
                <a:latin typeface="Cambria" panose="02040503050406030204" pitchFamily="18" charset="0"/>
                <a:ea typeface="Cambria" panose="02040503050406030204" pitchFamily="18" charset="0"/>
              </a:rPr>
              <a:t>("Cat"); </a:t>
            </a:r>
          </a:p>
          <a:p>
            <a:pPr>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System.out.println</a:t>
            </a:r>
            <a:r>
              <a:rPr lang="en-US" sz="2000" dirty="0" smtClean="0">
                <a:latin typeface="Cambria" panose="02040503050406030204" pitchFamily="18" charset="0"/>
                <a:ea typeface="Cambria" panose="02040503050406030204" pitchFamily="18" charset="0"/>
              </a:rPr>
              <a:t>("Initial Stack: " + animals);   </a:t>
            </a:r>
          </a:p>
          <a:p>
            <a:pPr>
              <a:buNone/>
            </a:pPr>
            <a:r>
              <a:rPr lang="en-US" sz="2000" dirty="0" smtClean="0">
                <a:latin typeface="Cambria" panose="02040503050406030204" pitchFamily="18" charset="0"/>
                <a:ea typeface="Cambria" panose="02040503050406030204" pitchFamily="18" charset="0"/>
              </a:rPr>
              <a:t>      String element = animals.pop(); </a:t>
            </a:r>
          </a:p>
          <a:p>
            <a:pPr>
              <a:buNone/>
            </a:pPr>
            <a:r>
              <a:rPr lang="en-US" sz="2000" dirty="0" err="1" smtClean="0">
                <a:latin typeface="Cambria" panose="02040503050406030204" pitchFamily="18" charset="0"/>
                <a:ea typeface="Cambria" panose="02040503050406030204" pitchFamily="18" charset="0"/>
              </a:rPr>
              <a:t>System.out.println</a:t>
            </a:r>
            <a:r>
              <a:rPr lang="en-US" sz="2000" dirty="0" smtClean="0">
                <a:latin typeface="Cambria" panose="02040503050406030204" pitchFamily="18" charset="0"/>
                <a:ea typeface="Cambria" panose="02040503050406030204" pitchFamily="18" charset="0"/>
              </a:rPr>
              <a:t>("Removed Element: " + element);</a:t>
            </a:r>
          </a:p>
          <a:p>
            <a:pPr>
              <a:buNone/>
            </a:pPr>
            <a:r>
              <a:rPr lang="en-US" sz="2000" dirty="0" smtClean="0">
                <a:latin typeface="Cambria" panose="02040503050406030204" pitchFamily="18" charset="0"/>
                <a:ea typeface="Cambria" panose="02040503050406030204" pitchFamily="18" charset="0"/>
              </a:rPr>
              <a:t> }</a:t>
            </a:r>
          </a:p>
          <a:p>
            <a:pPr>
              <a:buNone/>
            </a:pPr>
            <a:r>
              <a:rPr lang="en-US" sz="2000" dirty="0" smtClean="0">
                <a:latin typeface="Cambria" panose="02040503050406030204" pitchFamily="18" charset="0"/>
                <a:ea typeface="Cambria" panose="02040503050406030204" pitchFamily="18" charset="0"/>
              </a:rPr>
              <a:t> }</a:t>
            </a: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27</a:t>
            </a:fld>
            <a:endParaRPr lang="en-US" alt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45562678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16632"/>
            <a:ext cx="2521496" cy="615603"/>
          </a:xfrm>
        </p:spPr>
        <p:txBody>
          <a:bodyPr/>
          <a:lstStyle/>
          <a:p>
            <a:r>
              <a:rPr lang="en-GB" b="1" dirty="0" smtClean="0">
                <a:solidFill>
                  <a:schemeClr val="accent1"/>
                </a:solidFill>
                <a:latin typeface="Cambria" panose="02040503050406030204" pitchFamily="18" charset="0"/>
                <a:ea typeface="Cambria" panose="02040503050406030204" pitchFamily="18" charset="0"/>
              </a:rPr>
              <a:t>Queue</a:t>
            </a:r>
            <a:endParaRPr lang="en-US"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91344" y="908720"/>
            <a:ext cx="5046322" cy="4478435"/>
          </a:xfrm>
        </p:spPr>
        <p:txBody>
          <a:bodyPr/>
          <a:lstStyle/>
          <a:p>
            <a:pPr marL="0" indent="0" algn="just">
              <a:buNone/>
            </a:pPr>
            <a:r>
              <a:rPr lang="en-GB" sz="2400" dirty="0" smtClean="0">
                <a:latin typeface="Cambria" panose="02040503050406030204" pitchFamily="18" charset="0"/>
                <a:ea typeface="Cambria" panose="02040503050406030204" pitchFamily="18" charset="0"/>
              </a:rPr>
              <a:t>Queue is used to hold the elements about to be processed in FIFO(First In First Out) order. It is an ordered list of objects with its use limited to inserting elements at the end of the list and deleting elements from the start of the list, (i.e.), it follows the </a:t>
            </a:r>
            <a:r>
              <a:rPr lang="en-GB" sz="2400" b="1" dirty="0" smtClean="0">
                <a:latin typeface="Cambria" panose="02040503050406030204" pitchFamily="18" charset="0"/>
                <a:ea typeface="Cambria" panose="02040503050406030204" pitchFamily="18" charset="0"/>
              </a:rPr>
              <a:t>FIFO</a:t>
            </a:r>
            <a:r>
              <a:rPr lang="en-GB" sz="2400" dirty="0" smtClean="0">
                <a:latin typeface="Cambria" panose="02040503050406030204" pitchFamily="18" charset="0"/>
                <a:ea typeface="Cambria" panose="02040503050406030204" pitchFamily="18" charset="0"/>
              </a:rPr>
              <a:t> or the First-In-First-Out principle.</a:t>
            </a:r>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28</a:t>
            </a:fld>
            <a:endParaRPr lang="en-US" altLang="en-US">
              <a:latin typeface="Cambria" panose="02040503050406030204" pitchFamily="18" charset="0"/>
              <a:ea typeface="Cambria" panose="02040503050406030204" pitchFamily="18" charset="0"/>
            </a:endParaRPr>
          </a:p>
        </p:txBody>
      </p:sp>
      <p:pic>
        <p:nvPicPr>
          <p:cNvPr id="5" name="Picture 4" descr="Queue-Deque-PriorityQueue-In-Java"/>
          <p:cNvPicPr/>
          <p:nvPr/>
        </p:nvPicPr>
        <p:blipFill>
          <a:blip r:embed="rId2"/>
          <a:srcRect/>
          <a:stretch>
            <a:fillRect/>
          </a:stretch>
        </p:blipFill>
        <p:spPr bwMode="auto">
          <a:xfrm>
            <a:off x="5497361" y="742633"/>
            <a:ext cx="6607200" cy="4478435"/>
          </a:xfrm>
          <a:prstGeom prst="rect">
            <a:avLst/>
          </a:prstGeom>
          <a:noFill/>
          <a:ln w="9525">
            <a:noFill/>
            <a:miter lim="800000"/>
            <a:headEnd/>
            <a:tailEnd/>
          </a:ln>
        </p:spPr>
      </p:pic>
    </p:spTree>
    <p:extLst>
      <p:ext uri="{BB962C8B-B14F-4D97-AF65-F5344CB8AC3E}">
        <p14:creationId xmlns:p14="http://schemas.microsoft.com/office/powerpoint/2010/main" val="295299623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0"/>
            <a:ext cx="2768189" cy="662782"/>
          </a:xfrm>
        </p:spPr>
        <p:txBody>
          <a:bodyPr/>
          <a:lstStyle/>
          <a:p>
            <a:r>
              <a:rPr lang="en-GB" sz="4000" b="1" dirty="0" smtClean="0">
                <a:solidFill>
                  <a:schemeClr val="accent1"/>
                </a:solidFill>
                <a:latin typeface="Cambria" panose="02040503050406030204" pitchFamily="18" charset="0"/>
                <a:ea typeface="Cambria" panose="02040503050406030204" pitchFamily="18" charset="0"/>
              </a:rPr>
              <a:t>Example</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18955" y="662782"/>
            <a:ext cx="5977045" cy="5070474"/>
          </a:xfrm>
        </p:spPr>
        <p:txBody>
          <a:bodyPr/>
          <a:lstStyle/>
          <a:p>
            <a:pPr>
              <a:spcBef>
                <a:spcPts val="0"/>
              </a:spcBef>
              <a:buNone/>
            </a:pPr>
            <a:r>
              <a:rPr lang="en-US" sz="2000" dirty="0" smtClean="0">
                <a:latin typeface="Cambria" panose="02040503050406030204" pitchFamily="18" charset="0"/>
                <a:ea typeface="Cambria" panose="02040503050406030204" pitchFamily="18" charset="0"/>
              </a:rPr>
              <a:t>import </a:t>
            </a:r>
            <a:r>
              <a:rPr lang="en-US" sz="2000" dirty="0" err="1" smtClean="0">
                <a:latin typeface="Cambria" panose="02040503050406030204" pitchFamily="18" charset="0"/>
                <a:ea typeface="Cambria" panose="02040503050406030204" pitchFamily="18" charset="0"/>
              </a:rPr>
              <a:t>java.util.LinkedList</a:t>
            </a:r>
            <a:r>
              <a:rPr lang="en-US" sz="2000" dirty="0" smtClean="0">
                <a:latin typeface="Cambria" panose="02040503050406030204" pitchFamily="18" charset="0"/>
                <a:ea typeface="Cambria" panose="02040503050406030204" pitchFamily="18" charset="0"/>
              </a:rPr>
              <a:t>;</a:t>
            </a:r>
          </a:p>
          <a:p>
            <a:pPr>
              <a:spcBef>
                <a:spcPts val="0"/>
              </a:spcBef>
              <a:buNone/>
            </a:pPr>
            <a:r>
              <a:rPr lang="en-US" sz="2000" dirty="0" smtClean="0">
                <a:latin typeface="Cambria" panose="02040503050406030204" pitchFamily="18" charset="0"/>
                <a:ea typeface="Cambria" panose="02040503050406030204" pitchFamily="18" charset="0"/>
              </a:rPr>
              <a:t>import java.util.Queue; </a:t>
            </a:r>
          </a:p>
          <a:p>
            <a:pPr>
              <a:spcBef>
                <a:spcPts val="0"/>
              </a:spcBef>
              <a:buNone/>
            </a:pPr>
            <a:r>
              <a:rPr lang="en-US" sz="2000" dirty="0" smtClean="0">
                <a:latin typeface="Cambria" panose="02040503050406030204" pitchFamily="18" charset="0"/>
                <a:ea typeface="Cambria" panose="02040503050406030204" pitchFamily="18" charset="0"/>
              </a:rPr>
              <a:t>public class </a:t>
            </a:r>
            <a:r>
              <a:rPr lang="en-US" sz="2000" dirty="0" err="1" smtClean="0">
                <a:latin typeface="Cambria" panose="02040503050406030204" pitchFamily="18" charset="0"/>
                <a:ea typeface="Cambria" panose="02040503050406030204" pitchFamily="18" charset="0"/>
              </a:rPr>
              <a:t>QueueExample</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public static void main(String[] args) {</a:t>
            </a:r>
          </a:p>
          <a:p>
            <a:pPr>
              <a:spcBef>
                <a:spcPts val="0"/>
              </a:spcBef>
              <a:buNone/>
            </a:pPr>
            <a:endParaRPr lang="en-US" sz="2000" dirty="0" smtClean="0">
              <a:latin typeface="Cambria" panose="02040503050406030204" pitchFamily="18" charset="0"/>
              <a:ea typeface="Cambria" panose="02040503050406030204" pitchFamily="18" charset="0"/>
            </a:endParaRPr>
          </a:p>
          <a:p>
            <a:pPr>
              <a:spcBef>
                <a:spcPts val="0"/>
              </a:spcBef>
              <a:buNone/>
            </a:pPr>
            <a:r>
              <a:rPr lang="en-US" sz="2000" dirty="0" smtClean="0">
                <a:latin typeface="Cambria" panose="02040503050406030204" pitchFamily="18" charset="0"/>
                <a:ea typeface="Cambria" panose="02040503050406030204" pitchFamily="18" charset="0"/>
              </a:rPr>
              <a:t>        Queue&lt;String&gt; queue = new </a:t>
            </a:r>
            <a:r>
              <a:rPr lang="en-US" sz="2000" dirty="0" err="1" smtClean="0">
                <a:latin typeface="Cambria" panose="02040503050406030204" pitchFamily="18" charset="0"/>
                <a:ea typeface="Cambria" panose="02040503050406030204" pitchFamily="18" charset="0"/>
              </a:rPr>
              <a:t>LinkedList</a:t>
            </a:r>
            <a:r>
              <a:rPr lang="en-US" sz="2000" dirty="0" smtClean="0">
                <a:latin typeface="Cambria" panose="02040503050406030204" pitchFamily="18" charset="0"/>
                <a:ea typeface="Cambria" panose="02040503050406030204" pitchFamily="18" charset="0"/>
              </a:rPr>
              <a:t>&lt;&gt;();</a:t>
            </a:r>
          </a:p>
          <a:p>
            <a:pPr>
              <a:spcBef>
                <a:spcPts val="0"/>
              </a:spcBef>
              <a:buNone/>
            </a:pPr>
            <a:r>
              <a:rPr lang="en-US" sz="2000" dirty="0" smtClean="0">
                <a:latin typeface="Cambria" panose="02040503050406030204" pitchFamily="18" charset="0"/>
                <a:ea typeface="Cambria" panose="02040503050406030204" pitchFamily="18" charset="0"/>
              </a:rPr>
              <a:t>         // add elements to the queue</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queue.add</a:t>
            </a:r>
            <a:r>
              <a:rPr lang="en-US" sz="2000" dirty="0" smtClean="0">
                <a:latin typeface="Cambria" panose="02040503050406030204" pitchFamily="18" charset="0"/>
                <a:ea typeface="Cambria" panose="02040503050406030204" pitchFamily="18" charset="0"/>
              </a:rPr>
              <a:t>("apple");</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queue.add</a:t>
            </a:r>
            <a:r>
              <a:rPr lang="en-US" sz="2000" dirty="0" smtClean="0">
                <a:latin typeface="Cambria" panose="02040503050406030204" pitchFamily="18" charset="0"/>
                <a:ea typeface="Cambria" panose="02040503050406030204" pitchFamily="18" charset="0"/>
              </a:rPr>
              <a:t>("banana");</a:t>
            </a:r>
          </a:p>
          <a:p>
            <a:pPr>
              <a:spcBef>
                <a:spcPts val="0"/>
              </a:spcBef>
              <a:buNone/>
            </a:pPr>
            <a:r>
              <a:rPr lang="en-US" sz="2000" dirty="0" smtClean="0">
                <a:latin typeface="Cambria" panose="02040503050406030204" pitchFamily="18" charset="0"/>
                <a:ea typeface="Cambria" panose="02040503050406030204" pitchFamily="18" charset="0"/>
              </a:rPr>
              <a:t>        queue.add("cherry");</a:t>
            </a:r>
          </a:p>
          <a:p>
            <a:pPr>
              <a:spcBef>
                <a:spcPts val="0"/>
              </a:spcBef>
              <a:buNone/>
            </a:pPr>
            <a:endParaRPr lang="en-US" sz="2000" dirty="0" smtClean="0">
              <a:latin typeface="Cambria" panose="02040503050406030204" pitchFamily="18" charset="0"/>
              <a:ea typeface="Cambria" panose="02040503050406030204" pitchFamily="18" charset="0"/>
            </a:endParaRPr>
          </a:p>
          <a:p>
            <a:pPr>
              <a:spcBef>
                <a:spcPts val="0"/>
              </a:spcBef>
              <a:buNone/>
            </a:pPr>
            <a:r>
              <a:rPr lang="en-US" sz="2000" dirty="0" smtClean="0">
                <a:latin typeface="Cambria" panose="02040503050406030204" pitchFamily="18" charset="0"/>
                <a:ea typeface="Cambria" panose="02040503050406030204" pitchFamily="18" charset="0"/>
              </a:rPr>
              <a:t>         // print the queue</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System.out.println</a:t>
            </a:r>
            <a:r>
              <a:rPr lang="en-US" sz="2000" dirty="0" smtClean="0">
                <a:latin typeface="Cambria" panose="02040503050406030204" pitchFamily="18" charset="0"/>
                <a:ea typeface="Cambria" panose="02040503050406030204" pitchFamily="18" charset="0"/>
              </a:rPr>
              <a:t>("Queue: " + queue);</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 remove the element at the front of the queue</a:t>
            </a:r>
          </a:p>
          <a:p>
            <a:pPr>
              <a:spcBef>
                <a:spcPts val="0"/>
              </a:spcBef>
              <a:buNone/>
            </a:pPr>
            <a:r>
              <a:rPr lang="en-US" sz="2000" dirty="0" smtClean="0">
                <a:latin typeface="Cambria" panose="02040503050406030204" pitchFamily="18" charset="0"/>
                <a:ea typeface="Cambria" panose="02040503050406030204" pitchFamily="18" charset="0"/>
              </a:rPr>
              <a:t>        String front = </a:t>
            </a:r>
            <a:r>
              <a:rPr lang="en-US" sz="2000" dirty="0" err="1" smtClean="0">
                <a:latin typeface="Cambria" panose="02040503050406030204" pitchFamily="18" charset="0"/>
                <a:ea typeface="Cambria" panose="02040503050406030204" pitchFamily="18" charset="0"/>
              </a:rPr>
              <a:t>queue.remove</a:t>
            </a:r>
            <a:r>
              <a:rPr lang="en-US" sz="2000" dirty="0" smtClean="0">
                <a:latin typeface="Cambria" panose="02040503050406030204" pitchFamily="18" charset="0"/>
                <a:ea typeface="Cambria" panose="02040503050406030204" pitchFamily="18" charset="0"/>
              </a:rPr>
              <a:t>();</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System.out.println</a:t>
            </a:r>
            <a:r>
              <a:rPr lang="en-US" sz="2000" dirty="0" smtClean="0">
                <a:latin typeface="Cambria" panose="02040503050406030204" pitchFamily="18" charset="0"/>
                <a:ea typeface="Cambria" panose="02040503050406030204" pitchFamily="18" charset="0"/>
              </a:rPr>
              <a:t>("Removed element: " + front);</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29</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6096000" y="188640"/>
            <a:ext cx="5832648" cy="4247317"/>
          </a:xfrm>
          <a:prstGeom prst="rect">
            <a:avLst/>
          </a:prstGeom>
        </p:spPr>
        <p:txBody>
          <a:bodyPr wrap="square">
            <a:spAutoFit/>
          </a:bodyPr>
          <a:lstStyle/>
          <a:p>
            <a:pPr>
              <a:spcBef>
                <a:spcPts val="0"/>
              </a:spcBef>
              <a:buNone/>
            </a:pPr>
            <a:r>
              <a:rPr lang="en-US" dirty="0">
                <a:latin typeface="Cambria" panose="02040503050406030204" pitchFamily="18" charset="0"/>
                <a:ea typeface="Cambria" panose="02040503050406030204" pitchFamily="18" charset="0"/>
              </a:rPr>
              <a:t>// print the updated queue</a:t>
            </a:r>
          </a:p>
          <a:p>
            <a:pPr>
              <a:spcBef>
                <a:spcPts val="0"/>
              </a:spcBef>
              <a:buNone/>
            </a:pPr>
            <a:r>
              <a:rPr lang="en-US" dirty="0">
                <a:latin typeface="Cambria" panose="02040503050406030204" pitchFamily="18" charset="0"/>
                <a:ea typeface="Cambria" panose="02040503050406030204" pitchFamily="18" charset="0"/>
              </a:rPr>
              <a:t>        System.out.println("Queue after removal: " + queue);</a:t>
            </a:r>
          </a:p>
          <a:p>
            <a:pPr>
              <a:spcBef>
                <a:spcPts val="0"/>
              </a:spcBef>
              <a:buNone/>
            </a:pPr>
            <a:r>
              <a:rPr lang="en-US" dirty="0">
                <a:latin typeface="Cambria" panose="02040503050406030204" pitchFamily="18" charset="0"/>
                <a:ea typeface="Cambria" panose="02040503050406030204" pitchFamily="18" charset="0"/>
              </a:rPr>
              <a:t> </a:t>
            </a:r>
          </a:p>
          <a:p>
            <a:pPr>
              <a:spcBef>
                <a:spcPts val="0"/>
              </a:spcBef>
              <a:buNone/>
            </a:pPr>
            <a:r>
              <a:rPr lang="en-US" dirty="0">
                <a:latin typeface="Cambria" panose="02040503050406030204" pitchFamily="18" charset="0"/>
                <a:ea typeface="Cambria" panose="02040503050406030204" pitchFamily="18" charset="0"/>
              </a:rPr>
              <a:t>        // add another element to the queue</a:t>
            </a:r>
          </a:p>
          <a:p>
            <a:pPr>
              <a:spcBef>
                <a:spcPts val="0"/>
              </a:spcBef>
              <a:buNone/>
            </a:pPr>
            <a:r>
              <a:rPr lang="en-US" dirty="0">
                <a:latin typeface="Cambria" panose="02040503050406030204" pitchFamily="18" charset="0"/>
                <a:ea typeface="Cambria" panose="02040503050406030204" pitchFamily="18" charset="0"/>
              </a:rPr>
              <a:t>        queue.add("date");</a:t>
            </a:r>
          </a:p>
          <a:p>
            <a:pPr>
              <a:spcBef>
                <a:spcPts val="0"/>
              </a:spcBef>
              <a:buNone/>
            </a:pPr>
            <a:r>
              <a:rPr lang="en-US" dirty="0">
                <a:latin typeface="Cambria" panose="02040503050406030204" pitchFamily="18" charset="0"/>
                <a:ea typeface="Cambria" panose="02040503050406030204" pitchFamily="18" charset="0"/>
              </a:rPr>
              <a:t> </a:t>
            </a:r>
          </a:p>
          <a:p>
            <a:pPr>
              <a:spcBef>
                <a:spcPts val="0"/>
              </a:spcBef>
              <a:buNone/>
            </a:pPr>
            <a:r>
              <a:rPr lang="en-US" dirty="0">
                <a:latin typeface="Cambria" panose="02040503050406030204" pitchFamily="18" charset="0"/>
                <a:ea typeface="Cambria" panose="02040503050406030204" pitchFamily="18" charset="0"/>
              </a:rPr>
              <a:t>        // peek at the element at the front of the queue</a:t>
            </a:r>
          </a:p>
          <a:p>
            <a:pPr>
              <a:spcBef>
                <a:spcPts val="0"/>
              </a:spcBef>
              <a:buNone/>
            </a:pPr>
            <a:r>
              <a:rPr lang="en-US" dirty="0">
                <a:latin typeface="Cambria" panose="02040503050406030204" pitchFamily="18" charset="0"/>
                <a:ea typeface="Cambria" panose="02040503050406030204" pitchFamily="18" charset="0"/>
              </a:rPr>
              <a:t>        String peeked = queue.peek();</a:t>
            </a:r>
          </a:p>
          <a:p>
            <a:pPr>
              <a:spcBef>
                <a:spcPts val="0"/>
              </a:spcBef>
              <a:buNone/>
            </a:pPr>
            <a:r>
              <a:rPr lang="en-US" dirty="0">
                <a:latin typeface="Cambria" panose="02040503050406030204" pitchFamily="18" charset="0"/>
                <a:ea typeface="Cambria" panose="02040503050406030204" pitchFamily="18" charset="0"/>
              </a:rPr>
              <a:t>        System.out.println("Peeked element: " + peeked);</a:t>
            </a:r>
          </a:p>
          <a:p>
            <a:pPr>
              <a:spcBef>
                <a:spcPts val="0"/>
              </a:spcBef>
              <a:buNone/>
            </a:pPr>
            <a:r>
              <a:rPr lang="en-US" dirty="0">
                <a:latin typeface="Cambria" panose="02040503050406030204" pitchFamily="18" charset="0"/>
                <a:ea typeface="Cambria" panose="02040503050406030204" pitchFamily="18" charset="0"/>
              </a:rPr>
              <a:t> </a:t>
            </a:r>
          </a:p>
          <a:p>
            <a:pPr>
              <a:spcBef>
                <a:spcPts val="0"/>
              </a:spcBef>
              <a:buNone/>
            </a:pPr>
            <a:r>
              <a:rPr lang="en-US" dirty="0">
                <a:latin typeface="Cambria" panose="02040503050406030204" pitchFamily="18" charset="0"/>
                <a:ea typeface="Cambria" panose="02040503050406030204" pitchFamily="18" charset="0"/>
              </a:rPr>
              <a:t>        // print the updated queue</a:t>
            </a:r>
          </a:p>
          <a:p>
            <a:pPr>
              <a:spcBef>
                <a:spcPts val="0"/>
              </a:spcBef>
              <a:buNone/>
            </a:pPr>
            <a:r>
              <a:rPr lang="en-US" dirty="0">
                <a:latin typeface="Cambria" panose="02040503050406030204" pitchFamily="18" charset="0"/>
                <a:ea typeface="Cambria" panose="02040503050406030204" pitchFamily="18" charset="0"/>
              </a:rPr>
              <a:t>        System.out.println("Queue after peek: " + queue);</a:t>
            </a:r>
          </a:p>
          <a:p>
            <a:pPr>
              <a:spcBef>
                <a:spcPts val="0"/>
              </a:spcBef>
              <a:buNone/>
            </a:pPr>
            <a:r>
              <a:rPr lang="en-US" dirty="0">
                <a:latin typeface="Cambria" panose="02040503050406030204" pitchFamily="18" charset="0"/>
                <a:ea typeface="Cambria" panose="02040503050406030204" pitchFamily="18" charset="0"/>
              </a:rPr>
              <a:t>    }</a:t>
            </a:r>
          </a:p>
          <a:p>
            <a:pPr>
              <a:spcBef>
                <a:spcPts val="0"/>
              </a:spcBef>
              <a:buNone/>
            </a:pPr>
            <a:r>
              <a:rPr lang="en-US" dirty="0">
                <a:latin typeface="Cambria" panose="02040503050406030204" pitchFamily="18" charset="0"/>
                <a:ea typeface="Cambria" panose="02040503050406030204" pitchFamily="18" charset="0"/>
              </a:rPr>
              <a:t>}</a:t>
            </a:r>
          </a:p>
          <a:p>
            <a:pPr>
              <a:spcBef>
                <a:spcPts val="0"/>
              </a:spcBef>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0012293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0"/>
            <a:ext cx="5616624" cy="543595"/>
          </a:xfrm>
        </p:spPr>
        <p:txBody>
          <a:bodyPr/>
          <a:lstStyle/>
          <a:p>
            <a:r>
              <a:rPr lang="en-US" sz="4000" b="1" dirty="0" smtClean="0">
                <a:solidFill>
                  <a:schemeClr val="accent1"/>
                </a:solidFill>
                <a:latin typeface="Cambria" panose="02040503050406030204" pitchFamily="18" charset="0"/>
                <a:ea typeface="Cambria" panose="02040503050406030204" pitchFamily="18" charset="0"/>
              </a:rPr>
              <a:t>Java LinkedList class</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8486" y="697011"/>
            <a:ext cx="8167754" cy="4891103"/>
          </a:xfrm>
        </p:spPr>
        <p:txBody>
          <a:bodyPr/>
          <a:lstStyle/>
          <a:p>
            <a:pPr algn="just"/>
            <a:r>
              <a:rPr lang="en-GB" sz="2400" dirty="0" smtClean="0">
                <a:latin typeface="Cambria" panose="02040503050406030204" pitchFamily="18" charset="0"/>
                <a:ea typeface="Cambria" panose="02040503050406030204" pitchFamily="18" charset="0"/>
              </a:rPr>
              <a:t>Java </a:t>
            </a:r>
            <a:r>
              <a:rPr lang="en-GB" sz="2400" dirty="0" err="1" smtClean="0">
                <a:latin typeface="Cambria" panose="02040503050406030204" pitchFamily="18" charset="0"/>
                <a:ea typeface="Cambria" panose="02040503050406030204" pitchFamily="18" charset="0"/>
              </a:rPr>
              <a:t>LinkedList</a:t>
            </a:r>
            <a:r>
              <a:rPr lang="en-GB" sz="2400" dirty="0" smtClean="0">
                <a:latin typeface="Cambria" panose="02040503050406030204" pitchFamily="18" charset="0"/>
                <a:ea typeface="Cambria" panose="02040503050406030204" pitchFamily="18" charset="0"/>
              </a:rPr>
              <a:t> class uses a doubly linked list to store the elements. It provides a linked-list data structure. It inherits the </a:t>
            </a:r>
            <a:r>
              <a:rPr lang="en-GB" sz="2400" dirty="0" err="1" smtClean="0">
                <a:latin typeface="Cambria" panose="02040503050406030204" pitchFamily="18" charset="0"/>
                <a:ea typeface="Cambria" panose="02040503050406030204" pitchFamily="18" charset="0"/>
              </a:rPr>
              <a:t>AbstractList</a:t>
            </a:r>
            <a:r>
              <a:rPr lang="en-GB" sz="2400" dirty="0" smtClean="0">
                <a:latin typeface="Cambria" panose="02040503050406030204" pitchFamily="18" charset="0"/>
                <a:ea typeface="Cambria" panose="02040503050406030204" pitchFamily="18" charset="0"/>
              </a:rPr>
              <a:t> class and implements List and </a:t>
            </a:r>
            <a:r>
              <a:rPr lang="en-GB" sz="2400" dirty="0" err="1" smtClean="0">
                <a:latin typeface="Cambria" panose="02040503050406030204" pitchFamily="18" charset="0"/>
                <a:ea typeface="Cambria" panose="02040503050406030204" pitchFamily="18" charset="0"/>
              </a:rPr>
              <a:t>Deque</a:t>
            </a:r>
            <a:r>
              <a:rPr lang="en-GB" sz="2400" dirty="0" smtClean="0">
                <a:latin typeface="Cambria" panose="02040503050406030204" pitchFamily="18" charset="0"/>
                <a:ea typeface="Cambria" panose="02040503050406030204" pitchFamily="18" charset="0"/>
              </a:rPr>
              <a:t> interfaces.</a:t>
            </a:r>
          </a:p>
          <a:p>
            <a:pPr algn="just"/>
            <a:r>
              <a:rPr lang="en-GB" sz="2400" dirty="0" smtClean="0">
                <a:latin typeface="Cambria" panose="02040503050406030204" pitchFamily="18" charset="0"/>
                <a:ea typeface="Cambria" panose="02040503050406030204" pitchFamily="18" charset="0"/>
              </a:rPr>
              <a:t>The important points about Java </a:t>
            </a:r>
            <a:r>
              <a:rPr lang="en-GB" sz="2400" dirty="0" err="1" smtClean="0">
                <a:latin typeface="Cambria" panose="02040503050406030204" pitchFamily="18" charset="0"/>
                <a:ea typeface="Cambria" panose="02040503050406030204" pitchFamily="18" charset="0"/>
              </a:rPr>
              <a:t>LinkedList</a:t>
            </a:r>
            <a:r>
              <a:rPr lang="en-GB" sz="2400" dirty="0" smtClean="0">
                <a:latin typeface="Cambria" panose="02040503050406030204" pitchFamily="18" charset="0"/>
                <a:ea typeface="Cambria" panose="02040503050406030204" pitchFamily="18" charset="0"/>
              </a:rPr>
              <a:t> are:</a:t>
            </a:r>
          </a:p>
          <a:p>
            <a:pPr algn="just"/>
            <a:r>
              <a:rPr lang="en-GB" sz="2400" dirty="0" smtClean="0">
                <a:latin typeface="Cambria" panose="02040503050406030204" pitchFamily="18" charset="0"/>
                <a:ea typeface="Cambria" panose="02040503050406030204" pitchFamily="18" charset="0"/>
              </a:rPr>
              <a:t>Java </a:t>
            </a:r>
            <a:r>
              <a:rPr lang="en-GB" sz="2400" dirty="0" err="1" smtClean="0">
                <a:latin typeface="Cambria" panose="02040503050406030204" pitchFamily="18" charset="0"/>
                <a:ea typeface="Cambria" panose="02040503050406030204" pitchFamily="18" charset="0"/>
              </a:rPr>
              <a:t>LinkedList</a:t>
            </a:r>
            <a:r>
              <a:rPr lang="en-GB" sz="2400" dirty="0" smtClean="0">
                <a:latin typeface="Cambria" panose="02040503050406030204" pitchFamily="18" charset="0"/>
                <a:ea typeface="Cambria" panose="02040503050406030204" pitchFamily="18" charset="0"/>
              </a:rPr>
              <a:t> class can contain duplicate elements.</a:t>
            </a:r>
          </a:p>
          <a:p>
            <a:pPr algn="just"/>
            <a:r>
              <a:rPr lang="en-GB" sz="2400" dirty="0" smtClean="0">
                <a:latin typeface="Cambria" panose="02040503050406030204" pitchFamily="18" charset="0"/>
                <a:ea typeface="Cambria" panose="02040503050406030204" pitchFamily="18" charset="0"/>
              </a:rPr>
              <a:t>Java </a:t>
            </a:r>
            <a:r>
              <a:rPr lang="en-GB" sz="2400" dirty="0" err="1" smtClean="0">
                <a:latin typeface="Cambria" panose="02040503050406030204" pitchFamily="18" charset="0"/>
                <a:ea typeface="Cambria" panose="02040503050406030204" pitchFamily="18" charset="0"/>
              </a:rPr>
              <a:t>LinkedList</a:t>
            </a:r>
            <a:r>
              <a:rPr lang="en-GB" sz="2400" dirty="0" smtClean="0">
                <a:latin typeface="Cambria" panose="02040503050406030204" pitchFamily="18" charset="0"/>
                <a:ea typeface="Cambria" panose="02040503050406030204" pitchFamily="18" charset="0"/>
              </a:rPr>
              <a:t> class maintains insertion order.</a:t>
            </a:r>
          </a:p>
          <a:p>
            <a:pPr algn="just"/>
            <a:r>
              <a:rPr lang="en-GB" sz="2400" dirty="0" smtClean="0">
                <a:latin typeface="Cambria" panose="02040503050406030204" pitchFamily="18" charset="0"/>
                <a:ea typeface="Cambria" panose="02040503050406030204" pitchFamily="18" charset="0"/>
              </a:rPr>
              <a:t>Java </a:t>
            </a:r>
            <a:r>
              <a:rPr lang="en-GB" sz="2400" dirty="0" err="1" smtClean="0">
                <a:latin typeface="Cambria" panose="02040503050406030204" pitchFamily="18" charset="0"/>
                <a:ea typeface="Cambria" panose="02040503050406030204" pitchFamily="18" charset="0"/>
              </a:rPr>
              <a:t>LinkedList</a:t>
            </a:r>
            <a:r>
              <a:rPr lang="en-GB" sz="2400" dirty="0" smtClean="0">
                <a:latin typeface="Cambria" panose="02040503050406030204" pitchFamily="18" charset="0"/>
                <a:ea typeface="Cambria" panose="02040503050406030204" pitchFamily="18" charset="0"/>
              </a:rPr>
              <a:t> class is non synchronized.</a:t>
            </a:r>
          </a:p>
          <a:p>
            <a:pPr algn="just"/>
            <a:r>
              <a:rPr lang="en-GB" sz="2400" dirty="0" smtClean="0">
                <a:latin typeface="Cambria" panose="02040503050406030204" pitchFamily="18" charset="0"/>
                <a:ea typeface="Cambria" panose="02040503050406030204" pitchFamily="18" charset="0"/>
              </a:rPr>
              <a:t>In Java </a:t>
            </a:r>
            <a:r>
              <a:rPr lang="en-GB" sz="2400" dirty="0" err="1" smtClean="0">
                <a:latin typeface="Cambria" panose="02040503050406030204" pitchFamily="18" charset="0"/>
                <a:ea typeface="Cambria" panose="02040503050406030204" pitchFamily="18" charset="0"/>
              </a:rPr>
              <a:t>LinkedList</a:t>
            </a:r>
            <a:r>
              <a:rPr lang="en-GB" sz="2400" dirty="0" smtClean="0">
                <a:latin typeface="Cambria" panose="02040503050406030204" pitchFamily="18" charset="0"/>
                <a:ea typeface="Cambria" panose="02040503050406030204" pitchFamily="18" charset="0"/>
              </a:rPr>
              <a:t> class, manipulation is fast because no shifting needs to occur.</a:t>
            </a:r>
          </a:p>
          <a:p>
            <a:pPr algn="just"/>
            <a:r>
              <a:rPr lang="en-GB" sz="2400" dirty="0" smtClean="0">
                <a:latin typeface="Cambria" panose="02040503050406030204" pitchFamily="18" charset="0"/>
                <a:ea typeface="Cambria" panose="02040503050406030204" pitchFamily="18" charset="0"/>
              </a:rPr>
              <a:t>Java </a:t>
            </a:r>
            <a:r>
              <a:rPr lang="en-GB" sz="2400" dirty="0" err="1" smtClean="0">
                <a:latin typeface="Cambria" panose="02040503050406030204" pitchFamily="18" charset="0"/>
                <a:ea typeface="Cambria" panose="02040503050406030204" pitchFamily="18" charset="0"/>
              </a:rPr>
              <a:t>LinkedList</a:t>
            </a:r>
            <a:r>
              <a:rPr lang="en-GB" sz="2400" dirty="0" smtClean="0">
                <a:latin typeface="Cambria" panose="02040503050406030204" pitchFamily="18" charset="0"/>
                <a:ea typeface="Cambria" panose="02040503050406030204" pitchFamily="18" charset="0"/>
              </a:rPr>
              <a:t> class can be used as a list, stack or queue.</a:t>
            </a:r>
          </a:p>
          <a:p>
            <a:pPr algn="just"/>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a:xfrm>
            <a:off x="8035752" y="6179865"/>
            <a:ext cx="2743200" cy="365125"/>
          </a:xfrm>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30</a:t>
            </a:fld>
            <a:endParaRPr lang="en-US" altLang="en-US">
              <a:latin typeface="Cambria" panose="02040503050406030204" pitchFamily="18" charset="0"/>
              <a:ea typeface="Cambria" panose="02040503050406030204" pitchFamily="18" charset="0"/>
            </a:endParaRPr>
          </a:p>
        </p:txBody>
      </p:sp>
      <p:pic>
        <p:nvPicPr>
          <p:cNvPr id="5" name="Picture 4" descr="Java LinkedList class hierarchy"/>
          <p:cNvPicPr/>
          <p:nvPr/>
        </p:nvPicPr>
        <p:blipFill>
          <a:blip r:embed="rId2"/>
          <a:srcRect/>
          <a:stretch>
            <a:fillRect/>
          </a:stretch>
        </p:blipFill>
        <p:spPr bwMode="auto">
          <a:xfrm>
            <a:off x="8760296" y="908720"/>
            <a:ext cx="2880320" cy="4032448"/>
          </a:xfrm>
          <a:prstGeom prst="rect">
            <a:avLst/>
          </a:prstGeom>
          <a:noFill/>
          <a:ln w="9525">
            <a:noFill/>
            <a:miter lim="800000"/>
            <a:headEnd/>
            <a:tailEnd/>
          </a:ln>
        </p:spPr>
      </p:pic>
    </p:spTree>
    <p:extLst>
      <p:ext uri="{BB962C8B-B14F-4D97-AF65-F5344CB8AC3E}">
        <p14:creationId xmlns:p14="http://schemas.microsoft.com/office/powerpoint/2010/main" val="182405403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16632"/>
            <a:ext cx="2593504" cy="543595"/>
          </a:xfrm>
        </p:spPr>
        <p:txBody>
          <a:bodyPr/>
          <a:lstStyle/>
          <a:p>
            <a:r>
              <a:rPr lang="en-GB" b="1" dirty="0" smtClean="0">
                <a:solidFill>
                  <a:schemeClr val="accent1"/>
                </a:solidFill>
                <a:latin typeface="Cambria" panose="02040503050406030204" pitchFamily="18" charset="0"/>
                <a:ea typeface="Cambria" panose="02040503050406030204" pitchFamily="18" charset="0"/>
              </a:rPr>
              <a:t>Example</a:t>
            </a:r>
            <a:endParaRPr lang="en-US"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3352" y="764704"/>
            <a:ext cx="11449272" cy="4962541"/>
          </a:xfrm>
        </p:spPr>
        <p:txBody>
          <a:bodyPr/>
          <a:lstStyle/>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java.util</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class</a:t>
            </a:r>
            <a:r>
              <a:rPr lang="en-US" sz="1800" dirty="0" smtClean="0">
                <a:latin typeface="Cambria" panose="02040503050406030204" pitchFamily="18" charset="0"/>
                <a:ea typeface="Cambria" panose="02040503050406030204" pitchFamily="18" charset="0"/>
              </a:rPr>
              <a:t> LinkedList2{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static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void</a:t>
            </a:r>
            <a:r>
              <a:rPr lang="en-US" sz="1800" dirty="0" smtClean="0">
                <a:latin typeface="Cambria" panose="02040503050406030204" pitchFamily="18" charset="0"/>
                <a:ea typeface="Cambria" panose="02040503050406030204" pitchFamily="18" charset="0"/>
              </a:rPr>
              <a:t> main(String </a:t>
            </a:r>
            <a:r>
              <a:rPr lang="en-US" sz="1800" dirty="0" err="1" smtClean="0">
                <a:latin typeface="Cambria" panose="02040503050406030204" pitchFamily="18" charset="0"/>
                <a:ea typeface="Cambria" panose="02040503050406030204" pitchFamily="18" charset="0"/>
              </a:rPr>
              <a:t>args</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LinkedList</a:t>
            </a:r>
            <a:r>
              <a:rPr lang="en-US" sz="1800" dirty="0" smtClean="0">
                <a:latin typeface="Cambria" panose="02040503050406030204" pitchFamily="18" charset="0"/>
                <a:ea typeface="Cambria" panose="02040503050406030204" pitchFamily="18" charset="0"/>
              </a:rPr>
              <a:t>&lt;String&gt; </a:t>
            </a:r>
            <a:r>
              <a:rPr lang="en-US" sz="1800" dirty="0" err="1" smtClean="0">
                <a:latin typeface="Cambria" panose="02040503050406030204" pitchFamily="18" charset="0"/>
                <a:ea typeface="Cambria" panose="02040503050406030204" pitchFamily="18" charset="0"/>
              </a:rPr>
              <a:t>ll</a:t>
            </a:r>
            <a:r>
              <a:rPr lang="en-US" sz="1800" dirty="0" smtClean="0">
                <a:latin typeface="Cambria" panose="02040503050406030204" pitchFamily="18" charset="0"/>
                <a:ea typeface="Cambria" panose="02040503050406030204" pitchFamily="18" charset="0"/>
              </a:rPr>
              <a:t>=</a:t>
            </a:r>
            <a:r>
              <a:rPr lang="en-US" sz="1800" b="1" dirty="0" smtClean="0">
                <a:latin typeface="Cambria" panose="02040503050406030204" pitchFamily="18" charset="0"/>
                <a:ea typeface="Cambria" panose="02040503050406030204" pitchFamily="18" charset="0"/>
              </a:rPr>
              <a:t>new</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LinkedList</a:t>
            </a:r>
            <a:r>
              <a:rPr lang="en-US" sz="1800" dirty="0" smtClean="0">
                <a:latin typeface="Cambria" panose="02040503050406030204" pitchFamily="18" charset="0"/>
                <a:ea typeface="Cambria" panose="02040503050406030204" pitchFamily="18" charset="0"/>
              </a:rPr>
              <a:t>&lt;String&gt;();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("Initial list of elements: "+</a:t>
            </a:r>
            <a:r>
              <a:rPr lang="en-US" sz="1800" dirty="0" err="1" smtClean="0">
                <a:latin typeface="Cambria" panose="02040503050406030204" pitchFamily="18" charset="0"/>
                <a:ea typeface="Cambria" panose="02040503050406030204" pitchFamily="18" charset="0"/>
              </a:rPr>
              <a:t>ll</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ll.add</a:t>
            </a:r>
            <a:r>
              <a:rPr lang="en-US" sz="1800" dirty="0" smtClean="0">
                <a:latin typeface="Cambria" panose="02040503050406030204" pitchFamily="18" charset="0"/>
                <a:ea typeface="Cambria" panose="02040503050406030204" pitchFamily="18" charset="0"/>
              </a:rPr>
              <a:t>("Ravi");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ll.add</a:t>
            </a:r>
            <a:r>
              <a:rPr lang="en-US" sz="1800" dirty="0" smtClean="0">
                <a:latin typeface="Cambria" panose="02040503050406030204" pitchFamily="18" charset="0"/>
                <a:ea typeface="Cambria" panose="02040503050406030204" pitchFamily="18" charset="0"/>
              </a:rPr>
              <a:t>("Vijay");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ll.add</a:t>
            </a:r>
            <a:r>
              <a:rPr lang="en-US" sz="1800" dirty="0" smtClean="0">
                <a:latin typeface="Cambria" panose="02040503050406030204" pitchFamily="18" charset="0"/>
                <a:ea typeface="Cambria" panose="02040503050406030204" pitchFamily="18" charset="0"/>
              </a:rPr>
              <a:t>("Ajay");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("After invoking add(E </a:t>
            </a:r>
            <a:r>
              <a:rPr lang="en-US" sz="1800" dirty="0" err="1" smtClean="0">
                <a:latin typeface="Cambria" panose="02040503050406030204" pitchFamily="18" charset="0"/>
                <a:ea typeface="Cambria" panose="02040503050406030204" pitchFamily="18" charset="0"/>
              </a:rPr>
              <a:t>e</a:t>
            </a:r>
            <a:r>
              <a:rPr lang="en-US" sz="1800" dirty="0" smtClean="0">
                <a:latin typeface="Cambria" panose="02040503050406030204" pitchFamily="18" charset="0"/>
                <a:ea typeface="Cambria" panose="02040503050406030204" pitchFamily="18" charset="0"/>
              </a:rPr>
              <a:t>) method: "+</a:t>
            </a:r>
            <a:r>
              <a:rPr lang="en-US" sz="1800" dirty="0" err="1" smtClean="0">
                <a:latin typeface="Cambria" panose="02040503050406030204" pitchFamily="18" charset="0"/>
                <a:ea typeface="Cambria" panose="02040503050406030204" pitchFamily="18" charset="0"/>
              </a:rPr>
              <a:t>ll</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//Adding an element at the specific position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ll.add</a:t>
            </a:r>
            <a:r>
              <a:rPr lang="en-US" sz="1800" dirty="0" smtClean="0">
                <a:latin typeface="Cambria" panose="02040503050406030204" pitchFamily="18" charset="0"/>
                <a:ea typeface="Cambria" panose="02040503050406030204" pitchFamily="18" charset="0"/>
              </a:rPr>
              <a:t>(1, "</a:t>
            </a:r>
            <a:r>
              <a:rPr lang="en-US" sz="1800" dirty="0" err="1" smtClean="0">
                <a:latin typeface="Cambria" panose="02040503050406030204" pitchFamily="18" charset="0"/>
                <a:ea typeface="Cambria" panose="02040503050406030204" pitchFamily="18" charset="0"/>
              </a:rPr>
              <a:t>Gaurav</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("After invoking add(</a:t>
            </a:r>
            <a:r>
              <a:rPr lang="en-US" sz="1800" dirty="0" err="1" smtClean="0">
                <a:latin typeface="Cambria" panose="02040503050406030204" pitchFamily="18" charset="0"/>
                <a:ea typeface="Cambria" panose="02040503050406030204" pitchFamily="18" charset="0"/>
              </a:rPr>
              <a:t>int</a:t>
            </a:r>
            <a:r>
              <a:rPr lang="en-US" sz="1800" dirty="0" smtClean="0">
                <a:latin typeface="Cambria" panose="02040503050406030204" pitchFamily="18" charset="0"/>
                <a:ea typeface="Cambria" panose="02040503050406030204" pitchFamily="18" charset="0"/>
              </a:rPr>
              <a:t> index, E element) method: "+</a:t>
            </a:r>
            <a:r>
              <a:rPr lang="en-US" sz="1800" dirty="0" err="1" smtClean="0">
                <a:latin typeface="Cambria" panose="02040503050406030204" pitchFamily="18" charset="0"/>
                <a:ea typeface="Cambria" panose="02040503050406030204" pitchFamily="18" charset="0"/>
              </a:rPr>
              <a:t>ll</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LinkedList</a:t>
            </a:r>
            <a:r>
              <a:rPr lang="en-US" sz="1800" dirty="0" smtClean="0">
                <a:latin typeface="Cambria" panose="02040503050406030204" pitchFamily="18" charset="0"/>
                <a:ea typeface="Cambria" panose="02040503050406030204" pitchFamily="18" charset="0"/>
              </a:rPr>
              <a:t>&lt;String&gt; ll2=</a:t>
            </a:r>
            <a:r>
              <a:rPr lang="en-US" sz="1800" b="1" dirty="0" smtClean="0">
                <a:latin typeface="Cambria" panose="02040503050406030204" pitchFamily="18" charset="0"/>
                <a:ea typeface="Cambria" panose="02040503050406030204" pitchFamily="18" charset="0"/>
              </a:rPr>
              <a:t>new</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LinkedList</a:t>
            </a:r>
            <a:r>
              <a:rPr lang="en-US" sz="1800" dirty="0" smtClean="0">
                <a:latin typeface="Cambria" panose="02040503050406030204" pitchFamily="18" charset="0"/>
                <a:ea typeface="Cambria" panose="02040503050406030204" pitchFamily="18" charset="0"/>
              </a:rPr>
              <a:t>&lt;String&gt;();  </a:t>
            </a:r>
          </a:p>
          <a:p>
            <a:pPr>
              <a:spcBef>
                <a:spcPts val="0"/>
              </a:spcBef>
              <a:buNone/>
            </a:pPr>
            <a:r>
              <a:rPr lang="en-US" sz="1800" dirty="0" smtClean="0">
                <a:latin typeface="Cambria" panose="02040503050406030204" pitchFamily="18" charset="0"/>
                <a:ea typeface="Cambria" panose="02040503050406030204" pitchFamily="18" charset="0"/>
              </a:rPr>
              <a:t>           ll2.add("</a:t>
            </a:r>
            <a:r>
              <a:rPr lang="en-US" sz="1800" dirty="0" err="1" smtClean="0">
                <a:latin typeface="Cambria" panose="02040503050406030204" pitchFamily="18" charset="0"/>
                <a:ea typeface="Cambria" panose="02040503050406030204" pitchFamily="18" charset="0"/>
              </a:rPr>
              <a:t>Sonoo</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ll2.add("</a:t>
            </a:r>
            <a:r>
              <a:rPr lang="en-US" sz="1800" dirty="0" err="1" smtClean="0">
                <a:latin typeface="Cambria" panose="02040503050406030204" pitchFamily="18" charset="0"/>
                <a:ea typeface="Cambria" panose="02040503050406030204" pitchFamily="18" charset="0"/>
              </a:rPr>
              <a:t>Hanumat</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//Adding second list elements to the first list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ll.addAll</a:t>
            </a:r>
            <a:r>
              <a:rPr lang="en-US" sz="1800" dirty="0" smtClean="0">
                <a:latin typeface="Cambria" panose="02040503050406030204" pitchFamily="18" charset="0"/>
                <a:ea typeface="Cambria" panose="02040503050406030204" pitchFamily="18" charset="0"/>
              </a:rPr>
              <a:t>(ll2);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("After invoking </a:t>
            </a:r>
            <a:r>
              <a:rPr lang="en-US" sz="1800" dirty="0" err="1" smtClean="0">
                <a:latin typeface="Cambria" panose="02040503050406030204" pitchFamily="18" charset="0"/>
                <a:ea typeface="Cambria" panose="02040503050406030204" pitchFamily="18" charset="0"/>
              </a:rPr>
              <a:t>addAll</a:t>
            </a:r>
            <a:r>
              <a:rPr lang="en-US" sz="1800" dirty="0" smtClean="0">
                <a:latin typeface="Cambria" panose="02040503050406030204" pitchFamily="18" charset="0"/>
                <a:ea typeface="Cambria" panose="02040503050406030204" pitchFamily="18" charset="0"/>
              </a:rPr>
              <a:t>(Collection&lt;? extends E&gt; c) method: "+</a:t>
            </a:r>
            <a:r>
              <a:rPr lang="en-US" sz="1800" dirty="0" err="1" smtClean="0">
                <a:latin typeface="Cambria" panose="02040503050406030204" pitchFamily="18" charset="0"/>
                <a:ea typeface="Cambria" panose="02040503050406030204" pitchFamily="18" charset="0"/>
              </a:rPr>
              <a:t>ll</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LinkedList</a:t>
            </a:r>
            <a:r>
              <a:rPr lang="en-US" sz="1800" dirty="0" smtClean="0">
                <a:latin typeface="Cambria" panose="02040503050406030204" pitchFamily="18" charset="0"/>
                <a:ea typeface="Cambria" panose="02040503050406030204" pitchFamily="18" charset="0"/>
              </a:rPr>
              <a:t>&lt;String&gt; ll3=</a:t>
            </a:r>
            <a:r>
              <a:rPr lang="en-US" sz="1800" b="1" dirty="0" smtClean="0">
                <a:latin typeface="Cambria" panose="02040503050406030204" pitchFamily="18" charset="0"/>
                <a:ea typeface="Cambria" panose="02040503050406030204" pitchFamily="18" charset="0"/>
              </a:rPr>
              <a:t>new</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LinkedList</a:t>
            </a:r>
            <a:r>
              <a:rPr lang="en-US" sz="1800" dirty="0" smtClean="0">
                <a:latin typeface="Cambria" panose="02040503050406030204" pitchFamily="18" charset="0"/>
                <a:ea typeface="Cambria" panose="02040503050406030204" pitchFamily="18" charset="0"/>
              </a:rPr>
              <a:t>&lt;String&gt;();  </a:t>
            </a:r>
          </a:p>
          <a:p>
            <a:pPr>
              <a:spcBef>
                <a:spcPts val="0"/>
              </a:spcBef>
              <a:buNone/>
            </a:pPr>
            <a:r>
              <a:rPr lang="en-US" sz="1800" dirty="0" smtClean="0">
                <a:latin typeface="Cambria" panose="02040503050406030204" pitchFamily="18" charset="0"/>
                <a:ea typeface="Cambria" panose="02040503050406030204" pitchFamily="18" charset="0"/>
              </a:rPr>
              <a:t>           ll3.add("John");  </a:t>
            </a:r>
          </a:p>
          <a:p>
            <a:pPr>
              <a:spcBef>
                <a:spcPts val="0"/>
              </a:spcBef>
              <a:buNone/>
            </a:pPr>
            <a:r>
              <a:rPr lang="en-US" sz="1800" dirty="0" smtClean="0">
                <a:latin typeface="Cambria" panose="02040503050406030204" pitchFamily="18" charset="0"/>
                <a:ea typeface="Cambria" panose="02040503050406030204" pitchFamily="18" charset="0"/>
              </a:rPr>
              <a:t>           ll3.add("</a:t>
            </a:r>
            <a:r>
              <a:rPr lang="en-US" sz="1800" dirty="0" err="1" smtClean="0">
                <a:latin typeface="Cambria" panose="02040503050406030204" pitchFamily="18" charset="0"/>
                <a:ea typeface="Cambria" panose="02040503050406030204" pitchFamily="18" charset="0"/>
              </a:rPr>
              <a:t>Rahul</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//Adding second list elements to the first list at specific position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ll.addAll</a:t>
            </a:r>
            <a:r>
              <a:rPr lang="en-US" sz="1800" dirty="0" smtClean="0">
                <a:latin typeface="Cambria" panose="02040503050406030204" pitchFamily="18" charset="0"/>
                <a:ea typeface="Cambria" panose="02040503050406030204" pitchFamily="18" charset="0"/>
              </a:rPr>
              <a:t>(1, ll3);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("After invoking </a:t>
            </a:r>
            <a:r>
              <a:rPr lang="en-US" sz="1800" dirty="0" err="1" smtClean="0">
                <a:latin typeface="Cambria" panose="02040503050406030204" pitchFamily="18" charset="0"/>
                <a:ea typeface="Cambria" panose="02040503050406030204" pitchFamily="18" charset="0"/>
              </a:rPr>
              <a:t>addAll</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int</a:t>
            </a:r>
            <a:r>
              <a:rPr lang="en-US" sz="1800" dirty="0" smtClean="0">
                <a:latin typeface="Cambria" panose="02040503050406030204" pitchFamily="18" charset="0"/>
                <a:ea typeface="Cambria" panose="02040503050406030204" pitchFamily="18" charset="0"/>
              </a:rPr>
              <a:t> index, Collection&lt;? extends E&gt; c) method: "+</a:t>
            </a:r>
            <a:r>
              <a:rPr lang="en-US" sz="1800" dirty="0" err="1" smtClean="0">
                <a:latin typeface="Cambria" panose="02040503050406030204" pitchFamily="18" charset="0"/>
                <a:ea typeface="Cambria" panose="02040503050406030204" pitchFamily="18" charset="0"/>
              </a:rPr>
              <a:t>ll</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//Adding an element at the first position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ll.addFirst</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Lokesh</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("After invoking </a:t>
            </a:r>
            <a:r>
              <a:rPr lang="en-US" sz="1800" dirty="0" err="1" smtClean="0">
                <a:latin typeface="Cambria" panose="02040503050406030204" pitchFamily="18" charset="0"/>
                <a:ea typeface="Cambria" panose="02040503050406030204" pitchFamily="18" charset="0"/>
              </a:rPr>
              <a:t>addFirst</a:t>
            </a:r>
            <a:r>
              <a:rPr lang="en-US" sz="1800" dirty="0" smtClean="0">
                <a:latin typeface="Cambria" panose="02040503050406030204" pitchFamily="18" charset="0"/>
                <a:ea typeface="Cambria" panose="02040503050406030204" pitchFamily="18" charset="0"/>
              </a:rPr>
              <a:t>(E </a:t>
            </a:r>
            <a:r>
              <a:rPr lang="en-US" sz="1800" dirty="0" err="1" smtClean="0">
                <a:latin typeface="Cambria" panose="02040503050406030204" pitchFamily="18" charset="0"/>
                <a:ea typeface="Cambria" panose="02040503050406030204" pitchFamily="18" charset="0"/>
              </a:rPr>
              <a:t>e</a:t>
            </a:r>
            <a:r>
              <a:rPr lang="en-US" sz="1800" dirty="0" smtClean="0">
                <a:latin typeface="Cambria" panose="02040503050406030204" pitchFamily="18" charset="0"/>
                <a:ea typeface="Cambria" panose="02040503050406030204" pitchFamily="18" charset="0"/>
              </a:rPr>
              <a:t>) method: "+</a:t>
            </a:r>
            <a:r>
              <a:rPr lang="en-US" sz="1800" dirty="0" err="1" smtClean="0">
                <a:latin typeface="Cambria" panose="02040503050406030204" pitchFamily="18" charset="0"/>
                <a:ea typeface="Cambria" panose="02040503050406030204" pitchFamily="18" charset="0"/>
              </a:rPr>
              <a:t>ll</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//Adding an element at the last position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ll.addLast</a:t>
            </a:r>
            <a:r>
              <a:rPr lang="en-US" sz="1800" dirty="0" smtClean="0">
                <a:latin typeface="Cambria" panose="02040503050406030204" pitchFamily="18" charset="0"/>
                <a:ea typeface="Cambria" panose="02040503050406030204" pitchFamily="18" charset="0"/>
              </a:rPr>
              <a:t>("Harsh");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("After invoking </a:t>
            </a:r>
            <a:r>
              <a:rPr lang="en-US" sz="1800" dirty="0" err="1" smtClean="0">
                <a:latin typeface="Cambria" panose="02040503050406030204" pitchFamily="18" charset="0"/>
                <a:ea typeface="Cambria" panose="02040503050406030204" pitchFamily="18" charset="0"/>
              </a:rPr>
              <a:t>addLast</a:t>
            </a:r>
            <a:r>
              <a:rPr lang="en-US" sz="1800" dirty="0" smtClean="0">
                <a:latin typeface="Cambria" panose="02040503050406030204" pitchFamily="18" charset="0"/>
                <a:ea typeface="Cambria" panose="02040503050406030204" pitchFamily="18" charset="0"/>
              </a:rPr>
              <a:t>(E </a:t>
            </a:r>
            <a:r>
              <a:rPr lang="en-US" sz="1800" dirty="0" err="1" smtClean="0">
                <a:latin typeface="Cambria" panose="02040503050406030204" pitchFamily="18" charset="0"/>
                <a:ea typeface="Cambria" panose="02040503050406030204" pitchFamily="18" charset="0"/>
              </a:rPr>
              <a:t>e</a:t>
            </a:r>
            <a:r>
              <a:rPr lang="en-US" sz="1800" dirty="0" smtClean="0">
                <a:latin typeface="Cambria" panose="02040503050406030204" pitchFamily="18" charset="0"/>
                <a:ea typeface="Cambria" panose="02040503050406030204" pitchFamily="18" charset="0"/>
              </a:rPr>
              <a:t>) method: "+</a:t>
            </a:r>
            <a:r>
              <a:rPr lang="en-US" sz="1800" dirty="0" err="1" smtClean="0">
                <a:latin typeface="Cambria" panose="02040503050406030204" pitchFamily="18" charset="0"/>
                <a:ea typeface="Cambria" panose="02040503050406030204" pitchFamily="18" charset="0"/>
              </a:rPr>
              <a:t>ll</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ll.remove</a:t>
            </a:r>
            <a:r>
              <a:rPr lang="en-US" sz="1800" dirty="0" smtClean="0">
                <a:latin typeface="Cambria" panose="02040503050406030204" pitchFamily="18" charset="0"/>
                <a:ea typeface="Cambria" panose="02040503050406030204" pitchFamily="18" charset="0"/>
              </a:rPr>
              <a:t>("Vijay");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("After invoking remove(object) method: "+</a:t>
            </a:r>
            <a:r>
              <a:rPr lang="en-US" sz="1800" dirty="0" err="1" smtClean="0">
                <a:latin typeface="Cambria" panose="02040503050406030204" pitchFamily="18" charset="0"/>
                <a:ea typeface="Cambria" panose="02040503050406030204" pitchFamily="18" charset="0"/>
              </a:rPr>
              <a:t>ll</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//Removing element on the basis of specific position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ll.remove</a:t>
            </a:r>
            <a:r>
              <a:rPr lang="en-US" sz="1800" dirty="0" smtClean="0">
                <a:latin typeface="Cambria" panose="02040503050406030204" pitchFamily="18" charset="0"/>
                <a:ea typeface="Cambria" panose="02040503050406030204" pitchFamily="18" charset="0"/>
              </a:rPr>
              <a:t>(0);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("After invoking remove(index) method: "+</a:t>
            </a:r>
            <a:r>
              <a:rPr lang="en-US" sz="1800" dirty="0" err="1" smtClean="0">
                <a:latin typeface="Cambria" panose="02040503050406030204" pitchFamily="18" charset="0"/>
                <a:ea typeface="Cambria" panose="02040503050406030204" pitchFamily="18" charset="0"/>
              </a:rPr>
              <a:t>ll</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LinkedList</a:t>
            </a:r>
            <a:r>
              <a:rPr lang="en-US" sz="1800" dirty="0" smtClean="0">
                <a:latin typeface="Cambria" panose="02040503050406030204" pitchFamily="18" charset="0"/>
                <a:ea typeface="Cambria" panose="02040503050406030204" pitchFamily="18" charset="0"/>
              </a:rPr>
              <a:t>&lt;String&gt; ll2=</a:t>
            </a:r>
            <a:r>
              <a:rPr lang="en-US" sz="1800" b="1" dirty="0" smtClean="0">
                <a:latin typeface="Cambria" panose="02040503050406030204" pitchFamily="18" charset="0"/>
                <a:ea typeface="Cambria" panose="02040503050406030204" pitchFamily="18" charset="0"/>
              </a:rPr>
              <a:t>new</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LinkedList</a:t>
            </a:r>
            <a:r>
              <a:rPr lang="en-US" sz="1800" dirty="0" smtClean="0">
                <a:latin typeface="Cambria" panose="02040503050406030204" pitchFamily="18" charset="0"/>
                <a:ea typeface="Cambria" panose="02040503050406030204" pitchFamily="18" charset="0"/>
              </a:rPr>
              <a:t>&lt;String&gt;();  </a:t>
            </a:r>
          </a:p>
          <a:p>
            <a:pPr>
              <a:spcBef>
                <a:spcPts val="0"/>
              </a:spcBef>
              <a:buNone/>
            </a:pPr>
            <a:r>
              <a:rPr lang="en-US" sz="1800" dirty="0" smtClean="0">
                <a:latin typeface="Cambria" panose="02040503050406030204" pitchFamily="18" charset="0"/>
                <a:ea typeface="Cambria" panose="02040503050406030204" pitchFamily="18" charset="0"/>
              </a:rPr>
              <a:t>              ll2.add("Ravi");  </a:t>
            </a:r>
          </a:p>
          <a:p>
            <a:pPr>
              <a:spcBef>
                <a:spcPts val="0"/>
              </a:spcBef>
              <a:buNone/>
            </a:pPr>
            <a:r>
              <a:rPr lang="en-US" sz="1800" dirty="0" smtClean="0">
                <a:latin typeface="Cambria" panose="02040503050406030204" pitchFamily="18" charset="0"/>
                <a:ea typeface="Cambria" panose="02040503050406030204" pitchFamily="18" charset="0"/>
              </a:rPr>
              <a:t>              ll2.add("</a:t>
            </a:r>
            <a:r>
              <a:rPr lang="en-US" sz="1800" dirty="0" err="1" smtClean="0">
                <a:latin typeface="Cambria" panose="02040503050406030204" pitchFamily="18" charset="0"/>
                <a:ea typeface="Cambria" panose="02040503050406030204" pitchFamily="18" charset="0"/>
              </a:rPr>
              <a:t>Hanumat</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 Adding new elements to </a:t>
            </a:r>
            <a:r>
              <a:rPr lang="en-US" sz="1800" dirty="0" err="1" smtClean="0">
                <a:latin typeface="Cambria" panose="02040503050406030204" pitchFamily="18" charset="0"/>
                <a:ea typeface="Cambria" panose="02040503050406030204" pitchFamily="18" charset="0"/>
              </a:rPr>
              <a:t>arraylist</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ll.addAll</a:t>
            </a:r>
            <a:r>
              <a:rPr lang="en-US" sz="1800" dirty="0" smtClean="0">
                <a:latin typeface="Cambria" panose="02040503050406030204" pitchFamily="18" charset="0"/>
                <a:ea typeface="Cambria" panose="02040503050406030204" pitchFamily="18" charset="0"/>
              </a:rPr>
              <a:t>(ll2);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("Updated list : "+</a:t>
            </a:r>
            <a:r>
              <a:rPr lang="en-US" sz="1800" dirty="0" err="1" smtClean="0">
                <a:latin typeface="Cambria" panose="02040503050406030204" pitchFamily="18" charset="0"/>
                <a:ea typeface="Cambria" panose="02040503050406030204" pitchFamily="18" charset="0"/>
              </a:rPr>
              <a:t>ll</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//Removing all the new elements from </a:t>
            </a:r>
            <a:r>
              <a:rPr lang="en-US" sz="1800" dirty="0" err="1" smtClean="0">
                <a:latin typeface="Cambria" panose="02040503050406030204" pitchFamily="18" charset="0"/>
                <a:ea typeface="Cambria" panose="02040503050406030204" pitchFamily="18" charset="0"/>
              </a:rPr>
              <a:t>arraylist</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ll.removeAll</a:t>
            </a:r>
            <a:r>
              <a:rPr lang="en-US" sz="1800" dirty="0" smtClean="0">
                <a:latin typeface="Cambria" panose="02040503050406030204" pitchFamily="18" charset="0"/>
                <a:ea typeface="Cambria" panose="02040503050406030204" pitchFamily="18" charset="0"/>
              </a:rPr>
              <a:t>(ll2);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("After invoking </a:t>
            </a:r>
            <a:r>
              <a:rPr lang="en-US" sz="1800" dirty="0" err="1" smtClean="0">
                <a:latin typeface="Cambria" panose="02040503050406030204" pitchFamily="18" charset="0"/>
                <a:ea typeface="Cambria" panose="02040503050406030204" pitchFamily="18" charset="0"/>
              </a:rPr>
              <a:t>removeAll</a:t>
            </a:r>
            <a:r>
              <a:rPr lang="en-US" sz="1800" dirty="0" smtClean="0">
                <a:latin typeface="Cambria" panose="02040503050406030204" pitchFamily="18" charset="0"/>
                <a:ea typeface="Cambria" panose="02040503050406030204" pitchFamily="18" charset="0"/>
              </a:rPr>
              <a:t>() method: "+</a:t>
            </a:r>
            <a:r>
              <a:rPr lang="en-US" sz="1800" dirty="0" err="1" smtClean="0">
                <a:latin typeface="Cambria" panose="02040503050406030204" pitchFamily="18" charset="0"/>
                <a:ea typeface="Cambria" panose="02040503050406030204" pitchFamily="18" charset="0"/>
              </a:rPr>
              <a:t>ll</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//Removing first element from the list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ll.removeFirst</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("After invoking </a:t>
            </a:r>
            <a:r>
              <a:rPr lang="en-US" sz="1800" dirty="0" err="1" smtClean="0">
                <a:latin typeface="Cambria" panose="02040503050406030204" pitchFamily="18" charset="0"/>
                <a:ea typeface="Cambria" panose="02040503050406030204" pitchFamily="18" charset="0"/>
              </a:rPr>
              <a:t>removeFirst</a:t>
            </a:r>
            <a:r>
              <a:rPr lang="en-US" sz="1800" dirty="0" smtClean="0">
                <a:latin typeface="Cambria" panose="02040503050406030204" pitchFamily="18" charset="0"/>
                <a:ea typeface="Cambria" panose="02040503050406030204" pitchFamily="18" charset="0"/>
              </a:rPr>
              <a:t>() method: "+</a:t>
            </a:r>
            <a:r>
              <a:rPr lang="en-US" sz="1800" dirty="0" err="1" smtClean="0">
                <a:latin typeface="Cambria" panose="02040503050406030204" pitchFamily="18" charset="0"/>
                <a:ea typeface="Cambria" panose="02040503050406030204" pitchFamily="18" charset="0"/>
              </a:rPr>
              <a:t>ll</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//Removing first element from the list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ll.removeLast</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("After invoking </a:t>
            </a:r>
            <a:r>
              <a:rPr lang="en-US" sz="1800" dirty="0" err="1" smtClean="0">
                <a:latin typeface="Cambria" panose="02040503050406030204" pitchFamily="18" charset="0"/>
                <a:ea typeface="Cambria" panose="02040503050406030204" pitchFamily="18" charset="0"/>
              </a:rPr>
              <a:t>removeLast</a:t>
            </a:r>
            <a:r>
              <a:rPr lang="en-US" sz="1800" dirty="0" smtClean="0">
                <a:latin typeface="Cambria" panose="02040503050406030204" pitchFamily="18" charset="0"/>
                <a:ea typeface="Cambria" panose="02040503050406030204" pitchFamily="18" charset="0"/>
              </a:rPr>
              <a:t>() method: "+</a:t>
            </a:r>
            <a:r>
              <a:rPr lang="en-US" sz="1800" dirty="0" err="1" smtClean="0">
                <a:latin typeface="Cambria" panose="02040503050406030204" pitchFamily="18" charset="0"/>
                <a:ea typeface="Cambria" panose="02040503050406030204" pitchFamily="18" charset="0"/>
              </a:rPr>
              <a:t>ll</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//Removing first occurrence of element from the list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ll.removeFirstOccurrence</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Gaurav</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("After invoking </a:t>
            </a:r>
            <a:r>
              <a:rPr lang="en-US" sz="1800" dirty="0" err="1" smtClean="0">
                <a:latin typeface="Cambria" panose="02040503050406030204" pitchFamily="18" charset="0"/>
                <a:ea typeface="Cambria" panose="02040503050406030204" pitchFamily="18" charset="0"/>
              </a:rPr>
              <a:t>removeFirstOccurrence</a:t>
            </a:r>
            <a:r>
              <a:rPr lang="en-US" sz="1800" dirty="0" smtClean="0">
                <a:latin typeface="Cambria" panose="02040503050406030204" pitchFamily="18" charset="0"/>
                <a:ea typeface="Cambria" panose="02040503050406030204" pitchFamily="18" charset="0"/>
              </a:rPr>
              <a:t>() method: "+</a:t>
            </a:r>
            <a:r>
              <a:rPr lang="en-US" sz="1800" dirty="0" err="1" smtClean="0">
                <a:latin typeface="Cambria" panose="02040503050406030204" pitchFamily="18" charset="0"/>
                <a:ea typeface="Cambria" panose="02040503050406030204" pitchFamily="18" charset="0"/>
              </a:rPr>
              <a:t>ll</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//Removing last occurrence of element from the list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ll.removeLastOccurrence</a:t>
            </a:r>
            <a:r>
              <a:rPr lang="en-US" sz="1800" dirty="0" smtClean="0">
                <a:latin typeface="Cambria" panose="02040503050406030204" pitchFamily="18" charset="0"/>
                <a:ea typeface="Cambria" panose="02040503050406030204" pitchFamily="18" charset="0"/>
              </a:rPr>
              <a:t>("Harsh");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("After invoking </a:t>
            </a:r>
            <a:r>
              <a:rPr lang="en-US" sz="1800" dirty="0" err="1" smtClean="0">
                <a:latin typeface="Cambria" panose="02040503050406030204" pitchFamily="18" charset="0"/>
                <a:ea typeface="Cambria" panose="02040503050406030204" pitchFamily="18" charset="0"/>
              </a:rPr>
              <a:t>removeLastOccurrence</a:t>
            </a:r>
            <a:r>
              <a:rPr lang="en-US" sz="1800" dirty="0" smtClean="0">
                <a:latin typeface="Cambria" panose="02040503050406030204" pitchFamily="18" charset="0"/>
                <a:ea typeface="Cambria" panose="02040503050406030204" pitchFamily="18" charset="0"/>
              </a:rPr>
              <a:t>() method: "+</a:t>
            </a:r>
            <a:r>
              <a:rPr lang="en-US" sz="1800" dirty="0" err="1" smtClean="0">
                <a:latin typeface="Cambria" panose="02040503050406030204" pitchFamily="18" charset="0"/>
                <a:ea typeface="Cambria" panose="02040503050406030204" pitchFamily="18" charset="0"/>
              </a:rPr>
              <a:t>ll</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//Removing all the elements available in the list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ll.clear</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("After invoking clear() method: "+</a:t>
            </a:r>
            <a:r>
              <a:rPr lang="en-US" sz="1800" dirty="0" err="1" smtClean="0">
                <a:latin typeface="Cambria" panose="02040503050406030204" pitchFamily="18" charset="0"/>
                <a:ea typeface="Cambria" panose="02040503050406030204" pitchFamily="18" charset="0"/>
              </a:rPr>
              <a:t>ll</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  </a:t>
            </a:r>
          </a:p>
          <a:p>
            <a:pPr>
              <a:spcBef>
                <a:spcPts val="0"/>
              </a:spcBef>
              <a:buNone/>
            </a:pPr>
            <a:r>
              <a:rPr lang="en-US" sz="1800" dirty="0" smtClean="0">
                <a:latin typeface="Cambria" panose="02040503050406030204" pitchFamily="18" charset="0"/>
                <a:ea typeface="Cambria" panose="02040503050406030204" pitchFamily="18" charset="0"/>
              </a:rPr>
              <a:t>}  </a:t>
            </a:r>
          </a:p>
          <a:p>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31</a:t>
            </a:fld>
            <a:endParaRPr lang="en-US" alt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3801968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632"/>
            <a:ext cx="2809528" cy="687611"/>
          </a:xfrm>
        </p:spPr>
        <p:txBody>
          <a:bodyPr/>
          <a:lstStyle/>
          <a:p>
            <a:r>
              <a:rPr lang="en-GB" sz="4000" b="1" dirty="0" smtClean="0">
                <a:solidFill>
                  <a:schemeClr val="accent1"/>
                </a:solidFill>
                <a:latin typeface="Cambria" panose="02040503050406030204" pitchFamily="18" charset="0"/>
                <a:ea typeface="Cambria" panose="02040503050406030204" pitchFamily="18" charset="0"/>
              </a:rPr>
              <a:t>Example</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983432" y="804243"/>
            <a:ext cx="6984776" cy="4784997"/>
          </a:xfrm>
        </p:spPr>
        <p:txBody>
          <a:bodyPr/>
          <a:lstStyle/>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java.util</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class</a:t>
            </a:r>
            <a:r>
              <a:rPr lang="en-US" sz="2000" dirty="0" smtClean="0">
                <a:latin typeface="Cambria" panose="02040503050406030204" pitchFamily="18" charset="0"/>
                <a:ea typeface="Cambria" panose="02040503050406030204" pitchFamily="18" charset="0"/>
              </a:rPr>
              <a:t> LinkedList4{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static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void</a:t>
            </a:r>
            <a:r>
              <a:rPr lang="en-US" sz="2000" dirty="0" smtClean="0">
                <a:latin typeface="Cambria" panose="02040503050406030204" pitchFamily="18" charset="0"/>
                <a:ea typeface="Cambria" panose="02040503050406030204" pitchFamily="18" charset="0"/>
              </a:rPr>
              <a:t> main(String </a:t>
            </a:r>
            <a:r>
              <a:rPr lang="en-US" sz="2000" dirty="0" err="1" smtClean="0">
                <a:latin typeface="Cambria" panose="02040503050406030204" pitchFamily="18" charset="0"/>
                <a:ea typeface="Cambria" panose="02040503050406030204" pitchFamily="18" charset="0"/>
              </a:rPr>
              <a:t>args</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LinkedList</a:t>
            </a:r>
            <a:r>
              <a:rPr lang="en-US" sz="2000" dirty="0" smtClean="0">
                <a:latin typeface="Cambria" panose="02040503050406030204" pitchFamily="18" charset="0"/>
                <a:ea typeface="Cambria" panose="02040503050406030204" pitchFamily="18" charset="0"/>
              </a:rPr>
              <a:t>&lt;String&gt; </a:t>
            </a:r>
            <a:r>
              <a:rPr lang="en-US" sz="2000" dirty="0" err="1" smtClean="0">
                <a:latin typeface="Cambria" panose="02040503050406030204" pitchFamily="18" charset="0"/>
                <a:ea typeface="Cambria" panose="02040503050406030204" pitchFamily="18" charset="0"/>
              </a:rPr>
              <a:t>ll</a:t>
            </a:r>
            <a:r>
              <a:rPr lang="en-US" sz="2000" dirty="0" smtClean="0">
                <a:latin typeface="Cambria" panose="02040503050406030204" pitchFamily="18" charset="0"/>
                <a:ea typeface="Cambria" panose="02040503050406030204" pitchFamily="18" charset="0"/>
              </a:rPr>
              <a:t>=</a:t>
            </a:r>
            <a:r>
              <a:rPr lang="en-US" sz="2000" b="1" dirty="0" smtClean="0">
                <a:latin typeface="Cambria" panose="02040503050406030204" pitchFamily="18" charset="0"/>
                <a:ea typeface="Cambria" panose="02040503050406030204" pitchFamily="18" charset="0"/>
              </a:rPr>
              <a:t>new</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LinkedList</a:t>
            </a:r>
            <a:r>
              <a:rPr lang="en-US" sz="2000" dirty="0" smtClean="0">
                <a:latin typeface="Cambria" panose="02040503050406030204" pitchFamily="18" charset="0"/>
                <a:ea typeface="Cambria" panose="02040503050406030204" pitchFamily="18" charset="0"/>
              </a:rPr>
              <a:t>&lt;String&gt;();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ll.add</a:t>
            </a:r>
            <a:r>
              <a:rPr lang="en-US" sz="2000" dirty="0" smtClean="0">
                <a:latin typeface="Cambria" panose="02040503050406030204" pitchFamily="18" charset="0"/>
                <a:ea typeface="Cambria" panose="02040503050406030204" pitchFamily="18" charset="0"/>
              </a:rPr>
              <a:t>("Ravi");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ll.add</a:t>
            </a:r>
            <a:r>
              <a:rPr lang="en-US" sz="2000" dirty="0" smtClean="0">
                <a:latin typeface="Cambria" panose="02040503050406030204" pitchFamily="18" charset="0"/>
                <a:ea typeface="Cambria" panose="02040503050406030204" pitchFamily="18" charset="0"/>
              </a:rPr>
              <a:t>("Vijay");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ll.add</a:t>
            </a:r>
            <a:r>
              <a:rPr lang="en-US" sz="2000" dirty="0" smtClean="0">
                <a:latin typeface="Cambria" panose="02040503050406030204" pitchFamily="18" charset="0"/>
                <a:ea typeface="Cambria" panose="02040503050406030204" pitchFamily="18" charset="0"/>
              </a:rPr>
              <a:t>("Ajay");  </a:t>
            </a:r>
          </a:p>
          <a:p>
            <a:pPr>
              <a:spcBef>
                <a:spcPts val="0"/>
              </a:spcBef>
              <a:buNone/>
            </a:pPr>
            <a:r>
              <a:rPr lang="en-US" sz="2000" dirty="0" smtClean="0">
                <a:latin typeface="Cambria" panose="02040503050406030204" pitchFamily="18" charset="0"/>
                <a:ea typeface="Cambria" panose="02040503050406030204" pitchFamily="18" charset="0"/>
              </a:rPr>
              <a:t>           //Traversing the list of elements in reverse order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Iterator</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i</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ll.descendingIterator</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while</a:t>
            </a:r>
            <a:r>
              <a:rPr lang="en-US" sz="2000" dirty="0" smtClean="0">
                <a:latin typeface="Cambria" panose="02040503050406030204" pitchFamily="18" charset="0"/>
                <a:ea typeface="Cambria" panose="02040503050406030204" pitchFamily="18" charset="0"/>
              </a:rPr>
              <a:t>(i.hasNext())  </a:t>
            </a:r>
          </a:p>
          <a:p>
            <a:pPr>
              <a:spcBef>
                <a:spcPts val="0"/>
              </a:spcBef>
              <a:buNone/>
            </a:pPr>
            <a:r>
              <a:rPr lang="en-US" sz="2000" dirty="0" smtClean="0">
                <a:latin typeface="Cambria" panose="02040503050406030204" pitchFamily="18" charset="0"/>
                <a:ea typeface="Cambria" panose="02040503050406030204" pitchFamily="18" charset="0"/>
              </a:rPr>
              <a:t>               System.out.println(i.next());               </a:t>
            </a:r>
          </a:p>
          <a:p>
            <a:pPr>
              <a:spcBef>
                <a:spcPts val="0"/>
              </a:spcBef>
              <a:buNone/>
            </a:pPr>
            <a:r>
              <a:rPr lang="en-US" sz="2000" dirty="0" smtClean="0">
                <a:latin typeface="Cambria" panose="02040503050406030204" pitchFamily="18" charset="0"/>
                <a:ea typeface="Cambria" panose="02040503050406030204" pitchFamily="18" charset="0"/>
              </a:rPr>
              <a:t>      }  </a:t>
            </a:r>
          </a:p>
          <a:p>
            <a:pPr>
              <a:spcBef>
                <a:spcPts val="0"/>
              </a:spcBef>
              <a:buNone/>
            </a:pPr>
            <a:r>
              <a:rPr lang="en-US" sz="2000" dirty="0" smtClean="0">
                <a:latin typeface="Cambria" panose="02040503050406030204" pitchFamily="18" charset="0"/>
                <a:ea typeface="Cambria" panose="02040503050406030204" pitchFamily="18" charset="0"/>
              </a:rPr>
              <a:t>}  </a:t>
            </a:r>
          </a:p>
          <a:p>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32</a:t>
            </a:fld>
            <a:endParaRPr lang="en-US" alt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033856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46706"/>
            <a:ext cx="1801416" cy="687611"/>
          </a:xfrm>
        </p:spPr>
        <p:txBody>
          <a:bodyPr/>
          <a:lstStyle/>
          <a:p>
            <a:r>
              <a:rPr lang="en-GB" b="1" dirty="0" smtClean="0">
                <a:solidFill>
                  <a:schemeClr val="accent1"/>
                </a:solidFill>
                <a:latin typeface="Cambria" panose="02040503050406030204" pitchFamily="18" charset="0"/>
                <a:ea typeface="Cambria" panose="02040503050406030204" pitchFamily="18" charset="0"/>
              </a:rPr>
              <a:t>Set  </a:t>
            </a:r>
            <a:endParaRPr lang="en-US"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91344" y="767354"/>
            <a:ext cx="4896544" cy="3990827"/>
          </a:xfrm>
        </p:spPr>
        <p:txBody>
          <a:bodyPr/>
          <a:lstStyle/>
          <a:p>
            <a:pPr algn="just"/>
            <a:r>
              <a:rPr lang="en-GB" sz="2000" dirty="0" smtClean="0">
                <a:latin typeface="Cambria" panose="02040503050406030204" pitchFamily="18" charset="0"/>
                <a:ea typeface="Cambria" panose="02040503050406030204" pitchFamily="18" charset="0"/>
              </a:rPr>
              <a:t>The </a:t>
            </a:r>
            <a:r>
              <a:rPr lang="en-GB" sz="2000" b="1" dirty="0" smtClean="0">
                <a:latin typeface="Cambria" panose="02040503050406030204" pitchFamily="18" charset="0"/>
                <a:ea typeface="Cambria" panose="02040503050406030204" pitchFamily="18" charset="0"/>
              </a:rPr>
              <a:t>set</a:t>
            </a:r>
            <a:r>
              <a:rPr lang="en-GB" sz="2000" dirty="0" smtClean="0">
                <a:latin typeface="Cambria" panose="02040503050406030204" pitchFamily="18" charset="0"/>
                <a:ea typeface="Cambria" panose="02040503050406030204" pitchFamily="18" charset="0"/>
              </a:rPr>
              <a:t> is an interface available in the </a:t>
            </a:r>
            <a:r>
              <a:rPr lang="en-GB" sz="2000" b="1" dirty="0" err="1" smtClean="0">
                <a:latin typeface="Cambria" panose="02040503050406030204" pitchFamily="18" charset="0"/>
                <a:ea typeface="Cambria" panose="02040503050406030204" pitchFamily="18" charset="0"/>
              </a:rPr>
              <a:t>java.util</a:t>
            </a:r>
            <a:r>
              <a:rPr lang="en-GB" sz="2000" dirty="0" smtClean="0">
                <a:latin typeface="Cambria" panose="02040503050406030204" pitchFamily="18" charset="0"/>
                <a:ea typeface="Cambria" panose="02040503050406030204" pitchFamily="18" charset="0"/>
              </a:rPr>
              <a:t> package. The </a:t>
            </a:r>
            <a:r>
              <a:rPr lang="en-GB" sz="2000" b="1" dirty="0" smtClean="0">
                <a:latin typeface="Cambria" panose="02040503050406030204" pitchFamily="18" charset="0"/>
                <a:ea typeface="Cambria" panose="02040503050406030204" pitchFamily="18" charset="0"/>
              </a:rPr>
              <a:t>set</a:t>
            </a:r>
            <a:r>
              <a:rPr lang="en-GB" sz="2000" dirty="0" smtClean="0">
                <a:latin typeface="Cambria" panose="02040503050406030204" pitchFamily="18" charset="0"/>
                <a:ea typeface="Cambria" panose="02040503050406030204" pitchFamily="18" charset="0"/>
              </a:rPr>
              <a:t> interface extends the Collection interface. An unordered collection or list in which duplicates are not allowed is referred to as a </a:t>
            </a:r>
            <a:r>
              <a:rPr lang="en-GB" sz="2000" b="1" dirty="0" smtClean="0">
                <a:latin typeface="Cambria" panose="02040503050406030204" pitchFamily="18" charset="0"/>
                <a:ea typeface="Cambria" panose="02040503050406030204" pitchFamily="18" charset="0"/>
              </a:rPr>
              <a:t>collection interface</a:t>
            </a:r>
            <a:r>
              <a:rPr lang="en-GB" sz="2000" dirty="0" smtClean="0">
                <a:latin typeface="Cambria" panose="02040503050406030204" pitchFamily="18" charset="0"/>
                <a:ea typeface="Cambria" panose="02040503050406030204" pitchFamily="18" charset="0"/>
              </a:rPr>
              <a:t>. </a:t>
            </a:r>
          </a:p>
          <a:p>
            <a:pPr algn="just"/>
            <a:r>
              <a:rPr lang="en-GB" sz="2000" dirty="0" smtClean="0">
                <a:latin typeface="Cambria" panose="02040503050406030204" pitchFamily="18" charset="0"/>
                <a:ea typeface="Cambria" panose="02040503050406030204" pitchFamily="18" charset="0"/>
              </a:rPr>
              <a:t>The set interface is used to create the mathematical set. The set interface use collection interface's methods to avoid the insertion of the same elements.</a:t>
            </a:r>
          </a:p>
          <a:p>
            <a:pPr algn="just"/>
            <a:r>
              <a:rPr lang="en-GB" sz="2000"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SortedSet</a:t>
            </a:r>
            <a:r>
              <a:rPr lang="en-GB" sz="2000" dirty="0" smtClean="0">
                <a:latin typeface="Cambria" panose="02040503050406030204" pitchFamily="18" charset="0"/>
                <a:ea typeface="Cambria" panose="02040503050406030204" pitchFamily="18" charset="0"/>
              </a:rPr>
              <a:t> and </a:t>
            </a:r>
            <a:r>
              <a:rPr lang="en-GB" sz="2000" b="1" dirty="0" err="1" smtClean="0">
                <a:latin typeface="Cambria" panose="02040503050406030204" pitchFamily="18" charset="0"/>
                <a:ea typeface="Cambria" panose="02040503050406030204" pitchFamily="18" charset="0"/>
              </a:rPr>
              <a:t>NavigableSet</a:t>
            </a:r>
            <a:r>
              <a:rPr lang="en-GB" sz="2000" dirty="0" smtClean="0">
                <a:latin typeface="Cambria" panose="02040503050406030204" pitchFamily="18" charset="0"/>
                <a:ea typeface="Cambria" panose="02040503050406030204" pitchFamily="18" charset="0"/>
              </a:rPr>
              <a:t> are two interfaces that extend the set implementation.</a:t>
            </a: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33</a:t>
            </a:fld>
            <a:endParaRPr lang="en-US" altLang="en-US">
              <a:latin typeface="Cambria" panose="02040503050406030204" pitchFamily="18" charset="0"/>
              <a:ea typeface="Cambria" panose="02040503050406030204" pitchFamily="18" charset="0"/>
            </a:endParaRPr>
          </a:p>
        </p:txBody>
      </p:sp>
      <p:pic>
        <p:nvPicPr>
          <p:cNvPr id="5" name="Content Placeholder 4" descr="Set in Java"/>
          <p:cNvPicPr>
            <a:picLocks/>
          </p:cNvPicPr>
          <p:nvPr/>
        </p:nvPicPr>
        <p:blipFill>
          <a:blip r:embed="rId2"/>
          <a:srcRect/>
          <a:stretch>
            <a:fillRect/>
          </a:stretch>
        </p:blipFill>
        <p:spPr bwMode="auto">
          <a:xfrm>
            <a:off x="5514975" y="754932"/>
            <a:ext cx="6191250" cy="38576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844261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7297" y="138101"/>
            <a:ext cx="10497215" cy="720740"/>
          </a:xfrm>
        </p:spPr>
        <p:txBody>
          <a:bodyPr/>
          <a:lstStyle/>
          <a:p>
            <a:r>
              <a:rPr lang="en-US" dirty="0" smtClean="0">
                <a:latin typeface="Cambria" panose="02040503050406030204" pitchFamily="18" charset="0"/>
                <a:ea typeface="Cambria" panose="02040503050406030204" pitchFamily="18" charset="0"/>
              </a:rPr>
              <a:t>HashSet</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97425" y="855606"/>
            <a:ext cx="10515600" cy="5033979"/>
          </a:xfrm>
        </p:spPr>
        <p:txBody>
          <a:bodyPr/>
          <a:lstStyle/>
          <a:p>
            <a:pPr algn="just"/>
            <a:r>
              <a:rPr lang="en-GB" sz="2400" dirty="0" smtClean="0">
                <a:latin typeface="Cambria" panose="02040503050406030204" pitchFamily="18" charset="0"/>
                <a:ea typeface="Cambria" panose="02040503050406030204" pitchFamily="18" charset="0"/>
              </a:rPr>
              <a:t>Java </a:t>
            </a:r>
            <a:r>
              <a:rPr lang="en-GB" sz="2400" dirty="0" err="1" smtClean="0">
                <a:latin typeface="Cambria" panose="02040503050406030204" pitchFamily="18" charset="0"/>
                <a:ea typeface="Cambria" panose="02040503050406030204" pitchFamily="18" charset="0"/>
              </a:rPr>
              <a:t>HashSet</a:t>
            </a:r>
            <a:r>
              <a:rPr lang="en-GB" sz="2400" dirty="0" smtClean="0">
                <a:latin typeface="Cambria" panose="02040503050406030204" pitchFamily="18" charset="0"/>
                <a:ea typeface="Cambria" panose="02040503050406030204" pitchFamily="18" charset="0"/>
              </a:rPr>
              <a:t> class is used to create a collection that uses a hash table for storage. It inherits the </a:t>
            </a:r>
            <a:r>
              <a:rPr lang="en-GB" sz="2400" dirty="0" err="1" smtClean="0">
                <a:latin typeface="Cambria" panose="02040503050406030204" pitchFamily="18" charset="0"/>
                <a:ea typeface="Cambria" panose="02040503050406030204" pitchFamily="18" charset="0"/>
              </a:rPr>
              <a:t>AbstractSet</a:t>
            </a:r>
            <a:r>
              <a:rPr lang="en-GB" sz="2400" dirty="0" smtClean="0">
                <a:latin typeface="Cambria" panose="02040503050406030204" pitchFamily="18" charset="0"/>
                <a:ea typeface="Cambria" panose="02040503050406030204" pitchFamily="18" charset="0"/>
              </a:rPr>
              <a:t> class and implements Set interface.</a:t>
            </a:r>
          </a:p>
          <a:p>
            <a:pPr algn="just"/>
            <a:r>
              <a:rPr lang="en-GB" sz="2400" dirty="0" smtClean="0">
                <a:latin typeface="Cambria" panose="02040503050406030204" pitchFamily="18" charset="0"/>
                <a:ea typeface="Cambria" panose="02040503050406030204" pitchFamily="18" charset="0"/>
              </a:rPr>
              <a:t>The important points about Java </a:t>
            </a:r>
            <a:r>
              <a:rPr lang="en-GB" sz="2400" dirty="0" err="1" smtClean="0">
                <a:latin typeface="Cambria" panose="02040503050406030204" pitchFamily="18" charset="0"/>
                <a:ea typeface="Cambria" panose="02040503050406030204" pitchFamily="18" charset="0"/>
              </a:rPr>
              <a:t>HashSet</a:t>
            </a:r>
            <a:r>
              <a:rPr lang="en-GB" sz="2400" dirty="0" smtClean="0">
                <a:latin typeface="Cambria" panose="02040503050406030204" pitchFamily="18" charset="0"/>
                <a:ea typeface="Cambria" panose="02040503050406030204" pitchFamily="18" charset="0"/>
              </a:rPr>
              <a:t> class are:</a:t>
            </a:r>
          </a:p>
          <a:p>
            <a:pPr algn="just"/>
            <a:r>
              <a:rPr lang="en-GB" sz="2400" dirty="0" err="1" smtClean="0">
                <a:latin typeface="Cambria" panose="02040503050406030204" pitchFamily="18" charset="0"/>
                <a:ea typeface="Cambria" panose="02040503050406030204" pitchFamily="18" charset="0"/>
              </a:rPr>
              <a:t>HashSet</a:t>
            </a:r>
            <a:r>
              <a:rPr lang="en-GB" sz="2400" dirty="0" smtClean="0">
                <a:latin typeface="Cambria" panose="02040503050406030204" pitchFamily="18" charset="0"/>
                <a:ea typeface="Cambria" panose="02040503050406030204" pitchFamily="18" charset="0"/>
              </a:rPr>
              <a:t> stores the elements by using a mechanism called </a:t>
            </a:r>
            <a:r>
              <a:rPr lang="en-GB" sz="2400" b="1" dirty="0" smtClean="0">
                <a:latin typeface="Cambria" panose="02040503050406030204" pitchFamily="18" charset="0"/>
                <a:ea typeface="Cambria" panose="02040503050406030204" pitchFamily="18" charset="0"/>
              </a:rPr>
              <a:t>hashing.</a:t>
            </a:r>
            <a:endParaRPr lang="en-GB" sz="2400" dirty="0" smtClean="0">
              <a:latin typeface="Cambria" panose="02040503050406030204" pitchFamily="18" charset="0"/>
              <a:ea typeface="Cambria" panose="02040503050406030204" pitchFamily="18" charset="0"/>
            </a:endParaRPr>
          </a:p>
          <a:p>
            <a:pPr algn="just"/>
            <a:r>
              <a:rPr lang="en-GB" sz="2400" dirty="0" err="1" smtClean="0">
                <a:latin typeface="Cambria" panose="02040503050406030204" pitchFamily="18" charset="0"/>
                <a:ea typeface="Cambria" panose="02040503050406030204" pitchFamily="18" charset="0"/>
              </a:rPr>
              <a:t>HashSet</a:t>
            </a:r>
            <a:r>
              <a:rPr lang="en-GB" sz="2400" dirty="0" smtClean="0">
                <a:latin typeface="Cambria" panose="02040503050406030204" pitchFamily="18" charset="0"/>
                <a:ea typeface="Cambria" panose="02040503050406030204" pitchFamily="18" charset="0"/>
              </a:rPr>
              <a:t> contains unique elements only.</a:t>
            </a:r>
          </a:p>
          <a:p>
            <a:pPr algn="just"/>
            <a:r>
              <a:rPr lang="en-GB" sz="2400" dirty="0" err="1" smtClean="0">
                <a:latin typeface="Cambria" panose="02040503050406030204" pitchFamily="18" charset="0"/>
                <a:ea typeface="Cambria" panose="02040503050406030204" pitchFamily="18" charset="0"/>
              </a:rPr>
              <a:t>HashSet</a:t>
            </a:r>
            <a:r>
              <a:rPr lang="en-GB" sz="2400" dirty="0" smtClean="0">
                <a:latin typeface="Cambria" panose="02040503050406030204" pitchFamily="18" charset="0"/>
                <a:ea typeface="Cambria" panose="02040503050406030204" pitchFamily="18" charset="0"/>
              </a:rPr>
              <a:t> allows null value.</a:t>
            </a:r>
          </a:p>
          <a:p>
            <a:pPr algn="just"/>
            <a:r>
              <a:rPr lang="en-GB" sz="2400" dirty="0" err="1" smtClean="0">
                <a:latin typeface="Cambria" panose="02040503050406030204" pitchFamily="18" charset="0"/>
                <a:ea typeface="Cambria" panose="02040503050406030204" pitchFamily="18" charset="0"/>
              </a:rPr>
              <a:t>HashSet</a:t>
            </a:r>
            <a:r>
              <a:rPr lang="en-GB" sz="2400" dirty="0" smtClean="0">
                <a:latin typeface="Cambria" panose="02040503050406030204" pitchFamily="18" charset="0"/>
                <a:ea typeface="Cambria" panose="02040503050406030204" pitchFamily="18" charset="0"/>
              </a:rPr>
              <a:t> class is non synchronized.</a:t>
            </a:r>
          </a:p>
          <a:p>
            <a:pPr algn="just"/>
            <a:r>
              <a:rPr lang="en-GB" sz="2400" dirty="0" err="1" smtClean="0">
                <a:latin typeface="Cambria" panose="02040503050406030204" pitchFamily="18" charset="0"/>
                <a:ea typeface="Cambria" panose="02040503050406030204" pitchFamily="18" charset="0"/>
              </a:rPr>
              <a:t>HashSet</a:t>
            </a:r>
            <a:r>
              <a:rPr lang="en-GB" sz="2400" dirty="0" smtClean="0">
                <a:latin typeface="Cambria" panose="02040503050406030204" pitchFamily="18" charset="0"/>
                <a:ea typeface="Cambria" panose="02040503050406030204" pitchFamily="18" charset="0"/>
              </a:rPr>
              <a:t> doesn't maintain the insertion order. Here, elements are inserted on the basis of their </a:t>
            </a:r>
            <a:r>
              <a:rPr lang="en-GB" sz="2400" dirty="0" err="1" smtClean="0">
                <a:latin typeface="Cambria" panose="02040503050406030204" pitchFamily="18" charset="0"/>
                <a:ea typeface="Cambria" panose="02040503050406030204" pitchFamily="18" charset="0"/>
              </a:rPr>
              <a:t>hashcode</a:t>
            </a:r>
            <a:r>
              <a:rPr lang="en-GB" sz="2400" dirty="0" smtClean="0">
                <a:latin typeface="Cambria" panose="02040503050406030204" pitchFamily="18" charset="0"/>
                <a:ea typeface="Cambria" panose="02040503050406030204" pitchFamily="18" charset="0"/>
              </a:rPr>
              <a:t>.</a:t>
            </a:r>
          </a:p>
          <a:p>
            <a:pPr algn="just"/>
            <a:r>
              <a:rPr lang="en-GB" sz="2400" dirty="0" err="1" smtClean="0">
                <a:latin typeface="Cambria" panose="02040503050406030204" pitchFamily="18" charset="0"/>
                <a:ea typeface="Cambria" panose="02040503050406030204" pitchFamily="18" charset="0"/>
              </a:rPr>
              <a:t>HashSet</a:t>
            </a:r>
            <a:r>
              <a:rPr lang="en-GB" sz="2400" dirty="0" smtClean="0">
                <a:latin typeface="Cambria" panose="02040503050406030204" pitchFamily="18" charset="0"/>
                <a:ea typeface="Cambria" panose="02040503050406030204" pitchFamily="18" charset="0"/>
              </a:rPr>
              <a:t> is the best approach for search operations.</a:t>
            </a:r>
          </a:p>
          <a:p>
            <a:pPr algn="just"/>
            <a:r>
              <a:rPr lang="en-GB" sz="2400" dirty="0" smtClean="0">
                <a:latin typeface="Cambria" panose="02040503050406030204" pitchFamily="18" charset="0"/>
                <a:ea typeface="Cambria" panose="02040503050406030204" pitchFamily="18" charset="0"/>
              </a:rPr>
              <a:t>The initial default capacity of </a:t>
            </a:r>
            <a:r>
              <a:rPr lang="en-GB" sz="2400" dirty="0" err="1" smtClean="0">
                <a:latin typeface="Cambria" panose="02040503050406030204" pitchFamily="18" charset="0"/>
                <a:ea typeface="Cambria" panose="02040503050406030204" pitchFamily="18" charset="0"/>
              </a:rPr>
              <a:t>HashSet</a:t>
            </a:r>
            <a:r>
              <a:rPr lang="en-GB" sz="2400" dirty="0" smtClean="0">
                <a:latin typeface="Cambria" panose="02040503050406030204" pitchFamily="18" charset="0"/>
                <a:ea typeface="Cambria" panose="02040503050406030204" pitchFamily="18" charset="0"/>
              </a:rPr>
              <a:t> is 16, and the load factor is 0.75.</a:t>
            </a:r>
          </a:p>
          <a:p>
            <a:pPr algn="just"/>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34</a:t>
            </a:fld>
            <a:endParaRPr lang="en-US" altLang="en-US">
              <a:latin typeface="Cambria" panose="02040503050406030204" pitchFamily="18" charset="0"/>
              <a:ea typeface="Cambria" panose="02040503050406030204" pitchFamily="18" charset="0"/>
            </a:endParaRPr>
          </a:p>
        </p:txBody>
      </p:sp>
      <p:pic>
        <p:nvPicPr>
          <p:cNvPr id="5" name="Picture 4" descr="Java HashSet class hierarchy"/>
          <p:cNvPicPr/>
          <p:nvPr/>
        </p:nvPicPr>
        <p:blipFill>
          <a:blip r:embed="rId2"/>
          <a:srcRect/>
          <a:stretch>
            <a:fillRect/>
          </a:stretch>
        </p:blipFill>
        <p:spPr bwMode="auto">
          <a:xfrm>
            <a:off x="10661015" y="855606"/>
            <a:ext cx="1530985" cy="4429156"/>
          </a:xfrm>
          <a:prstGeom prst="rect">
            <a:avLst/>
          </a:prstGeom>
          <a:noFill/>
          <a:ln w="9525">
            <a:noFill/>
            <a:miter lim="800000"/>
            <a:headEnd/>
            <a:tailEnd/>
          </a:ln>
        </p:spPr>
      </p:pic>
    </p:spTree>
    <p:extLst>
      <p:ext uri="{BB962C8B-B14F-4D97-AF65-F5344CB8AC3E}">
        <p14:creationId xmlns:p14="http://schemas.microsoft.com/office/powerpoint/2010/main" val="401866563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409928" cy="615603"/>
          </a:xfrm>
        </p:spPr>
        <p:txBody>
          <a:bodyPr/>
          <a:lstStyle/>
          <a:p>
            <a:r>
              <a:rPr lang="en-IN" sz="3600" dirty="0" err="1" smtClean="0">
                <a:latin typeface="Cambria" panose="02040503050406030204" pitchFamily="18" charset="0"/>
                <a:ea typeface="Cambria" panose="02040503050406030204" pitchFamily="18" charset="0"/>
              </a:rPr>
              <a:t>TreeSet</a:t>
            </a:r>
            <a:endParaRPr lang="en-US" sz="3600"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91344" y="822306"/>
            <a:ext cx="9649072" cy="4819665"/>
          </a:xfrm>
        </p:spPr>
        <p:txBody>
          <a:bodyPr/>
          <a:lstStyle/>
          <a:p>
            <a:pPr algn="just">
              <a:spcBef>
                <a:spcPts val="0"/>
              </a:spcBef>
            </a:pPr>
            <a:r>
              <a:rPr lang="en-GB" sz="1800" dirty="0" smtClean="0">
                <a:latin typeface="Cambria" panose="02040503050406030204" pitchFamily="18" charset="0"/>
                <a:ea typeface="Cambria" panose="02040503050406030204" pitchFamily="18" charset="0"/>
              </a:rPr>
              <a:t>Java </a:t>
            </a:r>
            <a:r>
              <a:rPr lang="en-GB" sz="1800" dirty="0" err="1" smtClean="0">
                <a:latin typeface="Cambria" panose="02040503050406030204" pitchFamily="18" charset="0"/>
                <a:ea typeface="Cambria" panose="02040503050406030204" pitchFamily="18" charset="0"/>
              </a:rPr>
              <a:t>TreeSet</a:t>
            </a:r>
            <a:r>
              <a:rPr lang="en-GB" sz="1800" dirty="0" smtClean="0">
                <a:latin typeface="Cambria" panose="02040503050406030204" pitchFamily="18" charset="0"/>
                <a:ea typeface="Cambria" panose="02040503050406030204" pitchFamily="18" charset="0"/>
              </a:rPr>
              <a:t> class implements the Set interface that uses a tree for storage. It inherits </a:t>
            </a:r>
            <a:r>
              <a:rPr lang="en-GB" sz="1800" dirty="0" err="1" smtClean="0">
                <a:latin typeface="Cambria" panose="02040503050406030204" pitchFamily="18" charset="0"/>
                <a:ea typeface="Cambria" panose="02040503050406030204" pitchFamily="18" charset="0"/>
              </a:rPr>
              <a:t>AbstractSet</a:t>
            </a:r>
            <a:r>
              <a:rPr lang="en-GB" sz="1800" dirty="0" smtClean="0">
                <a:latin typeface="Cambria" panose="02040503050406030204" pitchFamily="18" charset="0"/>
                <a:ea typeface="Cambria" panose="02040503050406030204" pitchFamily="18" charset="0"/>
              </a:rPr>
              <a:t> class and implements the </a:t>
            </a:r>
            <a:r>
              <a:rPr lang="en-GB" sz="1800" dirty="0" err="1" smtClean="0">
                <a:latin typeface="Cambria" panose="02040503050406030204" pitchFamily="18" charset="0"/>
                <a:ea typeface="Cambria" panose="02040503050406030204" pitchFamily="18" charset="0"/>
              </a:rPr>
              <a:t>NavigableSet</a:t>
            </a:r>
            <a:r>
              <a:rPr lang="en-GB" sz="1800" dirty="0" smtClean="0">
                <a:latin typeface="Cambria" panose="02040503050406030204" pitchFamily="18" charset="0"/>
                <a:ea typeface="Cambria" panose="02040503050406030204" pitchFamily="18" charset="0"/>
              </a:rPr>
              <a:t> interface. The objects of the </a:t>
            </a:r>
            <a:r>
              <a:rPr lang="en-GB" sz="1800" dirty="0" err="1" smtClean="0">
                <a:latin typeface="Cambria" panose="02040503050406030204" pitchFamily="18" charset="0"/>
                <a:ea typeface="Cambria" panose="02040503050406030204" pitchFamily="18" charset="0"/>
              </a:rPr>
              <a:t>TreeSet</a:t>
            </a:r>
            <a:r>
              <a:rPr lang="en-GB" sz="1800" dirty="0" smtClean="0">
                <a:latin typeface="Cambria" panose="02040503050406030204" pitchFamily="18" charset="0"/>
                <a:ea typeface="Cambria" panose="02040503050406030204" pitchFamily="18" charset="0"/>
              </a:rPr>
              <a:t> class are stored in ascending order.</a:t>
            </a:r>
          </a:p>
          <a:p>
            <a:pPr algn="just">
              <a:spcBef>
                <a:spcPts val="0"/>
              </a:spcBef>
            </a:pPr>
            <a:r>
              <a:rPr lang="en-GB" sz="1800" dirty="0" smtClean="0">
                <a:latin typeface="Cambria" panose="02040503050406030204" pitchFamily="18" charset="0"/>
                <a:ea typeface="Cambria" panose="02040503050406030204" pitchFamily="18" charset="0"/>
              </a:rPr>
              <a:t>The important points about the Java </a:t>
            </a:r>
            <a:r>
              <a:rPr lang="en-GB" sz="1800" dirty="0" err="1" smtClean="0">
                <a:latin typeface="Cambria" panose="02040503050406030204" pitchFamily="18" charset="0"/>
                <a:ea typeface="Cambria" panose="02040503050406030204" pitchFamily="18" charset="0"/>
              </a:rPr>
              <a:t>TreeSet</a:t>
            </a:r>
            <a:r>
              <a:rPr lang="en-GB" sz="1800" dirty="0" smtClean="0">
                <a:latin typeface="Cambria" panose="02040503050406030204" pitchFamily="18" charset="0"/>
                <a:ea typeface="Cambria" panose="02040503050406030204" pitchFamily="18" charset="0"/>
              </a:rPr>
              <a:t> class are:</a:t>
            </a:r>
          </a:p>
          <a:p>
            <a:pPr algn="just">
              <a:spcBef>
                <a:spcPts val="0"/>
              </a:spcBef>
            </a:pPr>
            <a:r>
              <a:rPr lang="en-GB" sz="1800" dirty="0" smtClean="0">
                <a:latin typeface="Cambria" panose="02040503050406030204" pitchFamily="18" charset="0"/>
                <a:ea typeface="Cambria" panose="02040503050406030204" pitchFamily="18" charset="0"/>
              </a:rPr>
              <a:t>Java </a:t>
            </a:r>
            <a:r>
              <a:rPr lang="en-GB" sz="1800" dirty="0" err="1" smtClean="0">
                <a:latin typeface="Cambria" panose="02040503050406030204" pitchFamily="18" charset="0"/>
                <a:ea typeface="Cambria" panose="02040503050406030204" pitchFamily="18" charset="0"/>
              </a:rPr>
              <a:t>TreeSet</a:t>
            </a:r>
            <a:r>
              <a:rPr lang="en-GB" sz="1800" dirty="0" smtClean="0">
                <a:latin typeface="Cambria" panose="02040503050406030204" pitchFamily="18" charset="0"/>
                <a:ea typeface="Cambria" panose="02040503050406030204" pitchFamily="18" charset="0"/>
              </a:rPr>
              <a:t> class contains unique elements only like </a:t>
            </a:r>
            <a:r>
              <a:rPr lang="en-GB" sz="1800" dirty="0" err="1" smtClean="0">
                <a:latin typeface="Cambria" panose="02040503050406030204" pitchFamily="18" charset="0"/>
                <a:ea typeface="Cambria" panose="02040503050406030204" pitchFamily="18" charset="0"/>
              </a:rPr>
              <a:t>HashSet</a:t>
            </a:r>
            <a:r>
              <a:rPr lang="en-GB" sz="1800" dirty="0" smtClean="0">
                <a:latin typeface="Cambria" panose="02040503050406030204" pitchFamily="18" charset="0"/>
                <a:ea typeface="Cambria" panose="02040503050406030204" pitchFamily="18" charset="0"/>
              </a:rPr>
              <a:t>.</a:t>
            </a:r>
          </a:p>
          <a:p>
            <a:pPr algn="just">
              <a:spcBef>
                <a:spcPts val="0"/>
              </a:spcBef>
            </a:pPr>
            <a:r>
              <a:rPr lang="en-GB" sz="1800" dirty="0" smtClean="0">
                <a:latin typeface="Cambria" panose="02040503050406030204" pitchFamily="18" charset="0"/>
                <a:ea typeface="Cambria" panose="02040503050406030204" pitchFamily="18" charset="0"/>
              </a:rPr>
              <a:t>Java </a:t>
            </a:r>
            <a:r>
              <a:rPr lang="en-GB" sz="1800" dirty="0" err="1" smtClean="0">
                <a:latin typeface="Cambria" panose="02040503050406030204" pitchFamily="18" charset="0"/>
                <a:ea typeface="Cambria" panose="02040503050406030204" pitchFamily="18" charset="0"/>
              </a:rPr>
              <a:t>TreeSet</a:t>
            </a:r>
            <a:r>
              <a:rPr lang="en-GB" sz="1800" dirty="0" smtClean="0">
                <a:latin typeface="Cambria" panose="02040503050406030204" pitchFamily="18" charset="0"/>
                <a:ea typeface="Cambria" panose="02040503050406030204" pitchFamily="18" charset="0"/>
              </a:rPr>
              <a:t> class access and retrieval times are quiet fast.</a:t>
            </a:r>
          </a:p>
          <a:p>
            <a:pPr algn="just">
              <a:spcBef>
                <a:spcPts val="0"/>
              </a:spcBef>
            </a:pPr>
            <a:r>
              <a:rPr lang="en-GB" sz="1800" dirty="0" smtClean="0">
                <a:latin typeface="Cambria" panose="02040503050406030204" pitchFamily="18" charset="0"/>
                <a:ea typeface="Cambria" panose="02040503050406030204" pitchFamily="18" charset="0"/>
              </a:rPr>
              <a:t>Java </a:t>
            </a:r>
            <a:r>
              <a:rPr lang="en-GB" sz="1800" dirty="0" err="1" smtClean="0">
                <a:latin typeface="Cambria" panose="02040503050406030204" pitchFamily="18" charset="0"/>
                <a:ea typeface="Cambria" panose="02040503050406030204" pitchFamily="18" charset="0"/>
              </a:rPr>
              <a:t>TreeSet</a:t>
            </a:r>
            <a:r>
              <a:rPr lang="en-GB" sz="1800" dirty="0" smtClean="0">
                <a:latin typeface="Cambria" panose="02040503050406030204" pitchFamily="18" charset="0"/>
                <a:ea typeface="Cambria" panose="02040503050406030204" pitchFamily="18" charset="0"/>
              </a:rPr>
              <a:t> class doesn't allow null element.</a:t>
            </a:r>
          </a:p>
          <a:p>
            <a:pPr algn="just">
              <a:spcBef>
                <a:spcPts val="0"/>
              </a:spcBef>
            </a:pPr>
            <a:r>
              <a:rPr lang="en-GB" sz="1800" dirty="0" smtClean="0">
                <a:latin typeface="Cambria" panose="02040503050406030204" pitchFamily="18" charset="0"/>
                <a:ea typeface="Cambria" panose="02040503050406030204" pitchFamily="18" charset="0"/>
              </a:rPr>
              <a:t>Java </a:t>
            </a:r>
            <a:r>
              <a:rPr lang="en-GB" sz="1800" dirty="0" err="1" smtClean="0">
                <a:latin typeface="Cambria" panose="02040503050406030204" pitchFamily="18" charset="0"/>
                <a:ea typeface="Cambria" panose="02040503050406030204" pitchFamily="18" charset="0"/>
              </a:rPr>
              <a:t>TreeSet</a:t>
            </a:r>
            <a:r>
              <a:rPr lang="en-GB" sz="1800" dirty="0" smtClean="0">
                <a:latin typeface="Cambria" panose="02040503050406030204" pitchFamily="18" charset="0"/>
                <a:ea typeface="Cambria" panose="02040503050406030204" pitchFamily="18" charset="0"/>
              </a:rPr>
              <a:t> class is non synchronized.</a:t>
            </a:r>
          </a:p>
          <a:p>
            <a:pPr algn="just">
              <a:spcBef>
                <a:spcPts val="0"/>
              </a:spcBef>
            </a:pPr>
            <a:r>
              <a:rPr lang="en-GB" sz="1800" dirty="0" smtClean="0">
                <a:latin typeface="Cambria" panose="02040503050406030204" pitchFamily="18" charset="0"/>
                <a:ea typeface="Cambria" panose="02040503050406030204" pitchFamily="18" charset="0"/>
              </a:rPr>
              <a:t>Java </a:t>
            </a:r>
            <a:r>
              <a:rPr lang="en-GB" sz="1800" dirty="0" err="1" smtClean="0">
                <a:latin typeface="Cambria" panose="02040503050406030204" pitchFamily="18" charset="0"/>
                <a:ea typeface="Cambria" panose="02040503050406030204" pitchFamily="18" charset="0"/>
              </a:rPr>
              <a:t>TreeSet</a:t>
            </a:r>
            <a:r>
              <a:rPr lang="en-GB" sz="1800" dirty="0" smtClean="0">
                <a:latin typeface="Cambria" panose="02040503050406030204" pitchFamily="18" charset="0"/>
                <a:ea typeface="Cambria" panose="02040503050406030204" pitchFamily="18" charset="0"/>
              </a:rPr>
              <a:t> class maintains ascending order.</a:t>
            </a:r>
          </a:p>
          <a:p>
            <a:pPr algn="just">
              <a:spcBef>
                <a:spcPts val="0"/>
              </a:spcBef>
            </a:pPr>
            <a:r>
              <a:rPr lang="en-GB" sz="1800" dirty="0" smtClean="0">
                <a:latin typeface="Cambria" panose="02040503050406030204" pitchFamily="18" charset="0"/>
                <a:ea typeface="Cambria" panose="02040503050406030204" pitchFamily="18" charset="0"/>
              </a:rPr>
              <a:t>Java </a:t>
            </a:r>
            <a:r>
              <a:rPr lang="en-GB" sz="1800" dirty="0" err="1" smtClean="0">
                <a:latin typeface="Cambria" panose="02040503050406030204" pitchFamily="18" charset="0"/>
                <a:ea typeface="Cambria" panose="02040503050406030204" pitchFamily="18" charset="0"/>
              </a:rPr>
              <a:t>TreeSet</a:t>
            </a:r>
            <a:r>
              <a:rPr lang="en-GB" sz="1800" dirty="0" smtClean="0">
                <a:latin typeface="Cambria" panose="02040503050406030204" pitchFamily="18" charset="0"/>
                <a:ea typeface="Cambria" panose="02040503050406030204" pitchFamily="18" charset="0"/>
              </a:rPr>
              <a:t> class contains unique elements only like </a:t>
            </a:r>
            <a:r>
              <a:rPr lang="en-GB" sz="1800" dirty="0" err="1" smtClean="0">
                <a:latin typeface="Cambria" panose="02040503050406030204" pitchFamily="18" charset="0"/>
                <a:ea typeface="Cambria" panose="02040503050406030204" pitchFamily="18" charset="0"/>
              </a:rPr>
              <a:t>HashSet</a:t>
            </a:r>
            <a:r>
              <a:rPr lang="en-GB" sz="1800" dirty="0" smtClean="0">
                <a:latin typeface="Cambria" panose="02040503050406030204" pitchFamily="18" charset="0"/>
                <a:ea typeface="Cambria" panose="02040503050406030204" pitchFamily="18" charset="0"/>
              </a:rPr>
              <a:t>.</a:t>
            </a:r>
          </a:p>
          <a:p>
            <a:pPr algn="just">
              <a:spcBef>
                <a:spcPts val="0"/>
              </a:spcBef>
            </a:pPr>
            <a:r>
              <a:rPr lang="en-GB" sz="1800" dirty="0" smtClean="0">
                <a:latin typeface="Cambria" panose="02040503050406030204" pitchFamily="18" charset="0"/>
                <a:ea typeface="Cambria" panose="02040503050406030204" pitchFamily="18" charset="0"/>
              </a:rPr>
              <a:t>Java </a:t>
            </a:r>
            <a:r>
              <a:rPr lang="en-GB" sz="1800" dirty="0" err="1" smtClean="0">
                <a:latin typeface="Cambria" panose="02040503050406030204" pitchFamily="18" charset="0"/>
                <a:ea typeface="Cambria" panose="02040503050406030204" pitchFamily="18" charset="0"/>
              </a:rPr>
              <a:t>TreeSet</a:t>
            </a:r>
            <a:r>
              <a:rPr lang="en-GB" sz="1800" dirty="0" smtClean="0">
                <a:latin typeface="Cambria" panose="02040503050406030204" pitchFamily="18" charset="0"/>
                <a:ea typeface="Cambria" panose="02040503050406030204" pitchFamily="18" charset="0"/>
              </a:rPr>
              <a:t> class access and retrieval times are quite fast.</a:t>
            </a:r>
          </a:p>
          <a:p>
            <a:pPr algn="just">
              <a:spcBef>
                <a:spcPts val="0"/>
              </a:spcBef>
            </a:pPr>
            <a:r>
              <a:rPr lang="en-GB" sz="1800" dirty="0" smtClean="0">
                <a:latin typeface="Cambria" panose="02040503050406030204" pitchFamily="18" charset="0"/>
                <a:ea typeface="Cambria" panose="02040503050406030204" pitchFamily="18" charset="0"/>
              </a:rPr>
              <a:t>Java </a:t>
            </a:r>
            <a:r>
              <a:rPr lang="en-GB" sz="1800" dirty="0" err="1" smtClean="0">
                <a:latin typeface="Cambria" panose="02040503050406030204" pitchFamily="18" charset="0"/>
                <a:ea typeface="Cambria" panose="02040503050406030204" pitchFamily="18" charset="0"/>
              </a:rPr>
              <a:t>TreeSet</a:t>
            </a:r>
            <a:r>
              <a:rPr lang="en-GB" sz="1800" dirty="0" smtClean="0">
                <a:latin typeface="Cambria" panose="02040503050406030204" pitchFamily="18" charset="0"/>
                <a:ea typeface="Cambria" panose="02040503050406030204" pitchFamily="18" charset="0"/>
              </a:rPr>
              <a:t> class doesn't allow null elements.</a:t>
            </a:r>
          </a:p>
          <a:p>
            <a:pPr algn="just">
              <a:spcBef>
                <a:spcPts val="0"/>
              </a:spcBef>
            </a:pPr>
            <a:r>
              <a:rPr lang="en-GB" sz="1800" dirty="0" smtClean="0">
                <a:latin typeface="Cambria" panose="02040503050406030204" pitchFamily="18" charset="0"/>
                <a:ea typeface="Cambria" panose="02040503050406030204" pitchFamily="18" charset="0"/>
              </a:rPr>
              <a:t>Java </a:t>
            </a:r>
            <a:r>
              <a:rPr lang="en-GB" sz="1800" dirty="0" err="1" smtClean="0">
                <a:latin typeface="Cambria" panose="02040503050406030204" pitchFamily="18" charset="0"/>
                <a:ea typeface="Cambria" panose="02040503050406030204" pitchFamily="18" charset="0"/>
              </a:rPr>
              <a:t>TreeSet</a:t>
            </a:r>
            <a:r>
              <a:rPr lang="en-GB" sz="1800" dirty="0" smtClean="0">
                <a:latin typeface="Cambria" panose="02040503050406030204" pitchFamily="18" charset="0"/>
                <a:ea typeface="Cambria" panose="02040503050406030204" pitchFamily="18" charset="0"/>
              </a:rPr>
              <a:t> class is non-synchronized.</a:t>
            </a:r>
          </a:p>
          <a:p>
            <a:pPr algn="just">
              <a:spcBef>
                <a:spcPts val="0"/>
              </a:spcBef>
            </a:pPr>
            <a:r>
              <a:rPr lang="en-GB" sz="1800" dirty="0" smtClean="0">
                <a:latin typeface="Cambria" panose="02040503050406030204" pitchFamily="18" charset="0"/>
                <a:ea typeface="Cambria" panose="02040503050406030204" pitchFamily="18" charset="0"/>
              </a:rPr>
              <a:t>Java </a:t>
            </a:r>
            <a:r>
              <a:rPr lang="en-GB" sz="1800" dirty="0" err="1" smtClean="0">
                <a:latin typeface="Cambria" panose="02040503050406030204" pitchFamily="18" charset="0"/>
                <a:ea typeface="Cambria" panose="02040503050406030204" pitchFamily="18" charset="0"/>
              </a:rPr>
              <a:t>TreeSet</a:t>
            </a:r>
            <a:r>
              <a:rPr lang="en-GB" sz="1800" dirty="0" smtClean="0">
                <a:latin typeface="Cambria" panose="02040503050406030204" pitchFamily="18" charset="0"/>
                <a:ea typeface="Cambria" panose="02040503050406030204" pitchFamily="18" charset="0"/>
              </a:rPr>
              <a:t> class maintains ascending order.</a:t>
            </a:r>
          </a:p>
          <a:p>
            <a:pPr algn="just">
              <a:spcBef>
                <a:spcPts val="0"/>
              </a:spcBef>
            </a:pPr>
            <a:r>
              <a:rPr lang="en-GB" sz="1800" dirty="0" smtClean="0">
                <a:latin typeface="Cambria" panose="02040503050406030204" pitchFamily="18" charset="0"/>
                <a:ea typeface="Cambria" panose="02040503050406030204" pitchFamily="18" charset="0"/>
              </a:rPr>
              <a:t>The </a:t>
            </a:r>
            <a:r>
              <a:rPr lang="en-GB" sz="1800" dirty="0" err="1" smtClean="0">
                <a:latin typeface="Cambria" panose="02040503050406030204" pitchFamily="18" charset="0"/>
                <a:ea typeface="Cambria" panose="02040503050406030204" pitchFamily="18" charset="0"/>
              </a:rPr>
              <a:t>TreeSet</a:t>
            </a:r>
            <a:r>
              <a:rPr lang="en-GB" sz="1800" dirty="0" smtClean="0">
                <a:latin typeface="Cambria" panose="02040503050406030204" pitchFamily="18" charset="0"/>
                <a:ea typeface="Cambria" panose="02040503050406030204" pitchFamily="18" charset="0"/>
              </a:rPr>
              <a:t> can only allow those generic types that are comparable. For example The Comparable interface is being implemented by the </a:t>
            </a:r>
            <a:r>
              <a:rPr lang="en-GB" sz="1800" dirty="0" err="1" smtClean="0">
                <a:latin typeface="Cambria" panose="02040503050406030204" pitchFamily="18" charset="0"/>
                <a:ea typeface="Cambria" panose="02040503050406030204" pitchFamily="18" charset="0"/>
              </a:rPr>
              <a:t>StringBuffer</a:t>
            </a:r>
            <a:r>
              <a:rPr lang="en-GB" sz="1800" dirty="0" smtClean="0">
                <a:latin typeface="Cambria" panose="02040503050406030204" pitchFamily="18" charset="0"/>
                <a:ea typeface="Cambria" panose="02040503050406030204" pitchFamily="18" charset="0"/>
              </a:rPr>
              <a:t> class.</a:t>
            </a:r>
          </a:p>
          <a:p>
            <a:pPr algn="just">
              <a:spcBef>
                <a:spcPts val="0"/>
              </a:spcBef>
            </a:pPr>
            <a:r>
              <a:rPr lang="en-GB" sz="1800" dirty="0" smtClean="0">
                <a:latin typeface="Cambria" panose="02040503050406030204" pitchFamily="18" charset="0"/>
                <a:ea typeface="Cambria" panose="02040503050406030204" pitchFamily="18" charset="0"/>
              </a:rPr>
              <a:t>Internal Working of The </a:t>
            </a:r>
            <a:r>
              <a:rPr lang="en-GB" sz="1800" dirty="0" err="1" smtClean="0">
                <a:latin typeface="Cambria" panose="02040503050406030204" pitchFamily="18" charset="0"/>
                <a:ea typeface="Cambria" panose="02040503050406030204" pitchFamily="18" charset="0"/>
              </a:rPr>
              <a:t>TreeSet</a:t>
            </a:r>
            <a:r>
              <a:rPr lang="en-GB" sz="1800" dirty="0" smtClean="0">
                <a:latin typeface="Cambria" panose="02040503050406030204" pitchFamily="18" charset="0"/>
                <a:ea typeface="Cambria" panose="02040503050406030204" pitchFamily="18" charset="0"/>
              </a:rPr>
              <a:t> Class</a:t>
            </a:r>
          </a:p>
          <a:p>
            <a:pPr algn="just"/>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35</a:t>
            </a:fld>
            <a:endParaRPr lang="en-US" altLang="en-US">
              <a:latin typeface="Cambria" panose="02040503050406030204" pitchFamily="18" charset="0"/>
              <a:ea typeface="Cambria" panose="02040503050406030204" pitchFamily="18" charset="0"/>
            </a:endParaRPr>
          </a:p>
        </p:txBody>
      </p:sp>
      <p:pic>
        <p:nvPicPr>
          <p:cNvPr id="5" name="Picture 4" descr="TreeSet class hierarchy"/>
          <p:cNvPicPr/>
          <p:nvPr/>
        </p:nvPicPr>
        <p:blipFill>
          <a:blip r:embed="rId2"/>
          <a:srcRect/>
          <a:stretch>
            <a:fillRect/>
          </a:stretch>
        </p:blipFill>
        <p:spPr bwMode="auto">
          <a:xfrm>
            <a:off x="10344472" y="833139"/>
            <a:ext cx="1530985" cy="4220845"/>
          </a:xfrm>
          <a:prstGeom prst="rect">
            <a:avLst/>
          </a:prstGeom>
          <a:noFill/>
          <a:ln w="9525">
            <a:noFill/>
            <a:miter lim="800000"/>
            <a:headEnd/>
            <a:tailEnd/>
          </a:ln>
        </p:spPr>
      </p:pic>
    </p:spTree>
    <p:extLst>
      <p:ext uri="{BB962C8B-B14F-4D97-AF65-F5344CB8AC3E}">
        <p14:creationId xmlns:p14="http://schemas.microsoft.com/office/powerpoint/2010/main" val="347924102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961656" cy="543595"/>
          </a:xfrm>
        </p:spPr>
        <p:txBody>
          <a:bodyPr/>
          <a:lstStyle/>
          <a:p>
            <a:r>
              <a:rPr lang="en-IN" dirty="0" smtClean="0"/>
              <a:t>Example</a:t>
            </a:r>
            <a:endParaRPr lang="en-US" dirty="0"/>
          </a:p>
        </p:txBody>
      </p:sp>
      <p:sp>
        <p:nvSpPr>
          <p:cNvPr id="3" name="Content Placeholder 2"/>
          <p:cNvSpPr>
            <a:spLocks noGrp="1"/>
          </p:cNvSpPr>
          <p:nvPr>
            <p:ph idx="1"/>
          </p:nvPr>
        </p:nvSpPr>
        <p:spPr>
          <a:xfrm>
            <a:off x="551384" y="764704"/>
            <a:ext cx="6552728" cy="4680520"/>
          </a:xfrm>
        </p:spPr>
        <p:txBody>
          <a:bodyPr/>
          <a:lstStyle/>
          <a:p>
            <a:pPr>
              <a:spcBef>
                <a:spcPts val="0"/>
              </a:spcBef>
              <a:buNone/>
            </a:pPr>
            <a:r>
              <a:rPr lang="en-US" sz="2000" b="1" dirty="0" smtClean="0"/>
              <a:t>import</a:t>
            </a:r>
            <a:r>
              <a:rPr lang="en-US" sz="2000" dirty="0" smtClean="0"/>
              <a:t> </a:t>
            </a:r>
            <a:r>
              <a:rPr lang="en-US" sz="2000" dirty="0" err="1" smtClean="0"/>
              <a:t>java.util</a:t>
            </a:r>
            <a:r>
              <a:rPr lang="en-US" sz="2000" dirty="0" smtClean="0"/>
              <a:t>.*;  </a:t>
            </a:r>
          </a:p>
          <a:p>
            <a:pPr>
              <a:spcBef>
                <a:spcPts val="0"/>
              </a:spcBef>
              <a:buNone/>
            </a:pPr>
            <a:r>
              <a:rPr lang="en-US" sz="2000" b="1" dirty="0" smtClean="0"/>
              <a:t>class</a:t>
            </a:r>
            <a:r>
              <a:rPr lang="en-US" sz="2000" dirty="0" smtClean="0"/>
              <a:t> TreeSet1{  </a:t>
            </a:r>
          </a:p>
          <a:p>
            <a:pPr>
              <a:spcBef>
                <a:spcPts val="0"/>
              </a:spcBef>
              <a:buNone/>
            </a:pPr>
            <a:r>
              <a:rPr lang="en-US" sz="2000" dirty="0" smtClean="0"/>
              <a:t> </a:t>
            </a: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  </a:t>
            </a:r>
          </a:p>
          <a:p>
            <a:pPr>
              <a:spcBef>
                <a:spcPts val="0"/>
              </a:spcBef>
              <a:buNone/>
            </a:pPr>
            <a:r>
              <a:rPr lang="en-US" sz="2000" dirty="0" smtClean="0"/>
              <a:t>  //Creating and adding elements  </a:t>
            </a:r>
          </a:p>
          <a:p>
            <a:pPr>
              <a:spcBef>
                <a:spcPts val="0"/>
              </a:spcBef>
              <a:buNone/>
            </a:pPr>
            <a:r>
              <a:rPr lang="en-US" sz="2000" dirty="0" smtClean="0"/>
              <a:t>  </a:t>
            </a:r>
            <a:r>
              <a:rPr lang="en-US" sz="2000" dirty="0" err="1" smtClean="0"/>
              <a:t>TreeSet</a:t>
            </a:r>
            <a:r>
              <a:rPr lang="en-US" sz="2000" dirty="0" smtClean="0"/>
              <a:t>&lt;String&gt; al=</a:t>
            </a:r>
            <a:r>
              <a:rPr lang="en-US" sz="2000" b="1" dirty="0" smtClean="0"/>
              <a:t>new</a:t>
            </a:r>
            <a:r>
              <a:rPr lang="en-US" sz="2000" dirty="0" smtClean="0"/>
              <a:t> </a:t>
            </a:r>
            <a:r>
              <a:rPr lang="en-US" sz="2000" dirty="0" err="1" smtClean="0"/>
              <a:t>TreeSet</a:t>
            </a:r>
            <a:r>
              <a:rPr lang="en-US" sz="2000" dirty="0" smtClean="0"/>
              <a:t>&lt;String&gt;();  </a:t>
            </a:r>
          </a:p>
          <a:p>
            <a:pPr>
              <a:spcBef>
                <a:spcPts val="0"/>
              </a:spcBef>
              <a:buNone/>
            </a:pPr>
            <a:r>
              <a:rPr lang="en-US" sz="2000" dirty="0" smtClean="0"/>
              <a:t>  </a:t>
            </a:r>
            <a:r>
              <a:rPr lang="en-US" sz="2000" dirty="0" err="1" smtClean="0"/>
              <a:t>al.add</a:t>
            </a:r>
            <a:r>
              <a:rPr lang="en-US" sz="2000" dirty="0" smtClean="0"/>
              <a:t>("Ravi");  </a:t>
            </a:r>
          </a:p>
          <a:p>
            <a:pPr>
              <a:spcBef>
                <a:spcPts val="0"/>
              </a:spcBef>
              <a:buNone/>
            </a:pPr>
            <a:r>
              <a:rPr lang="en-US" sz="2000" dirty="0" smtClean="0"/>
              <a:t>  </a:t>
            </a:r>
            <a:r>
              <a:rPr lang="en-US" sz="2000" dirty="0" err="1" smtClean="0"/>
              <a:t>al.add</a:t>
            </a:r>
            <a:r>
              <a:rPr lang="en-US" sz="2000" dirty="0" smtClean="0"/>
              <a:t>("Vijay");  </a:t>
            </a:r>
          </a:p>
          <a:p>
            <a:pPr>
              <a:spcBef>
                <a:spcPts val="0"/>
              </a:spcBef>
              <a:buNone/>
            </a:pPr>
            <a:r>
              <a:rPr lang="en-US" sz="2000" dirty="0" smtClean="0"/>
              <a:t>  </a:t>
            </a:r>
            <a:r>
              <a:rPr lang="en-US" sz="2000" dirty="0" err="1" smtClean="0"/>
              <a:t>al.add</a:t>
            </a:r>
            <a:r>
              <a:rPr lang="en-US" sz="2000" dirty="0" smtClean="0"/>
              <a:t>("Ravi");  </a:t>
            </a:r>
          </a:p>
          <a:p>
            <a:pPr>
              <a:spcBef>
                <a:spcPts val="0"/>
              </a:spcBef>
              <a:buNone/>
            </a:pPr>
            <a:r>
              <a:rPr lang="en-US" sz="2000" dirty="0" smtClean="0"/>
              <a:t>  </a:t>
            </a:r>
            <a:r>
              <a:rPr lang="en-US" sz="2000" dirty="0" err="1" smtClean="0"/>
              <a:t>al.add</a:t>
            </a:r>
            <a:r>
              <a:rPr lang="en-US" sz="2000" dirty="0" smtClean="0"/>
              <a:t>("Ajay");  </a:t>
            </a:r>
          </a:p>
          <a:p>
            <a:pPr>
              <a:spcBef>
                <a:spcPts val="0"/>
              </a:spcBef>
              <a:buNone/>
            </a:pPr>
            <a:r>
              <a:rPr lang="en-US" sz="2000" dirty="0" smtClean="0"/>
              <a:t>  //Traversing elements  </a:t>
            </a:r>
          </a:p>
          <a:p>
            <a:pPr>
              <a:spcBef>
                <a:spcPts val="0"/>
              </a:spcBef>
              <a:buNone/>
            </a:pPr>
            <a:r>
              <a:rPr lang="en-US" sz="2000" dirty="0" smtClean="0"/>
              <a:t>  </a:t>
            </a:r>
            <a:r>
              <a:rPr lang="en-US" sz="2000" dirty="0" err="1" smtClean="0"/>
              <a:t>Iterator</a:t>
            </a:r>
            <a:r>
              <a:rPr lang="en-US" sz="2000" dirty="0" smtClean="0"/>
              <a:t>&lt;String&gt; </a:t>
            </a:r>
            <a:r>
              <a:rPr lang="en-US" sz="2000" dirty="0" err="1" smtClean="0"/>
              <a:t>itr</a:t>
            </a:r>
            <a:r>
              <a:rPr lang="en-US" sz="2000" dirty="0" smtClean="0"/>
              <a:t>=</a:t>
            </a:r>
            <a:r>
              <a:rPr lang="en-US" sz="2000" dirty="0" err="1" smtClean="0"/>
              <a:t>al.iterator</a:t>
            </a:r>
            <a:r>
              <a:rPr lang="en-US" sz="2000" dirty="0" smtClean="0"/>
              <a:t>();  </a:t>
            </a:r>
          </a:p>
          <a:p>
            <a:pPr>
              <a:spcBef>
                <a:spcPts val="0"/>
              </a:spcBef>
              <a:buNone/>
            </a:pPr>
            <a:r>
              <a:rPr lang="en-US" sz="2000" dirty="0" smtClean="0"/>
              <a:t>  </a:t>
            </a:r>
            <a:r>
              <a:rPr lang="en-US" sz="2000" b="1" dirty="0" smtClean="0"/>
              <a:t>while</a:t>
            </a:r>
            <a:r>
              <a:rPr lang="en-US" sz="2000" dirty="0" smtClean="0"/>
              <a:t>(</a:t>
            </a:r>
            <a:r>
              <a:rPr lang="en-US" sz="2000" dirty="0" err="1" smtClean="0"/>
              <a:t>itr.hasNext</a:t>
            </a:r>
            <a:r>
              <a:rPr lang="en-US" sz="2000" dirty="0" smtClean="0"/>
              <a:t>()){  </a:t>
            </a:r>
          </a:p>
          <a:p>
            <a:pPr>
              <a:spcBef>
                <a:spcPts val="0"/>
              </a:spcBef>
              <a:buNone/>
            </a:pPr>
            <a:r>
              <a:rPr lang="en-US" sz="2000" dirty="0" smtClean="0"/>
              <a:t>   </a:t>
            </a:r>
            <a:r>
              <a:rPr lang="en-US" sz="2000" dirty="0" err="1" smtClean="0"/>
              <a:t>System.out.println</a:t>
            </a:r>
            <a:r>
              <a:rPr lang="en-US" sz="2000" dirty="0" smtClean="0"/>
              <a:t>(</a:t>
            </a:r>
            <a:r>
              <a:rPr lang="en-US" sz="2000" dirty="0" err="1" smtClean="0"/>
              <a:t>itr.next</a:t>
            </a:r>
            <a:r>
              <a:rPr lang="en-US" sz="2000" dirty="0" smtClean="0"/>
              <a:t>());  </a:t>
            </a:r>
          </a:p>
          <a:p>
            <a:pPr>
              <a:spcBef>
                <a:spcPts val="0"/>
              </a:spcBef>
              <a:buNone/>
            </a:pPr>
            <a:r>
              <a:rPr lang="en-US" sz="2000" dirty="0" smtClean="0"/>
              <a:t>  }  </a:t>
            </a:r>
          </a:p>
          <a:p>
            <a:pPr>
              <a:spcBef>
                <a:spcPts val="0"/>
              </a:spcBef>
              <a:buNone/>
            </a:pPr>
            <a:r>
              <a:rPr lang="en-US" sz="2000" dirty="0" smtClean="0"/>
              <a:t> }  </a:t>
            </a:r>
          </a:p>
          <a:p>
            <a:pPr>
              <a:spcBef>
                <a:spcPts val="0"/>
              </a:spcBef>
              <a:buNone/>
            </a:pPr>
            <a:r>
              <a:rPr lang="en-US" sz="2000" dirty="0" smtClean="0"/>
              <a:t>}  </a:t>
            </a:r>
          </a:p>
          <a:p>
            <a:pPr>
              <a:spcBef>
                <a:spcPts val="0"/>
              </a:spcBef>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36</a:t>
            </a:fld>
            <a:endParaRPr lang="en-US" altLang="en-US"/>
          </a:p>
        </p:txBody>
      </p:sp>
    </p:spTree>
    <p:extLst>
      <p:ext uri="{BB962C8B-B14F-4D97-AF65-F5344CB8AC3E}">
        <p14:creationId xmlns:p14="http://schemas.microsoft.com/office/powerpoint/2010/main" val="241696601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0"/>
            <a:ext cx="7562056" cy="630211"/>
          </a:xfrm>
        </p:spPr>
        <p:txBody>
          <a:bodyPr/>
          <a:lstStyle/>
          <a:p>
            <a:r>
              <a:rPr lang="en-GB" sz="4000" b="1" dirty="0" smtClean="0">
                <a:solidFill>
                  <a:schemeClr val="accent1"/>
                </a:solidFill>
                <a:latin typeface="Cambria" panose="02040503050406030204" pitchFamily="18" charset="0"/>
                <a:ea typeface="Cambria" panose="02040503050406030204" pitchFamily="18" charset="0"/>
              </a:rPr>
              <a:t/>
            </a:r>
            <a:br>
              <a:rPr lang="en-GB" sz="4000" b="1" dirty="0" smtClean="0">
                <a:solidFill>
                  <a:schemeClr val="accent1"/>
                </a:solidFill>
                <a:latin typeface="Cambria" panose="02040503050406030204" pitchFamily="18" charset="0"/>
                <a:ea typeface="Cambria" panose="02040503050406030204" pitchFamily="18" charset="0"/>
              </a:rPr>
            </a:br>
            <a:r>
              <a:rPr lang="en-GB" sz="4000" b="1" dirty="0" smtClean="0">
                <a:solidFill>
                  <a:schemeClr val="accent1"/>
                </a:solidFill>
                <a:latin typeface="Cambria" panose="02040503050406030204" pitchFamily="18" charset="0"/>
                <a:ea typeface="Cambria" panose="02040503050406030204" pitchFamily="18" charset="0"/>
              </a:rPr>
              <a:t>Difference between List and Set</a:t>
            </a:r>
            <a:r>
              <a:rPr lang="en-US" sz="4000" b="1" dirty="0" smtClean="0">
                <a:solidFill>
                  <a:schemeClr val="accent1"/>
                </a:solidFill>
                <a:latin typeface="Cambria" panose="02040503050406030204" pitchFamily="18" charset="0"/>
                <a:ea typeface="Cambria" panose="02040503050406030204" pitchFamily="18" charset="0"/>
              </a:rPr>
              <a:t/>
            </a:r>
            <a:br>
              <a:rPr lang="en-US" sz="4000" b="1" dirty="0" smtClean="0">
                <a:solidFill>
                  <a:schemeClr val="accent1"/>
                </a:solidFill>
                <a:latin typeface="Cambria" panose="02040503050406030204" pitchFamily="18" charset="0"/>
                <a:ea typeface="Cambria" panose="02040503050406030204" pitchFamily="18" charset="0"/>
              </a:rPr>
            </a:b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4164" y="1022858"/>
            <a:ext cx="5754851" cy="5015597"/>
          </a:xfrm>
        </p:spPr>
        <p:txBody>
          <a:bodyPr/>
          <a:lstStyle/>
          <a:p>
            <a:pPr>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java.util.*;    </a:t>
            </a:r>
          </a:p>
          <a:p>
            <a:pPr>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class</a:t>
            </a:r>
            <a:r>
              <a:rPr lang="en-US" sz="1800" dirty="0" smtClean="0">
                <a:latin typeface="Cambria" panose="02040503050406030204" pitchFamily="18" charset="0"/>
                <a:ea typeface="Cambria" panose="02040503050406030204" pitchFamily="18" charset="0"/>
              </a:rPr>
              <a:t> SetOperations  {</a:t>
            </a:r>
          </a:p>
          <a:p>
            <a:pPr>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static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void</a:t>
            </a:r>
            <a:r>
              <a:rPr lang="en-US" sz="1800" dirty="0" smtClean="0">
                <a:latin typeface="Cambria" panose="02040503050406030204" pitchFamily="18" charset="0"/>
                <a:ea typeface="Cambria" panose="02040503050406030204" pitchFamily="18" charset="0"/>
              </a:rPr>
              <a:t> main(String args[])    {</a:t>
            </a:r>
          </a:p>
          <a:p>
            <a:pPr>
              <a:buNone/>
            </a:pPr>
            <a:r>
              <a:rPr lang="en-US" sz="1800" dirty="0" smtClean="0">
                <a:latin typeface="Cambria" panose="02040503050406030204" pitchFamily="18" charset="0"/>
                <a:ea typeface="Cambria" panose="02040503050406030204" pitchFamily="18" charset="0"/>
              </a:rPr>
              <a:t>        Integer[] A = {22, 45,33, 66, 55, 34, 77};  </a:t>
            </a:r>
          </a:p>
          <a:p>
            <a:pPr>
              <a:buNone/>
            </a:pPr>
            <a:r>
              <a:rPr lang="en-US" sz="1800" dirty="0" smtClean="0">
                <a:latin typeface="Cambria" panose="02040503050406030204" pitchFamily="18" charset="0"/>
                <a:ea typeface="Cambria" panose="02040503050406030204" pitchFamily="18" charset="0"/>
              </a:rPr>
              <a:t>        Integer[] B = {33, 2, 83, 45, 3, 12, 55};  </a:t>
            </a:r>
          </a:p>
          <a:p>
            <a:pPr>
              <a:buNone/>
            </a:pPr>
            <a:r>
              <a:rPr lang="en-US" sz="1800" dirty="0" smtClean="0">
                <a:latin typeface="Cambria" panose="02040503050406030204" pitchFamily="18" charset="0"/>
                <a:ea typeface="Cambria" panose="02040503050406030204" pitchFamily="18" charset="0"/>
              </a:rPr>
              <a:t>        Set&lt;Integer&gt; set1 = </a:t>
            </a:r>
            <a:r>
              <a:rPr lang="en-US" sz="1800" b="1" dirty="0" smtClean="0">
                <a:latin typeface="Cambria" panose="02040503050406030204" pitchFamily="18" charset="0"/>
                <a:ea typeface="Cambria" panose="02040503050406030204" pitchFamily="18" charset="0"/>
              </a:rPr>
              <a:t>new</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HashSet</a:t>
            </a:r>
            <a:r>
              <a:rPr lang="en-US" sz="1800" dirty="0" smtClean="0">
                <a:latin typeface="Cambria" panose="02040503050406030204" pitchFamily="18" charset="0"/>
                <a:ea typeface="Cambria" panose="02040503050406030204" pitchFamily="18" charset="0"/>
              </a:rPr>
              <a:t>&lt;Integer&gt;();    </a:t>
            </a:r>
          </a:p>
          <a:p>
            <a:pPr>
              <a:buNone/>
            </a:pPr>
            <a:r>
              <a:rPr lang="en-US" sz="1800" dirty="0" smtClean="0">
                <a:latin typeface="Cambria" panose="02040503050406030204" pitchFamily="18" charset="0"/>
                <a:ea typeface="Cambria" panose="02040503050406030204" pitchFamily="18" charset="0"/>
              </a:rPr>
              <a:t>        set1.addAll(</a:t>
            </a:r>
            <a:r>
              <a:rPr lang="en-US" sz="1800" dirty="0" err="1" smtClean="0">
                <a:latin typeface="Cambria" panose="02040503050406030204" pitchFamily="18" charset="0"/>
                <a:ea typeface="Cambria" panose="02040503050406030204" pitchFamily="18" charset="0"/>
              </a:rPr>
              <a:t>Arrays.asList</a:t>
            </a:r>
            <a:r>
              <a:rPr lang="en-US" sz="1800" dirty="0" smtClean="0">
                <a:latin typeface="Cambria" panose="02040503050406030204" pitchFamily="18" charset="0"/>
                <a:ea typeface="Cambria" panose="02040503050406030204" pitchFamily="18" charset="0"/>
              </a:rPr>
              <a:t>(A));    </a:t>
            </a:r>
          </a:p>
          <a:p>
            <a:pPr>
              <a:buNone/>
            </a:pPr>
            <a:r>
              <a:rPr lang="en-US" sz="1800" dirty="0" smtClean="0">
                <a:latin typeface="Cambria" panose="02040503050406030204" pitchFamily="18" charset="0"/>
                <a:ea typeface="Cambria" panose="02040503050406030204" pitchFamily="18" charset="0"/>
              </a:rPr>
              <a:t>        Set&lt;Integer&gt; set2 = </a:t>
            </a:r>
            <a:r>
              <a:rPr lang="en-US" sz="1800" b="1" dirty="0" smtClean="0">
                <a:latin typeface="Cambria" panose="02040503050406030204" pitchFamily="18" charset="0"/>
                <a:ea typeface="Cambria" panose="02040503050406030204" pitchFamily="18" charset="0"/>
              </a:rPr>
              <a:t>new</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HashSet</a:t>
            </a:r>
            <a:r>
              <a:rPr lang="en-US" sz="1800" dirty="0" smtClean="0">
                <a:latin typeface="Cambria" panose="02040503050406030204" pitchFamily="18" charset="0"/>
                <a:ea typeface="Cambria" panose="02040503050406030204" pitchFamily="18" charset="0"/>
              </a:rPr>
              <a:t>&lt;Integer&gt;();    </a:t>
            </a:r>
          </a:p>
          <a:p>
            <a:pPr>
              <a:buNone/>
            </a:pPr>
            <a:r>
              <a:rPr lang="en-US" sz="1800" dirty="0" smtClean="0">
                <a:latin typeface="Cambria" panose="02040503050406030204" pitchFamily="18" charset="0"/>
                <a:ea typeface="Cambria" panose="02040503050406030204" pitchFamily="18" charset="0"/>
              </a:rPr>
              <a:t>        set2.addAll(Arrays.asList(B));    </a:t>
            </a:r>
          </a:p>
          <a:p>
            <a:pPr>
              <a:buNone/>
            </a:pPr>
            <a:r>
              <a:rPr lang="en-US" sz="1800" dirty="0" smtClean="0">
                <a:latin typeface="Cambria" panose="02040503050406030204" pitchFamily="18" charset="0"/>
                <a:ea typeface="Cambria" panose="02040503050406030204" pitchFamily="18" charset="0"/>
              </a:rPr>
              <a:t>        // Finding Union of set1 and set2   </a:t>
            </a:r>
          </a:p>
          <a:p>
            <a:pPr>
              <a:buNone/>
            </a:pPr>
            <a:r>
              <a:rPr lang="en-US" sz="1800" dirty="0" smtClean="0">
                <a:latin typeface="Cambria" panose="02040503050406030204" pitchFamily="18" charset="0"/>
                <a:ea typeface="Cambria" panose="02040503050406030204" pitchFamily="18" charset="0"/>
              </a:rPr>
              <a:t>        Set&lt;Integer&gt;  set3= </a:t>
            </a:r>
            <a:r>
              <a:rPr lang="en-US" sz="1800" b="1" dirty="0" smtClean="0">
                <a:latin typeface="Cambria" panose="02040503050406030204" pitchFamily="18" charset="0"/>
                <a:ea typeface="Cambria" panose="02040503050406030204" pitchFamily="18" charset="0"/>
              </a:rPr>
              <a:t>new</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HashSet</a:t>
            </a:r>
            <a:r>
              <a:rPr lang="en-US" sz="1800" dirty="0" smtClean="0">
                <a:latin typeface="Cambria" panose="02040503050406030204" pitchFamily="18" charset="0"/>
                <a:ea typeface="Cambria" panose="02040503050406030204" pitchFamily="18" charset="0"/>
              </a:rPr>
              <a:t>&lt;Integer&gt;(set1);    </a:t>
            </a:r>
          </a:p>
          <a:p>
            <a:pPr>
              <a:buNone/>
            </a:pPr>
            <a:r>
              <a:rPr lang="en-US" sz="1800" dirty="0" smtClean="0">
                <a:latin typeface="Cambria" panose="02040503050406030204" pitchFamily="18" charset="0"/>
                <a:ea typeface="Cambria" panose="02040503050406030204" pitchFamily="18" charset="0"/>
              </a:rPr>
              <a:t>        set3.addAll(set2);    </a:t>
            </a:r>
          </a:p>
          <a:p>
            <a:pPr>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System.out.print</a:t>
            </a:r>
            <a:r>
              <a:rPr lang="en-US" sz="1800" dirty="0" smtClean="0">
                <a:latin typeface="Cambria" panose="02040503050406030204" pitchFamily="18" charset="0"/>
                <a:ea typeface="Cambria" panose="02040503050406030204" pitchFamily="18" charset="0"/>
              </a:rPr>
              <a:t>("Union of set1 and set2 is:");    </a:t>
            </a:r>
          </a:p>
          <a:p>
            <a:pPr>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(set3);    </a:t>
            </a:r>
          </a:p>
          <a:p>
            <a:pPr>
              <a:buNone/>
            </a:pPr>
            <a:r>
              <a:rPr lang="en-US" sz="1800" dirty="0" smtClean="0">
                <a:latin typeface="Cambria" panose="02040503050406030204" pitchFamily="18" charset="0"/>
                <a:ea typeface="Cambria" panose="02040503050406030204" pitchFamily="18" charset="0"/>
              </a:rPr>
              <a:t>    </a:t>
            </a:r>
          </a:p>
          <a:p>
            <a:pPr>
              <a:buNone/>
            </a:pPr>
            <a:r>
              <a:rPr lang="en-US" sz="1800" dirty="0" smtClean="0">
                <a:latin typeface="Cambria" panose="02040503050406030204" pitchFamily="18" charset="0"/>
                <a:ea typeface="Cambria" panose="02040503050406030204" pitchFamily="18" charset="0"/>
              </a:rPr>
              <a:t>        </a:t>
            </a:r>
            <a:endParaRPr lang="en-US" sz="18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37</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263352" y="622748"/>
            <a:ext cx="10803632" cy="400110"/>
          </a:xfrm>
          <a:prstGeom prst="rect">
            <a:avLst/>
          </a:prstGeom>
        </p:spPr>
        <p:txBody>
          <a:bodyPr wrap="square">
            <a:spAutoFit/>
          </a:bodyPr>
          <a:lstStyle/>
          <a:p>
            <a:r>
              <a:rPr lang="en-GB" sz="2000" dirty="0">
                <a:latin typeface="Cambria" panose="02040503050406030204" pitchFamily="18" charset="0"/>
                <a:ea typeface="Cambria" panose="02040503050406030204" pitchFamily="18" charset="0"/>
              </a:rPr>
              <a:t>A list can contain duplicate elements whereas Set contains unique elements only.</a:t>
            </a:r>
          </a:p>
        </p:txBody>
      </p:sp>
      <p:sp>
        <p:nvSpPr>
          <p:cNvPr id="6" name="Rectangle 5"/>
          <p:cNvSpPr/>
          <p:nvPr/>
        </p:nvSpPr>
        <p:spPr>
          <a:xfrm>
            <a:off x="6096000" y="1599950"/>
            <a:ext cx="6096000" cy="3693319"/>
          </a:xfrm>
          <a:prstGeom prst="rect">
            <a:avLst/>
          </a:prstGeom>
        </p:spPr>
        <p:txBody>
          <a:bodyPr>
            <a:spAutoFit/>
          </a:bodyPr>
          <a:lstStyle/>
          <a:p>
            <a:pPr>
              <a:buNone/>
            </a:pPr>
            <a:r>
              <a:rPr lang="en-US" dirty="0">
                <a:latin typeface="Cambria" panose="02040503050406030204" pitchFamily="18" charset="0"/>
                <a:ea typeface="Cambria" panose="02040503050406030204" pitchFamily="18" charset="0"/>
              </a:rPr>
              <a:t>// Finding Intersection of set1 and set2    </a:t>
            </a:r>
          </a:p>
          <a:p>
            <a:pPr>
              <a:buNone/>
            </a:pPr>
            <a:r>
              <a:rPr lang="en-US" dirty="0">
                <a:latin typeface="Cambria" panose="02040503050406030204" pitchFamily="18" charset="0"/>
                <a:ea typeface="Cambria" panose="02040503050406030204" pitchFamily="18" charset="0"/>
              </a:rPr>
              <a:t>        Set&lt;Integer&gt; set4 = </a:t>
            </a:r>
            <a:r>
              <a:rPr lang="en-US" b="1" dirty="0">
                <a:latin typeface="Cambria" panose="02040503050406030204" pitchFamily="18" charset="0"/>
                <a:ea typeface="Cambria" panose="02040503050406030204" pitchFamily="18" charset="0"/>
              </a:rPr>
              <a:t>new</a:t>
            </a:r>
            <a:r>
              <a:rPr lang="en-US" dirty="0">
                <a:latin typeface="Cambria" panose="02040503050406030204" pitchFamily="18" charset="0"/>
                <a:ea typeface="Cambria" panose="02040503050406030204" pitchFamily="18" charset="0"/>
              </a:rPr>
              <a:t> HashSet&lt;Integer&gt;(set1);    </a:t>
            </a:r>
          </a:p>
          <a:p>
            <a:pPr>
              <a:buNone/>
            </a:pPr>
            <a:r>
              <a:rPr lang="en-US" dirty="0">
                <a:latin typeface="Cambria" panose="02040503050406030204" pitchFamily="18" charset="0"/>
                <a:ea typeface="Cambria" panose="02040503050406030204" pitchFamily="18" charset="0"/>
              </a:rPr>
              <a:t>        set4.retainAll(set2);    </a:t>
            </a:r>
          </a:p>
          <a:p>
            <a:pPr>
              <a:buNone/>
            </a:pPr>
            <a:r>
              <a:rPr lang="en-US" dirty="0">
                <a:latin typeface="Cambria" panose="02040503050406030204" pitchFamily="18" charset="0"/>
                <a:ea typeface="Cambria" panose="02040503050406030204" pitchFamily="18" charset="0"/>
              </a:rPr>
              <a:t>        System.out.print("Intersection of set1 and set2 is:");    </a:t>
            </a:r>
          </a:p>
          <a:p>
            <a:pPr>
              <a:buNone/>
            </a:pPr>
            <a:r>
              <a:rPr lang="en-US" dirty="0">
                <a:latin typeface="Cambria" panose="02040503050406030204" pitchFamily="18" charset="0"/>
                <a:ea typeface="Cambria" panose="02040503050406030204" pitchFamily="18" charset="0"/>
              </a:rPr>
              <a:t>        System.out.println(set4);    </a:t>
            </a:r>
          </a:p>
          <a:p>
            <a:pPr>
              <a:buNone/>
            </a:pPr>
            <a:r>
              <a:rPr lang="en-US" dirty="0">
                <a:latin typeface="Cambria" panose="02040503050406030204" pitchFamily="18" charset="0"/>
                <a:ea typeface="Cambria" panose="02040503050406030204" pitchFamily="18" charset="0"/>
              </a:rPr>
              <a:t>    </a:t>
            </a:r>
          </a:p>
          <a:p>
            <a:pPr>
              <a:buNone/>
            </a:pPr>
            <a:r>
              <a:rPr lang="en-US" dirty="0">
                <a:latin typeface="Cambria" panose="02040503050406030204" pitchFamily="18" charset="0"/>
                <a:ea typeface="Cambria" panose="02040503050406030204" pitchFamily="18" charset="0"/>
              </a:rPr>
              <a:t>        // Finding Difference of set1 and set2    </a:t>
            </a:r>
          </a:p>
          <a:p>
            <a:pPr>
              <a:buNone/>
            </a:pPr>
            <a:r>
              <a:rPr lang="en-US" dirty="0">
                <a:latin typeface="Cambria" panose="02040503050406030204" pitchFamily="18" charset="0"/>
                <a:ea typeface="Cambria" panose="02040503050406030204" pitchFamily="18" charset="0"/>
              </a:rPr>
              <a:t>        Set&lt;Integer&gt; set5= </a:t>
            </a:r>
            <a:r>
              <a:rPr lang="en-US" b="1" dirty="0">
                <a:latin typeface="Cambria" panose="02040503050406030204" pitchFamily="18" charset="0"/>
                <a:ea typeface="Cambria" panose="02040503050406030204" pitchFamily="18" charset="0"/>
              </a:rPr>
              <a:t>new</a:t>
            </a:r>
            <a:r>
              <a:rPr lang="en-US" dirty="0">
                <a:latin typeface="Cambria" panose="02040503050406030204" pitchFamily="18" charset="0"/>
                <a:ea typeface="Cambria" panose="02040503050406030204" pitchFamily="18" charset="0"/>
              </a:rPr>
              <a:t> HashSet&lt;Integer&gt;(set1);    </a:t>
            </a:r>
          </a:p>
          <a:p>
            <a:pPr>
              <a:buNone/>
            </a:pPr>
            <a:r>
              <a:rPr lang="en-US" dirty="0">
                <a:latin typeface="Cambria" panose="02040503050406030204" pitchFamily="18" charset="0"/>
                <a:ea typeface="Cambria" panose="02040503050406030204" pitchFamily="18" charset="0"/>
              </a:rPr>
              <a:t>        set5.removeAll(set2);    </a:t>
            </a:r>
          </a:p>
          <a:p>
            <a:pPr>
              <a:buNone/>
            </a:pPr>
            <a:r>
              <a:rPr lang="en-US" dirty="0">
                <a:latin typeface="Cambria" panose="02040503050406030204" pitchFamily="18" charset="0"/>
                <a:ea typeface="Cambria" panose="02040503050406030204" pitchFamily="18" charset="0"/>
              </a:rPr>
              <a:t>        System.out.print("Difference of set1 and set2 is:");    </a:t>
            </a:r>
          </a:p>
          <a:p>
            <a:pPr>
              <a:buNone/>
            </a:pPr>
            <a:r>
              <a:rPr lang="en-US" dirty="0">
                <a:latin typeface="Cambria" panose="02040503050406030204" pitchFamily="18" charset="0"/>
                <a:ea typeface="Cambria" panose="02040503050406030204" pitchFamily="18" charset="0"/>
              </a:rPr>
              <a:t>        System.out.println(set5);    </a:t>
            </a:r>
          </a:p>
          <a:p>
            <a:pPr>
              <a:buNone/>
            </a:pPr>
            <a:r>
              <a:rPr lang="en-US" dirty="0">
                <a:latin typeface="Cambria" panose="02040503050406030204" pitchFamily="18" charset="0"/>
                <a:ea typeface="Cambria" panose="02040503050406030204" pitchFamily="18" charset="0"/>
              </a:rPr>
              <a:t>    }    </a:t>
            </a:r>
          </a:p>
          <a:p>
            <a:pPr>
              <a:buNone/>
            </a:pPr>
            <a:r>
              <a:rPr lang="en-US"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411353999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1685"/>
            <a:ext cx="4105672" cy="634983"/>
          </a:xfrm>
        </p:spPr>
        <p:txBody>
          <a:bodyPr/>
          <a:lstStyle/>
          <a:p>
            <a:r>
              <a:rPr lang="en-US" sz="4000" b="1" dirty="0" smtClean="0">
                <a:solidFill>
                  <a:schemeClr val="accent1"/>
                </a:solidFill>
                <a:latin typeface="Cambria" panose="02040503050406030204" pitchFamily="18" charset="0"/>
                <a:ea typeface="Cambria" panose="02040503050406030204" pitchFamily="18" charset="0"/>
              </a:rPr>
              <a:t> Map Interface</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712129"/>
            <a:ext cx="5832648" cy="4733095"/>
          </a:xfrm>
        </p:spPr>
        <p:txBody>
          <a:bodyPr/>
          <a:lstStyle/>
          <a:p>
            <a:pPr algn="just"/>
            <a:r>
              <a:rPr lang="en-GB" sz="2400" dirty="0" smtClean="0">
                <a:latin typeface="Cambria" panose="02040503050406030204" pitchFamily="18" charset="0"/>
                <a:ea typeface="Cambria" panose="02040503050406030204" pitchFamily="18" charset="0"/>
              </a:rPr>
              <a:t>A map contains values on the basis of key, i.e. key and value pair. Each key and value pair is known as an entry. A Map contains unique keys.</a:t>
            </a:r>
          </a:p>
          <a:p>
            <a:pPr algn="just"/>
            <a:r>
              <a:rPr lang="en-GB" sz="2400" dirty="0" smtClean="0">
                <a:latin typeface="Cambria" panose="02040503050406030204" pitchFamily="18" charset="0"/>
                <a:ea typeface="Cambria" panose="02040503050406030204" pitchFamily="18" charset="0"/>
              </a:rPr>
              <a:t>A Map is useful if you have to search, update or delete elements on the basis of a key.</a:t>
            </a:r>
          </a:p>
          <a:p>
            <a:pPr algn="just"/>
            <a:r>
              <a:rPr lang="en-GB" sz="2400" dirty="0" smtClean="0">
                <a:latin typeface="Cambria" panose="02040503050406030204" pitchFamily="18" charset="0"/>
                <a:ea typeface="Cambria" panose="02040503050406030204" pitchFamily="18" charset="0"/>
              </a:rPr>
              <a:t>A Map doesn't allow duplicate keys, but you can have duplicate values. </a:t>
            </a:r>
            <a:r>
              <a:rPr lang="en-GB" sz="2400" dirty="0" err="1" smtClean="0">
                <a:latin typeface="Cambria" panose="02040503050406030204" pitchFamily="18" charset="0"/>
                <a:ea typeface="Cambria" panose="02040503050406030204" pitchFamily="18" charset="0"/>
              </a:rPr>
              <a:t>HashMap</a:t>
            </a:r>
            <a:r>
              <a:rPr lang="en-GB" sz="2400" dirty="0" smtClean="0">
                <a:latin typeface="Cambria" panose="02040503050406030204" pitchFamily="18" charset="0"/>
                <a:ea typeface="Cambria" panose="02040503050406030204" pitchFamily="18" charset="0"/>
              </a:rPr>
              <a:t> and </a:t>
            </a:r>
            <a:r>
              <a:rPr lang="en-GB" sz="2400" dirty="0" err="1" smtClean="0">
                <a:latin typeface="Cambria" panose="02040503050406030204" pitchFamily="18" charset="0"/>
                <a:ea typeface="Cambria" panose="02040503050406030204" pitchFamily="18" charset="0"/>
              </a:rPr>
              <a:t>LinkedHashMap</a:t>
            </a:r>
            <a:r>
              <a:rPr lang="en-GB" sz="2400" dirty="0" smtClean="0">
                <a:latin typeface="Cambria" panose="02040503050406030204" pitchFamily="18" charset="0"/>
                <a:ea typeface="Cambria" panose="02040503050406030204" pitchFamily="18" charset="0"/>
              </a:rPr>
              <a:t> allow null keys and values, but </a:t>
            </a:r>
            <a:r>
              <a:rPr lang="en-GB" sz="2400" dirty="0" err="1" smtClean="0">
                <a:latin typeface="Cambria" panose="02040503050406030204" pitchFamily="18" charset="0"/>
                <a:ea typeface="Cambria" panose="02040503050406030204" pitchFamily="18" charset="0"/>
              </a:rPr>
              <a:t>TreeMap</a:t>
            </a:r>
            <a:r>
              <a:rPr lang="en-GB" sz="2400" dirty="0" smtClean="0">
                <a:latin typeface="Cambria" panose="02040503050406030204" pitchFamily="18" charset="0"/>
                <a:ea typeface="Cambria" panose="02040503050406030204" pitchFamily="18" charset="0"/>
              </a:rPr>
              <a:t> doesn't allow any null key or value.</a:t>
            </a:r>
          </a:p>
          <a:p>
            <a:pPr algn="just"/>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38</a:t>
            </a:fld>
            <a:endParaRPr lang="en-US" altLang="en-US">
              <a:latin typeface="Cambria" panose="02040503050406030204" pitchFamily="18" charset="0"/>
              <a:ea typeface="Cambria" panose="02040503050406030204" pitchFamily="18" charset="0"/>
            </a:endParaRPr>
          </a:p>
        </p:txBody>
      </p:sp>
      <p:pic>
        <p:nvPicPr>
          <p:cNvPr id="5" name="Picture 4" descr="Java Map Hierarchy"/>
          <p:cNvPicPr/>
          <p:nvPr/>
        </p:nvPicPr>
        <p:blipFill>
          <a:blip r:embed="rId2"/>
          <a:srcRect/>
          <a:stretch>
            <a:fillRect/>
          </a:stretch>
        </p:blipFill>
        <p:spPr bwMode="auto">
          <a:xfrm>
            <a:off x="7032104" y="712129"/>
            <a:ext cx="3749363" cy="3259775"/>
          </a:xfrm>
          <a:prstGeom prst="rect">
            <a:avLst/>
          </a:prstGeom>
          <a:noFill/>
          <a:ln w="9525">
            <a:noFill/>
            <a:miter lim="800000"/>
            <a:headEnd/>
            <a:tailEnd/>
          </a:ln>
        </p:spPr>
      </p:pic>
    </p:spTree>
    <p:extLst>
      <p:ext uri="{BB962C8B-B14F-4D97-AF65-F5344CB8AC3E}">
        <p14:creationId xmlns:p14="http://schemas.microsoft.com/office/powerpoint/2010/main" val="180998816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42" y="31177"/>
            <a:ext cx="3961656" cy="759619"/>
          </a:xfrm>
        </p:spPr>
        <p:txBody>
          <a:bodyPr/>
          <a:lstStyle/>
          <a:p>
            <a:r>
              <a:rPr lang="en-US" sz="4000" b="1" dirty="0" smtClean="0">
                <a:solidFill>
                  <a:schemeClr val="accent1"/>
                </a:solidFill>
              </a:rPr>
              <a:t>Java HashMap</a:t>
            </a:r>
            <a:endParaRPr lang="en-US" sz="4000" b="1" dirty="0">
              <a:solidFill>
                <a:schemeClr val="accent1"/>
              </a:solidFill>
            </a:endParaRPr>
          </a:p>
        </p:txBody>
      </p:sp>
      <p:sp>
        <p:nvSpPr>
          <p:cNvPr id="3" name="Content Placeholder 2"/>
          <p:cNvSpPr>
            <a:spLocks noGrp="1"/>
          </p:cNvSpPr>
          <p:nvPr>
            <p:ph idx="1"/>
          </p:nvPr>
        </p:nvSpPr>
        <p:spPr>
          <a:xfrm>
            <a:off x="191344" y="908720"/>
            <a:ext cx="11521280" cy="3024336"/>
          </a:xfrm>
        </p:spPr>
        <p:txBody>
          <a:bodyPr/>
          <a:lstStyle/>
          <a:p>
            <a:pPr algn="just"/>
            <a:r>
              <a:rPr lang="en-GB" sz="2400" dirty="0" smtClean="0"/>
              <a:t>Java </a:t>
            </a:r>
            <a:r>
              <a:rPr lang="en-GB" sz="2400" b="1" dirty="0" err="1" smtClean="0"/>
              <a:t>HashMap</a:t>
            </a:r>
            <a:r>
              <a:rPr lang="en-GB" sz="2400" dirty="0" smtClean="0"/>
              <a:t> class implements the Map interface which allows us </a:t>
            </a:r>
            <a:r>
              <a:rPr lang="en-GB" sz="2400" i="1" dirty="0" smtClean="0"/>
              <a:t>to store key and value pair</a:t>
            </a:r>
            <a:r>
              <a:rPr lang="en-GB" sz="2400" dirty="0" smtClean="0"/>
              <a:t>, where keys should be unique. If you try to insert the duplicate key, it will replace the element of the corresponding key. It is easy to perform operations using the key index like </a:t>
            </a:r>
            <a:r>
              <a:rPr lang="en-GB" sz="2400" dirty="0" err="1" smtClean="0"/>
              <a:t>updation</a:t>
            </a:r>
            <a:r>
              <a:rPr lang="en-GB" sz="2400" dirty="0" smtClean="0"/>
              <a:t>, deletion, etc. </a:t>
            </a:r>
            <a:r>
              <a:rPr lang="en-GB" sz="2400" dirty="0" err="1" smtClean="0"/>
              <a:t>HashMap</a:t>
            </a:r>
            <a:r>
              <a:rPr lang="en-GB" sz="2400" dirty="0" smtClean="0"/>
              <a:t> class is found in the </a:t>
            </a:r>
            <a:r>
              <a:rPr lang="en-GB" sz="2400" dirty="0" err="1" smtClean="0"/>
              <a:t>java.util</a:t>
            </a:r>
            <a:r>
              <a:rPr lang="en-GB" sz="2400" dirty="0" smtClean="0"/>
              <a:t> package.</a:t>
            </a:r>
          </a:p>
          <a:p>
            <a:pPr algn="just"/>
            <a:r>
              <a:rPr lang="en-GB" sz="2400" dirty="0" err="1" smtClean="0"/>
              <a:t>HashMap</a:t>
            </a:r>
            <a:r>
              <a:rPr lang="en-GB" sz="2400" dirty="0" smtClean="0"/>
              <a:t> in Java is like the legacy </a:t>
            </a:r>
            <a:r>
              <a:rPr lang="en-GB" sz="2400" dirty="0" err="1" smtClean="0"/>
              <a:t>Hashtable</a:t>
            </a:r>
            <a:r>
              <a:rPr lang="en-GB" sz="2400" dirty="0" smtClean="0"/>
              <a:t> class, but it is not synchronized. It allows us to store the null elements as well, but there should be only one null key. Since Java 5, it is denoted as </a:t>
            </a:r>
            <a:r>
              <a:rPr lang="en-GB" sz="2400" dirty="0" err="1" smtClean="0"/>
              <a:t>HashMap</a:t>
            </a:r>
            <a:r>
              <a:rPr lang="en-GB" sz="2400" dirty="0" smtClean="0"/>
              <a:t>&lt;K,V&gt;, where K stands for key and V for value. It inherits the AbstractMap class and implements the Map interface.</a:t>
            </a:r>
          </a:p>
          <a:p>
            <a:pPr algn="just"/>
            <a:endParaRPr lang="en-US" sz="24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39</a:t>
            </a:fld>
            <a:endParaRPr lang="en-US" altLang="en-US"/>
          </a:p>
        </p:txBody>
      </p:sp>
    </p:spTree>
    <p:extLst>
      <p:ext uri="{BB962C8B-B14F-4D97-AF65-F5344CB8AC3E}">
        <p14:creationId xmlns:p14="http://schemas.microsoft.com/office/powerpoint/2010/main" val="222661415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690" y="0"/>
            <a:ext cx="4321696" cy="831627"/>
          </a:xfrm>
        </p:spPr>
        <p:txBody>
          <a:bodyPr/>
          <a:lstStyle/>
          <a:p>
            <a:r>
              <a:rPr lang="en-US" sz="4000" b="1" dirty="0" smtClean="0">
                <a:solidFill>
                  <a:schemeClr val="accent1"/>
                </a:solidFill>
                <a:latin typeface="Cambria" panose="02040503050406030204" pitchFamily="18" charset="0"/>
                <a:ea typeface="Cambria" panose="02040503050406030204" pitchFamily="18" charset="0"/>
              </a:rPr>
              <a:t>TreeMap</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91344" y="844008"/>
            <a:ext cx="8856984" cy="4351338"/>
          </a:xfrm>
        </p:spPr>
        <p:txBody>
          <a:bodyPr/>
          <a:lstStyle/>
          <a:p>
            <a:pPr algn="just"/>
            <a:r>
              <a:rPr lang="en-GB" sz="2400" dirty="0" smtClean="0"/>
              <a:t>Java </a:t>
            </a:r>
            <a:r>
              <a:rPr lang="en-GB" sz="2400" dirty="0" err="1" smtClean="0"/>
              <a:t>TreeMap</a:t>
            </a:r>
            <a:r>
              <a:rPr lang="en-GB" sz="2400" dirty="0" smtClean="0"/>
              <a:t> class is a red-black tree based implementation. It provides an efficient means of storing key-value pairs in sorted order.</a:t>
            </a:r>
          </a:p>
          <a:p>
            <a:pPr algn="just"/>
            <a:r>
              <a:rPr lang="en-GB" sz="2400" dirty="0" smtClean="0"/>
              <a:t>The important points about Java </a:t>
            </a:r>
            <a:r>
              <a:rPr lang="en-GB" sz="2400" dirty="0" err="1" smtClean="0"/>
              <a:t>TreeMap</a:t>
            </a:r>
            <a:r>
              <a:rPr lang="en-GB" sz="2400" dirty="0" smtClean="0"/>
              <a:t> class are:</a:t>
            </a:r>
          </a:p>
          <a:p>
            <a:pPr algn="just"/>
            <a:r>
              <a:rPr lang="en-GB" sz="2400" dirty="0" smtClean="0"/>
              <a:t>Java </a:t>
            </a:r>
            <a:r>
              <a:rPr lang="en-GB" sz="2400" dirty="0" err="1" smtClean="0"/>
              <a:t>TreeMap</a:t>
            </a:r>
            <a:r>
              <a:rPr lang="en-GB" sz="2400" dirty="0" smtClean="0"/>
              <a:t> contains values based on the key. It implements the </a:t>
            </a:r>
            <a:r>
              <a:rPr lang="en-GB" sz="2400" dirty="0" err="1" smtClean="0"/>
              <a:t>NavigableMap</a:t>
            </a:r>
            <a:r>
              <a:rPr lang="en-GB" sz="2400" dirty="0" smtClean="0"/>
              <a:t> interface and extends </a:t>
            </a:r>
            <a:r>
              <a:rPr lang="en-GB" sz="2400" dirty="0" err="1" smtClean="0"/>
              <a:t>AbstractMap</a:t>
            </a:r>
            <a:r>
              <a:rPr lang="en-GB" sz="2400" dirty="0" smtClean="0"/>
              <a:t> class.</a:t>
            </a:r>
          </a:p>
          <a:p>
            <a:pPr algn="just"/>
            <a:r>
              <a:rPr lang="en-GB" sz="2400" dirty="0" smtClean="0"/>
              <a:t>Java </a:t>
            </a:r>
            <a:r>
              <a:rPr lang="en-GB" sz="2400" dirty="0" err="1" smtClean="0"/>
              <a:t>TreeMap</a:t>
            </a:r>
            <a:r>
              <a:rPr lang="en-GB" sz="2400" dirty="0" smtClean="0"/>
              <a:t> contains only unique elements.</a:t>
            </a:r>
          </a:p>
          <a:p>
            <a:pPr algn="just"/>
            <a:r>
              <a:rPr lang="en-GB" sz="2400" dirty="0" smtClean="0"/>
              <a:t>Java </a:t>
            </a:r>
            <a:r>
              <a:rPr lang="en-GB" sz="2400" dirty="0" err="1" smtClean="0"/>
              <a:t>TreeMap</a:t>
            </a:r>
            <a:r>
              <a:rPr lang="en-GB" sz="2400" dirty="0" smtClean="0"/>
              <a:t> cannot have a null key but can have multiple null values.</a:t>
            </a:r>
          </a:p>
          <a:p>
            <a:pPr algn="just"/>
            <a:r>
              <a:rPr lang="en-GB" sz="2400" dirty="0" smtClean="0"/>
              <a:t>Java </a:t>
            </a:r>
            <a:r>
              <a:rPr lang="en-GB" sz="2400" dirty="0" err="1" smtClean="0"/>
              <a:t>TreeMap</a:t>
            </a:r>
            <a:r>
              <a:rPr lang="en-GB" sz="2400" dirty="0" smtClean="0"/>
              <a:t> is non synchronized.</a:t>
            </a:r>
          </a:p>
          <a:p>
            <a:pPr algn="just"/>
            <a:r>
              <a:rPr lang="en-GB" sz="2400" dirty="0" smtClean="0"/>
              <a:t>Java </a:t>
            </a:r>
            <a:r>
              <a:rPr lang="en-GB" sz="2400" dirty="0" err="1" smtClean="0"/>
              <a:t>TreeMap</a:t>
            </a:r>
            <a:r>
              <a:rPr lang="en-GB" sz="2400" dirty="0" smtClean="0"/>
              <a:t> maintains ascending order.</a:t>
            </a:r>
          </a:p>
          <a:p>
            <a:pPr algn="just"/>
            <a:endParaRPr lang="en-US" sz="24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40</a:t>
            </a:fld>
            <a:endParaRPr lang="en-US" altLang="en-US"/>
          </a:p>
        </p:txBody>
      </p:sp>
      <p:pic>
        <p:nvPicPr>
          <p:cNvPr id="5" name="Picture 4" descr="Java TreeMap class hierarchy"/>
          <p:cNvPicPr/>
          <p:nvPr/>
        </p:nvPicPr>
        <p:blipFill>
          <a:blip r:embed="rId2"/>
          <a:srcRect/>
          <a:stretch>
            <a:fillRect/>
          </a:stretch>
        </p:blipFill>
        <p:spPr bwMode="auto">
          <a:xfrm>
            <a:off x="9827332" y="980728"/>
            <a:ext cx="1530985" cy="2700655"/>
          </a:xfrm>
          <a:prstGeom prst="rect">
            <a:avLst/>
          </a:prstGeom>
          <a:noFill/>
          <a:ln w="9525">
            <a:noFill/>
            <a:miter lim="800000"/>
            <a:headEnd/>
            <a:tailEnd/>
          </a:ln>
        </p:spPr>
      </p:pic>
    </p:spTree>
    <p:extLst>
      <p:ext uri="{BB962C8B-B14F-4D97-AF65-F5344CB8AC3E}">
        <p14:creationId xmlns:p14="http://schemas.microsoft.com/office/powerpoint/2010/main" val="252390805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593" y="19653"/>
            <a:ext cx="10082336" cy="543595"/>
          </a:xfrm>
        </p:spPr>
        <p:txBody>
          <a:bodyPr/>
          <a:lstStyle/>
          <a:p>
            <a:r>
              <a:rPr lang="en-GB" sz="3600" b="1" dirty="0" smtClean="0">
                <a:solidFill>
                  <a:schemeClr val="accent1"/>
                </a:solidFill>
                <a:latin typeface="Cambria" panose="02040503050406030204" pitchFamily="18" charset="0"/>
                <a:ea typeface="Cambria" panose="02040503050406030204" pitchFamily="18" charset="0"/>
              </a:rPr>
              <a:t>Java Map Example: Non-Generic (Old Style)</a:t>
            </a:r>
            <a:endParaRPr lang="en-US" sz="36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623392" y="563248"/>
            <a:ext cx="10369152" cy="5602056"/>
          </a:xfrm>
        </p:spPr>
        <p:txBody>
          <a:bodyPr/>
          <a:lstStyle/>
          <a:p>
            <a:pPr>
              <a:spcBef>
                <a:spcPts val="0"/>
              </a:spcBef>
              <a:buNone/>
            </a:pPr>
            <a:r>
              <a:rPr lang="en-US" sz="2000" dirty="0" smtClean="0">
                <a:latin typeface="Cambria" panose="02040503050406030204" pitchFamily="18" charset="0"/>
                <a:ea typeface="Cambria" panose="02040503050406030204" pitchFamily="18" charset="0"/>
              </a:rPr>
              <a:t>//Non-generic  </a:t>
            </a:r>
          </a:p>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java.util</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class</a:t>
            </a:r>
            <a:r>
              <a:rPr lang="en-US" sz="2000" dirty="0" smtClean="0">
                <a:latin typeface="Cambria" panose="02040503050406030204" pitchFamily="18" charset="0"/>
                <a:ea typeface="Cambria" panose="02040503050406030204" pitchFamily="18" charset="0"/>
              </a:rPr>
              <a:t> MapExample1 {  </a:t>
            </a:r>
          </a:p>
          <a:p>
            <a:pPr>
              <a:spcBef>
                <a:spcPts val="0"/>
              </a:spcBef>
              <a:buNone/>
            </a:pP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static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void</a:t>
            </a:r>
            <a:r>
              <a:rPr lang="en-US" sz="2000" dirty="0" smtClean="0">
                <a:latin typeface="Cambria" panose="02040503050406030204" pitchFamily="18" charset="0"/>
                <a:ea typeface="Cambria" panose="02040503050406030204" pitchFamily="18" charset="0"/>
              </a:rPr>
              <a:t> main(String[] </a:t>
            </a:r>
            <a:r>
              <a:rPr lang="en-US" sz="2000" dirty="0" err="1" smtClean="0">
                <a:latin typeface="Cambria" panose="02040503050406030204" pitchFamily="18" charset="0"/>
                <a:ea typeface="Cambria" panose="02040503050406030204" pitchFamily="18" charset="0"/>
              </a:rPr>
              <a:t>args</a:t>
            </a:r>
            <a:r>
              <a:rPr lang="en-US" sz="2000" dirty="0" smtClean="0">
                <a:latin typeface="Cambria" panose="02040503050406030204" pitchFamily="18" charset="0"/>
                <a:ea typeface="Cambria" panose="02040503050406030204" pitchFamily="18" charset="0"/>
              </a:rPr>
              <a:t>) {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smtClean="0">
                <a:latin typeface="Cambria" panose="02040503050406030204" pitchFamily="18" charset="0"/>
                <a:ea typeface="Cambria" panose="02040503050406030204" pitchFamily="18" charset="0"/>
              </a:rPr>
              <a:t>Map&lt;</a:t>
            </a:r>
            <a:r>
              <a:rPr lang="en-US" sz="2000" dirty="0" err="1" smtClean="0">
                <a:latin typeface="Cambria" panose="02040503050406030204" pitchFamily="18" charset="0"/>
                <a:ea typeface="Cambria" panose="02040503050406030204" pitchFamily="18" charset="0"/>
              </a:rPr>
              <a:t>Integer,String</a:t>
            </a:r>
            <a:r>
              <a:rPr lang="en-US" sz="2000" dirty="0" smtClean="0">
                <a:latin typeface="Cambria" panose="02040503050406030204" pitchFamily="18" charset="0"/>
                <a:ea typeface="Cambria" panose="02040503050406030204" pitchFamily="18" charset="0"/>
              </a:rPr>
              <a:t>&gt;</a:t>
            </a:r>
            <a:r>
              <a:rPr lang="en-US" sz="2000" dirty="0" smtClean="0">
                <a:latin typeface="Cambria" panose="02040503050406030204" pitchFamily="18" charset="0"/>
                <a:ea typeface="Cambria" panose="02040503050406030204" pitchFamily="18" charset="0"/>
              </a:rPr>
              <a:t> map=</a:t>
            </a:r>
            <a:r>
              <a:rPr lang="en-US" sz="2000" b="1" dirty="0" smtClean="0">
                <a:latin typeface="Cambria" panose="02040503050406030204" pitchFamily="18" charset="0"/>
                <a:ea typeface="Cambria" panose="02040503050406030204" pitchFamily="18" charset="0"/>
              </a:rPr>
              <a:t>new</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HashMap</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//Adding elements to map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map.put</a:t>
            </a:r>
            <a:r>
              <a:rPr lang="en-US" sz="2000" dirty="0" smtClean="0">
                <a:latin typeface="Cambria" panose="02040503050406030204" pitchFamily="18" charset="0"/>
                <a:ea typeface="Cambria" panose="02040503050406030204" pitchFamily="18" charset="0"/>
              </a:rPr>
              <a:t>(1,"Amit");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map.put</a:t>
            </a:r>
            <a:r>
              <a:rPr lang="en-US" sz="2000" dirty="0" smtClean="0">
                <a:latin typeface="Cambria" panose="02040503050406030204" pitchFamily="18" charset="0"/>
                <a:ea typeface="Cambria" panose="02040503050406030204" pitchFamily="18" charset="0"/>
              </a:rPr>
              <a:t>(5,"Rahul");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map.put</a:t>
            </a:r>
            <a:r>
              <a:rPr lang="en-US" sz="2000" dirty="0" smtClean="0">
                <a:latin typeface="Cambria" panose="02040503050406030204" pitchFamily="18" charset="0"/>
                <a:ea typeface="Cambria" panose="02040503050406030204" pitchFamily="18" charset="0"/>
              </a:rPr>
              <a:t>(2,"Jai");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map.put</a:t>
            </a:r>
            <a:r>
              <a:rPr lang="en-US" sz="2000" dirty="0" smtClean="0">
                <a:latin typeface="Cambria" panose="02040503050406030204" pitchFamily="18" charset="0"/>
                <a:ea typeface="Cambria" panose="02040503050406030204" pitchFamily="18" charset="0"/>
              </a:rPr>
              <a:t>(6,"Amit");  </a:t>
            </a:r>
          </a:p>
          <a:p>
            <a:pPr>
              <a:spcBef>
                <a:spcPts val="0"/>
              </a:spcBef>
              <a:buNone/>
            </a:pPr>
            <a:r>
              <a:rPr lang="en-US" sz="2000" dirty="0" smtClean="0">
                <a:latin typeface="Cambria" panose="02040503050406030204" pitchFamily="18" charset="0"/>
                <a:ea typeface="Cambria" panose="02040503050406030204" pitchFamily="18" charset="0"/>
              </a:rPr>
              <a:t>    //Traversing Map  </a:t>
            </a:r>
          </a:p>
          <a:p>
            <a:pPr>
              <a:spcBef>
                <a:spcPts val="0"/>
              </a:spcBef>
              <a:buNone/>
            </a:pPr>
            <a:r>
              <a:rPr lang="en-US" sz="2000" dirty="0" smtClean="0">
                <a:latin typeface="Cambria" panose="02040503050406030204" pitchFamily="18" charset="0"/>
                <a:ea typeface="Cambria" panose="02040503050406030204" pitchFamily="18" charset="0"/>
              </a:rPr>
              <a:t>    Set </a:t>
            </a:r>
            <a:r>
              <a:rPr lang="en-US" sz="2000" dirty="0" err="1" smtClean="0">
                <a:latin typeface="Cambria" panose="02040503050406030204" pitchFamily="18" charset="0"/>
                <a:ea typeface="Cambria" panose="02040503050406030204" pitchFamily="18" charset="0"/>
              </a:rPr>
              <a:t>set</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map.entrySet</a:t>
            </a:r>
            <a:r>
              <a:rPr lang="en-US" sz="2000" dirty="0" smtClean="0">
                <a:latin typeface="Cambria" panose="02040503050406030204" pitchFamily="18" charset="0"/>
                <a:ea typeface="Cambria" panose="02040503050406030204" pitchFamily="18" charset="0"/>
              </a:rPr>
              <a:t>();//Converting to Set so that we can traverse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Iterator</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itr</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set.iterator</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while</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itr.hasNext</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//Converting to </a:t>
            </a:r>
            <a:r>
              <a:rPr lang="en-US" sz="2000" dirty="0" err="1" smtClean="0">
                <a:latin typeface="Cambria" panose="02040503050406030204" pitchFamily="18" charset="0"/>
                <a:ea typeface="Cambria" panose="02040503050406030204" pitchFamily="18" charset="0"/>
              </a:rPr>
              <a:t>Map.Entry</a:t>
            </a:r>
            <a:r>
              <a:rPr lang="en-US" sz="2000" dirty="0" smtClean="0">
                <a:latin typeface="Cambria" panose="02040503050406030204" pitchFamily="18" charset="0"/>
                <a:ea typeface="Cambria" panose="02040503050406030204" pitchFamily="18" charset="0"/>
              </a:rPr>
              <a:t> so that we can get key and value separately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Map.Entry</a:t>
            </a:r>
            <a:r>
              <a:rPr lang="en-US" sz="2000" dirty="0" smtClean="0">
                <a:latin typeface="Cambria" panose="02040503050406030204" pitchFamily="18" charset="0"/>
                <a:ea typeface="Cambria" panose="02040503050406030204" pitchFamily="18" charset="0"/>
              </a:rPr>
              <a:t> entry=(</a:t>
            </a:r>
            <a:r>
              <a:rPr lang="en-US" sz="2000" dirty="0" err="1" smtClean="0">
                <a:latin typeface="Cambria" panose="02040503050406030204" pitchFamily="18" charset="0"/>
                <a:ea typeface="Cambria" panose="02040503050406030204" pitchFamily="18" charset="0"/>
              </a:rPr>
              <a:t>Map.Entry</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itr.next</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System.out.println</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entry.getKey</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entry.getValue</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pP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41</a:t>
            </a:fld>
            <a:endParaRPr lang="en-US" alt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94441811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7622"/>
            <a:ext cx="9578280" cy="831627"/>
          </a:xfrm>
        </p:spPr>
        <p:txBody>
          <a:bodyPr/>
          <a:lstStyle/>
          <a:p>
            <a:r>
              <a:rPr lang="en-GB" sz="4000" b="1" dirty="0" smtClean="0">
                <a:solidFill>
                  <a:schemeClr val="accent1"/>
                </a:solidFill>
                <a:latin typeface="Cambria" panose="02040503050406030204" pitchFamily="18" charset="0"/>
                <a:ea typeface="Cambria" panose="02040503050406030204" pitchFamily="18" charset="0"/>
              </a:rPr>
              <a:t>Java Map Example: Generic (New Style)</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52754" y="980728"/>
            <a:ext cx="7475494" cy="3600400"/>
          </a:xfrm>
        </p:spPr>
        <p:txBody>
          <a:bodyPr/>
          <a:lstStyle/>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java.util</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class</a:t>
            </a:r>
            <a:r>
              <a:rPr lang="en-US" sz="2000" dirty="0" smtClean="0">
                <a:latin typeface="Cambria" panose="02040503050406030204" pitchFamily="18" charset="0"/>
                <a:ea typeface="Cambria" panose="02040503050406030204" pitchFamily="18" charset="0"/>
              </a:rPr>
              <a:t> MapExample2{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static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void</a:t>
            </a:r>
            <a:r>
              <a:rPr lang="en-US" sz="2000" dirty="0" smtClean="0">
                <a:latin typeface="Cambria" panose="02040503050406030204" pitchFamily="18" charset="0"/>
                <a:ea typeface="Cambria" panose="02040503050406030204" pitchFamily="18" charset="0"/>
              </a:rPr>
              <a:t> main(String </a:t>
            </a:r>
            <a:r>
              <a:rPr lang="en-US" sz="2000" dirty="0" err="1" smtClean="0">
                <a:latin typeface="Cambria" panose="02040503050406030204" pitchFamily="18" charset="0"/>
                <a:ea typeface="Cambria" panose="02040503050406030204" pitchFamily="18" charset="0"/>
              </a:rPr>
              <a:t>args</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Map&lt;</a:t>
            </a:r>
            <a:r>
              <a:rPr lang="en-US" sz="2000" dirty="0" err="1" smtClean="0">
                <a:latin typeface="Cambria" panose="02040503050406030204" pitchFamily="18" charset="0"/>
                <a:ea typeface="Cambria" panose="02040503050406030204" pitchFamily="18" charset="0"/>
              </a:rPr>
              <a:t>Integer,String</a:t>
            </a:r>
            <a:r>
              <a:rPr lang="en-US" sz="2000" dirty="0" smtClean="0">
                <a:latin typeface="Cambria" panose="02040503050406030204" pitchFamily="18" charset="0"/>
                <a:ea typeface="Cambria" panose="02040503050406030204" pitchFamily="18" charset="0"/>
              </a:rPr>
              <a:t>&gt; map=</a:t>
            </a:r>
            <a:r>
              <a:rPr lang="en-US" sz="2000" b="1" dirty="0" smtClean="0">
                <a:latin typeface="Cambria" panose="02040503050406030204" pitchFamily="18" charset="0"/>
                <a:ea typeface="Cambria" panose="02040503050406030204" pitchFamily="18" charset="0"/>
              </a:rPr>
              <a:t>new</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HashMap</a:t>
            </a:r>
            <a:r>
              <a:rPr lang="en-US" sz="2000" dirty="0" smtClean="0">
                <a:latin typeface="Cambria" panose="02040503050406030204" pitchFamily="18" charset="0"/>
                <a:ea typeface="Cambria" panose="02040503050406030204" pitchFamily="18" charset="0"/>
              </a:rPr>
              <a:t>&lt;</a:t>
            </a:r>
            <a:r>
              <a:rPr lang="en-US" sz="2000" dirty="0" err="1" smtClean="0">
                <a:latin typeface="Cambria" panose="02040503050406030204" pitchFamily="18" charset="0"/>
                <a:ea typeface="Cambria" panose="02040503050406030204" pitchFamily="18" charset="0"/>
              </a:rPr>
              <a:t>Integer,String</a:t>
            </a:r>
            <a:r>
              <a:rPr lang="en-US" sz="2000" dirty="0" smtClean="0">
                <a:latin typeface="Cambria" panose="02040503050406030204" pitchFamily="18" charset="0"/>
                <a:ea typeface="Cambria" panose="02040503050406030204" pitchFamily="18" charset="0"/>
              </a:rPr>
              <a:t>&gt;();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map.put</a:t>
            </a:r>
            <a:r>
              <a:rPr lang="en-US" sz="2000" dirty="0" smtClean="0">
                <a:latin typeface="Cambria" panose="02040503050406030204" pitchFamily="18" charset="0"/>
                <a:ea typeface="Cambria" panose="02040503050406030204" pitchFamily="18" charset="0"/>
              </a:rPr>
              <a:t>(100,"Amit");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map.put</a:t>
            </a:r>
            <a:r>
              <a:rPr lang="en-US" sz="2000" dirty="0" smtClean="0">
                <a:latin typeface="Cambria" panose="02040503050406030204" pitchFamily="18" charset="0"/>
                <a:ea typeface="Cambria" panose="02040503050406030204" pitchFamily="18" charset="0"/>
              </a:rPr>
              <a:t>(101,"Vijay");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map.put</a:t>
            </a:r>
            <a:r>
              <a:rPr lang="en-US" sz="2000" dirty="0" smtClean="0">
                <a:latin typeface="Cambria" panose="02040503050406030204" pitchFamily="18" charset="0"/>
                <a:ea typeface="Cambria" panose="02040503050406030204" pitchFamily="18" charset="0"/>
              </a:rPr>
              <a:t>(102,"Rahul");  </a:t>
            </a:r>
          </a:p>
          <a:p>
            <a:pPr>
              <a:spcBef>
                <a:spcPts val="0"/>
              </a:spcBef>
              <a:buNone/>
            </a:pPr>
            <a:r>
              <a:rPr lang="en-US" sz="2000" dirty="0" smtClean="0">
                <a:latin typeface="Cambria" panose="02040503050406030204" pitchFamily="18" charset="0"/>
                <a:ea typeface="Cambria" panose="02040503050406030204" pitchFamily="18" charset="0"/>
              </a:rPr>
              <a:t>  //Elements can traverse in any order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for</a:t>
            </a:r>
            <a:r>
              <a:rPr lang="en-US" sz="2000" dirty="0" smtClean="0">
                <a:latin typeface="Cambria" panose="02040503050406030204" pitchFamily="18" charset="0"/>
                <a:ea typeface="Cambria" panose="02040503050406030204" pitchFamily="18" charset="0"/>
              </a:rPr>
              <a:t>(Map.Entry m:map.entrySet())</a:t>
            </a:r>
          </a:p>
          <a:p>
            <a:pPr>
              <a:spcBef>
                <a:spcPts val="0"/>
              </a:spcBef>
              <a:buNone/>
            </a:pPr>
            <a:r>
              <a:rPr lang="en-US" sz="2000" dirty="0" smtClean="0">
                <a:latin typeface="Cambria" panose="02040503050406030204" pitchFamily="18" charset="0"/>
                <a:ea typeface="Cambria" panose="02040503050406030204" pitchFamily="18" charset="0"/>
              </a:rPr>
              <a:t>   System.out.println(m.getKey()+" "+m.getValue()); </a:t>
            </a:r>
          </a:p>
          <a:p>
            <a:pPr>
              <a:spcBef>
                <a:spcPts val="0"/>
              </a:spcBef>
              <a:buNone/>
            </a:pPr>
            <a:r>
              <a:rPr lang="en-US" sz="2000" dirty="0" smtClean="0">
                <a:latin typeface="Cambria" panose="02040503050406030204" pitchFamily="18" charset="0"/>
                <a:ea typeface="Cambria" panose="02040503050406030204" pitchFamily="18" charset="0"/>
              </a:rPr>
              <a:t> }  </a:t>
            </a:r>
          </a:p>
          <a:p>
            <a:pPr>
              <a:spcBef>
                <a:spcPts val="0"/>
              </a:spcBef>
              <a:buNone/>
            </a:pPr>
            <a:r>
              <a:rPr lang="en-US" sz="2000" dirty="0" smtClean="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 </a:t>
            </a:r>
          </a:p>
          <a:p>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42</a:t>
            </a:fld>
            <a:endParaRPr lang="en-US" alt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159874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16633"/>
            <a:ext cx="5832648" cy="648072"/>
          </a:xfrm>
        </p:spPr>
        <p:txBody>
          <a:bodyPr/>
          <a:lstStyle/>
          <a:p>
            <a:r>
              <a:rPr lang="en-US" sz="4000" b="1" dirty="0" smtClean="0">
                <a:solidFill>
                  <a:schemeClr val="accent1"/>
                </a:solidFill>
                <a:latin typeface="Cambria" panose="02040503050406030204" pitchFamily="18" charset="0"/>
                <a:ea typeface="Cambria" panose="02040503050406030204" pitchFamily="18" charset="0"/>
              </a:rPr>
              <a:t>Comparable interface</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376" y="1196752"/>
            <a:ext cx="10945216" cy="2016224"/>
          </a:xfrm>
        </p:spPr>
        <p:txBody>
          <a:bodyPr/>
          <a:lstStyle/>
          <a:p>
            <a:pPr algn="just"/>
            <a:r>
              <a:rPr lang="en-GB" dirty="0" smtClean="0">
                <a:latin typeface="Cambria" panose="02040503050406030204" pitchFamily="18" charset="0"/>
                <a:ea typeface="Cambria" panose="02040503050406030204" pitchFamily="18" charset="0"/>
              </a:rPr>
              <a:t>Java Comparable interface is used to order the objects of the user-defined class. This interface is found in </a:t>
            </a:r>
            <a:r>
              <a:rPr lang="en-GB" dirty="0" err="1" smtClean="0">
                <a:latin typeface="Cambria" panose="02040503050406030204" pitchFamily="18" charset="0"/>
                <a:ea typeface="Cambria" panose="02040503050406030204" pitchFamily="18" charset="0"/>
              </a:rPr>
              <a:t>java.lang</a:t>
            </a:r>
            <a:r>
              <a:rPr lang="en-GB" dirty="0" smtClean="0">
                <a:latin typeface="Cambria" panose="02040503050406030204" pitchFamily="18" charset="0"/>
                <a:ea typeface="Cambria" panose="02040503050406030204" pitchFamily="18" charset="0"/>
              </a:rPr>
              <a:t> package and contains only one method named </a:t>
            </a:r>
            <a:r>
              <a:rPr lang="en-GB" dirty="0" err="1" smtClean="0">
                <a:latin typeface="Cambria" panose="02040503050406030204" pitchFamily="18" charset="0"/>
                <a:ea typeface="Cambria" panose="02040503050406030204" pitchFamily="18" charset="0"/>
              </a:rPr>
              <a:t>compareTo</a:t>
            </a:r>
            <a:r>
              <a:rPr lang="en-GB" dirty="0" smtClean="0">
                <a:latin typeface="Cambria" panose="02040503050406030204" pitchFamily="18" charset="0"/>
                <a:ea typeface="Cambria" panose="02040503050406030204" pitchFamily="18" charset="0"/>
              </a:rPr>
              <a:t>(Object). It provides a single sorting sequence only,</a:t>
            </a: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43</a:t>
            </a:fld>
            <a:endParaRPr lang="en-US" alt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219157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16632"/>
            <a:ext cx="5473824" cy="543595"/>
          </a:xfrm>
        </p:spPr>
        <p:txBody>
          <a:bodyPr/>
          <a:lstStyle/>
          <a:p>
            <a:r>
              <a:rPr lang="en-US" sz="4000" b="1" dirty="0" smtClean="0">
                <a:solidFill>
                  <a:schemeClr val="accent1"/>
                </a:solidFill>
                <a:latin typeface="Cambria" panose="02040503050406030204" pitchFamily="18" charset="0"/>
                <a:ea typeface="Cambria" panose="02040503050406030204" pitchFamily="18" charset="0"/>
              </a:rPr>
              <a:t>Comparator interface</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695400" y="836712"/>
            <a:ext cx="10009112" cy="3744416"/>
          </a:xfrm>
        </p:spPr>
        <p:txBody>
          <a:bodyPr/>
          <a:lstStyle/>
          <a:p>
            <a:pPr algn="just"/>
            <a:r>
              <a:rPr lang="en-GB" b="1" dirty="0" smtClean="0">
                <a:latin typeface="Cambria" panose="02040503050406030204" pitchFamily="18" charset="0"/>
                <a:ea typeface="Cambria" panose="02040503050406030204" pitchFamily="18" charset="0"/>
              </a:rPr>
              <a:t>Java Comparator interface</a:t>
            </a:r>
            <a:r>
              <a:rPr lang="en-GB" dirty="0" smtClean="0">
                <a:latin typeface="Cambria" panose="02040503050406030204" pitchFamily="18" charset="0"/>
                <a:ea typeface="Cambria" panose="02040503050406030204" pitchFamily="18" charset="0"/>
              </a:rPr>
              <a:t> is used to order the objects of a user-defined class.</a:t>
            </a:r>
          </a:p>
          <a:p>
            <a:pPr algn="just"/>
            <a:r>
              <a:rPr lang="en-GB" dirty="0" smtClean="0">
                <a:latin typeface="Cambria" panose="02040503050406030204" pitchFamily="18" charset="0"/>
                <a:ea typeface="Cambria" panose="02040503050406030204" pitchFamily="18" charset="0"/>
              </a:rPr>
              <a:t>This interface is found in </a:t>
            </a:r>
            <a:r>
              <a:rPr lang="en-GB" dirty="0" err="1" smtClean="0">
                <a:latin typeface="Cambria" panose="02040503050406030204" pitchFamily="18" charset="0"/>
                <a:ea typeface="Cambria" panose="02040503050406030204" pitchFamily="18" charset="0"/>
              </a:rPr>
              <a:t>java.util</a:t>
            </a:r>
            <a:r>
              <a:rPr lang="en-GB" dirty="0" smtClean="0">
                <a:latin typeface="Cambria" panose="02040503050406030204" pitchFamily="18" charset="0"/>
                <a:ea typeface="Cambria" panose="02040503050406030204" pitchFamily="18" charset="0"/>
              </a:rPr>
              <a:t> package and contains 2 methods compare(Object obj1,Object obj2) and equals(Object element).</a:t>
            </a:r>
          </a:p>
          <a:p>
            <a:pPr algn="just"/>
            <a:r>
              <a:rPr lang="en-GB" dirty="0" smtClean="0">
                <a:latin typeface="Cambria" panose="02040503050406030204" pitchFamily="18" charset="0"/>
                <a:ea typeface="Cambria" panose="02040503050406030204" pitchFamily="18" charset="0"/>
              </a:rPr>
              <a:t>It provides multiple sorting sequences, i.e., you can sort the elements on the basis of any data member, for example, </a:t>
            </a:r>
            <a:r>
              <a:rPr lang="en-GB" dirty="0" err="1" smtClean="0">
                <a:latin typeface="Cambria" panose="02040503050406030204" pitchFamily="18" charset="0"/>
                <a:ea typeface="Cambria" panose="02040503050406030204" pitchFamily="18" charset="0"/>
              </a:rPr>
              <a:t>rollno</a:t>
            </a:r>
            <a:r>
              <a:rPr lang="en-GB" dirty="0" smtClean="0">
                <a:latin typeface="Cambria" panose="02040503050406030204" pitchFamily="18" charset="0"/>
                <a:ea typeface="Cambria" panose="02040503050406030204" pitchFamily="18" charset="0"/>
              </a:rPr>
              <a:t>, name, age or anything else.</a:t>
            </a: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44</a:t>
            </a:fld>
            <a:endParaRPr lang="en-US" alt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9661755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73075"/>
          </a:xfrm>
        </p:spPr>
        <p:txBody>
          <a:bodyPr/>
          <a:lstStyle/>
          <a:p>
            <a:r>
              <a:rPr lang="en-US" dirty="0"/>
              <a:t>Comparable vs Comparator </a:t>
            </a:r>
          </a:p>
        </p:txBody>
      </p:sp>
      <p:sp>
        <p:nvSpPr>
          <p:cNvPr id="3" name="Content Placeholder 2"/>
          <p:cNvSpPr>
            <a:spLocks noGrp="1"/>
          </p:cNvSpPr>
          <p:nvPr>
            <p:ph idx="1"/>
          </p:nvPr>
        </p:nvSpPr>
        <p:spPr>
          <a:xfrm>
            <a:off x="152400" y="1448551"/>
            <a:ext cx="3429000" cy="1751849"/>
          </a:xfrm>
        </p:spPr>
        <p:txBody>
          <a:bodyPr/>
          <a:lstStyle/>
          <a:p>
            <a:pPr algn="just"/>
            <a:r>
              <a:rPr lang="en-US" sz="2400" dirty="0" smtClean="0"/>
              <a:t>Comparable &amp;  Comparator </a:t>
            </a:r>
            <a:r>
              <a:rPr lang="en-US" sz="2400" dirty="0"/>
              <a:t>are interfaces </a:t>
            </a:r>
            <a:r>
              <a:rPr lang="en-US" sz="2400" dirty="0" smtClean="0"/>
              <a:t>which can </a:t>
            </a:r>
            <a:r>
              <a:rPr lang="en-US" sz="2400" dirty="0"/>
              <a:t>be used to sort collection elements.</a:t>
            </a:r>
          </a:p>
          <a:p>
            <a:pPr algn="just"/>
            <a:endParaRPr lang="en-US" sz="2400"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45</a:t>
            </a:fld>
            <a:endParaRPr lang="en-US" altLang="en-US"/>
          </a:p>
        </p:txBody>
      </p:sp>
      <p:pic>
        <p:nvPicPr>
          <p:cNvPr id="6" name="Picture 5"/>
          <p:cNvPicPr>
            <a:picLocks noChangeAspect="1"/>
          </p:cNvPicPr>
          <p:nvPr/>
        </p:nvPicPr>
        <p:blipFill>
          <a:blip r:embed="rId2"/>
          <a:stretch>
            <a:fillRect/>
          </a:stretch>
        </p:blipFill>
        <p:spPr>
          <a:xfrm>
            <a:off x="3617495" y="834188"/>
            <a:ext cx="7843289" cy="5522161"/>
          </a:xfrm>
          <a:prstGeom prst="rect">
            <a:avLst/>
          </a:prstGeom>
        </p:spPr>
      </p:pic>
    </p:spTree>
    <p:extLst>
      <p:ext uri="{BB962C8B-B14F-4D97-AF65-F5344CB8AC3E}">
        <p14:creationId xmlns:p14="http://schemas.microsoft.com/office/powerpoint/2010/main" val="26642884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88641"/>
            <a:ext cx="2232248" cy="432047"/>
          </a:xfrm>
        </p:spPr>
        <p:txBody>
          <a:bodyPr/>
          <a:lstStyle/>
          <a:p>
            <a:r>
              <a:rPr lang="en-US" b="1" dirty="0" smtClean="0">
                <a:solidFill>
                  <a:schemeClr val="accent1"/>
                </a:solidFill>
                <a:latin typeface="Cambria" panose="02040503050406030204" pitchFamily="18" charset="0"/>
                <a:ea typeface="Cambria" panose="02040503050406030204" pitchFamily="18" charset="0"/>
              </a:rPr>
              <a:t>JDBC</a:t>
            </a:r>
            <a:endParaRPr lang="en-US"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9634" y="620688"/>
            <a:ext cx="10515600" cy="4748227"/>
          </a:xfrm>
        </p:spPr>
        <p:txBody>
          <a:bodyPr/>
          <a:lstStyle/>
          <a:p>
            <a:pPr algn="just"/>
            <a:r>
              <a:rPr lang="en-US" sz="2400" dirty="0" smtClean="0">
                <a:latin typeface="Cambria" panose="02040503050406030204" pitchFamily="18" charset="0"/>
                <a:ea typeface="Cambria" panose="02040503050406030204" pitchFamily="18" charset="0"/>
              </a:rPr>
              <a:t>JDBC stands for Java Database Connectivity. JDBC is a Java API to connect and execute the query with the database. It is a part of </a:t>
            </a:r>
            <a:r>
              <a:rPr lang="en-US" sz="2400" dirty="0" err="1" smtClean="0">
                <a:latin typeface="Cambria" panose="02040503050406030204" pitchFamily="18" charset="0"/>
                <a:ea typeface="Cambria" panose="02040503050406030204" pitchFamily="18" charset="0"/>
              </a:rPr>
              <a:t>JavaSE</a:t>
            </a:r>
            <a:r>
              <a:rPr lang="en-US" sz="2400" dirty="0" smtClean="0">
                <a:latin typeface="Cambria" panose="02040503050406030204" pitchFamily="18" charset="0"/>
                <a:ea typeface="Cambria" panose="02040503050406030204" pitchFamily="18" charset="0"/>
              </a:rPr>
              <a:t> (Java Standard Edition). JDBC API uses JDBC drivers to connect with the database. </a:t>
            </a:r>
          </a:p>
          <a:p>
            <a:pPr algn="just">
              <a:buNone/>
            </a:pPr>
            <a:r>
              <a:rPr lang="en-US" sz="2400" dirty="0" smtClean="0">
                <a:latin typeface="Cambria" panose="02040503050406030204" pitchFamily="18" charset="0"/>
                <a:ea typeface="Cambria" panose="02040503050406030204" pitchFamily="18" charset="0"/>
              </a:rPr>
              <a:t>There are four types of JDBC drivers:</a:t>
            </a:r>
          </a:p>
          <a:p>
            <a:pPr algn="just"/>
            <a:r>
              <a:rPr lang="en-US" sz="2400" dirty="0" smtClean="0">
                <a:latin typeface="Cambria" panose="02040503050406030204" pitchFamily="18" charset="0"/>
                <a:ea typeface="Cambria" panose="02040503050406030204" pitchFamily="18" charset="0"/>
              </a:rPr>
              <a:t>JDBC-ODBC Bridge Driver,</a:t>
            </a:r>
          </a:p>
          <a:p>
            <a:pPr algn="just"/>
            <a:r>
              <a:rPr lang="en-US" sz="2400" dirty="0" smtClean="0">
                <a:latin typeface="Cambria" panose="02040503050406030204" pitchFamily="18" charset="0"/>
                <a:ea typeface="Cambria" panose="02040503050406030204" pitchFamily="18" charset="0"/>
              </a:rPr>
              <a:t>Native Driver,</a:t>
            </a:r>
          </a:p>
          <a:p>
            <a:pPr algn="just"/>
            <a:r>
              <a:rPr lang="en-US" sz="2400" dirty="0" smtClean="0">
                <a:latin typeface="Cambria" panose="02040503050406030204" pitchFamily="18" charset="0"/>
                <a:ea typeface="Cambria" panose="02040503050406030204" pitchFamily="18" charset="0"/>
              </a:rPr>
              <a:t>Network Protocol Driver, and</a:t>
            </a:r>
          </a:p>
          <a:p>
            <a:pPr algn="just"/>
            <a:r>
              <a:rPr lang="en-US" sz="2400" dirty="0" smtClean="0">
                <a:latin typeface="Cambria" panose="02040503050406030204" pitchFamily="18" charset="0"/>
                <a:ea typeface="Cambria" panose="02040503050406030204" pitchFamily="18" charset="0"/>
              </a:rPr>
              <a:t>Thin Driver</a:t>
            </a:r>
          </a:p>
          <a:p>
            <a:pPr algn="just"/>
            <a:r>
              <a:rPr lang="en-GB" sz="2400" dirty="0" smtClean="0">
                <a:latin typeface="Cambria" panose="02040503050406030204" pitchFamily="18" charset="0"/>
                <a:ea typeface="Cambria" panose="02040503050406030204" pitchFamily="18" charset="0"/>
              </a:rPr>
              <a:t>use JDBC API to access tabular data stored in any relational database. By the help of JDBC API, we can save, update, delete and fetch data from the database. It is like Open Database Connectivity (ODBC) provided by Microsoft.</a:t>
            </a:r>
            <a:endParaRPr lang="en-US" sz="2400" dirty="0" smtClean="0">
              <a:latin typeface="Cambria" panose="02040503050406030204" pitchFamily="18" charset="0"/>
              <a:ea typeface="Cambria" panose="02040503050406030204" pitchFamily="18" charset="0"/>
            </a:endParaRPr>
          </a:p>
          <a:p>
            <a:pPr algn="just"/>
            <a:endParaRPr lang="en-US" sz="2400" dirty="0" smtClean="0">
              <a:latin typeface="Cambria" panose="02040503050406030204" pitchFamily="18" charset="0"/>
              <a:ea typeface="Cambria" panose="02040503050406030204" pitchFamily="18" charset="0"/>
            </a:endParaRPr>
          </a:p>
          <a:p>
            <a:pPr algn="just"/>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46</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360" y="37174"/>
            <a:ext cx="3313584" cy="627005"/>
          </a:xfrm>
        </p:spPr>
        <p:txBody>
          <a:bodyPr/>
          <a:lstStyle/>
          <a:p>
            <a:r>
              <a:rPr lang="en-GB" b="1" dirty="0" smtClean="0">
                <a:solidFill>
                  <a:schemeClr val="accent1"/>
                </a:solidFill>
                <a:latin typeface="Cambria" panose="02040503050406030204" pitchFamily="18" charset="0"/>
                <a:ea typeface="Cambria" panose="02040503050406030204" pitchFamily="18" charset="0"/>
              </a:rPr>
              <a:t>JDBC</a:t>
            </a:r>
            <a:endParaRPr lang="en-US"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694792" y="795381"/>
            <a:ext cx="10802416" cy="1277904"/>
          </a:xfrm>
        </p:spPr>
        <p:txBody>
          <a:bodyPr/>
          <a:lstStyle/>
          <a:p>
            <a:pPr algn="just">
              <a:spcBef>
                <a:spcPts val="0"/>
              </a:spcBef>
              <a:buNone/>
            </a:pPr>
            <a:r>
              <a:rPr lang="en-GB" sz="2400" dirty="0" smtClean="0">
                <a:latin typeface="Cambria" panose="02040503050406030204" pitchFamily="18" charset="0"/>
                <a:ea typeface="Cambria" panose="02040503050406030204" pitchFamily="18" charset="0"/>
              </a:rPr>
              <a:t> The current version of JDBC is 4.3. It is the stable release since 21st September, 2017. It is based on the X/Open SQL Call Level Interface. The </a:t>
            </a:r>
            <a:r>
              <a:rPr lang="en-GB" sz="2400" b="1" dirty="0" smtClean="0">
                <a:latin typeface="Cambria" panose="02040503050406030204" pitchFamily="18" charset="0"/>
                <a:ea typeface="Cambria" panose="02040503050406030204" pitchFamily="18" charset="0"/>
              </a:rPr>
              <a:t>java.sql</a:t>
            </a:r>
            <a:r>
              <a:rPr lang="en-GB" sz="2400" dirty="0" smtClean="0">
                <a:latin typeface="Cambria" panose="02040503050406030204" pitchFamily="18" charset="0"/>
                <a:ea typeface="Cambria" panose="02040503050406030204" pitchFamily="18" charset="0"/>
              </a:rPr>
              <a:t> package contains classes and interfaces for JDBC API. </a:t>
            </a:r>
            <a:endParaRPr lang="en-US" sz="2400" dirty="0" smtClean="0">
              <a:latin typeface="Cambria" panose="02040503050406030204" pitchFamily="18" charset="0"/>
              <a:ea typeface="Cambria" panose="02040503050406030204" pitchFamily="18" charset="0"/>
            </a:endParaRPr>
          </a:p>
          <a:p>
            <a:pPr algn="just"/>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47</a:t>
            </a:fld>
            <a:endParaRPr lang="en-US" altLang="en-US">
              <a:latin typeface="Cambria" panose="02040503050406030204" pitchFamily="18" charset="0"/>
              <a:ea typeface="Cambria" panose="02040503050406030204" pitchFamily="18" charset="0"/>
            </a:endParaRPr>
          </a:p>
        </p:txBody>
      </p:sp>
      <p:pic>
        <p:nvPicPr>
          <p:cNvPr id="5" name="Picture 4" descr="JDBC (Java Database Connectivity) "/>
          <p:cNvPicPr/>
          <p:nvPr/>
        </p:nvPicPr>
        <p:blipFill>
          <a:blip r:embed="rId2"/>
          <a:srcRect/>
          <a:stretch>
            <a:fillRect/>
          </a:stretch>
        </p:blipFill>
        <p:spPr bwMode="auto">
          <a:xfrm>
            <a:off x="2881290" y="2073285"/>
            <a:ext cx="6429420" cy="328614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5735960" cy="548680"/>
          </a:xfrm>
        </p:spPr>
        <p:txBody>
          <a:bodyPr/>
          <a:lstStyle/>
          <a:p>
            <a:r>
              <a:rPr lang="en-GB" sz="4000" b="1" dirty="0" smtClean="0">
                <a:solidFill>
                  <a:schemeClr val="accent1"/>
                </a:solidFill>
                <a:latin typeface="Cambria" panose="02040503050406030204" pitchFamily="18" charset="0"/>
                <a:ea typeface="Cambria" panose="02040503050406030204" pitchFamily="18" charset="0"/>
              </a:rPr>
              <a:t> </a:t>
            </a:r>
            <a:r>
              <a:rPr lang="en-US" sz="4000" b="1" i="1" dirty="0">
                <a:solidFill>
                  <a:schemeClr val="accent1"/>
                </a:solidFill>
                <a:latin typeface="Cambria" panose="02040503050406030204" pitchFamily="18" charset="0"/>
                <a:ea typeface="Cambria" panose="02040503050406030204" pitchFamily="18" charset="0"/>
              </a:rPr>
              <a:t>I</a:t>
            </a:r>
            <a:r>
              <a:rPr lang="en-US" sz="4000" b="1" i="1" dirty="0" smtClean="0">
                <a:solidFill>
                  <a:schemeClr val="accent1"/>
                </a:solidFill>
                <a:latin typeface="Cambria" panose="02040503050406030204" pitchFamily="18" charset="0"/>
                <a:ea typeface="Cambria" panose="02040503050406030204" pitchFamily="18" charset="0"/>
              </a:rPr>
              <a:t>nterfaces</a:t>
            </a:r>
            <a:r>
              <a:rPr lang="en-US" sz="4000" b="1" dirty="0" smtClean="0">
                <a:solidFill>
                  <a:schemeClr val="accent1"/>
                </a:solidFill>
                <a:latin typeface="Cambria" panose="02040503050406030204" pitchFamily="18" charset="0"/>
                <a:ea typeface="Cambria" panose="02040503050406030204" pitchFamily="18" charset="0"/>
              </a:rPr>
              <a:t> of JDBC API</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983432" y="548681"/>
            <a:ext cx="6364252" cy="4589702"/>
          </a:xfrm>
        </p:spPr>
        <p:txBody>
          <a:bodyPr/>
          <a:lstStyle/>
          <a:p>
            <a:r>
              <a:rPr lang="en-US" dirty="0" smtClean="0">
                <a:latin typeface="Cambria" panose="02040503050406030204" pitchFamily="18" charset="0"/>
                <a:ea typeface="Cambria" panose="02040503050406030204" pitchFamily="18" charset="0"/>
              </a:rPr>
              <a:t>Driver interface</a:t>
            </a:r>
          </a:p>
          <a:p>
            <a:r>
              <a:rPr lang="en-US" dirty="0" smtClean="0">
                <a:latin typeface="Cambria" panose="02040503050406030204" pitchFamily="18" charset="0"/>
                <a:ea typeface="Cambria" panose="02040503050406030204" pitchFamily="18" charset="0"/>
              </a:rPr>
              <a:t>Connection interface</a:t>
            </a:r>
          </a:p>
          <a:p>
            <a:r>
              <a:rPr lang="en-US" dirty="0" smtClean="0">
                <a:latin typeface="Cambria" panose="02040503050406030204" pitchFamily="18" charset="0"/>
                <a:ea typeface="Cambria" panose="02040503050406030204" pitchFamily="18" charset="0"/>
              </a:rPr>
              <a:t>Statement interface</a:t>
            </a:r>
          </a:p>
          <a:p>
            <a:r>
              <a:rPr lang="en-US" dirty="0" err="1" smtClean="0">
                <a:latin typeface="Cambria" panose="02040503050406030204" pitchFamily="18" charset="0"/>
                <a:ea typeface="Cambria" panose="02040503050406030204" pitchFamily="18" charset="0"/>
              </a:rPr>
              <a:t>PreparedStatement</a:t>
            </a:r>
            <a:r>
              <a:rPr lang="en-US" dirty="0" smtClean="0">
                <a:latin typeface="Cambria" panose="02040503050406030204" pitchFamily="18" charset="0"/>
                <a:ea typeface="Cambria" panose="02040503050406030204" pitchFamily="18" charset="0"/>
              </a:rPr>
              <a:t> interface</a:t>
            </a:r>
          </a:p>
          <a:p>
            <a:r>
              <a:rPr lang="en-US" dirty="0" err="1" smtClean="0">
                <a:latin typeface="Cambria" panose="02040503050406030204" pitchFamily="18" charset="0"/>
                <a:ea typeface="Cambria" panose="02040503050406030204" pitchFamily="18" charset="0"/>
              </a:rPr>
              <a:t>CallableStatement</a:t>
            </a:r>
            <a:r>
              <a:rPr lang="en-US" dirty="0" smtClean="0">
                <a:latin typeface="Cambria" panose="02040503050406030204" pitchFamily="18" charset="0"/>
                <a:ea typeface="Cambria" panose="02040503050406030204" pitchFamily="18" charset="0"/>
              </a:rPr>
              <a:t> interface</a:t>
            </a:r>
          </a:p>
          <a:p>
            <a:r>
              <a:rPr lang="en-US" dirty="0" err="1" smtClean="0">
                <a:latin typeface="Cambria" panose="02040503050406030204" pitchFamily="18" charset="0"/>
                <a:ea typeface="Cambria" panose="02040503050406030204" pitchFamily="18" charset="0"/>
              </a:rPr>
              <a:t>ResultSet</a:t>
            </a:r>
            <a:r>
              <a:rPr lang="en-US" dirty="0" smtClean="0">
                <a:latin typeface="Cambria" panose="02040503050406030204" pitchFamily="18" charset="0"/>
                <a:ea typeface="Cambria" panose="02040503050406030204" pitchFamily="18" charset="0"/>
              </a:rPr>
              <a:t> interface</a:t>
            </a:r>
          </a:p>
          <a:p>
            <a:r>
              <a:rPr lang="en-US" dirty="0" err="1" smtClean="0">
                <a:latin typeface="Cambria" panose="02040503050406030204" pitchFamily="18" charset="0"/>
                <a:ea typeface="Cambria" panose="02040503050406030204" pitchFamily="18" charset="0"/>
              </a:rPr>
              <a:t>ResultSetMetaData</a:t>
            </a:r>
            <a:r>
              <a:rPr lang="en-US" dirty="0" smtClean="0">
                <a:latin typeface="Cambria" panose="02040503050406030204" pitchFamily="18" charset="0"/>
                <a:ea typeface="Cambria" panose="02040503050406030204" pitchFamily="18" charset="0"/>
              </a:rPr>
              <a:t> interface</a:t>
            </a:r>
          </a:p>
          <a:p>
            <a:r>
              <a:rPr lang="en-US" dirty="0" err="1" smtClean="0">
                <a:latin typeface="Cambria" panose="02040503050406030204" pitchFamily="18" charset="0"/>
                <a:ea typeface="Cambria" panose="02040503050406030204" pitchFamily="18" charset="0"/>
              </a:rPr>
              <a:t>DatabaseMetaData</a:t>
            </a:r>
            <a:r>
              <a:rPr lang="en-US" dirty="0" smtClean="0">
                <a:latin typeface="Cambria" panose="02040503050406030204" pitchFamily="18" charset="0"/>
                <a:ea typeface="Cambria" panose="02040503050406030204" pitchFamily="18" charset="0"/>
              </a:rPr>
              <a:t> interface</a:t>
            </a:r>
          </a:p>
          <a:p>
            <a:r>
              <a:rPr lang="en-US" dirty="0" err="1" smtClean="0">
                <a:latin typeface="Cambria" panose="02040503050406030204" pitchFamily="18" charset="0"/>
                <a:ea typeface="Cambria" panose="02040503050406030204" pitchFamily="18" charset="0"/>
              </a:rPr>
              <a:t>RowSet</a:t>
            </a:r>
            <a:r>
              <a:rPr lang="en-US" dirty="0" smtClean="0">
                <a:latin typeface="Cambria" panose="02040503050406030204" pitchFamily="18" charset="0"/>
                <a:ea typeface="Cambria" panose="02040503050406030204" pitchFamily="18" charset="0"/>
              </a:rPr>
              <a:t> interface</a:t>
            </a:r>
          </a:p>
          <a:p>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48</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5329808" cy="543595"/>
          </a:xfrm>
        </p:spPr>
        <p:txBody>
          <a:bodyPr/>
          <a:lstStyle/>
          <a:p>
            <a:r>
              <a:rPr lang="en-US" sz="4000" b="1" i="1" dirty="0" smtClean="0">
                <a:solidFill>
                  <a:schemeClr val="accent1"/>
                </a:solidFill>
                <a:latin typeface="Cambria" panose="02040503050406030204" pitchFamily="18" charset="0"/>
                <a:ea typeface="Cambria" panose="02040503050406030204" pitchFamily="18" charset="0"/>
              </a:rPr>
              <a:t>classes</a:t>
            </a:r>
            <a:r>
              <a:rPr lang="en-US" sz="4000" b="1" dirty="0" smtClean="0">
                <a:solidFill>
                  <a:schemeClr val="accent1"/>
                </a:solidFill>
                <a:latin typeface="Cambria" panose="02040503050406030204" pitchFamily="18" charset="0"/>
                <a:ea typeface="Cambria" panose="02040503050406030204" pitchFamily="18" charset="0"/>
              </a:rPr>
              <a:t> of JDBC API</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695400" y="513126"/>
            <a:ext cx="10441160" cy="5076114"/>
          </a:xfrm>
        </p:spPr>
        <p:txBody>
          <a:bodyPr/>
          <a:lstStyle/>
          <a:p>
            <a:pPr algn="just"/>
            <a:r>
              <a:rPr lang="en-GB" dirty="0" smtClean="0">
                <a:latin typeface="Cambria" panose="02040503050406030204" pitchFamily="18" charset="0"/>
                <a:ea typeface="Cambria" panose="02040503050406030204" pitchFamily="18" charset="0"/>
              </a:rPr>
              <a:t>DriverManager class</a:t>
            </a:r>
          </a:p>
          <a:p>
            <a:pPr algn="just"/>
            <a:r>
              <a:rPr lang="en-GB" dirty="0" smtClean="0">
                <a:latin typeface="Cambria" panose="02040503050406030204" pitchFamily="18" charset="0"/>
                <a:ea typeface="Cambria" panose="02040503050406030204" pitchFamily="18" charset="0"/>
              </a:rPr>
              <a:t>Blob class</a:t>
            </a:r>
          </a:p>
          <a:p>
            <a:pPr algn="just"/>
            <a:r>
              <a:rPr lang="en-GB" dirty="0" err="1" smtClean="0">
                <a:latin typeface="Cambria" panose="02040503050406030204" pitchFamily="18" charset="0"/>
                <a:ea typeface="Cambria" panose="02040503050406030204" pitchFamily="18" charset="0"/>
              </a:rPr>
              <a:t>Clob</a:t>
            </a:r>
            <a:r>
              <a:rPr lang="en-GB" dirty="0" smtClean="0">
                <a:latin typeface="Cambria" panose="02040503050406030204" pitchFamily="18" charset="0"/>
                <a:ea typeface="Cambria" panose="02040503050406030204" pitchFamily="18" charset="0"/>
              </a:rPr>
              <a:t> class</a:t>
            </a:r>
          </a:p>
          <a:p>
            <a:pPr algn="just"/>
            <a:r>
              <a:rPr lang="en-GB" sz="2000" dirty="0" smtClean="0">
                <a:latin typeface="Cambria" panose="02040503050406030204" pitchFamily="18" charset="0"/>
                <a:ea typeface="Cambria" panose="02040503050406030204" pitchFamily="18" charset="0"/>
              </a:rPr>
              <a:t>Before JDBC, ODBC API was the database API to connect and execute the query with the database. But, ODBC API uses ODBC driver which is written in C language (i.e. platform dependent and unsecured). That is why Java has defined its own API (JDBC API) that uses JDBC drivers (written in Java language).</a:t>
            </a:r>
          </a:p>
          <a:p>
            <a:pPr algn="just"/>
            <a:r>
              <a:rPr lang="en-GB" sz="2000" dirty="0" smtClean="0">
                <a:latin typeface="Cambria" panose="02040503050406030204" pitchFamily="18" charset="0"/>
                <a:ea typeface="Cambria" panose="02040503050406030204" pitchFamily="18" charset="0"/>
              </a:rPr>
              <a:t>We can use JDBC API to handle database using Java program and can perform the following activities:</a:t>
            </a:r>
          </a:p>
          <a:p>
            <a:pPr marL="457200" indent="-457200" algn="just">
              <a:buFont typeface="+mj-lt"/>
              <a:buAutoNum type="arabicPeriod"/>
            </a:pPr>
            <a:r>
              <a:rPr lang="en-GB" sz="2000" dirty="0" smtClean="0">
                <a:latin typeface="Cambria" panose="02040503050406030204" pitchFamily="18" charset="0"/>
                <a:ea typeface="Cambria" panose="02040503050406030204" pitchFamily="18" charset="0"/>
              </a:rPr>
              <a:t>Connect to the database</a:t>
            </a:r>
          </a:p>
          <a:p>
            <a:pPr marL="457200" indent="-457200" algn="just">
              <a:buFont typeface="+mj-lt"/>
              <a:buAutoNum type="arabicPeriod"/>
            </a:pPr>
            <a:r>
              <a:rPr lang="en-GB" sz="2000" dirty="0" smtClean="0">
                <a:latin typeface="Cambria" panose="02040503050406030204" pitchFamily="18" charset="0"/>
                <a:ea typeface="Cambria" panose="02040503050406030204" pitchFamily="18" charset="0"/>
              </a:rPr>
              <a:t>Execute queries and update statements to the database</a:t>
            </a:r>
          </a:p>
          <a:p>
            <a:pPr marL="457200" indent="-457200" algn="just">
              <a:buFont typeface="+mj-lt"/>
              <a:buAutoNum type="arabicPeriod"/>
            </a:pPr>
            <a:r>
              <a:rPr lang="en-GB" sz="2000" dirty="0" smtClean="0">
                <a:latin typeface="Cambria" panose="02040503050406030204" pitchFamily="18" charset="0"/>
                <a:ea typeface="Cambria" panose="02040503050406030204" pitchFamily="18" charset="0"/>
              </a:rPr>
              <a:t>Retrieve the result received from the database.</a:t>
            </a:r>
          </a:p>
          <a:p>
            <a:pPr algn="just"/>
            <a:endParaRPr lang="en-GB" sz="2000" dirty="0" smtClean="0">
              <a:latin typeface="Cambria" panose="02040503050406030204" pitchFamily="18" charset="0"/>
              <a:ea typeface="Cambria" panose="02040503050406030204" pitchFamily="18" charset="0"/>
            </a:endParaRP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49</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849297"/>
          </a:xfrm>
        </p:spPr>
        <p:txBody>
          <a:bodyPr/>
          <a:lstStyle/>
          <a:p>
            <a:r>
              <a:rPr lang="en-US" sz="4000" b="1" dirty="0" smtClean="0">
                <a:solidFill>
                  <a:schemeClr val="accent1"/>
                </a:solidFill>
                <a:latin typeface="Cambria" panose="02040503050406030204" pitchFamily="18" charset="0"/>
                <a:ea typeface="Cambria" panose="02040503050406030204" pitchFamily="18" charset="0"/>
              </a:rPr>
              <a:t>  </a:t>
            </a:r>
            <a:br>
              <a:rPr lang="en-US" sz="4000" b="1" dirty="0" smtClean="0">
                <a:solidFill>
                  <a:schemeClr val="accent1"/>
                </a:solidFill>
                <a:latin typeface="Cambria" panose="02040503050406030204" pitchFamily="18" charset="0"/>
                <a:ea typeface="Cambria" panose="02040503050406030204" pitchFamily="18" charset="0"/>
              </a:rPr>
            </a:br>
            <a:r>
              <a:rPr lang="en-US" sz="4000" b="1" dirty="0" smtClean="0">
                <a:solidFill>
                  <a:schemeClr val="accent1"/>
                </a:solidFill>
                <a:latin typeface="Cambria" panose="02040503050406030204" pitchFamily="18" charset="0"/>
                <a:ea typeface="Cambria" panose="02040503050406030204" pitchFamily="18" charset="0"/>
              </a:rPr>
              <a:t/>
            </a:r>
            <a:br>
              <a:rPr lang="en-US" sz="4000" b="1" dirty="0" smtClean="0">
                <a:solidFill>
                  <a:schemeClr val="accent1"/>
                </a:solidFill>
                <a:latin typeface="Cambria" panose="02040503050406030204" pitchFamily="18" charset="0"/>
                <a:ea typeface="Cambria" panose="02040503050406030204" pitchFamily="18" charset="0"/>
              </a:rPr>
            </a:br>
            <a:r>
              <a:rPr lang="en-US" sz="4000" b="1" dirty="0" smtClean="0">
                <a:solidFill>
                  <a:schemeClr val="accent1"/>
                </a:solidFill>
                <a:latin typeface="Cambria" panose="02040503050406030204" pitchFamily="18" charset="0"/>
                <a:ea typeface="Cambria" panose="02040503050406030204" pitchFamily="18" charset="0"/>
              </a:rPr>
              <a:t>JDBC Driver</a:t>
            </a:r>
            <a:br>
              <a:rPr lang="en-US" sz="4000" b="1" dirty="0" smtClean="0">
                <a:solidFill>
                  <a:schemeClr val="accent1"/>
                </a:solidFill>
                <a:latin typeface="Cambria" panose="02040503050406030204" pitchFamily="18" charset="0"/>
                <a:ea typeface="Cambria" panose="02040503050406030204" pitchFamily="18" charset="0"/>
              </a:rPr>
            </a:br>
            <a:r>
              <a:rPr lang="en-US" sz="4000" b="1" dirty="0" smtClean="0">
                <a:solidFill>
                  <a:schemeClr val="accent1"/>
                </a:solidFill>
                <a:latin typeface="Cambria" panose="02040503050406030204" pitchFamily="18" charset="0"/>
                <a:ea typeface="Cambria" panose="02040503050406030204" pitchFamily="18" charset="0"/>
              </a:rPr>
              <a:t/>
            </a:r>
            <a:br>
              <a:rPr lang="en-US" sz="4000" b="1" dirty="0" smtClean="0">
                <a:solidFill>
                  <a:schemeClr val="accent1"/>
                </a:solidFill>
                <a:latin typeface="Cambria" panose="02040503050406030204" pitchFamily="18" charset="0"/>
                <a:ea typeface="Cambria" panose="02040503050406030204" pitchFamily="18" charset="0"/>
              </a:rPr>
            </a:b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200" y="849297"/>
            <a:ext cx="10515600" cy="3659823"/>
          </a:xfrm>
        </p:spPr>
        <p:txBody>
          <a:bodyPr/>
          <a:lstStyle/>
          <a:p>
            <a:pPr algn="just"/>
            <a:r>
              <a:rPr lang="en-GB" dirty="0" smtClean="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JDBC Driver is a software component that enables Java application to interact with the database. </a:t>
            </a:r>
          </a:p>
          <a:p>
            <a:pPr algn="just"/>
            <a:r>
              <a:rPr lang="en-US" dirty="0" smtClean="0">
                <a:latin typeface="Cambria" panose="02040503050406030204" pitchFamily="18" charset="0"/>
                <a:ea typeface="Cambria" panose="02040503050406030204" pitchFamily="18" charset="0"/>
              </a:rPr>
              <a:t>There are 4 types of JDBC drivers:</a:t>
            </a:r>
          </a:p>
          <a:p>
            <a:pPr marL="514350" indent="-514350" algn="just">
              <a:buFont typeface="+mj-lt"/>
              <a:buAutoNum type="arabicPeriod"/>
            </a:pPr>
            <a:r>
              <a:rPr lang="en-US" dirty="0" smtClean="0">
                <a:latin typeface="Cambria" panose="02040503050406030204" pitchFamily="18" charset="0"/>
                <a:ea typeface="Cambria" panose="02040503050406030204" pitchFamily="18" charset="0"/>
              </a:rPr>
              <a:t>JDBC-ODBC bridge driver</a:t>
            </a:r>
          </a:p>
          <a:p>
            <a:pPr marL="514350" indent="-514350" algn="just">
              <a:buFont typeface="+mj-lt"/>
              <a:buAutoNum type="arabicPeriod"/>
            </a:pPr>
            <a:r>
              <a:rPr lang="en-US" dirty="0" smtClean="0">
                <a:latin typeface="Cambria" panose="02040503050406030204" pitchFamily="18" charset="0"/>
                <a:ea typeface="Cambria" panose="02040503050406030204" pitchFamily="18" charset="0"/>
              </a:rPr>
              <a:t>Native-API driver (partially java driver)</a:t>
            </a:r>
          </a:p>
          <a:p>
            <a:pPr marL="514350" indent="-514350" algn="just">
              <a:buFont typeface="+mj-lt"/>
              <a:buAutoNum type="arabicPeriod"/>
            </a:pPr>
            <a:r>
              <a:rPr lang="en-US" dirty="0" smtClean="0">
                <a:latin typeface="Cambria" panose="02040503050406030204" pitchFamily="18" charset="0"/>
                <a:ea typeface="Cambria" panose="02040503050406030204" pitchFamily="18" charset="0"/>
              </a:rPr>
              <a:t>Network Protocol driver (fully java driver)</a:t>
            </a:r>
          </a:p>
          <a:p>
            <a:pPr marL="514350" indent="-514350" algn="just">
              <a:buFont typeface="+mj-lt"/>
              <a:buAutoNum type="arabicPeriod"/>
            </a:pPr>
            <a:r>
              <a:rPr lang="en-US" dirty="0" smtClean="0">
                <a:latin typeface="Cambria" panose="02040503050406030204" pitchFamily="18" charset="0"/>
                <a:ea typeface="Cambria" panose="02040503050406030204" pitchFamily="18" charset="0"/>
              </a:rPr>
              <a:t>Thin driver (fully java driver)</a:t>
            </a:r>
          </a:p>
          <a:p>
            <a:pPr algn="just"/>
            <a:endParaRPr lang="en-GB" dirty="0" smtClean="0">
              <a:latin typeface="Cambria" panose="02040503050406030204" pitchFamily="18" charset="0"/>
              <a:ea typeface="Cambria" panose="02040503050406030204" pitchFamily="18" charset="0"/>
            </a:endParaRP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50</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553944" cy="527034"/>
          </a:xfrm>
        </p:spPr>
        <p:txBody>
          <a:bodyPr/>
          <a:lstStyle/>
          <a:p>
            <a:r>
              <a:rPr lang="en-GB" sz="4000" b="1" dirty="0" smtClean="0">
                <a:solidFill>
                  <a:schemeClr val="accent1"/>
                </a:solidFill>
                <a:latin typeface="Cambria" panose="02040503050406030204" pitchFamily="18" charset="0"/>
                <a:ea typeface="Cambria" panose="02040503050406030204" pitchFamily="18" charset="0"/>
              </a:rPr>
              <a:t> </a:t>
            </a:r>
            <a:r>
              <a:rPr lang="en-US" sz="4000" b="1" dirty="0" smtClean="0">
                <a:solidFill>
                  <a:schemeClr val="accent1"/>
                </a:solidFill>
                <a:latin typeface="Cambria" panose="02040503050406030204" pitchFamily="18" charset="0"/>
                <a:ea typeface="Cambria" panose="02040503050406030204" pitchFamily="18" charset="0"/>
              </a:rPr>
              <a:t>JDBC-ODBC bridge driver</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3352" y="527035"/>
            <a:ext cx="6480720" cy="4486141"/>
          </a:xfrm>
        </p:spPr>
        <p:txBody>
          <a:bodyPr/>
          <a:lstStyle/>
          <a:p>
            <a:pPr algn="just">
              <a:spcBef>
                <a:spcPts val="0"/>
              </a:spcBef>
              <a:buNone/>
            </a:pPr>
            <a:r>
              <a:rPr lang="en-US" sz="2000" b="1" dirty="0" smtClean="0">
                <a:latin typeface="Cambria" panose="02040503050406030204" pitchFamily="18" charset="0"/>
                <a:ea typeface="Cambria" panose="02040503050406030204" pitchFamily="18" charset="0"/>
              </a:rPr>
              <a:t> </a:t>
            </a:r>
            <a:r>
              <a:rPr lang="en-GB" sz="2000" dirty="0" smtClean="0">
                <a:latin typeface="Cambria" panose="02040503050406030204" pitchFamily="18" charset="0"/>
                <a:ea typeface="Cambria" panose="02040503050406030204" pitchFamily="18" charset="0"/>
              </a:rPr>
              <a:t>The JDBC-ODBC bridge driver uses ODBC driver to connect to the database. The JDBC-ODBC bridge driver converts JDBC method calls into the ODBC function calls. This is now discouraged because of thin driver.</a:t>
            </a:r>
          </a:p>
          <a:p>
            <a:pPr algn="just">
              <a:buNone/>
            </a:pPr>
            <a:r>
              <a:rPr lang="en-GB" sz="2000" b="1" u="sng" dirty="0" smtClean="0">
                <a:latin typeface="Cambria" panose="02040503050406030204" pitchFamily="18" charset="0"/>
                <a:ea typeface="Cambria" panose="02040503050406030204" pitchFamily="18" charset="0"/>
              </a:rPr>
              <a:t>Advantages:</a:t>
            </a:r>
          </a:p>
          <a:p>
            <a:pPr algn="just"/>
            <a:r>
              <a:rPr lang="en-GB" sz="2000" dirty="0" smtClean="0">
                <a:latin typeface="Cambria" panose="02040503050406030204" pitchFamily="18" charset="0"/>
                <a:ea typeface="Cambria" panose="02040503050406030204" pitchFamily="18" charset="0"/>
              </a:rPr>
              <a:t>easy to use.</a:t>
            </a:r>
          </a:p>
          <a:p>
            <a:pPr algn="just"/>
            <a:r>
              <a:rPr lang="en-GB" sz="2000" dirty="0" smtClean="0">
                <a:latin typeface="Cambria" panose="02040503050406030204" pitchFamily="18" charset="0"/>
                <a:ea typeface="Cambria" panose="02040503050406030204" pitchFamily="18" charset="0"/>
              </a:rPr>
              <a:t>can be easily connected to any database.</a:t>
            </a:r>
          </a:p>
          <a:p>
            <a:pPr algn="just">
              <a:buNone/>
            </a:pPr>
            <a:r>
              <a:rPr lang="en-GB" sz="2000" b="1" u="sng" dirty="0" smtClean="0">
                <a:latin typeface="Cambria" panose="02040503050406030204" pitchFamily="18" charset="0"/>
                <a:ea typeface="Cambria" panose="02040503050406030204" pitchFamily="18" charset="0"/>
              </a:rPr>
              <a:t>Disadvantages:</a:t>
            </a:r>
          </a:p>
          <a:p>
            <a:pPr algn="just"/>
            <a:r>
              <a:rPr lang="en-GB" sz="2000" dirty="0" smtClean="0">
                <a:latin typeface="Cambria" panose="02040503050406030204" pitchFamily="18" charset="0"/>
                <a:ea typeface="Cambria" panose="02040503050406030204" pitchFamily="18" charset="0"/>
              </a:rPr>
              <a:t>Performance degraded because JDBC method call is converted into the ODBC function calls.</a:t>
            </a:r>
          </a:p>
          <a:p>
            <a:pPr algn="just"/>
            <a:r>
              <a:rPr lang="en-GB" sz="2000" dirty="0" smtClean="0">
                <a:latin typeface="Cambria" panose="02040503050406030204" pitchFamily="18" charset="0"/>
                <a:ea typeface="Cambria" panose="02040503050406030204" pitchFamily="18" charset="0"/>
              </a:rPr>
              <a:t>The ODBC driver needs to be installed on the client machine.</a:t>
            </a:r>
          </a:p>
          <a:p>
            <a:pPr algn="just">
              <a:spcBef>
                <a:spcPts val="0"/>
              </a:spcBef>
              <a:buNone/>
            </a:pPr>
            <a:endParaRPr lang="en-GB" sz="2000" dirty="0" smtClean="0">
              <a:latin typeface="Cambria" panose="02040503050406030204" pitchFamily="18" charset="0"/>
              <a:ea typeface="Cambria" panose="02040503050406030204" pitchFamily="18" charset="0"/>
            </a:endParaRPr>
          </a:p>
          <a:p>
            <a:pPr algn="just">
              <a:spcBef>
                <a:spcPts val="0"/>
              </a:spcBef>
              <a:buNone/>
            </a:pP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51</a:t>
            </a:fld>
            <a:endParaRPr lang="en-US" altLang="en-US">
              <a:latin typeface="Cambria" panose="02040503050406030204" pitchFamily="18" charset="0"/>
              <a:ea typeface="Cambria" panose="02040503050406030204" pitchFamily="18" charset="0"/>
            </a:endParaRPr>
          </a:p>
        </p:txBody>
      </p:sp>
      <p:pic>
        <p:nvPicPr>
          <p:cNvPr id="5" name="Picture 4" descr="bridge driver"/>
          <p:cNvPicPr/>
          <p:nvPr/>
        </p:nvPicPr>
        <p:blipFill>
          <a:blip r:embed="rId2"/>
          <a:srcRect/>
          <a:stretch>
            <a:fillRect/>
          </a:stretch>
        </p:blipFill>
        <p:spPr bwMode="auto">
          <a:xfrm>
            <a:off x="6744073" y="980728"/>
            <a:ext cx="5447928" cy="338437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8883"/>
            <a:ext cx="4727848" cy="447789"/>
          </a:xfrm>
        </p:spPr>
        <p:txBody>
          <a:bodyPr/>
          <a:lstStyle/>
          <a:p>
            <a:r>
              <a:rPr lang="en-US" dirty="0" smtClean="0">
                <a:solidFill>
                  <a:schemeClr val="accent1"/>
                </a:solidFill>
                <a:latin typeface="Cambria" panose="02040503050406030204" pitchFamily="18" charset="0"/>
                <a:ea typeface="Cambria" panose="02040503050406030204" pitchFamily="18" charset="0"/>
              </a:rPr>
              <a:t/>
            </a:r>
            <a:br>
              <a:rPr lang="en-US" dirty="0" smtClean="0">
                <a:solidFill>
                  <a:schemeClr val="accent1"/>
                </a:solidFill>
                <a:latin typeface="Cambria" panose="02040503050406030204" pitchFamily="18" charset="0"/>
                <a:ea typeface="Cambria" panose="02040503050406030204" pitchFamily="18" charset="0"/>
              </a:rPr>
            </a:br>
            <a:r>
              <a:rPr lang="en-US" dirty="0" smtClean="0">
                <a:solidFill>
                  <a:schemeClr val="accent1"/>
                </a:solidFill>
                <a:latin typeface="Cambria" panose="02040503050406030204" pitchFamily="18" charset="0"/>
                <a:ea typeface="Cambria" panose="02040503050406030204" pitchFamily="18" charset="0"/>
              </a:rPr>
              <a:t/>
            </a:r>
            <a:br>
              <a:rPr lang="en-US" dirty="0" smtClean="0">
                <a:solidFill>
                  <a:schemeClr val="accent1"/>
                </a:solidFill>
                <a:latin typeface="Cambria" panose="02040503050406030204" pitchFamily="18" charset="0"/>
                <a:ea typeface="Cambria" panose="02040503050406030204" pitchFamily="18" charset="0"/>
              </a:rPr>
            </a:br>
            <a:r>
              <a:rPr lang="en-US" dirty="0" smtClean="0">
                <a:solidFill>
                  <a:schemeClr val="accent1"/>
                </a:solidFill>
                <a:latin typeface="Cambria" panose="02040503050406030204" pitchFamily="18" charset="0"/>
                <a:ea typeface="Cambria" panose="02040503050406030204" pitchFamily="18" charset="0"/>
              </a:rPr>
              <a:t>Native-API driver</a:t>
            </a:r>
            <a:br>
              <a:rPr lang="en-US" dirty="0" smtClean="0">
                <a:solidFill>
                  <a:schemeClr val="accent1"/>
                </a:solidFill>
                <a:latin typeface="Cambria" panose="02040503050406030204" pitchFamily="18" charset="0"/>
                <a:ea typeface="Cambria" panose="02040503050406030204" pitchFamily="18" charset="0"/>
              </a:rPr>
            </a:br>
            <a:r>
              <a:rPr lang="en-US" dirty="0" smtClean="0">
                <a:solidFill>
                  <a:schemeClr val="accent1"/>
                </a:solidFill>
                <a:latin typeface="Cambria" panose="02040503050406030204" pitchFamily="18" charset="0"/>
                <a:ea typeface="Cambria" panose="02040503050406030204" pitchFamily="18" charset="0"/>
              </a:rPr>
              <a:t/>
            </a:r>
            <a:br>
              <a:rPr lang="en-US" dirty="0" smtClean="0">
                <a:solidFill>
                  <a:schemeClr val="accent1"/>
                </a:solidFill>
                <a:latin typeface="Cambria" panose="02040503050406030204" pitchFamily="18" charset="0"/>
                <a:ea typeface="Cambria" panose="02040503050406030204" pitchFamily="18" charset="0"/>
              </a:rPr>
            </a:br>
            <a:endParaRPr lang="en-US"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3352" y="507631"/>
            <a:ext cx="11449272" cy="2849361"/>
          </a:xfrm>
        </p:spPr>
        <p:txBody>
          <a:bodyPr/>
          <a:lstStyle/>
          <a:p>
            <a:pPr algn="just"/>
            <a:r>
              <a:rPr lang="en-GB" sz="2000" dirty="0" smtClean="0">
                <a:latin typeface="Cambria" panose="02040503050406030204" pitchFamily="18" charset="0"/>
                <a:ea typeface="Cambria" panose="02040503050406030204" pitchFamily="18" charset="0"/>
              </a:rPr>
              <a:t> The Native API driver uses the client-side libraries of the database. The driver converts JDBC method calls into native calls of the database API. It is not written entirely in java.</a:t>
            </a:r>
          </a:p>
          <a:p>
            <a:pPr marL="0" indent="0" algn="just">
              <a:buNone/>
            </a:pPr>
            <a:r>
              <a:rPr lang="en-GB" sz="2000" b="1" u="sng" dirty="0" smtClean="0">
                <a:latin typeface="Cambria" panose="02040503050406030204" pitchFamily="18" charset="0"/>
                <a:ea typeface="Cambria" panose="02040503050406030204" pitchFamily="18" charset="0"/>
              </a:rPr>
              <a:t>Advantage:</a:t>
            </a:r>
          </a:p>
          <a:p>
            <a:pPr algn="just"/>
            <a:r>
              <a:rPr lang="en-GB" sz="2000" dirty="0" smtClean="0">
                <a:latin typeface="Cambria" panose="02040503050406030204" pitchFamily="18" charset="0"/>
                <a:ea typeface="Cambria" panose="02040503050406030204" pitchFamily="18" charset="0"/>
              </a:rPr>
              <a:t>performance upgraded than JDBC-ODBC bridge driver.</a:t>
            </a:r>
          </a:p>
          <a:p>
            <a:pPr marL="0" indent="0" algn="just">
              <a:buNone/>
            </a:pPr>
            <a:r>
              <a:rPr lang="en-GB" sz="2000" b="1" u="sng" dirty="0" smtClean="0">
                <a:latin typeface="Cambria" panose="02040503050406030204" pitchFamily="18" charset="0"/>
                <a:ea typeface="Cambria" panose="02040503050406030204" pitchFamily="18" charset="0"/>
              </a:rPr>
              <a:t>Disadvantage:</a:t>
            </a:r>
          </a:p>
          <a:p>
            <a:pPr algn="just"/>
            <a:r>
              <a:rPr lang="en-GB" sz="2000" dirty="0" smtClean="0">
                <a:latin typeface="Cambria" panose="02040503050406030204" pitchFamily="18" charset="0"/>
                <a:ea typeface="Cambria" panose="02040503050406030204" pitchFamily="18" charset="0"/>
              </a:rPr>
              <a:t>The Native driver needs to be installed on the each client machine.</a:t>
            </a:r>
          </a:p>
          <a:p>
            <a:pPr algn="just"/>
            <a:r>
              <a:rPr lang="en-GB" sz="2000" dirty="0" smtClean="0">
                <a:latin typeface="Cambria" panose="02040503050406030204" pitchFamily="18" charset="0"/>
                <a:ea typeface="Cambria" panose="02040503050406030204" pitchFamily="18" charset="0"/>
              </a:rPr>
              <a:t>The Vendor client library needs to be installed on client machine.</a:t>
            </a:r>
          </a:p>
          <a:p>
            <a:pPr algn="just"/>
            <a:endParaRPr lang="en-GB" sz="2000" dirty="0" smtClean="0">
              <a:latin typeface="Cambria" panose="02040503050406030204" pitchFamily="18" charset="0"/>
              <a:ea typeface="Cambria" panose="02040503050406030204" pitchFamily="18" charset="0"/>
            </a:endParaRPr>
          </a:p>
          <a:p>
            <a:pPr algn="just"/>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52</a:t>
            </a:fld>
            <a:endParaRPr lang="en-US" altLang="en-US">
              <a:latin typeface="Cambria" panose="02040503050406030204" pitchFamily="18" charset="0"/>
              <a:ea typeface="Cambria" panose="02040503050406030204" pitchFamily="18" charset="0"/>
            </a:endParaRPr>
          </a:p>
        </p:txBody>
      </p:sp>
      <p:pic>
        <p:nvPicPr>
          <p:cNvPr id="6" name="Picture 5" descr="Native-API driver"/>
          <p:cNvPicPr/>
          <p:nvPr/>
        </p:nvPicPr>
        <p:blipFill>
          <a:blip r:embed="rId2"/>
          <a:srcRect/>
          <a:stretch>
            <a:fillRect/>
          </a:stretch>
        </p:blipFill>
        <p:spPr bwMode="auto">
          <a:xfrm>
            <a:off x="1775520" y="3140968"/>
            <a:ext cx="8730342" cy="385122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9" y="6979"/>
            <a:ext cx="6337920" cy="615603"/>
          </a:xfrm>
        </p:spPr>
        <p:txBody>
          <a:bodyPr/>
          <a:lstStyle/>
          <a:p>
            <a:r>
              <a:rPr lang="en-US" sz="4000" b="1" dirty="0" smtClean="0">
                <a:solidFill>
                  <a:schemeClr val="accent1"/>
                </a:solidFill>
                <a:latin typeface="Cambria" panose="02040503050406030204" pitchFamily="18" charset="0"/>
                <a:ea typeface="Cambria" panose="02040503050406030204" pitchFamily="18" charset="0"/>
              </a:rPr>
              <a:t/>
            </a:r>
            <a:br>
              <a:rPr lang="en-US" sz="4000" b="1" dirty="0" smtClean="0">
                <a:solidFill>
                  <a:schemeClr val="accent1"/>
                </a:solidFill>
                <a:latin typeface="Cambria" panose="02040503050406030204" pitchFamily="18" charset="0"/>
                <a:ea typeface="Cambria" panose="02040503050406030204" pitchFamily="18" charset="0"/>
              </a:rPr>
            </a:br>
            <a:r>
              <a:rPr lang="en-US" sz="4000" b="1" dirty="0" smtClean="0">
                <a:solidFill>
                  <a:schemeClr val="accent1"/>
                </a:solidFill>
                <a:latin typeface="Cambria" panose="02040503050406030204" pitchFamily="18" charset="0"/>
                <a:ea typeface="Cambria" panose="02040503050406030204" pitchFamily="18" charset="0"/>
              </a:rPr>
              <a:t/>
            </a:r>
            <a:br>
              <a:rPr lang="en-US" sz="4000" b="1" dirty="0" smtClean="0">
                <a:solidFill>
                  <a:schemeClr val="accent1"/>
                </a:solidFill>
                <a:latin typeface="Cambria" panose="02040503050406030204" pitchFamily="18" charset="0"/>
                <a:ea typeface="Cambria" panose="02040503050406030204" pitchFamily="18" charset="0"/>
              </a:rPr>
            </a:br>
            <a:r>
              <a:rPr lang="en-US" sz="4000" b="1" dirty="0" smtClean="0">
                <a:solidFill>
                  <a:schemeClr val="accent1"/>
                </a:solidFill>
                <a:latin typeface="Cambria" panose="02040503050406030204" pitchFamily="18" charset="0"/>
                <a:ea typeface="Cambria" panose="02040503050406030204" pitchFamily="18" charset="0"/>
              </a:rPr>
              <a:t>Network Protocol driver</a:t>
            </a:r>
            <a:br>
              <a:rPr lang="en-US" sz="4000" b="1" dirty="0" smtClean="0">
                <a:solidFill>
                  <a:schemeClr val="accent1"/>
                </a:solidFill>
                <a:latin typeface="Cambria" panose="02040503050406030204" pitchFamily="18" charset="0"/>
                <a:ea typeface="Cambria" panose="02040503050406030204" pitchFamily="18" charset="0"/>
              </a:rPr>
            </a:br>
            <a:r>
              <a:rPr lang="en-US" sz="4000" b="1" dirty="0" smtClean="0">
                <a:solidFill>
                  <a:schemeClr val="accent1"/>
                </a:solidFill>
                <a:latin typeface="Cambria" panose="02040503050406030204" pitchFamily="18" charset="0"/>
                <a:ea typeface="Cambria" panose="02040503050406030204" pitchFamily="18" charset="0"/>
              </a:rPr>
              <a:t/>
            </a:r>
            <a:br>
              <a:rPr lang="en-US" sz="4000" b="1" dirty="0" smtClean="0">
                <a:solidFill>
                  <a:schemeClr val="accent1"/>
                </a:solidFill>
                <a:latin typeface="Cambria" panose="02040503050406030204" pitchFamily="18" charset="0"/>
                <a:ea typeface="Cambria" panose="02040503050406030204" pitchFamily="18" charset="0"/>
              </a:rPr>
            </a:b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30143" y="476672"/>
            <a:ext cx="11928648" cy="3670514"/>
          </a:xfrm>
        </p:spPr>
        <p:txBody>
          <a:bodyPr/>
          <a:lstStyle/>
          <a:p>
            <a:pPr algn="just"/>
            <a:r>
              <a:rPr lang="en-GB" sz="2000" dirty="0" smtClean="0">
                <a:latin typeface="Cambria" panose="02040503050406030204" pitchFamily="18" charset="0"/>
                <a:ea typeface="Cambria" panose="02040503050406030204" pitchFamily="18" charset="0"/>
              </a:rPr>
              <a:t>The Network Protocol driver uses middleware (application server) that converts JDBC calls directly or indirectly into the vendor-specific database protocol. It is fully written in java.</a:t>
            </a:r>
          </a:p>
          <a:p>
            <a:pPr marL="0" indent="0" algn="just">
              <a:buNone/>
            </a:pPr>
            <a:r>
              <a:rPr lang="en-GB" sz="2000" b="1" u="sng" dirty="0" smtClean="0">
                <a:latin typeface="Cambria" panose="02040503050406030204" pitchFamily="18" charset="0"/>
                <a:ea typeface="Cambria" panose="02040503050406030204" pitchFamily="18" charset="0"/>
              </a:rPr>
              <a:t>Advantage:</a:t>
            </a:r>
          </a:p>
          <a:p>
            <a:pPr algn="just"/>
            <a:r>
              <a:rPr lang="en-GB" sz="2000" dirty="0" smtClean="0">
                <a:latin typeface="Cambria" panose="02040503050406030204" pitchFamily="18" charset="0"/>
                <a:ea typeface="Cambria" panose="02040503050406030204" pitchFamily="18" charset="0"/>
              </a:rPr>
              <a:t>No client side library is required because of application server that can perform many tasks like auditing, load balancing, logging etc.</a:t>
            </a:r>
          </a:p>
          <a:p>
            <a:pPr marL="0" indent="0" algn="just">
              <a:buNone/>
            </a:pPr>
            <a:r>
              <a:rPr lang="en-GB" sz="2000" b="1" u="sng" dirty="0" smtClean="0">
                <a:latin typeface="Cambria" panose="02040503050406030204" pitchFamily="18" charset="0"/>
                <a:ea typeface="Cambria" panose="02040503050406030204" pitchFamily="18" charset="0"/>
              </a:rPr>
              <a:t>Disadvantages:</a:t>
            </a:r>
          </a:p>
          <a:p>
            <a:pPr algn="just"/>
            <a:r>
              <a:rPr lang="en-GB" sz="2000" dirty="0" smtClean="0">
                <a:latin typeface="Cambria" panose="02040503050406030204" pitchFamily="18" charset="0"/>
                <a:ea typeface="Cambria" panose="02040503050406030204" pitchFamily="18" charset="0"/>
              </a:rPr>
              <a:t>Network support is required on client machine.</a:t>
            </a:r>
          </a:p>
          <a:p>
            <a:pPr algn="just"/>
            <a:r>
              <a:rPr lang="en-GB" sz="2000" dirty="0" smtClean="0">
                <a:latin typeface="Cambria" panose="02040503050406030204" pitchFamily="18" charset="0"/>
                <a:ea typeface="Cambria" panose="02040503050406030204" pitchFamily="18" charset="0"/>
              </a:rPr>
              <a:t>Requires database-specific coding to be done in the middle tier.</a:t>
            </a:r>
          </a:p>
          <a:p>
            <a:pPr algn="just"/>
            <a:r>
              <a:rPr lang="en-GB" sz="2000" dirty="0" smtClean="0">
                <a:latin typeface="Cambria" panose="02040503050406030204" pitchFamily="18" charset="0"/>
                <a:ea typeface="Cambria" panose="02040503050406030204" pitchFamily="18" charset="0"/>
              </a:rPr>
              <a:t>Maintenance of Network Protocol driver becomes costly, because it requires database-specific coding to be done in the middle tier.</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53</a:t>
            </a:fld>
            <a:endParaRPr lang="en-US" altLang="en-US">
              <a:latin typeface="Cambria" panose="02040503050406030204" pitchFamily="18" charset="0"/>
              <a:ea typeface="Cambria" panose="02040503050406030204" pitchFamily="18" charset="0"/>
            </a:endParaRPr>
          </a:p>
        </p:txBody>
      </p:sp>
      <p:pic>
        <p:nvPicPr>
          <p:cNvPr id="7" name="Picture 6" descr="Network Protocol driver"/>
          <p:cNvPicPr/>
          <p:nvPr/>
        </p:nvPicPr>
        <p:blipFill>
          <a:blip r:embed="rId2"/>
          <a:srcRect/>
          <a:stretch>
            <a:fillRect/>
          </a:stretch>
        </p:blipFill>
        <p:spPr bwMode="auto">
          <a:xfrm>
            <a:off x="3359696" y="3861048"/>
            <a:ext cx="6837845" cy="324036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457600" cy="669910"/>
          </a:xfrm>
        </p:spPr>
        <p:txBody>
          <a:bodyPr/>
          <a:lstStyle/>
          <a:p>
            <a:r>
              <a:rPr lang="en-GB" sz="4000" b="1" dirty="0" smtClean="0">
                <a:solidFill>
                  <a:schemeClr val="accent1"/>
                </a:solidFill>
                <a:latin typeface="Cambria" panose="02040503050406030204" pitchFamily="18" charset="0"/>
                <a:ea typeface="Cambria" panose="02040503050406030204" pitchFamily="18" charset="0"/>
              </a:rPr>
              <a:t> </a:t>
            </a:r>
            <a:r>
              <a:rPr lang="en-US" sz="4000" b="1" dirty="0" smtClean="0">
                <a:solidFill>
                  <a:schemeClr val="accent1"/>
                </a:solidFill>
                <a:latin typeface="Cambria" panose="02040503050406030204" pitchFamily="18" charset="0"/>
                <a:ea typeface="Cambria" panose="02040503050406030204" pitchFamily="18" charset="0"/>
              </a:rPr>
              <a:t>Thin driver</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649288" y="617925"/>
            <a:ext cx="5734744" cy="4683283"/>
          </a:xfrm>
        </p:spPr>
        <p:txBody>
          <a:bodyPr/>
          <a:lstStyle/>
          <a:p>
            <a:pPr algn="just"/>
            <a:r>
              <a:rPr lang="en-GB" sz="2400" dirty="0" smtClean="0">
                <a:latin typeface="Cambria" panose="02040503050406030204" pitchFamily="18" charset="0"/>
                <a:ea typeface="Cambria" panose="02040503050406030204" pitchFamily="18" charset="0"/>
              </a:rPr>
              <a:t>The thin driver converts JDBC calls directly into the vendor-specific database protocol. That is why it is known as thin driver. It is fully written in Java language.</a:t>
            </a:r>
          </a:p>
          <a:p>
            <a:pPr marL="0" indent="0" algn="just">
              <a:buNone/>
            </a:pPr>
            <a:r>
              <a:rPr lang="en-GB" sz="2400" b="1" u="sng" dirty="0" smtClean="0">
                <a:latin typeface="Cambria" panose="02040503050406030204" pitchFamily="18" charset="0"/>
                <a:ea typeface="Cambria" panose="02040503050406030204" pitchFamily="18" charset="0"/>
              </a:rPr>
              <a:t>Advantages:</a:t>
            </a:r>
          </a:p>
          <a:p>
            <a:pPr algn="just"/>
            <a:r>
              <a:rPr lang="en-GB" sz="2400" dirty="0" smtClean="0">
                <a:latin typeface="Cambria" panose="02040503050406030204" pitchFamily="18" charset="0"/>
                <a:ea typeface="Cambria" panose="02040503050406030204" pitchFamily="18" charset="0"/>
              </a:rPr>
              <a:t>Better performance than all other drivers.</a:t>
            </a:r>
          </a:p>
          <a:p>
            <a:pPr algn="just"/>
            <a:r>
              <a:rPr lang="en-GB" sz="2400" dirty="0" smtClean="0">
                <a:latin typeface="Cambria" panose="02040503050406030204" pitchFamily="18" charset="0"/>
                <a:ea typeface="Cambria" panose="02040503050406030204" pitchFamily="18" charset="0"/>
              </a:rPr>
              <a:t>No software is required at client side or server side.</a:t>
            </a:r>
          </a:p>
          <a:p>
            <a:pPr algn="just">
              <a:buNone/>
            </a:pPr>
            <a:r>
              <a:rPr lang="en-GB" sz="2400" b="1" u="sng" dirty="0" smtClean="0">
                <a:latin typeface="Cambria" panose="02040503050406030204" pitchFamily="18" charset="0"/>
                <a:ea typeface="Cambria" panose="02040503050406030204" pitchFamily="18" charset="0"/>
              </a:rPr>
              <a:t>Disadvantage:</a:t>
            </a:r>
          </a:p>
          <a:p>
            <a:pPr algn="just"/>
            <a:r>
              <a:rPr lang="en-GB" sz="2400" dirty="0" smtClean="0">
                <a:latin typeface="Cambria" panose="02040503050406030204" pitchFamily="18" charset="0"/>
                <a:ea typeface="Cambria" panose="02040503050406030204" pitchFamily="18" charset="0"/>
              </a:rPr>
              <a:t>Drivers depend on the Database.</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54</a:t>
            </a:fld>
            <a:endParaRPr lang="en-US" altLang="en-US">
              <a:latin typeface="Cambria" panose="02040503050406030204" pitchFamily="18" charset="0"/>
              <a:ea typeface="Cambria" panose="02040503050406030204" pitchFamily="18" charset="0"/>
            </a:endParaRPr>
          </a:p>
        </p:txBody>
      </p:sp>
      <p:pic>
        <p:nvPicPr>
          <p:cNvPr id="5" name="Picture 4" descr="Thin driver"/>
          <p:cNvPicPr/>
          <p:nvPr/>
        </p:nvPicPr>
        <p:blipFill>
          <a:blip r:embed="rId2"/>
          <a:srcRect/>
          <a:stretch>
            <a:fillRect/>
          </a:stretch>
        </p:blipFill>
        <p:spPr bwMode="auto">
          <a:xfrm>
            <a:off x="6960096" y="548680"/>
            <a:ext cx="4824536" cy="43924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097" y="7803"/>
            <a:ext cx="8426152" cy="759619"/>
          </a:xfrm>
        </p:spPr>
        <p:txBody>
          <a:bodyPr/>
          <a:lstStyle/>
          <a:p>
            <a:pPr algn="just"/>
            <a:r>
              <a:rPr lang="en-GB" sz="3600" b="1" dirty="0" smtClean="0">
                <a:solidFill>
                  <a:schemeClr val="accent1"/>
                </a:solidFill>
                <a:latin typeface="Cambria" panose="02040503050406030204" pitchFamily="18" charset="0"/>
                <a:ea typeface="Cambria" panose="02040503050406030204" pitchFamily="18" charset="0"/>
              </a:rPr>
              <a:t>Database Connectivity with 5 Steps</a:t>
            </a:r>
            <a:endParaRPr lang="en-GB" sz="36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3352" y="1027433"/>
            <a:ext cx="4680520" cy="2761607"/>
          </a:xfrm>
        </p:spPr>
        <p:txBody>
          <a:bodyPr/>
          <a:lstStyle/>
          <a:p>
            <a:pPr algn="just"/>
            <a:r>
              <a:rPr lang="en-GB" dirty="0" smtClean="0">
                <a:latin typeface="Cambria" panose="02040503050406030204" pitchFamily="18" charset="0"/>
                <a:ea typeface="Cambria" panose="02040503050406030204" pitchFamily="18" charset="0"/>
              </a:rPr>
              <a:t>There are 5 steps to connect any Java application with the database using JDBC. These steps are as follows:</a:t>
            </a: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55</a:t>
            </a:fld>
            <a:endParaRPr lang="en-US" altLang="en-US">
              <a:latin typeface="Cambria" panose="02040503050406030204" pitchFamily="18" charset="0"/>
              <a:ea typeface="Cambria" panose="02040503050406030204" pitchFamily="18" charset="0"/>
            </a:endParaRPr>
          </a:p>
        </p:txBody>
      </p:sp>
      <p:pic>
        <p:nvPicPr>
          <p:cNvPr id="6" name="Picture 5" descr="Java Database Connectivity Steps"/>
          <p:cNvPicPr/>
          <p:nvPr/>
        </p:nvPicPr>
        <p:blipFill>
          <a:blip r:embed="rId2"/>
          <a:srcRect/>
          <a:stretch>
            <a:fillRect/>
          </a:stretch>
        </p:blipFill>
        <p:spPr bwMode="auto">
          <a:xfrm>
            <a:off x="5807968" y="908720"/>
            <a:ext cx="4248472" cy="403244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1867"/>
            <a:ext cx="6726572" cy="478975"/>
          </a:xfrm>
        </p:spPr>
        <p:txBody>
          <a:bodyPr/>
          <a:lstStyle/>
          <a:p>
            <a:r>
              <a:rPr lang="en-US" sz="3600" b="1" dirty="0" smtClean="0">
                <a:solidFill>
                  <a:schemeClr val="accent1"/>
                </a:solidFill>
                <a:latin typeface="Cambria" panose="02040503050406030204" pitchFamily="18" charset="0"/>
                <a:ea typeface="Cambria" panose="02040503050406030204" pitchFamily="18" charset="0"/>
              </a:rPr>
              <a:t> </a:t>
            </a:r>
            <a:r>
              <a:rPr lang="en-GB" sz="3600" b="1" dirty="0" smtClean="0">
                <a:solidFill>
                  <a:schemeClr val="accent1"/>
                </a:solidFill>
                <a:latin typeface="Cambria" panose="02040503050406030204" pitchFamily="18" charset="0"/>
                <a:ea typeface="Cambria" panose="02040503050406030204" pitchFamily="18" charset="0"/>
              </a:rPr>
              <a:t>1) Register the driver class</a:t>
            </a:r>
            <a:endParaRPr lang="en-US" sz="36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623392" y="692697"/>
            <a:ext cx="10730408" cy="3816424"/>
          </a:xfrm>
        </p:spPr>
        <p:txBody>
          <a:bodyPr/>
          <a:lstStyle/>
          <a:p>
            <a:pPr algn="just"/>
            <a:r>
              <a:rPr lang="en-GB" dirty="0" smtClean="0">
                <a:latin typeface="Cambria" panose="02040503050406030204" pitchFamily="18" charset="0"/>
                <a:ea typeface="Cambria" panose="02040503050406030204" pitchFamily="18" charset="0"/>
              </a:rPr>
              <a:t>The </a:t>
            </a:r>
            <a:r>
              <a:rPr lang="en-GB" b="1" dirty="0" err="1" smtClean="0">
                <a:latin typeface="Cambria" panose="02040503050406030204" pitchFamily="18" charset="0"/>
                <a:ea typeface="Cambria" panose="02040503050406030204" pitchFamily="18" charset="0"/>
              </a:rPr>
              <a:t>forName</a:t>
            </a:r>
            <a:r>
              <a:rPr lang="en-GB" b="1" dirty="0" smtClean="0">
                <a:latin typeface="Cambria" panose="02040503050406030204" pitchFamily="18" charset="0"/>
                <a:ea typeface="Cambria" panose="02040503050406030204" pitchFamily="18" charset="0"/>
              </a:rPr>
              <a:t>()</a:t>
            </a:r>
            <a:r>
              <a:rPr lang="en-GB" dirty="0" smtClean="0">
                <a:latin typeface="Cambria" panose="02040503050406030204" pitchFamily="18" charset="0"/>
                <a:ea typeface="Cambria" panose="02040503050406030204" pitchFamily="18" charset="0"/>
              </a:rPr>
              <a:t> method of Class </a:t>
            </a:r>
            <a:r>
              <a:rPr lang="en-GB" dirty="0" err="1" smtClean="0">
                <a:latin typeface="Cambria" panose="02040503050406030204" pitchFamily="18" charset="0"/>
                <a:ea typeface="Cambria" panose="02040503050406030204" pitchFamily="18" charset="0"/>
              </a:rPr>
              <a:t>class</a:t>
            </a:r>
            <a:r>
              <a:rPr lang="en-GB" dirty="0" smtClean="0">
                <a:latin typeface="Cambria" panose="02040503050406030204" pitchFamily="18" charset="0"/>
                <a:ea typeface="Cambria" panose="02040503050406030204" pitchFamily="18" charset="0"/>
              </a:rPr>
              <a:t> is used to register the driver class. This method is used to dynamically load the driver </a:t>
            </a:r>
            <a:r>
              <a:rPr lang="en-GB" dirty="0">
                <a:latin typeface="Cambria" panose="02040503050406030204" pitchFamily="18" charset="0"/>
                <a:ea typeface="Cambria" panose="02040503050406030204" pitchFamily="18" charset="0"/>
              </a:rPr>
              <a:t>C</a:t>
            </a:r>
            <a:r>
              <a:rPr lang="en-GB" dirty="0" smtClean="0">
                <a:latin typeface="Cambria" panose="02040503050406030204" pitchFamily="18" charset="0"/>
                <a:ea typeface="Cambria" panose="02040503050406030204" pitchFamily="18" charset="0"/>
              </a:rPr>
              <a:t>lass. Syntax of forName() method</a:t>
            </a:r>
          </a:p>
          <a:p>
            <a:pPr marL="0" indent="0" algn="just">
              <a:buNone/>
            </a:pPr>
            <a:r>
              <a:rPr lang="en-GB" b="1" dirty="0" smtClean="0">
                <a:latin typeface="Cambria" panose="02040503050406030204" pitchFamily="18" charset="0"/>
                <a:ea typeface="Cambria" panose="02040503050406030204" pitchFamily="18" charset="0"/>
              </a:rPr>
              <a:t>	public</a:t>
            </a:r>
            <a:r>
              <a:rPr lang="en-GB" dirty="0" smtClean="0">
                <a:latin typeface="Cambria" panose="02040503050406030204" pitchFamily="18" charset="0"/>
                <a:ea typeface="Cambria" panose="02040503050406030204" pitchFamily="18" charset="0"/>
              </a:rPr>
              <a:t> </a:t>
            </a:r>
            <a:r>
              <a:rPr lang="en-GB" b="1" dirty="0" smtClean="0">
                <a:latin typeface="Cambria" panose="02040503050406030204" pitchFamily="18" charset="0"/>
                <a:ea typeface="Cambria" panose="02040503050406030204" pitchFamily="18" charset="0"/>
              </a:rPr>
              <a:t>static</a:t>
            </a:r>
            <a:r>
              <a:rPr lang="en-GB" dirty="0" smtClean="0">
                <a:latin typeface="Cambria" panose="02040503050406030204" pitchFamily="18" charset="0"/>
                <a:ea typeface="Cambria" panose="02040503050406030204" pitchFamily="18" charset="0"/>
              </a:rPr>
              <a:t> </a:t>
            </a:r>
            <a:r>
              <a:rPr lang="en-GB" b="1" dirty="0" smtClean="0">
                <a:latin typeface="Cambria" panose="02040503050406030204" pitchFamily="18" charset="0"/>
                <a:ea typeface="Cambria" panose="02040503050406030204" pitchFamily="18" charset="0"/>
              </a:rPr>
              <a:t>void</a:t>
            </a:r>
            <a:r>
              <a:rPr lang="en-GB" dirty="0" smtClean="0">
                <a:latin typeface="Cambria" panose="02040503050406030204" pitchFamily="18" charset="0"/>
                <a:ea typeface="Cambria" panose="02040503050406030204" pitchFamily="18" charset="0"/>
              </a:rPr>
              <a:t> forName(String className)</a:t>
            </a:r>
            <a:r>
              <a:rPr lang="en-GB" b="1" dirty="0" smtClean="0">
                <a:latin typeface="Cambria" panose="02040503050406030204" pitchFamily="18" charset="0"/>
                <a:ea typeface="Cambria" panose="02040503050406030204" pitchFamily="18" charset="0"/>
              </a:rPr>
              <a:t>throws</a:t>
            </a:r>
            <a:r>
              <a:rPr lang="en-GB" dirty="0" smtClean="0">
                <a:latin typeface="Cambria" panose="02040503050406030204" pitchFamily="18" charset="0"/>
                <a:ea typeface="Cambria" panose="02040503050406030204" pitchFamily="18" charset="0"/>
              </a:rPr>
              <a:t> ClassNotFoundException  </a:t>
            </a:r>
          </a:p>
          <a:p>
            <a:pPr algn="just"/>
            <a:r>
              <a:rPr lang="en-US" dirty="0" smtClean="0">
                <a:latin typeface="Cambria" panose="02040503050406030204" pitchFamily="18" charset="0"/>
                <a:ea typeface="Cambria" panose="02040503050406030204" pitchFamily="18" charset="0"/>
              </a:rPr>
              <a:t>Here, Java program is loading oracle driver to establish database connection.</a:t>
            </a:r>
          </a:p>
          <a:p>
            <a:pPr marL="0" indent="0" algn="just">
              <a:buNone/>
            </a:pPr>
            <a:r>
              <a:rPr lang="en-US" dirty="0" smtClean="0">
                <a:latin typeface="Cambria" panose="02040503050406030204" pitchFamily="18" charset="0"/>
                <a:ea typeface="Cambria" panose="02040503050406030204" pitchFamily="18" charset="0"/>
              </a:rPr>
              <a:t>	Class.forName("oracle.jdbc.driver.OracleDriver");  </a:t>
            </a:r>
          </a:p>
          <a:p>
            <a:pPr algn="just">
              <a:spcBef>
                <a:spcPts val="0"/>
              </a:spcBef>
              <a:buNone/>
            </a:pP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56</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9031"/>
            <a:ext cx="7176120" cy="643665"/>
          </a:xfrm>
        </p:spPr>
        <p:txBody>
          <a:bodyPr/>
          <a:lstStyle/>
          <a:p>
            <a:r>
              <a:rPr lang="en-GB" sz="3600" b="1" dirty="0" smtClean="0">
                <a:solidFill>
                  <a:schemeClr val="accent1"/>
                </a:solidFill>
                <a:latin typeface="Cambria" panose="02040503050406030204" pitchFamily="18" charset="0"/>
                <a:ea typeface="Cambria" panose="02040503050406030204" pitchFamily="18" charset="0"/>
              </a:rPr>
              <a:t>2) Create the connection object</a:t>
            </a:r>
            <a:endParaRPr lang="en-GB" sz="36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51384" y="662953"/>
            <a:ext cx="10802416" cy="4320479"/>
          </a:xfrm>
        </p:spPr>
        <p:txBody>
          <a:bodyPr/>
          <a:lstStyle/>
          <a:p>
            <a:pPr algn="just"/>
            <a:r>
              <a:rPr lang="en-GB" sz="2400" dirty="0" smtClean="0">
                <a:latin typeface="Cambria" panose="02040503050406030204" pitchFamily="18" charset="0"/>
                <a:ea typeface="Cambria" panose="02040503050406030204" pitchFamily="18" charset="0"/>
              </a:rPr>
              <a:t> The </a:t>
            </a:r>
            <a:r>
              <a:rPr lang="en-GB" sz="2400" b="1" dirty="0" smtClean="0">
                <a:latin typeface="Cambria" panose="02040503050406030204" pitchFamily="18" charset="0"/>
                <a:ea typeface="Cambria" panose="02040503050406030204" pitchFamily="18" charset="0"/>
              </a:rPr>
              <a:t>getConnection()</a:t>
            </a:r>
            <a:r>
              <a:rPr lang="en-GB" sz="2400" dirty="0" smtClean="0">
                <a:latin typeface="Cambria" panose="02040503050406030204" pitchFamily="18" charset="0"/>
                <a:ea typeface="Cambria" panose="02040503050406030204" pitchFamily="18" charset="0"/>
              </a:rPr>
              <a:t> method of DriverManager class is used to establish connection with the database. </a:t>
            </a:r>
          </a:p>
          <a:p>
            <a:pPr algn="just"/>
            <a:r>
              <a:rPr lang="en-GB" sz="2400" b="1" dirty="0" smtClean="0">
                <a:latin typeface="Cambria" panose="02040503050406030204" pitchFamily="18" charset="0"/>
                <a:ea typeface="Cambria" panose="02040503050406030204" pitchFamily="18" charset="0"/>
              </a:rPr>
              <a:t>Syntax of getConnection() method</a:t>
            </a:r>
          </a:p>
          <a:p>
            <a:pPr marL="0" indent="0" algn="just">
              <a:buNone/>
            </a:pPr>
            <a:r>
              <a:rPr lang="en-GB" sz="2400" dirty="0" smtClean="0">
                <a:latin typeface="Cambria" panose="02040503050406030204" pitchFamily="18" charset="0"/>
                <a:ea typeface="Cambria" panose="02040503050406030204" pitchFamily="18" charset="0"/>
              </a:rPr>
              <a:t>1) </a:t>
            </a:r>
            <a:r>
              <a:rPr lang="en-GB" sz="2400" b="1" dirty="0" smtClean="0">
                <a:latin typeface="Cambria" panose="02040503050406030204" pitchFamily="18" charset="0"/>
                <a:ea typeface="Cambria" panose="02040503050406030204" pitchFamily="18" charset="0"/>
              </a:rPr>
              <a:t>public</a:t>
            </a:r>
            <a:r>
              <a:rPr lang="en-GB" sz="2400" dirty="0" smtClean="0">
                <a:latin typeface="Cambria" panose="02040503050406030204" pitchFamily="18" charset="0"/>
                <a:ea typeface="Cambria" panose="02040503050406030204" pitchFamily="18" charset="0"/>
              </a:rPr>
              <a:t> </a:t>
            </a:r>
            <a:r>
              <a:rPr lang="en-GB" sz="2400" b="1" dirty="0" smtClean="0">
                <a:latin typeface="Cambria" panose="02040503050406030204" pitchFamily="18" charset="0"/>
                <a:ea typeface="Cambria" panose="02040503050406030204" pitchFamily="18" charset="0"/>
              </a:rPr>
              <a:t>static</a:t>
            </a:r>
            <a:r>
              <a:rPr lang="en-GB" sz="2400" dirty="0" smtClean="0">
                <a:latin typeface="Cambria" panose="02040503050406030204" pitchFamily="18" charset="0"/>
                <a:ea typeface="Cambria" panose="02040503050406030204" pitchFamily="18" charset="0"/>
              </a:rPr>
              <a:t> Connection getConnection (String url)</a:t>
            </a:r>
            <a:r>
              <a:rPr lang="en-GB" sz="2400" b="1" dirty="0" smtClean="0">
                <a:latin typeface="Cambria" panose="02040503050406030204" pitchFamily="18" charset="0"/>
                <a:ea typeface="Cambria" panose="02040503050406030204" pitchFamily="18" charset="0"/>
              </a:rPr>
              <a:t>throws</a:t>
            </a:r>
            <a:r>
              <a:rPr lang="en-GB" sz="2400" dirty="0" smtClean="0">
                <a:latin typeface="Cambria" panose="02040503050406030204" pitchFamily="18" charset="0"/>
                <a:ea typeface="Cambria" panose="02040503050406030204" pitchFamily="18" charset="0"/>
              </a:rPr>
              <a:t> SQLException  </a:t>
            </a:r>
          </a:p>
          <a:p>
            <a:pPr marL="0" indent="0" algn="just">
              <a:buNone/>
            </a:pPr>
            <a:r>
              <a:rPr lang="en-GB" sz="2400" dirty="0" smtClean="0">
                <a:latin typeface="Cambria" panose="02040503050406030204" pitchFamily="18" charset="0"/>
                <a:ea typeface="Cambria" panose="02040503050406030204" pitchFamily="18" charset="0"/>
              </a:rPr>
              <a:t>2) </a:t>
            </a:r>
            <a:r>
              <a:rPr lang="en-GB" sz="2400" b="1" dirty="0" smtClean="0">
                <a:latin typeface="Cambria" panose="02040503050406030204" pitchFamily="18" charset="0"/>
                <a:ea typeface="Cambria" panose="02040503050406030204" pitchFamily="18" charset="0"/>
              </a:rPr>
              <a:t>public</a:t>
            </a:r>
            <a:r>
              <a:rPr lang="en-GB" sz="2400" dirty="0" smtClean="0">
                <a:latin typeface="Cambria" panose="02040503050406030204" pitchFamily="18" charset="0"/>
                <a:ea typeface="Cambria" panose="02040503050406030204" pitchFamily="18" charset="0"/>
              </a:rPr>
              <a:t> </a:t>
            </a:r>
            <a:r>
              <a:rPr lang="en-GB" sz="2400" b="1" dirty="0" smtClean="0">
                <a:latin typeface="Cambria" panose="02040503050406030204" pitchFamily="18" charset="0"/>
                <a:ea typeface="Cambria" panose="02040503050406030204" pitchFamily="18" charset="0"/>
              </a:rPr>
              <a:t>static</a:t>
            </a:r>
            <a:r>
              <a:rPr lang="en-GB" sz="2400" dirty="0" smtClean="0">
                <a:latin typeface="Cambria" panose="02040503050406030204" pitchFamily="18" charset="0"/>
                <a:ea typeface="Cambria" panose="02040503050406030204" pitchFamily="18" charset="0"/>
              </a:rPr>
              <a:t> Connection getConnection (String url, String name, String password       </a:t>
            </a:r>
            <a:r>
              <a:rPr lang="en-GB" sz="2400" b="1" dirty="0" smtClean="0">
                <a:latin typeface="Cambria" panose="02040503050406030204" pitchFamily="18" charset="0"/>
                <a:ea typeface="Cambria" panose="02040503050406030204" pitchFamily="18" charset="0"/>
              </a:rPr>
              <a:t>throws</a:t>
            </a:r>
            <a:r>
              <a:rPr lang="en-GB" sz="2400" dirty="0" smtClean="0">
                <a:latin typeface="Cambria" panose="02040503050406030204" pitchFamily="18" charset="0"/>
                <a:ea typeface="Cambria" panose="02040503050406030204" pitchFamily="18" charset="0"/>
              </a:rPr>
              <a:t> SQLException  </a:t>
            </a:r>
          </a:p>
          <a:p>
            <a:pPr marL="0" indent="0" algn="just">
              <a:buNone/>
            </a:pPr>
            <a:r>
              <a:rPr lang="en-GB" sz="2400" dirty="0" smtClean="0">
                <a:latin typeface="Cambria" panose="02040503050406030204" pitchFamily="18" charset="0"/>
                <a:ea typeface="Cambria" panose="02040503050406030204" pitchFamily="18" charset="0"/>
              </a:rPr>
              <a:t>Example to establish connection with the mysql database</a:t>
            </a:r>
          </a:p>
          <a:p>
            <a:pPr marL="0" indent="0">
              <a:buNone/>
            </a:pPr>
            <a:r>
              <a:rPr lang="en-GB" sz="2400" dirty="0">
                <a:latin typeface="Cambria" panose="02040503050406030204" pitchFamily="18" charset="0"/>
                <a:ea typeface="Cambria" panose="02040503050406030204" pitchFamily="18" charset="0"/>
              </a:rPr>
              <a:t>	</a:t>
            </a:r>
            <a:r>
              <a:rPr lang="en-IN" sz="2400" dirty="0" smtClean="0">
                <a:latin typeface="Cambria" panose="02040503050406030204" pitchFamily="18" charset="0"/>
                <a:ea typeface="Cambria" panose="02040503050406030204" pitchFamily="18" charset="0"/>
              </a:rPr>
              <a:t>Connection </a:t>
            </a:r>
            <a:r>
              <a:rPr lang="en-IN" sz="2400" dirty="0">
                <a:latin typeface="Cambria" panose="02040503050406030204" pitchFamily="18" charset="0"/>
                <a:ea typeface="Cambria" panose="02040503050406030204" pitchFamily="18" charset="0"/>
              </a:rPr>
              <a:t>con = DriverManager.</a:t>
            </a:r>
            <a:r>
              <a:rPr lang="en-IN" sz="2400" i="1" dirty="0">
                <a:latin typeface="Cambria" panose="02040503050406030204" pitchFamily="18" charset="0"/>
                <a:ea typeface="Cambria" panose="02040503050406030204" pitchFamily="18" charset="0"/>
              </a:rPr>
              <a:t>getConnection   </a:t>
            </a:r>
            <a:endParaRPr lang="en-US" sz="2400" dirty="0">
              <a:latin typeface="Cambria" panose="02040503050406030204" pitchFamily="18" charset="0"/>
              <a:ea typeface="Cambria" panose="02040503050406030204" pitchFamily="18" charset="0"/>
            </a:endParaRPr>
          </a:p>
          <a:p>
            <a:pPr marL="0" indent="0">
              <a:buNone/>
            </a:pPr>
            <a:r>
              <a:rPr lang="en-US" sz="2400" i="1" dirty="0" smtClean="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("jdbc:mysql://localhost:3306/userinfo", "root", </a:t>
            </a:r>
            <a:r>
              <a:rPr lang="en-US" sz="2400" dirty="0" smtClean="0">
                <a:latin typeface="Cambria" panose="02040503050406030204" pitchFamily="18" charset="0"/>
                <a:ea typeface="Cambria" panose="02040503050406030204" pitchFamily="18" charset="0"/>
              </a:rPr>
              <a:t>“password");</a:t>
            </a:r>
            <a:endParaRPr lang="en-GB" sz="2400" dirty="0" smtClean="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57</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13" y="7803"/>
            <a:ext cx="6985992" cy="615603"/>
          </a:xfrm>
        </p:spPr>
        <p:txBody>
          <a:bodyPr/>
          <a:lstStyle/>
          <a:p>
            <a:r>
              <a:rPr lang="en-GB" sz="3600" b="1" dirty="0" smtClean="0">
                <a:solidFill>
                  <a:schemeClr val="accent1"/>
                </a:solidFill>
                <a:latin typeface="Cambria" panose="02040503050406030204" pitchFamily="18" charset="0"/>
                <a:ea typeface="Cambria" panose="02040503050406030204" pitchFamily="18" charset="0"/>
              </a:rPr>
              <a:t>3) Create the Statement object</a:t>
            </a:r>
            <a:endParaRPr lang="en-GB" sz="36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623392" y="836712"/>
            <a:ext cx="10515600" cy="3151252"/>
          </a:xfrm>
        </p:spPr>
        <p:txBody>
          <a:bodyPr/>
          <a:lstStyle/>
          <a:p>
            <a:pPr marL="0" indent="0" algn="just">
              <a:buNone/>
            </a:pPr>
            <a:r>
              <a:rPr lang="en-GB" dirty="0" smtClean="0">
                <a:latin typeface="Cambria" panose="02040503050406030204" pitchFamily="18" charset="0"/>
                <a:ea typeface="Cambria" panose="02040503050406030204" pitchFamily="18" charset="0"/>
              </a:rPr>
              <a:t>The createStatement() method of Connection interface is used to create statement. The object of statement is responsible to execute queries with the database.</a:t>
            </a:r>
          </a:p>
          <a:p>
            <a:pPr algn="just"/>
            <a:r>
              <a:rPr lang="en-GB" b="1" dirty="0" smtClean="0">
                <a:latin typeface="Cambria" panose="02040503050406030204" pitchFamily="18" charset="0"/>
                <a:ea typeface="Cambria" panose="02040503050406030204" pitchFamily="18" charset="0"/>
              </a:rPr>
              <a:t>Syntax of createStatement() method</a:t>
            </a:r>
          </a:p>
          <a:p>
            <a:pPr marL="0" indent="0" algn="just">
              <a:buNone/>
            </a:pPr>
            <a:r>
              <a:rPr lang="en-GB" b="1" dirty="0" smtClean="0">
                <a:latin typeface="Cambria" panose="02040503050406030204" pitchFamily="18" charset="0"/>
                <a:ea typeface="Cambria" panose="02040503050406030204" pitchFamily="18" charset="0"/>
              </a:rPr>
              <a:t>	public</a:t>
            </a:r>
            <a:r>
              <a:rPr lang="en-GB" dirty="0" smtClean="0">
                <a:latin typeface="Cambria" panose="02040503050406030204" pitchFamily="18" charset="0"/>
                <a:ea typeface="Cambria" panose="02040503050406030204" pitchFamily="18" charset="0"/>
              </a:rPr>
              <a:t> Statement createStatement()</a:t>
            </a:r>
            <a:r>
              <a:rPr lang="en-GB" b="1" dirty="0" smtClean="0">
                <a:latin typeface="Cambria" panose="02040503050406030204" pitchFamily="18" charset="0"/>
                <a:ea typeface="Cambria" panose="02040503050406030204" pitchFamily="18" charset="0"/>
              </a:rPr>
              <a:t>throws</a:t>
            </a:r>
            <a:r>
              <a:rPr lang="en-GB" dirty="0" smtClean="0">
                <a:latin typeface="Cambria" panose="02040503050406030204" pitchFamily="18" charset="0"/>
                <a:ea typeface="Cambria" panose="02040503050406030204" pitchFamily="18" charset="0"/>
              </a:rPr>
              <a:t> SQLException  </a:t>
            </a:r>
          </a:p>
          <a:p>
            <a:pPr marL="0" indent="0" algn="just">
              <a:buNone/>
            </a:pPr>
            <a:r>
              <a:rPr lang="en-GB" dirty="0" smtClean="0">
                <a:latin typeface="Cambria" panose="02040503050406030204" pitchFamily="18" charset="0"/>
                <a:ea typeface="Cambria" panose="02040503050406030204" pitchFamily="18" charset="0"/>
              </a:rPr>
              <a:t>Example to create the statement object</a:t>
            </a:r>
          </a:p>
          <a:p>
            <a:pPr marL="0" indent="0" algn="just">
              <a:buNone/>
            </a:pPr>
            <a:r>
              <a:rPr lang="en-GB" dirty="0" smtClean="0">
                <a:latin typeface="Cambria" panose="02040503050406030204" pitchFamily="18" charset="0"/>
                <a:ea typeface="Cambria" panose="02040503050406030204" pitchFamily="18" charset="0"/>
              </a:rPr>
              <a:t>	Statement stmt=con.createStatement();  </a:t>
            </a: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58</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81" y="-3684"/>
            <a:ext cx="5040560" cy="569870"/>
          </a:xfrm>
        </p:spPr>
        <p:txBody>
          <a:bodyPr/>
          <a:lstStyle/>
          <a:p>
            <a:r>
              <a:rPr lang="en-US" sz="3600" b="1" dirty="0" smtClean="0">
                <a:solidFill>
                  <a:schemeClr val="accent1"/>
                </a:solidFill>
                <a:latin typeface="Cambria" panose="02040503050406030204" pitchFamily="18" charset="0"/>
                <a:ea typeface="Cambria" panose="02040503050406030204" pitchFamily="18" charset="0"/>
              </a:rPr>
              <a:t>4) Execute the query</a:t>
            </a:r>
            <a:endParaRPr lang="en-US" sz="3600" b="1" dirty="0">
              <a:solidFill>
                <a:schemeClr val="accent1"/>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59</a:t>
            </a:fld>
            <a:endParaRPr lang="en-US" altLang="en-US">
              <a:latin typeface="Cambria" panose="02040503050406030204" pitchFamily="18" charset="0"/>
              <a:ea typeface="Cambria" panose="02040503050406030204" pitchFamily="18" charset="0"/>
            </a:endParaRPr>
          </a:p>
        </p:txBody>
      </p:sp>
      <p:sp>
        <p:nvSpPr>
          <p:cNvPr id="6" name="Content Placeholder 5"/>
          <p:cNvSpPr>
            <a:spLocks noGrp="1"/>
          </p:cNvSpPr>
          <p:nvPr>
            <p:ph idx="1"/>
          </p:nvPr>
        </p:nvSpPr>
        <p:spPr>
          <a:xfrm>
            <a:off x="551384" y="692696"/>
            <a:ext cx="11233248" cy="4824536"/>
          </a:xfrm>
        </p:spPr>
        <p:txBody>
          <a:bodyPr/>
          <a:lstStyle/>
          <a:p>
            <a:pPr algn="just"/>
            <a:r>
              <a:rPr lang="en-GB" dirty="0" smtClean="0">
                <a:latin typeface="Cambria" panose="02040503050406030204" pitchFamily="18" charset="0"/>
                <a:ea typeface="Cambria" panose="02040503050406030204" pitchFamily="18" charset="0"/>
              </a:rPr>
              <a:t> The </a:t>
            </a:r>
            <a:r>
              <a:rPr lang="en-GB" dirty="0" err="1" smtClean="0">
                <a:latin typeface="Cambria" panose="02040503050406030204" pitchFamily="18" charset="0"/>
                <a:ea typeface="Cambria" panose="02040503050406030204" pitchFamily="18" charset="0"/>
              </a:rPr>
              <a:t>executeQuery</a:t>
            </a:r>
            <a:r>
              <a:rPr lang="en-GB" dirty="0" smtClean="0">
                <a:latin typeface="Cambria" panose="02040503050406030204" pitchFamily="18" charset="0"/>
                <a:ea typeface="Cambria" panose="02040503050406030204" pitchFamily="18" charset="0"/>
              </a:rPr>
              <a:t>() method of Statement interface is used to execute queries to the database. This method </a:t>
            </a:r>
            <a:r>
              <a:rPr lang="en-GB" smtClean="0">
                <a:latin typeface="Cambria" panose="02040503050406030204" pitchFamily="18" charset="0"/>
                <a:ea typeface="Cambria" panose="02040503050406030204" pitchFamily="18" charset="0"/>
              </a:rPr>
              <a:t>returns an </a:t>
            </a:r>
            <a:r>
              <a:rPr lang="en-GB" dirty="0" smtClean="0">
                <a:latin typeface="Cambria" panose="02040503050406030204" pitchFamily="18" charset="0"/>
                <a:ea typeface="Cambria" panose="02040503050406030204" pitchFamily="18" charset="0"/>
              </a:rPr>
              <a:t>object of ResultSet that can be used to get all the records of a table.</a:t>
            </a:r>
          </a:p>
          <a:p>
            <a:pPr algn="just"/>
            <a:r>
              <a:rPr lang="en-GB" b="1" dirty="0" smtClean="0">
                <a:latin typeface="Cambria" panose="02040503050406030204" pitchFamily="18" charset="0"/>
                <a:ea typeface="Cambria" panose="02040503050406030204" pitchFamily="18" charset="0"/>
              </a:rPr>
              <a:t>Syntax of executeQuery() method</a:t>
            </a:r>
          </a:p>
          <a:p>
            <a:pPr marL="0" indent="0" algn="just">
              <a:buNone/>
            </a:pPr>
            <a:r>
              <a:rPr lang="en-GB" b="1" dirty="0" smtClean="0">
                <a:latin typeface="Cambria" panose="02040503050406030204" pitchFamily="18" charset="0"/>
                <a:ea typeface="Cambria" panose="02040503050406030204" pitchFamily="18" charset="0"/>
              </a:rPr>
              <a:t>	public</a:t>
            </a:r>
            <a:r>
              <a:rPr lang="en-GB" dirty="0" smtClean="0">
                <a:latin typeface="Cambria" panose="02040503050406030204" pitchFamily="18" charset="0"/>
                <a:ea typeface="Cambria" panose="02040503050406030204" pitchFamily="18" charset="0"/>
              </a:rPr>
              <a:t> ResultSet executeQuery(String sql)</a:t>
            </a:r>
            <a:r>
              <a:rPr lang="en-GB" b="1" dirty="0" smtClean="0">
                <a:latin typeface="Cambria" panose="02040503050406030204" pitchFamily="18" charset="0"/>
                <a:ea typeface="Cambria" panose="02040503050406030204" pitchFamily="18" charset="0"/>
              </a:rPr>
              <a:t>throws</a:t>
            </a:r>
            <a:r>
              <a:rPr lang="en-GB" dirty="0" smtClean="0">
                <a:latin typeface="Cambria" panose="02040503050406030204" pitchFamily="18" charset="0"/>
                <a:ea typeface="Cambria" panose="02040503050406030204" pitchFamily="18" charset="0"/>
              </a:rPr>
              <a:t> SQLException  </a:t>
            </a:r>
          </a:p>
          <a:p>
            <a:pPr marL="0" indent="0" algn="just">
              <a:buNone/>
            </a:pPr>
            <a:r>
              <a:rPr lang="en-GB" b="1" dirty="0" smtClean="0">
                <a:latin typeface="Cambria" panose="02040503050406030204" pitchFamily="18" charset="0"/>
                <a:ea typeface="Cambria" panose="02040503050406030204" pitchFamily="18" charset="0"/>
              </a:rPr>
              <a:t>Example to execute query</a:t>
            </a:r>
          </a:p>
          <a:p>
            <a:pPr marL="0" indent="0" algn="just">
              <a:buNone/>
            </a:pPr>
            <a:r>
              <a:rPr lang="en-GB" dirty="0" smtClean="0">
                <a:latin typeface="Cambria" panose="02040503050406030204" pitchFamily="18" charset="0"/>
                <a:ea typeface="Cambria" panose="02040503050406030204" pitchFamily="18" charset="0"/>
              </a:rPr>
              <a:t>	ResultSet rs=stmt.executeQuery("select * from emp");  </a:t>
            </a:r>
          </a:p>
          <a:p>
            <a:pPr marL="0" indent="0" algn="just">
              <a:buNone/>
            </a:pPr>
            <a:r>
              <a:rPr lang="en-GB" b="1" dirty="0" smtClean="0">
                <a:latin typeface="Cambria" panose="02040503050406030204" pitchFamily="18" charset="0"/>
                <a:ea typeface="Cambria" panose="02040503050406030204" pitchFamily="18" charset="0"/>
              </a:rPr>
              <a:t>    while</a:t>
            </a:r>
            <a:r>
              <a:rPr lang="en-GB" dirty="0" smtClean="0">
                <a:latin typeface="Cambria" panose="02040503050406030204" pitchFamily="18" charset="0"/>
                <a:ea typeface="Cambria" panose="02040503050406030204" pitchFamily="18" charset="0"/>
              </a:rPr>
              <a:t>(rs.next())</a:t>
            </a:r>
          </a:p>
          <a:p>
            <a:pPr marL="0" indent="0" algn="just">
              <a:buNone/>
            </a:pPr>
            <a:r>
              <a:rPr lang="en-GB" dirty="0" smtClean="0">
                <a:latin typeface="Cambria" panose="02040503050406030204" pitchFamily="18" charset="0"/>
                <a:ea typeface="Cambria" panose="02040503050406030204" pitchFamily="18" charset="0"/>
              </a:rPr>
              <a:t>	System.out.println(rs.getInt(1)+" "+rs.getString(2));  </a:t>
            </a:r>
          </a:p>
          <a:p>
            <a:pPr algn="just"/>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835"/>
            <a:ext cx="6769968" cy="615603"/>
          </a:xfrm>
        </p:spPr>
        <p:txBody>
          <a:bodyPr/>
          <a:lstStyle/>
          <a:p>
            <a:r>
              <a:rPr lang="en-GB" sz="3600" b="1" dirty="0" smtClean="0">
                <a:solidFill>
                  <a:schemeClr val="accent1"/>
                </a:solidFill>
                <a:latin typeface="Cambria" panose="02040503050406030204" pitchFamily="18" charset="0"/>
                <a:ea typeface="Cambria" panose="02040503050406030204" pitchFamily="18" charset="0"/>
              </a:rPr>
              <a:t>5) Close the connection object</a:t>
            </a:r>
            <a:endParaRPr lang="en-GB" sz="36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51384" y="908720"/>
            <a:ext cx="10802416" cy="2880320"/>
          </a:xfrm>
        </p:spPr>
        <p:txBody>
          <a:bodyPr/>
          <a:lstStyle/>
          <a:p>
            <a:pPr algn="just"/>
            <a:r>
              <a:rPr lang="en-GB" sz="2400" dirty="0" smtClean="0">
                <a:latin typeface="Cambria" panose="02040503050406030204" pitchFamily="18" charset="0"/>
                <a:ea typeface="Cambria" panose="02040503050406030204" pitchFamily="18" charset="0"/>
              </a:rPr>
              <a:t>By closing connection object statement and </a:t>
            </a:r>
            <a:r>
              <a:rPr lang="en-GB" sz="2400" dirty="0" err="1" smtClean="0">
                <a:latin typeface="Cambria" panose="02040503050406030204" pitchFamily="18" charset="0"/>
                <a:ea typeface="Cambria" panose="02040503050406030204" pitchFamily="18" charset="0"/>
              </a:rPr>
              <a:t>ResultSet</a:t>
            </a:r>
            <a:r>
              <a:rPr lang="en-GB" sz="2400" dirty="0" smtClean="0">
                <a:latin typeface="Cambria" panose="02040503050406030204" pitchFamily="18" charset="0"/>
                <a:ea typeface="Cambria" panose="02040503050406030204" pitchFamily="18" charset="0"/>
              </a:rPr>
              <a:t> will be closed automatically. The close() method of Connection interface is used to close the connection.</a:t>
            </a:r>
          </a:p>
          <a:p>
            <a:pPr algn="just"/>
            <a:r>
              <a:rPr lang="en-GB" sz="2400" b="1" dirty="0" smtClean="0">
                <a:latin typeface="Cambria" panose="02040503050406030204" pitchFamily="18" charset="0"/>
                <a:ea typeface="Cambria" panose="02040503050406030204" pitchFamily="18" charset="0"/>
              </a:rPr>
              <a:t>Syntax of close() method</a:t>
            </a:r>
          </a:p>
          <a:p>
            <a:pPr marL="0" indent="0" algn="just">
              <a:buNone/>
            </a:pPr>
            <a:r>
              <a:rPr lang="en-GB" sz="2400" b="1" dirty="0" smtClean="0">
                <a:latin typeface="Cambria" panose="02040503050406030204" pitchFamily="18" charset="0"/>
                <a:ea typeface="Cambria" panose="02040503050406030204" pitchFamily="18" charset="0"/>
              </a:rPr>
              <a:t>	public</a:t>
            </a:r>
            <a:r>
              <a:rPr lang="en-GB" sz="2400" dirty="0" smtClean="0">
                <a:latin typeface="Cambria" panose="02040503050406030204" pitchFamily="18" charset="0"/>
                <a:ea typeface="Cambria" panose="02040503050406030204" pitchFamily="18" charset="0"/>
              </a:rPr>
              <a:t> </a:t>
            </a:r>
            <a:r>
              <a:rPr lang="en-GB" sz="2400" b="1" dirty="0" smtClean="0">
                <a:latin typeface="Cambria" panose="02040503050406030204" pitchFamily="18" charset="0"/>
                <a:ea typeface="Cambria" panose="02040503050406030204" pitchFamily="18" charset="0"/>
              </a:rPr>
              <a:t>void</a:t>
            </a:r>
            <a:r>
              <a:rPr lang="en-GB" sz="2400" dirty="0" smtClean="0">
                <a:latin typeface="Cambria" panose="02040503050406030204" pitchFamily="18" charset="0"/>
                <a:ea typeface="Cambria" panose="02040503050406030204" pitchFamily="18" charset="0"/>
              </a:rPr>
              <a:t> close()</a:t>
            </a:r>
            <a:r>
              <a:rPr lang="en-GB" sz="2400" b="1" dirty="0" smtClean="0">
                <a:latin typeface="Cambria" panose="02040503050406030204" pitchFamily="18" charset="0"/>
                <a:ea typeface="Cambria" panose="02040503050406030204" pitchFamily="18" charset="0"/>
              </a:rPr>
              <a:t>throws</a:t>
            </a:r>
            <a:r>
              <a:rPr lang="en-GB" sz="2400" dirty="0" smtClean="0">
                <a:latin typeface="Cambria" panose="02040503050406030204" pitchFamily="18" charset="0"/>
                <a:ea typeface="Cambria" panose="02040503050406030204" pitchFamily="18" charset="0"/>
              </a:rPr>
              <a:t> SQLException  </a:t>
            </a:r>
          </a:p>
          <a:p>
            <a:pPr algn="just"/>
            <a:r>
              <a:rPr lang="en-GB" sz="2400" dirty="0" smtClean="0">
                <a:latin typeface="Cambria" panose="02040503050406030204" pitchFamily="18" charset="0"/>
                <a:ea typeface="Cambria" panose="02040503050406030204" pitchFamily="18" charset="0"/>
              </a:rPr>
              <a:t>Example to close connection</a:t>
            </a:r>
          </a:p>
          <a:p>
            <a:pPr algn="just"/>
            <a:r>
              <a:rPr lang="en-GB" sz="2400" dirty="0" err="1" smtClean="0">
                <a:latin typeface="Cambria" panose="02040503050406030204" pitchFamily="18" charset="0"/>
                <a:ea typeface="Cambria" panose="02040503050406030204" pitchFamily="18" charset="0"/>
              </a:rPr>
              <a:t>con.close</a:t>
            </a:r>
            <a:r>
              <a:rPr lang="en-GB" sz="2400" dirty="0" smtClean="0">
                <a:latin typeface="Cambria" panose="02040503050406030204" pitchFamily="18" charset="0"/>
                <a:ea typeface="Cambria" panose="02040503050406030204" pitchFamily="18" charset="0"/>
              </a:rPr>
              <a:t>();  </a:t>
            </a:r>
          </a:p>
          <a:p>
            <a:pPr algn="just">
              <a:buNone/>
            </a:pPr>
            <a:endParaRPr lang="en-GB" sz="2000" dirty="0" smtClean="0">
              <a:latin typeface="Cambria" panose="02040503050406030204" pitchFamily="18" charset="0"/>
              <a:ea typeface="Cambria" panose="02040503050406030204" pitchFamily="18" charset="0"/>
            </a:endParaRPr>
          </a:p>
          <a:p>
            <a:pPr algn="just"/>
            <a:endParaRPr lang="en-GB" sz="2000" dirty="0" smtClean="0">
              <a:latin typeface="Cambria" panose="02040503050406030204" pitchFamily="18" charset="0"/>
              <a:ea typeface="Cambria" panose="02040503050406030204" pitchFamily="18" charset="0"/>
            </a:endParaRP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60</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Date Placeholder 3"/>
          <p:cNvSpPr>
            <a:spLocks noGrp="1"/>
          </p:cNvSpPr>
          <p:nvPr>
            <p:ph type="dt" sz="quarter" idx="10"/>
          </p:nvPr>
        </p:nvSpPr>
        <p:spPr>
          <a:noFill/>
        </p:spPr>
        <p:txBody>
          <a:bodyPr/>
          <a:lstStyle>
            <a:lvl1pPr algn="r">
              <a:spcBef>
                <a:spcPct val="20000"/>
              </a:spcBef>
              <a:defRPr sz="2000">
                <a:solidFill>
                  <a:schemeClr val="tx1"/>
                </a:solidFill>
                <a:latin typeface="Times New Roman" panose="02020603050405020304" pitchFamily="18" charset="0"/>
              </a:defRPr>
            </a:lvl1pPr>
            <a:lvl2pPr marL="742950" indent="-285750" algn="r">
              <a:spcBef>
                <a:spcPct val="20000"/>
              </a:spcBef>
              <a:defRPr sz="2000">
                <a:solidFill>
                  <a:schemeClr val="tx1"/>
                </a:solidFill>
                <a:latin typeface="Times New Roman" panose="02020603050405020304" pitchFamily="18" charset="0"/>
              </a:defRPr>
            </a:lvl2pPr>
            <a:lvl3pPr marL="1143000" indent="-228600" algn="r">
              <a:spcBef>
                <a:spcPct val="20000"/>
              </a:spcBef>
              <a:defRPr sz="2000">
                <a:solidFill>
                  <a:schemeClr val="tx1"/>
                </a:solidFill>
                <a:latin typeface="Times New Roman" panose="02020603050405020304" pitchFamily="18" charset="0"/>
              </a:defRPr>
            </a:lvl3pPr>
            <a:lvl4pPr marL="1600200" indent="-228600" algn="r">
              <a:spcBef>
                <a:spcPct val="20000"/>
              </a:spcBef>
              <a:defRPr sz="2000">
                <a:solidFill>
                  <a:schemeClr val="tx1"/>
                </a:solidFill>
                <a:latin typeface="Times New Roman" panose="02020603050405020304" pitchFamily="18" charset="0"/>
              </a:defRPr>
            </a:lvl4pPr>
            <a:lvl5pPr marL="2057400" indent="-228600" algn="r">
              <a:spcBef>
                <a:spcPct val="20000"/>
              </a:spcBef>
              <a:defRPr sz="2000">
                <a:solidFill>
                  <a:schemeClr val="tx1"/>
                </a:solidFill>
                <a:latin typeface="Times New Roman" panose="02020603050405020304" pitchFamily="18" charset="0"/>
              </a:defRPr>
            </a:lvl5pPr>
            <a:lvl6pPr marL="2514600" indent="-228600" algn="r" eaLnBrk="0" fontAlgn="base" hangingPunct="0">
              <a:spcBef>
                <a:spcPct val="20000"/>
              </a:spcBef>
              <a:spcAft>
                <a:spcPct val="0"/>
              </a:spcAft>
              <a:defRPr sz="2000">
                <a:solidFill>
                  <a:schemeClr val="tx1"/>
                </a:solidFill>
                <a:latin typeface="Times New Roman" panose="02020603050405020304" pitchFamily="18" charset="0"/>
              </a:defRPr>
            </a:lvl6pPr>
            <a:lvl7pPr marL="2971800" indent="-228600" algn="r" eaLnBrk="0" fontAlgn="base" hangingPunct="0">
              <a:spcBef>
                <a:spcPct val="20000"/>
              </a:spcBef>
              <a:spcAft>
                <a:spcPct val="0"/>
              </a:spcAft>
              <a:defRPr sz="2000">
                <a:solidFill>
                  <a:schemeClr val="tx1"/>
                </a:solidFill>
                <a:latin typeface="Times New Roman" panose="02020603050405020304" pitchFamily="18" charset="0"/>
              </a:defRPr>
            </a:lvl7pPr>
            <a:lvl8pPr marL="3429000" indent="-228600" algn="r" eaLnBrk="0" fontAlgn="base" hangingPunct="0">
              <a:spcBef>
                <a:spcPct val="20000"/>
              </a:spcBef>
              <a:spcAft>
                <a:spcPct val="0"/>
              </a:spcAft>
              <a:defRPr sz="2000">
                <a:solidFill>
                  <a:schemeClr val="tx1"/>
                </a:solidFill>
                <a:latin typeface="Times New Roman" panose="02020603050405020304" pitchFamily="18" charset="0"/>
              </a:defRPr>
            </a:lvl8pPr>
            <a:lvl9pPr marL="3886200" indent="-228600" algn="r" eaLnBrk="0" fontAlgn="base" hangingPunct="0">
              <a:spcBef>
                <a:spcPct val="20000"/>
              </a:spcBef>
              <a:spcAft>
                <a:spcPct val="0"/>
              </a:spcAft>
              <a:defRPr sz="2000">
                <a:solidFill>
                  <a:schemeClr val="tx1"/>
                </a:solidFill>
                <a:latin typeface="Times New Roman" panose="02020603050405020304" pitchFamily="18" charset="0"/>
              </a:defRPr>
            </a:lvl9pPr>
          </a:lstStyle>
          <a:p>
            <a:pPr algn="l">
              <a:spcBef>
                <a:spcPct val="0"/>
              </a:spcBef>
            </a:pPr>
            <a:fld id="{5B9FF08D-2F0F-48FE-B287-E83B30562A82}" type="datetime1">
              <a:rPr lang="en-US" altLang="en-US" sz="1400"/>
              <a:pPr algn="l">
                <a:spcBef>
                  <a:spcPct val="0"/>
                </a:spcBef>
              </a:pPr>
              <a:t>3/16/2026</a:t>
            </a:fld>
            <a:endParaRPr lang="en-US" altLang="en-US" sz="1400"/>
          </a:p>
        </p:txBody>
      </p:sp>
      <p:sp>
        <p:nvSpPr>
          <p:cNvPr id="8195" name="Slide Number Placeholder 5"/>
          <p:cNvSpPr>
            <a:spLocks noGrp="1"/>
          </p:cNvSpPr>
          <p:nvPr>
            <p:ph type="sldNum" sz="quarter" idx="12"/>
          </p:nvPr>
        </p:nvSpPr>
        <p:spPr>
          <a:noFill/>
        </p:spPr>
        <p:txBody>
          <a:bodyPr/>
          <a:lstStyle>
            <a:lvl1pPr algn="r">
              <a:spcBef>
                <a:spcPct val="20000"/>
              </a:spcBef>
              <a:defRPr sz="2000">
                <a:solidFill>
                  <a:schemeClr val="tx1"/>
                </a:solidFill>
                <a:latin typeface="Times New Roman" panose="02020603050405020304" pitchFamily="18" charset="0"/>
              </a:defRPr>
            </a:lvl1pPr>
            <a:lvl2pPr marL="742950" indent="-285750" algn="r">
              <a:spcBef>
                <a:spcPct val="20000"/>
              </a:spcBef>
              <a:defRPr sz="2000">
                <a:solidFill>
                  <a:schemeClr val="tx1"/>
                </a:solidFill>
                <a:latin typeface="Times New Roman" panose="02020603050405020304" pitchFamily="18" charset="0"/>
              </a:defRPr>
            </a:lvl2pPr>
            <a:lvl3pPr marL="1143000" indent="-228600" algn="r">
              <a:spcBef>
                <a:spcPct val="20000"/>
              </a:spcBef>
              <a:defRPr sz="2000">
                <a:solidFill>
                  <a:schemeClr val="tx1"/>
                </a:solidFill>
                <a:latin typeface="Times New Roman" panose="02020603050405020304" pitchFamily="18" charset="0"/>
              </a:defRPr>
            </a:lvl3pPr>
            <a:lvl4pPr marL="1600200" indent="-228600" algn="r">
              <a:spcBef>
                <a:spcPct val="20000"/>
              </a:spcBef>
              <a:defRPr sz="2000">
                <a:solidFill>
                  <a:schemeClr val="tx1"/>
                </a:solidFill>
                <a:latin typeface="Times New Roman" panose="02020603050405020304" pitchFamily="18" charset="0"/>
              </a:defRPr>
            </a:lvl4pPr>
            <a:lvl5pPr marL="2057400" indent="-228600" algn="r">
              <a:spcBef>
                <a:spcPct val="20000"/>
              </a:spcBef>
              <a:defRPr sz="2000">
                <a:solidFill>
                  <a:schemeClr val="tx1"/>
                </a:solidFill>
                <a:latin typeface="Times New Roman" panose="02020603050405020304" pitchFamily="18" charset="0"/>
              </a:defRPr>
            </a:lvl5pPr>
            <a:lvl6pPr marL="2514600" indent="-228600" algn="r" eaLnBrk="0" fontAlgn="base" hangingPunct="0">
              <a:spcBef>
                <a:spcPct val="20000"/>
              </a:spcBef>
              <a:spcAft>
                <a:spcPct val="0"/>
              </a:spcAft>
              <a:defRPr sz="2000">
                <a:solidFill>
                  <a:schemeClr val="tx1"/>
                </a:solidFill>
                <a:latin typeface="Times New Roman" panose="02020603050405020304" pitchFamily="18" charset="0"/>
              </a:defRPr>
            </a:lvl6pPr>
            <a:lvl7pPr marL="2971800" indent="-228600" algn="r" eaLnBrk="0" fontAlgn="base" hangingPunct="0">
              <a:spcBef>
                <a:spcPct val="20000"/>
              </a:spcBef>
              <a:spcAft>
                <a:spcPct val="0"/>
              </a:spcAft>
              <a:defRPr sz="2000">
                <a:solidFill>
                  <a:schemeClr val="tx1"/>
                </a:solidFill>
                <a:latin typeface="Times New Roman" panose="02020603050405020304" pitchFamily="18" charset="0"/>
              </a:defRPr>
            </a:lvl7pPr>
            <a:lvl8pPr marL="3429000" indent="-228600" algn="r" eaLnBrk="0" fontAlgn="base" hangingPunct="0">
              <a:spcBef>
                <a:spcPct val="20000"/>
              </a:spcBef>
              <a:spcAft>
                <a:spcPct val="0"/>
              </a:spcAft>
              <a:defRPr sz="2000">
                <a:solidFill>
                  <a:schemeClr val="tx1"/>
                </a:solidFill>
                <a:latin typeface="Times New Roman" panose="02020603050405020304" pitchFamily="18" charset="0"/>
              </a:defRPr>
            </a:lvl8pPr>
            <a:lvl9pPr marL="3886200" indent="-228600" algn="r" eaLnBrk="0" fontAlgn="base" hangingPunct="0">
              <a:spcBef>
                <a:spcPct val="20000"/>
              </a:spcBef>
              <a:spcAft>
                <a:spcPct val="0"/>
              </a:spcAft>
              <a:defRPr sz="2000">
                <a:solidFill>
                  <a:schemeClr val="tx1"/>
                </a:solidFill>
                <a:latin typeface="Times New Roman" panose="02020603050405020304" pitchFamily="18" charset="0"/>
              </a:defRPr>
            </a:lvl9pPr>
          </a:lstStyle>
          <a:p>
            <a:pPr>
              <a:spcBef>
                <a:spcPct val="0"/>
              </a:spcBef>
            </a:pPr>
            <a:fld id="{2CBAEA40-E238-48C9-A6B4-6D1E233DCA69}" type="slidenum">
              <a:rPr lang="en-US" altLang="en-US" sz="1400"/>
              <a:pPr>
                <a:spcBef>
                  <a:spcPct val="0"/>
                </a:spcBef>
              </a:pPr>
              <a:t>61</a:t>
            </a:fld>
            <a:endParaRPr lang="en-US" altLang="en-US" sz="140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2266841"/>
            <a:ext cx="1790950" cy="1562318"/>
          </a:xfrm>
          <a:prstGeom prst="rect">
            <a:avLst/>
          </a:prstGeom>
        </p:spPr>
      </p:pic>
      <p:sp>
        <p:nvSpPr>
          <p:cNvPr id="4" name="TextBox 3"/>
          <p:cNvSpPr txBox="1"/>
          <p:nvPr/>
        </p:nvSpPr>
        <p:spPr>
          <a:xfrm>
            <a:off x="1170340" y="1620510"/>
            <a:ext cx="1611210" cy="369332"/>
          </a:xfrm>
          <a:prstGeom prst="rect">
            <a:avLst/>
          </a:prstGeom>
          <a:noFill/>
        </p:spPr>
        <p:txBody>
          <a:bodyPr wrap="none" rtlCol="0">
            <a:spAutoFit/>
          </a:bodyPr>
          <a:lstStyle/>
          <a:p>
            <a:r>
              <a:rPr lang="en-US" dirty="0" smtClean="0">
                <a:latin typeface="+mn-lt"/>
              </a:rPr>
              <a:t>Programs/code</a:t>
            </a:r>
            <a:endParaRPr lang="en-IN" dirty="0">
              <a:latin typeface="+mn-lt"/>
            </a:endParaRPr>
          </a:p>
        </p:txBody>
      </p:sp>
      <p:sp>
        <p:nvSpPr>
          <p:cNvPr id="8" name="TextBox 7"/>
          <p:cNvSpPr txBox="1"/>
          <p:nvPr/>
        </p:nvSpPr>
        <p:spPr>
          <a:xfrm>
            <a:off x="1568077" y="4288447"/>
            <a:ext cx="815736" cy="369332"/>
          </a:xfrm>
          <a:prstGeom prst="rect">
            <a:avLst/>
          </a:prstGeom>
          <a:noFill/>
        </p:spPr>
        <p:txBody>
          <a:bodyPr wrap="none" rtlCol="0">
            <a:spAutoFit/>
          </a:bodyPr>
          <a:lstStyle/>
          <a:p>
            <a:r>
              <a:rPr lang="en-US" dirty="0" smtClean="0">
                <a:latin typeface="+mn-lt"/>
              </a:rPr>
              <a:t>Clients</a:t>
            </a:r>
            <a:endParaRPr lang="en-IN" dirty="0">
              <a:latin typeface="+mn-lt"/>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89704" y="2266841"/>
            <a:ext cx="2152950" cy="1295517"/>
          </a:xfrm>
          <a:prstGeom prst="rect">
            <a:avLst/>
          </a:prstGeom>
        </p:spPr>
      </p:pic>
      <p:sp>
        <p:nvSpPr>
          <p:cNvPr id="10" name="TextBox 9"/>
          <p:cNvSpPr txBox="1"/>
          <p:nvPr/>
        </p:nvSpPr>
        <p:spPr>
          <a:xfrm>
            <a:off x="9279207" y="4135523"/>
            <a:ext cx="785664" cy="369332"/>
          </a:xfrm>
          <a:prstGeom prst="rect">
            <a:avLst/>
          </a:prstGeom>
          <a:noFill/>
        </p:spPr>
        <p:txBody>
          <a:bodyPr wrap="none" rtlCol="0">
            <a:spAutoFit/>
          </a:bodyPr>
          <a:lstStyle/>
          <a:p>
            <a:r>
              <a:rPr lang="en-US" dirty="0" smtClean="0">
                <a:latin typeface="+mn-lt"/>
              </a:rPr>
              <a:t>Server</a:t>
            </a:r>
            <a:endParaRPr lang="en-IN" dirty="0">
              <a:latin typeface="+mn-lt"/>
            </a:endParaRPr>
          </a:p>
        </p:txBody>
      </p:sp>
      <p:sp>
        <p:nvSpPr>
          <p:cNvPr id="12" name="TextBox 11"/>
          <p:cNvSpPr txBox="1"/>
          <p:nvPr/>
        </p:nvSpPr>
        <p:spPr>
          <a:xfrm>
            <a:off x="9279207" y="1775810"/>
            <a:ext cx="620554" cy="369332"/>
          </a:xfrm>
          <a:prstGeom prst="rect">
            <a:avLst/>
          </a:prstGeom>
          <a:noFill/>
        </p:spPr>
        <p:txBody>
          <a:bodyPr wrap="none" rtlCol="0">
            <a:spAutoFit/>
          </a:bodyPr>
          <a:lstStyle/>
          <a:p>
            <a:r>
              <a:rPr lang="en-US" dirty="0" smtClean="0">
                <a:latin typeface="+mn-lt"/>
              </a:rPr>
              <a:t>Data</a:t>
            </a:r>
            <a:endParaRPr lang="en-IN" dirty="0">
              <a:latin typeface="+mn-lt"/>
            </a:endParaRPr>
          </a:p>
        </p:txBody>
      </p:sp>
      <p:sp>
        <p:nvSpPr>
          <p:cNvPr id="13" name="TextBox 12"/>
          <p:cNvSpPr txBox="1"/>
          <p:nvPr/>
        </p:nvSpPr>
        <p:spPr>
          <a:xfrm>
            <a:off x="9319742" y="4575288"/>
            <a:ext cx="2827312" cy="923330"/>
          </a:xfrm>
          <a:prstGeom prst="rect">
            <a:avLst/>
          </a:prstGeom>
          <a:noFill/>
        </p:spPr>
        <p:txBody>
          <a:bodyPr wrap="none" rtlCol="0">
            <a:spAutoFit/>
          </a:bodyPr>
          <a:lstStyle/>
          <a:p>
            <a:r>
              <a:rPr lang="en-US" dirty="0" smtClean="0">
                <a:latin typeface="+mn-lt"/>
              </a:rPr>
              <a:t>Runs at port</a:t>
            </a:r>
          </a:p>
          <a:p>
            <a:r>
              <a:rPr lang="en-US" dirty="0" smtClean="0">
                <a:latin typeface="+mn-lt"/>
              </a:rPr>
              <a:t>Different for different DBMS</a:t>
            </a:r>
          </a:p>
          <a:p>
            <a:r>
              <a:rPr lang="en-US" dirty="0" smtClean="0">
                <a:latin typeface="+mn-lt"/>
              </a:rPr>
              <a:t>3306 for </a:t>
            </a:r>
            <a:r>
              <a:rPr lang="en-US" dirty="0" err="1" smtClean="0">
                <a:latin typeface="+mn-lt"/>
              </a:rPr>
              <a:t>MySql</a:t>
            </a:r>
            <a:endParaRPr lang="en-IN" dirty="0">
              <a:latin typeface="+mn-lt"/>
            </a:endParaRPr>
          </a:p>
        </p:txBody>
      </p:sp>
      <p:sp>
        <p:nvSpPr>
          <p:cNvPr id="14" name="TextBox 13"/>
          <p:cNvSpPr txBox="1"/>
          <p:nvPr/>
        </p:nvSpPr>
        <p:spPr>
          <a:xfrm>
            <a:off x="1568077" y="5035424"/>
            <a:ext cx="1051891" cy="369332"/>
          </a:xfrm>
          <a:prstGeom prst="rect">
            <a:avLst/>
          </a:prstGeom>
          <a:noFill/>
        </p:spPr>
        <p:txBody>
          <a:bodyPr wrap="none" rtlCol="0">
            <a:spAutoFit/>
          </a:bodyPr>
          <a:lstStyle/>
          <a:p>
            <a:r>
              <a:rPr lang="en-US" dirty="0" smtClean="0">
                <a:latin typeface="+mn-lt"/>
              </a:rPr>
              <a:t>No ports </a:t>
            </a:r>
            <a:endParaRPr lang="en-IN" dirty="0">
              <a:latin typeface="+mn-lt"/>
            </a:endParaRPr>
          </a:p>
        </p:txBody>
      </p:sp>
      <p:sp>
        <p:nvSpPr>
          <p:cNvPr id="15" name="TextBox 14"/>
          <p:cNvSpPr txBox="1"/>
          <p:nvPr/>
        </p:nvSpPr>
        <p:spPr>
          <a:xfrm>
            <a:off x="1568077" y="4581748"/>
            <a:ext cx="1560042" cy="369332"/>
          </a:xfrm>
          <a:prstGeom prst="rect">
            <a:avLst/>
          </a:prstGeom>
          <a:noFill/>
        </p:spPr>
        <p:txBody>
          <a:bodyPr wrap="none" rtlCol="0">
            <a:spAutoFit/>
          </a:bodyPr>
          <a:lstStyle/>
          <a:p>
            <a:r>
              <a:rPr lang="en-US" dirty="0" smtClean="0">
                <a:latin typeface="+mn-lt"/>
              </a:rPr>
              <a:t> CRUD Queries</a:t>
            </a:r>
            <a:endParaRPr lang="en-IN" dirty="0">
              <a:latin typeface="+mn-lt"/>
            </a:endParaRPr>
          </a:p>
        </p:txBody>
      </p:sp>
      <p:cxnSp>
        <p:nvCxnSpPr>
          <p:cNvPr id="7" name="Straight Connector 6"/>
          <p:cNvCxnSpPr/>
          <p:nvPr/>
        </p:nvCxnSpPr>
        <p:spPr>
          <a:xfrm>
            <a:off x="3035979" y="3276600"/>
            <a:ext cx="5422221"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283501" y="3316074"/>
            <a:ext cx="2657522" cy="369332"/>
          </a:xfrm>
          <a:prstGeom prst="rect">
            <a:avLst/>
          </a:prstGeom>
          <a:noFill/>
        </p:spPr>
        <p:txBody>
          <a:bodyPr wrap="none" rtlCol="0">
            <a:spAutoFit/>
          </a:bodyPr>
          <a:lstStyle/>
          <a:p>
            <a:r>
              <a:rPr lang="en-US" dirty="0" smtClean="0">
                <a:latin typeface="+mn-lt"/>
              </a:rPr>
              <a:t>2. Connection  established</a:t>
            </a:r>
            <a:endParaRPr lang="en-IN" dirty="0">
              <a:latin typeface="+mn-lt"/>
            </a:endParaRPr>
          </a:p>
        </p:txBody>
      </p:sp>
      <p:sp>
        <p:nvSpPr>
          <p:cNvPr id="20" name="TextBox 19"/>
          <p:cNvSpPr txBox="1"/>
          <p:nvPr/>
        </p:nvSpPr>
        <p:spPr>
          <a:xfrm>
            <a:off x="4228173" y="2772016"/>
            <a:ext cx="2778774" cy="369332"/>
          </a:xfrm>
          <a:prstGeom prst="rect">
            <a:avLst/>
          </a:prstGeom>
          <a:noFill/>
        </p:spPr>
        <p:txBody>
          <a:bodyPr wrap="none" rtlCol="0">
            <a:spAutoFit/>
          </a:bodyPr>
          <a:lstStyle/>
          <a:p>
            <a:r>
              <a:rPr lang="en-US" dirty="0" smtClean="0">
                <a:latin typeface="+mn-lt"/>
              </a:rPr>
              <a:t> </a:t>
            </a:r>
            <a:r>
              <a:rPr lang="en-US" dirty="0">
                <a:latin typeface="+mn-lt"/>
              </a:rPr>
              <a:t>3</a:t>
            </a:r>
            <a:r>
              <a:rPr lang="en-US" dirty="0" smtClean="0">
                <a:latin typeface="+mn-lt"/>
              </a:rPr>
              <a:t>. </a:t>
            </a:r>
            <a:r>
              <a:rPr lang="en-US" dirty="0" smtClean="0">
                <a:latin typeface="+mn-lt"/>
              </a:rPr>
              <a:t>Create Statement Object</a:t>
            </a:r>
            <a:endParaRPr lang="en-IN" dirty="0">
              <a:latin typeface="+mn-lt"/>
            </a:endParaRPr>
          </a:p>
        </p:txBody>
      </p:sp>
      <p:sp>
        <p:nvSpPr>
          <p:cNvPr id="21" name="TextBox 20"/>
          <p:cNvSpPr txBox="1"/>
          <p:nvPr/>
        </p:nvSpPr>
        <p:spPr>
          <a:xfrm>
            <a:off x="4283501" y="3773973"/>
            <a:ext cx="2410916" cy="369332"/>
          </a:xfrm>
          <a:prstGeom prst="rect">
            <a:avLst/>
          </a:prstGeom>
          <a:noFill/>
        </p:spPr>
        <p:txBody>
          <a:bodyPr wrap="none" rtlCol="0">
            <a:spAutoFit/>
          </a:bodyPr>
          <a:lstStyle/>
          <a:p>
            <a:r>
              <a:rPr lang="en-US" dirty="0" smtClean="0">
                <a:latin typeface="+mn-lt"/>
              </a:rPr>
              <a:t> </a:t>
            </a:r>
            <a:r>
              <a:rPr lang="en-US" dirty="0">
                <a:latin typeface="+mn-lt"/>
              </a:rPr>
              <a:t>5</a:t>
            </a:r>
            <a:r>
              <a:rPr lang="en-US" dirty="0" smtClean="0">
                <a:latin typeface="+mn-lt"/>
              </a:rPr>
              <a:t>. </a:t>
            </a:r>
            <a:r>
              <a:rPr lang="en-US" dirty="0" smtClean="0">
                <a:latin typeface="+mn-lt"/>
              </a:rPr>
              <a:t>close the connection</a:t>
            </a:r>
            <a:endParaRPr lang="en-IN" dirty="0">
              <a:latin typeface="+mn-lt"/>
            </a:endParaRPr>
          </a:p>
        </p:txBody>
      </p:sp>
      <p:sp>
        <p:nvSpPr>
          <p:cNvPr id="22" name="TextBox 21"/>
          <p:cNvSpPr txBox="1"/>
          <p:nvPr/>
        </p:nvSpPr>
        <p:spPr>
          <a:xfrm>
            <a:off x="4145867" y="1915877"/>
            <a:ext cx="2535181" cy="369332"/>
          </a:xfrm>
          <a:prstGeom prst="rect">
            <a:avLst/>
          </a:prstGeom>
          <a:noFill/>
        </p:spPr>
        <p:txBody>
          <a:bodyPr wrap="none" rtlCol="0">
            <a:spAutoFit/>
          </a:bodyPr>
          <a:lstStyle/>
          <a:p>
            <a:r>
              <a:rPr lang="en-US" dirty="0" smtClean="0">
                <a:latin typeface="+mn-lt"/>
              </a:rPr>
              <a:t> 1. Driver has to be ready</a:t>
            </a:r>
            <a:endParaRPr lang="en-IN" dirty="0">
              <a:latin typeface="+mn-lt"/>
            </a:endParaRPr>
          </a:p>
        </p:txBody>
      </p:sp>
      <p:sp>
        <p:nvSpPr>
          <p:cNvPr id="23" name="TextBox 22"/>
          <p:cNvSpPr txBox="1"/>
          <p:nvPr/>
        </p:nvSpPr>
        <p:spPr>
          <a:xfrm>
            <a:off x="4197787" y="2411508"/>
            <a:ext cx="2193806" cy="369332"/>
          </a:xfrm>
          <a:prstGeom prst="rect">
            <a:avLst/>
          </a:prstGeom>
          <a:noFill/>
        </p:spPr>
        <p:txBody>
          <a:bodyPr wrap="none" rtlCol="0">
            <a:spAutoFit/>
          </a:bodyPr>
          <a:lstStyle/>
          <a:p>
            <a:r>
              <a:rPr lang="en-US" dirty="0" smtClean="0">
                <a:latin typeface="+mn-lt"/>
              </a:rPr>
              <a:t> 4. </a:t>
            </a:r>
            <a:r>
              <a:rPr lang="en-US" dirty="0" smtClean="0">
                <a:latin typeface="+mn-lt"/>
              </a:rPr>
              <a:t>Execute the Query</a:t>
            </a:r>
            <a:endParaRPr lang="en-IN" dirty="0">
              <a:latin typeface="+mn-lt"/>
            </a:endParaRPr>
          </a:p>
        </p:txBody>
      </p:sp>
      <p:sp>
        <p:nvSpPr>
          <p:cNvPr id="2" name="Oval 1"/>
          <p:cNvSpPr/>
          <p:nvPr/>
        </p:nvSpPr>
        <p:spPr>
          <a:xfrm>
            <a:off x="7245471" y="16458"/>
            <a:ext cx="2819400" cy="108711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FF0000"/>
              </a:solidFill>
            </a:endParaRPr>
          </a:p>
        </p:txBody>
      </p:sp>
      <p:cxnSp>
        <p:nvCxnSpPr>
          <p:cNvPr id="9" name="Straight Arrow Connector 8"/>
          <p:cNvCxnSpPr/>
          <p:nvPr/>
        </p:nvCxnSpPr>
        <p:spPr>
          <a:xfrm flipV="1">
            <a:off x="6244390" y="1164629"/>
            <a:ext cx="842210" cy="5407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8399002" y="427072"/>
            <a:ext cx="649537" cy="369332"/>
          </a:xfrm>
          <a:prstGeom prst="rect">
            <a:avLst/>
          </a:prstGeom>
          <a:noFill/>
        </p:spPr>
        <p:txBody>
          <a:bodyPr wrap="none" rtlCol="0">
            <a:spAutoFit/>
          </a:bodyPr>
          <a:lstStyle/>
          <a:p>
            <a:r>
              <a:rPr lang="en-US" dirty="0" smtClean="0">
                <a:solidFill>
                  <a:srgbClr val="FF0000"/>
                </a:solidFill>
                <a:latin typeface="+mn-lt"/>
              </a:rPr>
              <a:t>JDBC</a:t>
            </a:r>
            <a:endParaRPr lang="en-IN" dirty="0">
              <a:solidFill>
                <a:srgbClr val="FF0000"/>
              </a:solidFill>
              <a:latin typeface="+mn-lt"/>
            </a:endParaRPr>
          </a:p>
        </p:txBody>
      </p:sp>
      <p:sp>
        <p:nvSpPr>
          <p:cNvPr id="11" name="TextBox 10"/>
          <p:cNvSpPr txBox="1"/>
          <p:nvPr/>
        </p:nvSpPr>
        <p:spPr>
          <a:xfrm>
            <a:off x="3140066" y="375347"/>
            <a:ext cx="3031599" cy="369332"/>
          </a:xfrm>
          <a:prstGeom prst="rect">
            <a:avLst/>
          </a:prstGeom>
          <a:noFill/>
        </p:spPr>
        <p:txBody>
          <a:bodyPr wrap="none" rtlCol="0">
            <a:spAutoFit/>
          </a:bodyPr>
          <a:lstStyle/>
          <a:p>
            <a:r>
              <a:rPr lang="en-US" dirty="0" smtClean="0"/>
              <a:t>How both can communicate</a:t>
            </a:r>
            <a:endParaRPr lang="en-IN" dirty="0"/>
          </a:p>
        </p:txBody>
      </p:sp>
    </p:spTree>
    <p:extLst>
      <p:ext uri="{BB962C8B-B14F-4D97-AF65-F5344CB8AC3E}">
        <p14:creationId xmlns:p14="http://schemas.microsoft.com/office/powerpoint/2010/main" val="3893535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anim calcmode="lin" valueType="num">
                                      <p:cBhvr>
                                        <p:cTn id="29" dur="1000" fill="hold"/>
                                        <p:tgtEl>
                                          <p:spTgt spid="12"/>
                                        </p:tgtEl>
                                        <p:attrNameLst>
                                          <p:attrName>ppt_x</p:attrName>
                                        </p:attrNameLst>
                                      </p:cBhvr>
                                      <p:tavLst>
                                        <p:tav tm="0">
                                          <p:val>
                                            <p:strVal val="#ppt_x"/>
                                          </p:val>
                                        </p:tav>
                                        <p:tav tm="100000">
                                          <p:val>
                                            <p:strVal val="#ppt_x"/>
                                          </p:val>
                                        </p:tav>
                                      </p:tavLst>
                                    </p:anim>
                                    <p:anim calcmode="lin" valueType="num">
                                      <p:cBhvr>
                                        <p:cTn id="3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ppt_x"/>
                                          </p:val>
                                        </p:tav>
                                        <p:tav tm="100000">
                                          <p:val>
                                            <p:strVal val="#ppt_x"/>
                                          </p:val>
                                        </p:tav>
                                      </p:tavLst>
                                    </p:anim>
                                    <p:anim calcmode="lin" valueType="num">
                                      <p:cBhvr additive="base">
                                        <p:cTn id="5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500" fill="hold"/>
                                        <p:tgtEl>
                                          <p:spTgt spid="14"/>
                                        </p:tgtEl>
                                        <p:attrNameLst>
                                          <p:attrName>ppt_x</p:attrName>
                                        </p:attrNameLst>
                                      </p:cBhvr>
                                      <p:tavLst>
                                        <p:tav tm="0">
                                          <p:val>
                                            <p:strVal val="#ppt_x"/>
                                          </p:val>
                                        </p:tav>
                                        <p:tav tm="100000">
                                          <p:val>
                                            <p:strVal val="#ppt_x"/>
                                          </p:val>
                                        </p:tav>
                                      </p:tavLst>
                                    </p:anim>
                                    <p:anim calcmode="lin" valueType="num">
                                      <p:cBhvr additive="base">
                                        <p:cTn id="5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wipe(down)">
                                      <p:cBhvr>
                                        <p:cTn id="61" dur="580">
                                          <p:stCondLst>
                                            <p:cond delay="0"/>
                                          </p:stCondLst>
                                        </p:cTn>
                                        <p:tgtEl>
                                          <p:spTgt spid="15"/>
                                        </p:tgtEl>
                                      </p:cBhvr>
                                    </p:animEffect>
                                    <p:anim calcmode="lin" valueType="num">
                                      <p:cBhvr>
                                        <p:cTn id="62"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67" dur="26">
                                          <p:stCondLst>
                                            <p:cond delay="650"/>
                                          </p:stCondLst>
                                        </p:cTn>
                                        <p:tgtEl>
                                          <p:spTgt spid="15"/>
                                        </p:tgtEl>
                                      </p:cBhvr>
                                      <p:to x="100000" y="60000"/>
                                    </p:animScale>
                                    <p:animScale>
                                      <p:cBhvr>
                                        <p:cTn id="68" dur="166" decel="50000">
                                          <p:stCondLst>
                                            <p:cond delay="676"/>
                                          </p:stCondLst>
                                        </p:cTn>
                                        <p:tgtEl>
                                          <p:spTgt spid="15"/>
                                        </p:tgtEl>
                                      </p:cBhvr>
                                      <p:to x="100000" y="100000"/>
                                    </p:animScale>
                                    <p:animScale>
                                      <p:cBhvr>
                                        <p:cTn id="69" dur="26">
                                          <p:stCondLst>
                                            <p:cond delay="1312"/>
                                          </p:stCondLst>
                                        </p:cTn>
                                        <p:tgtEl>
                                          <p:spTgt spid="15"/>
                                        </p:tgtEl>
                                      </p:cBhvr>
                                      <p:to x="100000" y="80000"/>
                                    </p:animScale>
                                    <p:animScale>
                                      <p:cBhvr>
                                        <p:cTn id="70" dur="166" decel="50000">
                                          <p:stCondLst>
                                            <p:cond delay="1338"/>
                                          </p:stCondLst>
                                        </p:cTn>
                                        <p:tgtEl>
                                          <p:spTgt spid="15"/>
                                        </p:tgtEl>
                                      </p:cBhvr>
                                      <p:to x="100000" y="100000"/>
                                    </p:animScale>
                                    <p:animScale>
                                      <p:cBhvr>
                                        <p:cTn id="71" dur="26">
                                          <p:stCondLst>
                                            <p:cond delay="1642"/>
                                          </p:stCondLst>
                                        </p:cTn>
                                        <p:tgtEl>
                                          <p:spTgt spid="15"/>
                                        </p:tgtEl>
                                      </p:cBhvr>
                                      <p:to x="100000" y="90000"/>
                                    </p:animScale>
                                    <p:animScale>
                                      <p:cBhvr>
                                        <p:cTn id="72" dur="166" decel="50000">
                                          <p:stCondLst>
                                            <p:cond delay="1668"/>
                                          </p:stCondLst>
                                        </p:cTn>
                                        <p:tgtEl>
                                          <p:spTgt spid="15"/>
                                        </p:tgtEl>
                                      </p:cBhvr>
                                      <p:to x="100000" y="100000"/>
                                    </p:animScale>
                                    <p:animScale>
                                      <p:cBhvr>
                                        <p:cTn id="73" dur="26">
                                          <p:stCondLst>
                                            <p:cond delay="1808"/>
                                          </p:stCondLst>
                                        </p:cTn>
                                        <p:tgtEl>
                                          <p:spTgt spid="15"/>
                                        </p:tgtEl>
                                      </p:cBhvr>
                                      <p:to x="100000" y="95000"/>
                                    </p:animScale>
                                    <p:animScale>
                                      <p:cBhvr>
                                        <p:cTn id="74" dur="166" decel="50000">
                                          <p:stCondLst>
                                            <p:cond delay="1834"/>
                                          </p:stCondLst>
                                        </p:cTn>
                                        <p:tgtEl>
                                          <p:spTgt spid="15"/>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grpId="0" nodeType="clickEffect">
                                  <p:stCondLst>
                                    <p:cond delay="0"/>
                                  </p:stCondLst>
                                  <p:childTnLst>
                                    <p:set>
                                      <p:cBhvr>
                                        <p:cTn id="78" dur="1" fill="hold">
                                          <p:stCondLst>
                                            <p:cond delay="0"/>
                                          </p:stCondLst>
                                        </p:cTn>
                                        <p:tgtEl>
                                          <p:spTgt spid="11"/>
                                        </p:tgtEl>
                                        <p:attrNameLst>
                                          <p:attrName>style.visibility</p:attrName>
                                        </p:attrNameLst>
                                      </p:cBhvr>
                                      <p:to>
                                        <p:strVal val="visible"/>
                                      </p:to>
                                    </p:set>
                                    <p:animEffect transition="in" filter="wipe(down)">
                                      <p:cBhvr>
                                        <p:cTn id="79" dur="580">
                                          <p:stCondLst>
                                            <p:cond delay="0"/>
                                          </p:stCondLst>
                                        </p:cTn>
                                        <p:tgtEl>
                                          <p:spTgt spid="11"/>
                                        </p:tgtEl>
                                      </p:cBhvr>
                                    </p:animEffect>
                                    <p:anim calcmode="lin" valueType="num">
                                      <p:cBhvr>
                                        <p:cTn id="80"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85" dur="26">
                                          <p:stCondLst>
                                            <p:cond delay="650"/>
                                          </p:stCondLst>
                                        </p:cTn>
                                        <p:tgtEl>
                                          <p:spTgt spid="11"/>
                                        </p:tgtEl>
                                      </p:cBhvr>
                                      <p:to x="100000" y="60000"/>
                                    </p:animScale>
                                    <p:animScale>
                                      <p:cBhvr>
                                        <p:cTn id="86" dur="166" decel="50000">
                                          <p:stCondLst>
                                            <p:cond delay="676"/>
                                          </p:stCondLst>
                                        </p:cTn>
                                        <p:tgtEl>
                                          <p:spTgt spid="11"/>
                                        </p:tgtEl>
                                      </p:cBhvr>
                                      <p:to x="100000" y="100000"/>
                                    </p:animScale>
                                    <p:animScale>
                                      <p:cBhvr>
                                        <p:cTn id="87" dur="26">
                                          <p:stCondLst>
                                            <p:cond delay="1312"/>
                                          </p:stCondLst>
                                        </p:cTn>
                                        <p:tgtEl>
                                          <p:spTgt spid="11"/>
                                        </p:tgtEl>
                                      </p:cBhvr>
                                      <p:to x="100000" y="80000"/>
                                    </p:animScale>
                                    <p:animScale>
                                      <p:cBhvr>
                                        <p:cTn id="88" dur="166" decel="50000">
                                          <p:stCondLst>
                                            <p:cond delay="1338"/>
                                          </p:stCondLst>
                                        </p:cTn>
                                        <p:tgtEl>
                                          <p:spTgt spid="11"/>
                                        </p:tgtEl>
                                      </p:cBhvr>
                                      <p:to x="100000" y="100000"/>
                                    </p:animScale>
                                    <p:animScale>
                                      <p:cBhvr>
                                        <p:cTn id="89" dur="26">
                                          <p:stCondLst>
                                            <p:cond delay="1642"/>
                                          </p:stCondLst>
                                        </p:cTn>
                                        <p:tgtEl>
                                          <p:spTgt spid="11"/>
                                        </p:tgtEl>
                                      </p:cBhvr>
                                      <p:to x="100000" y="90000"/>
                                    </p:animScale>
                                    <p:animScale>
                                      <p:cBhvr>
                                        <p:cTn id="90" dur="166" decel="50000">
                                          <p:stCondLst>
                                            <p:cond delay="1668"/>
                                          </p:stCondLst>
                                        </p:cTn>
                                        <p:tgtEl>
                                          <p:spTgt spid="11"/>
                                        </p:tgtEl>
                                      </p:cBhvr>
                                      <p:to x="100000" y="100000"/>
                                    </p:animScale>
                                    <p:animScale>
                                      <p:cBhvr>
                                        <p:cTn id="91" dur="26">
                                          <p:stCondLst>
                                            <p:cond delay="1808"/>
                                          </p:stCondLst>
                                        </p:cTn>
                                        <p:tgtEl>
                                          <p:spTgt spid="11"/>
                                        </p:tgtEl>
                                      </p:cBhvr>
                                      <p:to x="100000" y="95000"/>
                                    </p:animScale>
                                    <p:animScale>
                                      <p:cBhvr>
                                        <p:cTn id="92" dur="166" decel="50000">
                                          <p:stCondLst>
                                            <p:cond delay="1834"/>
                                          </p:stCondLst>
                                        </p:cTn>
                                        <p:tgtEl>
                                          <p:spTgt spid="11"/>
                                        </p:tgtEl>
                                      </p:cBhvr>
                                      <p:to x="100000" y="100000"/>
                                    </p:animScale>
                                  </p:childTnLst>
                                </p:cTn>
                              </p:par>
                            </p:childTnLst>
                          </p:cTn>
                        </p:par>
                      </p:childTnLst>
                    </p:cTn>
                  </p:par>
                  <p:par>
                    <p:cTn id="93" fill="hold">
                      <p:stCondLst>
                        <p:cond delay="indefinite"/>
                      </p:stCondLst>
                      <p:childTnLst>
                        <p:par>
                          <p:cTn id="94" fill="hold">
                            <p:stCondLst>
                              <p:cond delay="0"/>
                            </p:stCondLst>
                            <p:childTnLst>
                              <p:par>
                                <p:cTn id="95" presetID="42" presetClass="entr" presetSubtype="0" fill="hold" grpId="0" nodeType="click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1000"/>
                                        <p:tgtEl>
                                          <p:spTgt spid="22"/>
                                        </p:tgtEl>
                                      </p:cBhvr>
                                    </p:animEffect>
                                    <p:anim calcmode="lin" valueType="num">
                                      <p:cBhvr>
                                        <p:cTn id="98" dur="1000" fill="hold"/>
                                        <p:tgtEl>
                                          <p:spTgt spid="22"/>
                                        </p:tgtEl>
                                        <p:attrNameLst>
                                          <p:attrName>ppt_x</p:attrName>
                                        </p:attrNameLst>
                                      </p:cBhvr>
                                      <p:tavLst>
                                        <p:tav tm="0">
                                          <p:val>
                                            <p:strVal val="#ppt_x"/>
                                          </p:val>
                                        </p:tav>
                                        <p:tav tm="100000">
                                          <p:val>
                                            <p:strVal val="#ppt_x"/>
                                          </p:val>
                                        </p:tav>
                                      </p:tavLst>
                                    </p:anim>
                                    <p:anim calcmode="lin" valueType="num">
                                      <p:cBhvr>
                                        <p:cTn id="9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42" presetClass="entr" presetSubtype="0" fill="hold" nodeType="clickEffect">
                                  <p:stCondLst>
                                    <p:cond delay="0"/>
                                  </p:stCondLst>
                                  <p:childTnLst>
                                    <p:set>
                                      <p:cBhvr>
                                        <p:cTn id="103" dur="1" fill="hold">
                                          <p:stCondLst>
                                            <p:cond delay="0"/>
                                          </p:stCondLst>
                                        </p:cTn>
                                        <p:tgtEl>
                                          <p:spTgt spid="7"/>
                                        </p:tgtEl>
                                        <p:attrNameLst>
                                          <p:attrName>style.visibility</p:attrName>
                                        </p:attrNameLst>
                                      </p:cBhvr>
                                      <p:to>
                                        <p:strVal val="visible"/>
                                      </p:to>
                                    </p:set>
                                    <p:animEffect transition="in" filter="fade">
                                      <p:cBhvr>
                                        <p:cTn id="104" dur="1000"/>
                                        <p:tgtEl>
                                          <p:spTgt spid="7"/>
                                        </p:tgtEl>
                                      </p:cBhvr>
                                    </p:animEffect>
                                    <p:anim calcmode="lin" valueType="num">
                                      <p:cBhvr>
                                        <p:cTn id="105" dur="1000" fill="hold"/>
                                        <p:tgtEl>
                                          <p:spTgt spid="7"/>
                                        </p:tgtEl>
                                        <p:attrNameLst>
                                          <p:attrName>ppt_x</p:attrName>
                                        </p:attrNameLst>
                                      </p:cBhvr>
                                      <p:tavLst>
                                        <p:tav tm="0">
                                          <p:val>
                                            <p:strVal val="#ppt_x"/>
                                          </p:val>
                                        </p:tav>
                                        <p:tav tm="100000">
                                          <p:val>
                                            <p:strVal val="#ppt_x"/>
                                          </p:val>
                                        </p:tav>
                                      </p:tavLst>
                                    </p:anim>
                                    <p:anim calcmode="lin" valueType="num">
                                      <p:cBhvr>
                                        <p:cTn id="10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grpId="0" nodeType="clickEffect">
                                  <p:stCondLst>
                                    <p:cond delay="0"/>
                                  </p:stCondLst>
                                  <p:childTnLst>
                                    <p:set>
                                      <p:cBhvr>
                                        <p:cTn id="110" dur="1" fill="hold">
                                          <p:stCondLst>
                                            <p:cond delay="0"/>
                                          </p:stCondLst>
                                        </p:cTn>
                                        <p:tgtEl>
                                          <p:spTgt spid="19"/>
                                        </p:tgtEl>
                                        <p:attrNameLst>
                                          <p:attrName>style.visibility</p:attrName>
                                        </p:attrNameLst>
                                      </p:cBhvr>
                                      <p:to>
                                        <p:strVal val="visible"/>
                                      </p:to>
                                    </p:set>
                                    <p:animEffect transition="in" filter="fade">
                                      <p:cBhvr>
                                        <p:cTn id="111" dur="1000"/>
                                        <p:tgtEl>
                                          <p:spTgt spid="19"/>
                                        </p:tgtEl>
                                      </p:cBhvr>
                                    </p:animEffect>
                                    <p:anim calcmode="lin" valueType="num">
                                      <p:cBhvr>
                                        <p:cTn id="112" dur="1000" fill="hold"/>
                                        <p:tgtEl>
                                          <p:spTgt spid="19"/>
                                        </p:tgtEl>
                                        <p:attrNameLst>
                                          <p:attrName>ppt_x</p:attrName>
                                        </p:attrNameLst>
                                      </p:cBhvr>
                                      <p:tavLst>
                                        <p:tav tm="0">
                                          <p:val>
                                            <p:strVal val="#ppt_x"/>
                                          </p:val>
                                        </p:tav>
                                        <p:tav tm="100000">
                                          <p:val>
                                            <p:strVal val="#ppt_x"/>
                                          </p:val>
                                        </p:tav>
                                      </p:tavLst>
                                    </p:anim>
                                    <p:anim calcmode="lin" valueType="num">
                                      <p:cBhvr>
                                        <p:cTn id="113"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42" presetClass="entr" presetSubtype="0" fill="hold" grpId="0" nodeType="clickEffect">
                                  <p:stCondLst>
                                    <p:cond delay="0"/>
                                  </p:stCondLst>
                                  <p:childTnLst>
                                    <p:set>
                                      <p:cBhvr>
                                        <p:cTn id="117" dur="1" fill="hold">
                                          <p:stCondLst>
                                            <p:cond delay="0"/>
                                          </p:stCondLst>
                                        </p:cTn>
                                        <p:tgtEl>
                                          <p:spTgt spid="20"/>
                                        </p:tgtEl>
                                        <p:attrNameLst>
                                          <p:attrName>style.visibility</p:attrName>
                                        </p:attrNameLst>
                                      </p:cBhvr>
                                      <p:to>
                                        <p:strVal val="visible"/>
                                      </p:to>
                                    </p:set>
                                    <p:animEffect transition="in" filter="fade">
                                      <p:cBhvr>
                                        <p:cTn id="118" dur="1000"/>
                                        <p:tgtEl>
                                          <p:spTgt spid="20"/>
                                        </p:tgtEl>
                                      </p:cBhvr>
                                    </p:animEffect>
                                    <p:anim calcmode="lin" valueType="num">
                                      <p:cBhvr>
                                        <p:cTn id="119" dur="1000" fill="hold"/>
                                        <p:tgtEl>
                                          <p:spTgt spid="20"/>
                                        </p:tgtEl>
                                        <p:attrNameLst>
                                          <p:attrName>ppt_x</p:attrName>
                                        </p:attrNameLst>
                                      </p:cBhvr>
                                      <p:tavLst>
                                        <p:tav tm="0">
                                          <p:val>
                                            <p:strVal val="#ppt_x"/>
                                          </p:val>
                                        </p:tav>
                                        <p:tav tm="100000">
                                          <p:val>
                                            <p:strVal val="#ppt_x"/>
                                          </p:val>
                                        </p:tav>
                                      </p:tavLst>
                                    </p:anim>
                                    <p:anim calcmode="lin" valueType="num">
                                      <p:cBhvr>
                                        <p:cTn id="120"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42" presetClass="entr" presetSubtype="0" fill="hold" grpId="0" nodeType="clickEffect">
                                  <p:stCondLst>
                                    <p:cond delay="0"/>
                                  </p:stCondLst>
                                  <p:childTnLst>
                                    <p:set>
                                      <p:cBhvr>
                                        <p:cTn id="124" dur="1" fill="hold">
                                          <p:stCondLst>
                                            <p:cond delay="0"/>
                                          </p:stCondLst>
                                        </p:cTn>
                                        <p:tgtEl>
                                          <p:spTgt spid="23"/>
                                        </p:tgtEl>
                                        <p:attrNameLst>
                                          <p:attrName>style.visibility</p:attrName>
                                        </p:attrNameLst>
                                      </p:cBhvr>
                                      <p:to>
                                        <p:strVal val="visible"/>
                                      </p:to>
                                    </p:set>
                                    <p:animEffect transition="in" filter="fade">
                                      <p:cBhvr>
                                        <p:cTn id="125" dur="1000"/>
                                        <p:tgtEl>
                                          <p:spTgt spid="23"/>
                                        </p:tgtEl>
                                      </p:cBhvr>
                                    </p:animEffect>
                                    <p:anim calcmode="lin" valueType="num">
                                      <p:cBhvr>
                                        <p:cTn id="126" dur="1000" fill="hold"/>
                                        <p:tgtEl>
                                          <p:spTgt spid="23"/>
                                        </p:tgtEl>
                                        <p:attrNameLst>
                                          <p:attrName>ppt_x</p:attrName>
                                        </p:attrNameLst>
                                      </p:cBhvr>
                                      <p:tavLst>
                                        <p:tav tm="0">
                                          <p:val>
                                            <p:strVal val="#ppt_x"/>
                                          </p:val>
                                        </p:tav>
                                        <p:tav tm="100000">
                                          <p:val>
                                            <p:strVal val="#ppt_x"/>
                                          </p:val>
                                        </p:tav>
                                      </p:tavLst>
                                    </p:anim>
                                    <p:anim calcmode="lin" valueType="num">
                                      <p:cBhvr>
                                        <p:cTn id="127"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28" fill="hold">
                      <p:stCondLst>
                        <p:cond delay="indefinite"/>
                      </p:stCondLst>
                      <p:childTnLst>
                        <p:par>
                          <p:cTn id="129" fill="hold">
                            <p:stCondLst>
                              <p:cond delay="0"/>
                            </p:stCondLst>
                            <p:childTnLst>
                              <p:par>
                                <p:cTn id="130" presetID="42" presetClass="entr" presetSubtype="0" fill="hold" grpId="0" nodeType="clickEffect">
                                  <p:stCondLst>
                                    <p:cond delay="0"/>
                                  </p:stCondLst>
                                  <p:childTnLst>
                                    <p:set>
                                      <p:cBhvr>
                                        <p:cTn id="131" dur="1" fill="hold">
                                          <p:stCondLst>
                                            <p:cond delay="0"/>
                                          </p:stCondLst>
                                        </p:cTn>
                                        <p:tgtEl>
                                          <p:spTgt spid="21"/>
                                        </p:tgtEl>
                                        <p:attrNameLst>
                                          <p:attrName>style.visibility</p:attrName>
                                        </p:attrNameLst>
                                      </p:cBhvr>
                                      <p:to>
                                        <p:strVal val="visible"/>
                                      </p:to>
                                    </p:set>
                                    <p:animEffect transition="in" filter="fade">
                                      <p:cBhvr>
                                        <p:cTn id="132" dur="1000"/>
                                        <p:tgtEl>
                                          <p:spTgt spid="21"/>
                                        </p:tgtEl>
                                      </p:cBhvr>
                                    </p:animEffect>
                                    <p:anim calcmode="lin" valueType="num">
                                      <p:cBhvr>
                                        <p:cTn id="133" dur="1000" fill="hold"/>
                                        <p:tgtEl>
                                          <p:spTgt spid="21"/>
                                        </p:tgtEl>
                                        <p:attrNameLst>
                                          <p:attrName>ppt_x</p:attrName>
                                        </p:attrNameLst>
                                      </p:cBhvr>
                                      <p:tavLst>
                                        <p:tav tm="0">
                                          <p:val>
                                            <p:strVal val="#ppt_x"/>
                                          </p:val>
                                        </p:tav>
                                        <p:tav tm="100000">
                                          <p:val>
                                            <p:strVal val="#ppt_x"/>
                                          </p:val>
                                        </p:tav>
                                      </p:tavLst>
                                    </p:anim>
                                    <p:anim calcmode="lin" valueType="num">
                                      <p:cBhvr>
                                        <p:cTn id="134"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42" presetClass="entr" presetSubtype="0" fill="hold" nodeType="clickEffect">
                                  <p:stCondLst>
                                    <p:cond delay="0"/>
                                  </p:stCondLst>
                                  <p:childTnLst>
                                    <p:set>
                                      <p:cBhvr>
                                        <p:cTn id="138" dur="1" fill="hold">
                                          <p:stCondLst>
                                            <p:cond delay="0"/>
                                          </p:stCondLst>
                                        </p:cTn>
                                        <p:tgtEl>
                                          <p:spTgt spid="9"/>
                                        </p:tgtEl>
                                        <p:attrNameLst>
                                          <p:attrName>style.visibility</p:attrName>
                                        </p:attrNameLst>
                                      </p:cBhvr>
                                      <p:to>
                                        <p:strVal val="visible"/>
                                      </p:to>
                                    </p:set>
                                    <p:animEffect transition="in" filter="fade">
                                      <p:cBhvr>
                                        <p:cTn id="139" dur="1000"/>
                                        <p:tgtEl>
                                          <p:spTgt spid="9"/>
                                        </p:tgtEl>
                                      </p:cBhvr>
                                    </p:animEffect>
                                    <p:anim calcmode="lin" valueType="num">
                                      <p:cBhvr>
                                        <p:cTn id="140" dur="1000" fill="hold"/>
                                        <p:tgtEl>
                                          <p:spTgt spid="9"/>
                                        </p:tgtEl>
                                        <p:attrNameLst>
                                          <p:attrName>ppt_x</p:attrName>
                                        </p:attrNameLst>
                                      </p:cBhvr>
                                      <p:tavLst>
                                        <p:tav tm="0">
                                          <p:val>
                                            <p:strVal val="#ppt_x"/>
                                          </p:val>
                                        </p:tav>
                                        <p:tav tm="100000">
                                          <p:val>
                                            <p:strVal val="#ppt_x"/>
                                          </p:val>
                                        </p:tav>
                                      </p:tavLst>
                                    </p:anim>
                                    <p:anim calcmode="lin" valueType="num">
                                      <p:cBhvr>
                                        <p:cTn id="14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42" fill="hold">
                      <p:stCondLst>
                        <p:cond delay="indefinite"/>
                      </p:stCondLst>
                      <p:childTnLst>
                        <p:par>
                          <p:cTn id="143" fill="hold">
                            <p:stCondLst>
                              <p:cond delay="0"/>
                            </p:stCondLst>
                            <p:childTnLst>
                              <p:par>
                                <p:cTn id="144" presetID="42" presetClass="entr" presetSubtype="0" fill="hold" grpId="0" nodeType="clickEffect">
                                  <p:stCondLst>
                                    <p:cond delay="0"/>
                                  </p:stCondLst>
                                  <p:childTnLst>
                                    <p:set>
                                      <p:cBhvr>
                                        <p:cTn id="145" dur="1" fill="hold">
                                          <p:stCondLst>
                                            <p:cond delay="0"/>
                                          </p:stCondLst>
                                        </p:cTn>
                                        <p:tgtEl>
                                          <p:spTgt spid="2"/>
                                        </p:tgtEl>
                                        <p:attrNameLst>
                                          <p:attrName>style.visibility</p:attrName>
                                        </p:attrNameLst>
                                      </p:cBhvr>
                                      <p:to>
                                        <p:strVal val="visible"/>
                                      </p:to>
                                    </p:set>
                                    <p:animEffect transition="in" filter="fade">
                                      <p:cBhvr>
                                        <p:cTn id="146" dur="1000"/>
                                        <p:tgtEl>
                                          <p:spTgt spid="2"/>
                                        </p:tgtEl>
                                      </p:cBhvr>
                                    </p:animEffect>
                                    <p:anim calcmode="lin" valueType="num">
                                      <p:cBhvr>
                                        <p:cTn id="147" dur="1000" fill="hold"/>
                                        <p:tgtEl>
                                          <p:spTgt spid="2"/>
                                        </p:tgtEl>
                                        <p:attrNameLst>
                                          <p:attrName>ppt_x</p:attrName>
                                        </p:attrNameLst>
                                      </p:cBhvr>
                                      <p:tavLst>
                                        <p:tav tm="0">
                                          <p:val>
                                            <p:strVal val="#ppt_x"/>
                                          </p:val>
                                        </p:tav>
                                        <p:tav tm="100000">
                                          <p:val>
                                            <p:strVal val="#ppt_x"/>
                                          </p:val>
                                        </p:tav>
                                      </p:tavLst>
                                    </p:anim>
                                    <p:anim calcmode="lin" valueType="num">
                                      <p:cBhvr>
                                        <p:cTn id="148"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51" presetID="42" presetClass="entr" presetSubtype="0" fill="hold" grpId="0" nodeType="clickEffect">
                                  <p:stCondLst>
                                    <p:cond delay="0"/>
                                  </p:stCondLst>
                                  <p:childTnLst>
                                    <p:set>
                                      <p:cBhvr>
                                        <p:cTn id="152" dur="1" fill="hold">
                                          <p:stCondLst>
                                            <p:cond delay="0"/>
                                          </p:stCondLst>
                                        </p:cTn>
                                        <p:tgtEl>
                                          <p:spTgt spid="24"/>
                                        </p:tgtEl>
                                        <p:attrNameLst>
                                          <p:attrName>style.visibility</p:attrName>
                                        </p:attrNameLst>
                                      </p:cBhvr>
                                      <p:to>
                                        <p:strVal val="visible"/>
                                      </p:to>
                                    </p:set>
                                    <p:animEffect transition="in" filter="fade">
                                      <p:cBhvr>
                                        <p:cTn id="153" dur="1000"/>
                                        <p:tgtEl>
                                          <p:spTgt spid="24"/>
                                        </p:tgtEl>
                                      </p:cBhvr>
                                    </p:animEffect>
                                    <p:anim calcmode="lin" valueType="num">
                                      <p:cBhvr>
                                        <p:cTn id="154" dur="1000" fill="hold"/>
                                        <p:tgtEl>
                                          <p:spTgt spid="24"/>
                                        </p:tgtEl>
                                        <p:attrNameLst>
                                          <p:attrName>ppt_x</p:attrName>
                                        </p:attrNameLst>
                                      </p:cBhvr>
                                      <p:tavLst>
                                        <p:tav tm="0">
                                          <p:val>
                                            <p:strVal val="#ppt_x"/>
                                          </p:val>
                                        </p:tav>
                                        <p:tav tm="100000">
                                          <p:val>
                                            <p:strVal val="#ppt_x"/>
                                          </p:val>
                                        </p:tav>
                                      </p:tavLst>
                                    </p:anim>
                                    <p:anim calcmode="lin" valueType="num">
                                      <p:cBhvr>
                                        <p:cTn id="155"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0" grpId="0"/>
      <p:bldP spid="12" grpId="0"/>
      <p:bldP spid="13" grpId="0"/>
      <p:bldP spid="14" grpId="0"/>
      <p:bldP spid="15" grpId="0"/>
      <p:bldP spid="19" grpId="0"/>
      <p:bldP spid="20" grpId="0"/>
      <p:bldP spid="21" grpId="0"/>
      <p:bldP spid="22" grpId="0"/>
      <p:bldP spid="23" grpId="0"/>
      <p:bldP spid="2" grpId="0" animBg="1"/>
      <p:bldP spid="24" grpId="0"/>
      <p:bldP spid="11"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0"/>
            <a:ext cx="8714184" cy="548680"/>
          </a:xfrm>
        </p:spPr>
        <p:txBody>
          <a:bodyPr/>
          <a:lstStyle/>
          <a:p>
            <a:r>
              <a:rPr lang="en-US" sz="3600" b="1" dirty="0" smtClean="0">
                <a:solidFill>
                  <a:schemeClr val="accent1"/>
                </a:solidFill>
                <a:latin typeface="Cambria" panose="02040503050406030204" pitchFamily="18" charset="0"/>
                <a:ea typeface="Cambria" panose="02040503050406030204" pitchFamily="18" charset="0"/>
              </a:rPr>
              <a:t> </a:t>
            </a:r>
            <a:r>
              <a:rPr lang="en-GB" sz="3600" b="1" dirty="0" smtClean="0">
                <a:solidFill>
                  <a:schemeClr val="accent1"/>
                </a:solidFill>
                <a:latin typeface="Cambria" panose="02040503050406030204" pitchFamily="18" charset="0"/>
                <a:ea typeface="Cambria" panose="02040503050406030204" pitchFamily="18" charset="0"/>
              </a:rPr>
              <a:t>Java Database Connectivity with Oracle</a:t>
            </a:r>
            <a:endParaRPr lang="en-US" sz="3600" b="1" dirty="0">
              <a:solidFill>
                <a:schemeClr val="accent1"/>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62</a:t>
            </a:fld>
            <a:endParaRPr lang="en-US" altLang="en-US">
              <a:latin typeface="Cambria" panose="02040503050406030204" pitchFamily="18" charset="0"/>
              <a:ea typeface="Cambria" panose="02040503050406030204" pitchFamily="18" charset="0"/>
            </a:endParaRPr>
          </a:p>
        </p:txBody>
      </p:sp>
      <p:sp>
        <p:nvSpPr>
          <p:cNvPr id="6" name="Content Placeholder 5"/>
          <p:cNvSpPr>
            <a:spLocks noGrp="1"/>
          </p:cNvSpPr>
          <p:nvPr>
            <p:ph idx="1"/>
          </p:nvPr>
        </p:nvSpPr>
        <p:spPr>
          <a:xfrm>
            <a:off x="551384" y="578007"/>
            <a:ext cx="11017224" cy="4291154"/>
          </a:xfrm>
        </p:spPr>
        <p:txBody>
          <a:bodyPr/>
          <a:lstStyle/>
          <a:p>
            <a:pPr algn="just"/>
            <a:r>
              <a:rPr lang="en-GB" sz="2400" b="1" dirty="0" smtClean="0">
                <a:latin typeface="Cambria" panose="02040503050406030204" pitchFamily="18" charset="0"/>
                <a:ea typeface="Cambria" panose="02040503050406030204" pitchFamily="18" charset="0"/>
              </a:rPr>
              <a:t>Driver class: </a:t>
            </a:r>
            <a:r>
              <a:rPr lang="en-GB" sz="2400" dirty="0" smtClean="0">
                <a:latin typeface="Cambria" panose="02040503050406030204" pitchFamily="18" charset="0"/>
                <a:ea typeface="Cambria" panose="02040503050406030204" pitchFamily="18" charset="0"/>
              </a:rPr>
              <a:t>The driver class for the oracle database is </a:t>
            </a:r>
            <a:r>
              <a:rPr lang="en-GB" sz="2400" b="1" dirty="0" err="1" smtClean="0">
                <a:latin typeface="Cambria" panose="02040503050406030204" pitchFamily="18" charset="0"/>
                <a:ea typeface="Cambria" panose="02040503050406030204" pitchFamily="18" charset="0"/>
              </a:rPr>
              <a:t>oracle.jdbc.driver.OracleDriver</a:t>
            </a:r>
            <a:r>
              <a:rPr lang="en-GB" sz="2400" dirty="0" smtClean="0">
                <a:latin typeface="Cambria" panose="02040503050406030204" pitchFamily="18" charset="0"/>
                <a:ea typeface="Cambria" panose="02040503050406030204" pitchFamily="18" charset="0"/>
              </a:rPr>
              <a:t>.</a:t>
            </a:r>
          </a:p>
          <a:p>
            <a:pPr algn="just"/>
            <a:r>
              <a:rPr lang="en-GB" sz="2400" b="1" dirty="0" smtClean="0">
                <a:latin typeface="Cambria" panose="02040503050406030204" pitchFamily="18" charset="0"/>
                <a:ea typeface="Cambria" panose="02040503050406030204" pitchFamily="18" charset="0"/>
              </a:rPr>
              <a:t>Connection URL: </a:t>
            </a:r>
            <a:r>
              <a:rPr lang="en-GB" sz="2400" dirty="0" smtClean="0">
                <a:latin typeface="Cambria" panose="02040503050406030204" pitchFamily="18" charset="0"/>
                <a:ea typeface="Cambria" panose="02040503050406030204" pitchFamily="18" charset="0"/>
              </a:rPr>
              <a:t>The connection URL for the oracle10G database is </a:t>
            </a:r>
            <a:r>
              <a:rPr lang="en-GB" sz="2400" b="1" dirty="0" smtClean="0">
                <a:latin typeface="Cambria" panose="02040503050406030204" pitchFamily="18" charset="0"/>
                <a:ea typeface="Cambria" panose="02040503050406030204" pitchFamily="18" charset="0"/>
              </a:rPr>
              <a:t>jdbc:oracle:thin:@localhost:1521:xe</a:t>
            </a:r>
            <a:r>
              <a:rPr lang="en-GB" sz="2400" dirty="0" smtClean="0">
                <a:latin typeface="Cambria" panose="02040503050406030204" pitchFamily="18" charset="0"/>
                <a:ea typeface="Cambria" panose="02040503050406030204" pitchFamily="18" charset="0"/>
              </a:rPr>
              <a:t> where jdbc is the API, oracle is the database, thin is the driver, localhost is the server name on which oracle is running, we may also use IP address, 1521 is the port number and XE is the Oracle service name. </a:t>
            </a:r>
          </a:p>
          <a:p>
            <a:pPr algn="just"/>
            <a:r>
              <a:rPr lang="en-GB" sz="2400" b="1" dirty="0" smtClean="0">
                <a:latin typeface="Cambria" panose="02040503050406030204" pitchFamily="18" charset="0"/>
                <a:ea typeface="Cambria" panose="02040503050406030204" pitchFamily="18" charset="0"/>
              </a:rPr>
              <a:t>Username: </a:t>
            </a:r>
            <a:r>
              <a:rPr lang="en-GB" sz="2400" dirty="0" smtClean="0">
                <a:latin typeface="Cambria" panose="02040503050406030204" pitchFamily="18" charset="0"/>
                <a:ea typeface="Cambria" panose="02040503050406030204" pitchFamily="18" charset="0"/>
              </a:rPr>
              <a:t>The default username for the oracle database is </a:t>
            </a:r>
            <a:r>
              <a:rPr lang="en-GB" sz="2400" b="1" dirty="0" smtClean="0">
                <a:latin typeface="Cambria" panose="02040503050406030204" pitchFamily="18" charset="0"/>
                <a:ea typeface="Cambria" panose="02040503050406030204" pitchFamily="18" charset="0"/>
              </a:rPr>
              <a:t>system</a:t>
            </a:r>
            <a:r>
              <a:rPr lang="en-GB" sz="2400" dirty="0" smtClean="0">
                <a:latin typeface="Cambria" panose="02040503050406030204" pitchFamily="18" charset="0"/>
                <a:ea typeface="Cambria" panose="02040503050406030204" pitchFamily="18" charset="0"/>
              </a:rPr>
              <a:t>.</a:t>
            </a:r>
          </a:p>
          <a:p>
            <a:pPr algn="just"/>
            <a:r>
              <a:rPr lang="en-GB" sz="2400" b="1" dirty="0" smtClean="0">
                <a:latin typeface="Cambria" panose="02040503050406030204" pitchFamily="18" charset="0"/>
                <a:ea typeface="Cambria" panose="02040503050406030204" pitchFamily="18" charset="0"/>
              </a:rPr>
              <a:t>Password: </a:t>
            </a:r>
            <a:r>
              <a:rPr lang="en-GB" sz="2400" dirty="0" smtClean="0">
                <a:latin typeface="Cambria" panose="02040503050406030204" pitchFamily="18" charset="0"/>
                <a:ea typeface="Cambria" panose="02040503050406030204" pitchFamily="18" charset="0"/>
              </a:rPr>
              <a:t>It is the password given by the user at the time of installing the oracle database.</a:t>
            </a:r>
          </a:p>
          <a:p>
            <a:pPr algn="just"/>
            <a:endParaRPr lang="en-GB" sz="2400" dirty="0" smtClean="0">
              <a:latin typeface="Cambria" panose="02040503050406030204" pitchFamily="18" charset="0"/>
              <a:ea typeface="Cambria" panose="02040503050406030204" pitchFamily="18" charset="0"/>
            </a:endParaRPr>
          </a:p>
          <a:p>
            <a:pPr algn="just">
              <a:buNone/>
            </a:pPr>
            <a:endParaRPr lang="en-GB" sz="2400" dirty="0" smtClean="0">
              <a:latin typeface="Cambria" panose="02040503050406030204" pitchFamily="18" charset="0"/>
              <a:ea typeface="Cambria" panose="02040503050406030204" pitchFamily="18" charset="0"/>
            </a:endParaRPr>
          </a:p>
          <a:p>
            <a:pPr algn="just"/>
            <a:endParaRPr lang="en-US" sz="2400"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2032"/>
            <a:ext cx="2736304" cy="548680"/>
          </a:xfrm>
        </p:spPr>
        <p:txBody>
          <a:bodyPr/>
          <a:lstStyle/>
          <a:p>
            <a:r>
              <a:rPr lang="en-IN" sz="4000" b="1" dirty="0" smtClean="0">
                <a:solidFill>
                  <a:schemeClr val="accent1"/>
                </a:solidFill>
                <a:latin typeface="Cambria" panose="02040503050406030204" pitchFamily="18" charset="0"/>
                <a:ea typeface="Cambria" panose="02040503050406030204" pitchFamily="18" charset="0"/>
              </a:rPr>
              <a:t>Example</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207568" y="18928"/>
            <a:ext cx="9649072" cy="5386875"/>
          </a:xfrm>
        </p:spPr>
        <p:txBody>
          <a:bodyPr/>
          <a:lstStyle/>
          <a:p>
            <a:pPr>
              <a:spcBef>
                <a:spcPts val="0"/>
              </a:spcBef>
              <a:buNone/>
            </a:pPr>
            <a:r>
              <a:rPr lang="en-GB" sz="2400" dirty="0" smtClean="0">
                <a:latin typeface="Cambria" panose="02040503050406030204" pitchFamily="18" charset="0"/>
                <a:ea typeface="Cambria" panose="02040503050406030204" pitchFamily="18" charset="0"/>
              </a:rPr>
              <a:t>create table </a:t>
            </a:r>
            <a:r>
              <a:rPr lang="en-GB" sz="2400" dirty="0" err="1" smtClean="0">
                <a:latin typeface="Cambria" panose="02040503050406030204" pitchFamily="18" charset="0"/>
                <a:ea typeface="Cambria" panose="02040503050406030204" pitchFamily="18" charset="0"/>
              </a:rPr>
              <a:t>emp</a:t>
            </a:r>
            <a:r>
              <a:rPr lang="en-GB" sz="2400" dirty="0" smtClean="0">
                <a:latin typeface="Cambria" panose="02040503050406030204" pitchFamily="18" charset="0"/>
                <a:ea typeface="Cambria" panose="02040503050406030204" pitchFamily="18" charset="0"/>
              </a:rPr>
              <a:t>(id number(10),name varchar2(40),age number(3));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java.sql.*;  </a:t>
            </a:r>
          </a:p>
          <a:p>
            <a:pPr>
              <a:spcBef>
                <a:spcPts val="0"/>
              </a:spcBef>
              <a:buNone/>
            </a:pPr>
            <a:r>
              <a:rPr lang="en-US" sz="1800" b="1" dirty="0" smtClean="0">
                <a:latin typeface="Cambria" panose="02040503050406030204" pitchFamily="18" charset="0"/>
                <a:ea typeface="Cambria" panose="02040503050406030204" pitchFamily="18" charset="0"/>
              </a:rPr>
              <a:t>class</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OracleCon</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static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void</a:t>
            </a:r>
            <a:r>
              <a:rPr lang="en-US" sz="1800" dirty="0" smtClean="0">
                <a:latin typeface="Cambria" panose="02040503050406030204" pitchFamily="18" charset="0"/>
                <a:ea typeface="Cambria" panose="02040503050406030204" pitchFamily="18" charset="0"/>
              </a:rPr>
              <a:t> main(String </a:t>
            </a:r>
            <a:r>
              <a:rPr lang="en-US" sz="1800" dirty="0" err="1" smtClean="0">
                <a:latin typeface="Cambria" panose="02040503050406030204" pitchFamily="18" charset="0"/>
                <a:ea typeface="Cambria" panose="02040503050406030204" pitchFamily="18" charset="0"/>
              </a:rPr>
              <a:t>args</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try</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//step1 load the driver class  </a:t>
            </a:r>
          </a:p>
          <a:p>
            <a:pPr>
              <a:spcBef>
                <a:spcPts val="0"/>
              </a:spcBef>
              <a:buNone/>
            </a:pPr>
            <a:r>
              <a:rPr lang="en-US" sz="1800" dirty="0" smtClean="0">
                <a:latin typeface="Cambria" panose="02040503050406030204" pitchFamily="18" charset="0"/>
                <a:ea typeface="Cambria" panose="02040503050406030204" pitchFamily="18" charset="0"/>
              </a:rPr>
              <a:t>Class.forName("oracle.jdbc.driver.OracleDriver");  </a:t>
            </a:r>
          </a:p>
          <a:p>
            <a:pPr>
              <a:spcBef>
                <a:spcPts val="0"/>
              </a:spcBef>
              <a:buNone/>
            </a:pPr>
            <a:r>
              <a:rPr lang="en-US" sz="1800" dirty="0" smtClean="0">
                <a:latin typeface="Cambria" panose="02040503050406030204" pitchFamily="18" charset="0"/>
                <a:ea typeface="Cambria" panose="02040503050406030204" pitchFamily="18" charset="0"/>
              </a:rPr>
              <a:t>//step2 create  the connection object  </a:t>
            </a:r>
          </a:p>
          <a:p>
            <a:pPr>
              <a:spcBef>
                <a:spcPts val="0"/>
              </a:spcBef>
              <a:buNone/>
            </a:pPr>
            <a:r>
              <a:rPr lang="en-US" sz="1800" dirty="0" smtClean="0">
                <a:latin typeface="Cambria" panose="02040503050406030204" pitchFamily="18" charset="0"/>
                <a:ea typeface="Cambria" panose="02040503050406030204" pitchFamily="18" charset="0"/>
              </a:rPr>
              <a:t>Connection con=</a:t>
            </a:r>
            <a:r>
              <a:rPr lang="en-US" sz="1800" dirty="0" err="1" smtClean="0">
                <a:latin typeface="Cambria" panose="02040503050406030204" pitchFamily="18" charset="0"/>
                <a:ea typeface="Cambria" panose="02040503050406030204" pitchFamily="18" charset="0"/>
              </a:rPr>
              <a:t>DriverManager.getConnection</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"jdbc:oracle:thin:@localhost:1521:xe","system","oracle");    </a:t>
            </a:r>
          </a:p>
          <a:p>
            <a:pPr>
              <a:spcBef>
                <a:spcPts val="0"/>
              </a:spcBef>
              <a:buNone/>
            </a:pPr>
            <a:r>
              <a:rPr lang="en-US" sz="1800" dirty="0" smtClean="0">
                <a:latin typeface="Cambria" panose="02040503050406030204" pitchFamily="18" charset="0"/>
                <a:ea typeface="Cambria" panose="02040503050406030204" pitchFamily="18" charset="0"/>
              </a:rPr>
              <a:t>//step3 create the statement object  </a:t>
            </a:r>
          </a:p>
          <a:p>
            <a:pPr>
              <a:spcBef>
                <a:spcPts val="0"/>
              </a:spcBef>
              <a:buNone/>
            </a:pPr>
            <a:r>
              <a:rPr lang="en-US" sz="1800" dirty="0" smtClean="0">
                <a:latin typeface="Cambria" panose="02040503050406030204" pitchFamily="18" charset="0"/>
                <a:ea typeface="Cambria" panose="02040503050406030204" pitchFamily="18" charset="0"/>
              </a:rPr>
              <a:t>Statement stmt=con.createStatement();    </a:t>
            </a:r>
          </a:p>
          <a:p>
            <a:pPr>
              <a:spcBef>
                <a:spcPts val="0"/>
              </a:spcBef>
              <a:buNone/>
            </a:pPr>
            <a:r>
              <a:rPr lang="en-US" sz="1800" dirty="0" smtClean="0">
                <a:latin typeface="Cambria" panose="02040503050406030204" pitchFamily="18" charset="0"/>
                <a:ea typeface="Cambria" panose="02040503050406030204" pitchFamily="18" charset="0"/>
              </a:rPr>
              <a:t>//step4 execute query  </a:t>
            </a:r>
          </a:p>
          <a:p>
            <a:pPr>
              <a:spcBef>
                <a:spcPts val="0"/>
              </a:spcBef>
              <a:buNone/>
            </a:pPr>
            <a:r>
              <a:rPr lang="en-US" sz="1800" dirty="0" err="1" smtClean="0">
                <a:latin typeface="Cambria" panose="02040503050406030204" pitchFamily="18" charset="0"/>
                <a:ea typeface="Cambria" panose="02040503050406030204" pitchFamily="18" charset="0"/>
              </a:rPr>
              <a:t>ResultSet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rs</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stmt.executeQuery</a:t>
            </a:r>
            <a:r>
              <a:rPr lang="en-US" sz="1800" dirty="0" smtClean="0">
                <a:latin typeface="Cambria" panose="02040503050406030204" pitchFamily="18" charset="0"/>
                <a:ea typeface="Cambria" panose="02040503050406030204" pitchFamily="18" charset="0"/>
              </a:rPr>
              <a:t>("select * from </a:t>
            </a:r>
            <a:r>
              <a:rPr lang="en-US" sz="1800" dirty="0" err="1" smtClean="0">
                <a:latin typeface="Cambria" panose="02040503050406030204" pitchFamily="18" charset="0"/>
                <a:ea typeface="Cambria" panose="02040503050406030204" pitchFamily="18" charset="0"/>
              </a:rPr>
              <a:t>emp</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while</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rs.next</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System.out.println(rs.getInt(1)+"  "+rs.getString(2)+"  "+rs.getString(3));    </a:t>
            </a:r>
          </a:p>
          <a:p>
            <a:pPr>
              <a:spcBef>
                <a:spcPts val="0"/>
              </a:spcBef>
              <a:buNone/>
            </a:pPr>
            <a:r>
              <a:rPr lang="en-US" sz="1800" dirty="0" smtClean="0">
                <a:latin typeface="Cambria" panose="02040503050406030204" pitchFamily="18" charset="0"/>
                <a:ea typeface="Cambria" panose="02040503050406030204" pitchFamily="18" charset="0"/>
              </a:rPr>
              <a:t>//step5 close the connection object  </a:t>
            </a:r>
          </a:p>
          <a:p>
            <a:pPr>
              <a:spcBef>
                <a:spcPts val="0"/>
              </a:spcBef>
              <a:buNone/>
            </a:pPr>
            <a:r>
              <a:rPr lang="en-US" sz="1800" dirty="0" smtClean="0">
                <a:latin typeface="Cambria" panose="02040503050406030204" pitchFamily="18" charset="0"/>
                <a:ea typeface="Cambria" panose="02040503050406030204" pitchFamily="18" charset="0"/>
              </a:rPr>
              <a:t>con.close();    </a:t>
            </a:r>
          </a:p>
          <a:p>
            <a:pPr>
              <a:spcBef>
                <a:spcPts val="0"/>
              </a:spcBef>
              <a:buNone/>
            </a:pPr>
            <a:r>
              <a:rPr lang="en-US" sz="1800" dirty="0" smtClean="0">
                <a:latin typeface="Cambria" panose="02040503050406030204" pitchFamily="18" charset="0"/>
                <a:ea typeface="Cambria" panose="02040503050406030204" pitchFamily="18" charset="0"/>
              </a:rPr>
              <a:t>}</a:t>
            </a:r>
            <a:r>
              <a:rPr lang="en-US" sz="1800" b="1" dirty="0" smtClean="0">
                <a:latin typeface="Cambria" panose="02040503050406030204" pitchFamily="18" charset="0"/>
                <a:ea typeface="Cambria" panose="02040503050406030204" pitchFamily="18" charset="0"/>
              </a:rPr>
              <a:t>catch</a:t>
            </a:r>
            <a:r>
              <a:rPr lang="en-US" sz="1800" dirty="0" smtClean="0">
                <a:latin typeface="Cambria" panose="02040503050406030204" pitchFamily="18" charset="0"/>
                <a:ea typeface="Cambria" panose="02040503050406030204" pitchFamily="18" charset="0"/>
              </a:rPr>
              <a:t>(Exception e){ System.out.println(e);}    </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63</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98" y="19835"/>
            <a:ext cx="11481501" cy="600853"/>
          </a:xfrm>
        </p:spPr>
        <p:txBody>
          <a:bodyPr/>
          <a:lstStyle/>
          <a:p>
            <a:r>
              <a:rPr lang="en-GB" sz="3200" b="1" dirty="0" smtClean="0">
                <a:solidFill>
                  <a:schemeClr val="accent1"/>
                </a:solidFill>
                <a:latin typeface="Cambria" panose="02040503050406030204" pitchFamily="18" charset="0"/>
                <a:ea typeface="Cambria" panose="02040503050406030204" pitchFamily="18" charset="0"/>
              </a:rPr>
              <a:t>Statement interface to insert, update and delete the record.</a:t>
            </a:r>
            <a:endParaRPr lang="en-US" sz="32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836712"/>
            <a:ext cx="11665296" cy="3672408"/>
          </a:xfrm>
        </p:spPr>
        <p:txBody>
          <a:bodyPr/>
          <a:lstStyle/>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java.sql.*;  </a:t>
            </a:r>
          </a:p>
          <a:p>
            <a:pPr>
              <a:spcBef>
                <a:spcPts val="0"/>
              </a:spcBef>
              <a:buNone/>
            </a:pPr>
            <a:r>
              <a:rPr lang="en-US" sz="2000" b="1" dirty="0" smtClean="0">
                <a:latin typeface="Cambria" panose="02040503050406030204" pitchFamily="18" charset="0"/>
                <a:ea typeface="Cambria" panose="02040503050406030204" pitchFamily="18" charset="0"/>
              </a:rPr>
              <a:t>class</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FetchRecord</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static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void</a:t>
            </a:r>
            <a:r>
              <a:rPr lang="en-US" sz="2000" dirty="0" smtClean="0">
                <a:latin typeface="Cambria" panose="02040503050406030204" pitchFamily="18" charset="0"/>
                <a:ea typeface="Cambria" panose="02040503050406030204" pitchFamily="18" charset="0"/>
              </a:rPr>
              <a:t> main(String </a:t>
            </a:r>
            <a:r>
              <a:rPr lang="en-US" sz="2000" dirty="0" err="1" smtClean="0">
                <a:latin typeface="Cambria" panose="02040503050406030204" pitchFamily="18" charset="0"/>
                <a:ea typeface="Cambria" panose="02040503050406030204" pitchFamily="18" charset="0"/>
              </a:rPr>
              <a:t>args</a:t>
            </a:r>
            <a:r>
              <a:rPr lang="en-US" sz="2000" dirty="0" smtClean="0">
                <a:latin typeface="Cambria" panose="02040503050406030204" pitchFamily="18" charset="0"/>
                <a:ea typeface="Cambria" panose="02040503050406030204" pitchFamily="18" charset="0"/>
              </a:rPr>
              <a:t>[])</a:t>
            </a:r>
            <a:r>
              <a:rPr lang="en-US" sz="2000" b="1" dirty="0" smtClean="0">
                <a:latin typeface="Cambria" panose="02040503050406030204" pitchFamily="18" charset="0"/>
                <a:ea typeface="Cambria" panose="02040503050406030204" pitchFamily="18" charset="0"/>
              </a:rPr>
              <a:t>throws</a:t>
            </a:r>
            <a:r>
              <a:rPr lang="en-US" sz="2000" dirty="0" smtClean="0">
                <a:latin typeface="Cambria" panose="02040503050406030204" pitchFamily="18" charset="0"/>
                <a:ea typeface="Cambria" panose="02040503050406030204" pitchFamily="18" charset="0"/>
              </a:rPr>
              <a:t> Exception{  </a:t>
            </a:r>
          </a:p>
          <a:p>
            <a:pPr>
              <a:spcBef>
                <a:spcPts val="0"/>
              </a:spcBef>
              <a:buNone/>
            </a:pPr>
            <a:r>
              <a:rPr lang="en-US" sz="2000" dirty="0" err="1" smtClean="0">
                <a:latin typeface="Cambria" panose="02040503050406030204" pitchFamily="18" charset="0"/>
                <a:ea typeface="Cambria" panose="02040503050406030204" pitchFamily="18" charset="0"/>
              </a:rPr>
              <a:t>Class.forName</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oracle.jdbc.driver.OracleDriver</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Connection con=</a:t>
            </a:r>
            <a:r>
              <a:rPr lang="en-US" sz="2000" dirty="0" err="1" smtClean="0">
                <a:latin typeface="Cambria" panose="02040503050406030204" pitchFamily="18" charset="0"/>
                <a:ea typeface="Cambria" panose="02040503050406030204" pitchFamily="18" charset="0"/>
              </a:rPr>
              <a:t>DriverManager.getConnection</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jdbc:oracle:thin</a:t>
            </a:r>
            <a:r>
              <a:rPr lang="en-US" sz="2000" dirty="0" smtClean="0">
                <a:latin typeface="Cambria" panose="02040503050406030204" pitchFamily="18" charset="0"/>
                <a:ea typeface="Cambria" panose="02040503050406030204" pitchFamily="18" charset="0"/>
              </a:rPr>
              <a:t>:@localhost:1521:xe","system","oracle");  </a:t>
            </a:r>
          </a:p>
          <a:p>
            <a:pPr>
              <a:spcBef>
                <a:spcPts val="0"/>
              </a:spcBef>
              <a:buNone/>
            </a:pPr>
            <a:r>
              <a:rPr lang="en-US" sz="2000" dirty="0" smtClean="0">
                <a:latin typeface="Cambria" panose="02040503050406030204" pitchFamily="18" charset="0"/>
                <a:ea typeface="Cambria" panose="02040503050406030204" pitchFamily="18" charset="0"/>
              </a:rPr>
              <a:t>Statement stmt=</a:t>
            </a:r>
            <a:r>
              <a:rPr lang="en-US" sz="2000" dirty="0" err="1" smtClean="0">
                <a:latin typeface="Cambria" panose="02040503050406030204" pitchFamily="18" charset="0"/>
                <a:ea typeface="Cambria" panose="02040503050406030204" pitchFamily="18" charset="0"/>
              </a:rPr>
              <a:t>con.createStatement</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stmt.executeUpdate</a:t>
            </a:r>
            <a:r>
              <a:rPr lang="en-US" sz="2000" dirty="0" smtClean="0">
                <a:latin typeface="Cambria" panose="02040503050406030204" pitchFamily="18" charset="0"/>
                <a:ea typeface="Cambria" panose="02040503050406030204" pitchFamily="18" charset="0"/>
              </a:rPr>
              <a:t>("insert into emp765 values(33,'Irfan',50000)");  </a:t>
            </a:r>
          </a:p>
          <a:p>
            <a:pPr>
              <a:spcBef>
                <a:spcPts val="0"/>
              </a:spcBef>
              <a:buNone/>
            </a:pP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int</a:t>
            </a:r>
            <a:r>
              <a:rPr lang="en-US" sz="2000" dirty="0" smtClean="0">
                <a:latin typeface="Cambria" panose="02040503050406030204" pitchFamily="18" charset="0"/>
                <a:ea typeface="Cambria" panose="02040503050406030204" pitchFamily="18" charset="0"/>
              </a:rPr>
              <a:t> result=</a:t>
            </a:r>
            <a:r>
              <a:rPr lang="en-US" sz="2000" dirty="0" err="1" smtClean="0">
                <a:latin typeface="Cambria" panose="02040503050406030204" pitchFamily="18" charset="0"/>
                <a:ea typeface="Cambria" panose="02040503050406030204" pitchFamily="18" charset="0"/>
              </a:rPr>
              <a:t>stmt.executeUpdate</a:t>
            </a:r>
            <a:r>
              <a:rPr lang="en-US" sz="2000" dirty="0" smtClean="0">
                <a:latin typeface="Cambria" panose="02040503050406030204" pitchFamily="18" charset="0"/>
                <a:ea typeface="Cambria" panose="02040503050406030204" pitchFamily="18" charset="0"/>
              </a:rPr>
              <a:t>("update emp765 set name='</a:t>
            </a:r>
            <a:r>
              <a:rPr lang="en-US" sz="2000" dirty="0" err="1" smtClean="0">
                <a:latin typeface="Cambria" panose="02040503050406030204" pitchFamily="18" charset="0"/>
                <a:ea typeface="Cambria" panose="02040503050406030204" pitchFamily="18" charset="0"/>
              </a:rPr>
              <a:t>Vimal',salary</a:t>
            </a:r>
            <a:r>
              <a:rPr lang="en-US" sz="2000" dirty="0" smtClean="0">
                <a:latin typeface="Cambria" panose="02040503050406030204" pitchFamily="18" charset="0"/>
                <a:ea typeface="Cambria" panose="02040503050406030204" pitchFamily="18" charset="0"/>
              </a:rPr>
              <a:t>=10000 where id=33");  </a:t>
            </a:r>
          </a:p>
          <a:p>
            <a:pPr>
              <a:spcBef>
                <a:spcPts val="0"/>
              </a:spcBef>
              <a:buNone/>
            </a:pPr>
            <a:r>
              <a:rPr lang="en-US" sz="2000" b="1" dirty="0" err="1" smtClean="0">
                <a:latin typeface="Cambria" panose="02040503050406030204" pitchFamily="18" charset="0"/>
                <a:ea typeface="Cambria" panose="02040503050406030204" pitchFamily="18" charset="0"/>
              </a:rPr>
              <a:t>int</a:t>
            </a:r>
            <a:r>
              <a:rPr lang="en-US" sz="2000" dirty="0" smtClean="0">
                <a:latin typeface="Cambria" panose="02040503050406030204" pitchFamily="18" charset="0"/>
                <a:ea typeface="Cambria" panose="02040503050406030204" pitchFamily="18" charset="0"/>
              </a:rPr>
              <a:t> result=</a:t>
            </a:r>
            <a:r>
              <a:rPr lang="en-US" sz="2000" dirty="0" err="1" smtClean="0">
                <a:latin typeface="Cambria" panose="02040503050406030204" pitchFamily="18" charset="0"/>
                <a:ea typeface="Cambria" panose="02040503050406030204" pitchFamily="18" charset="0"/>
              </a:rPr>
              <a:t>stmt.executeUpdate</a:t>
            </a:r>
            <a:r>
              <a:rPr lang="en-US" sz="2000" dirty="0" smtClean="0">
                <a:latin typeface="Cambria" panose="02040503050406030204" pitchFamily="18" charset="0"/>
                <a:ea typeface="Cambria" panose="02040503050406030204" pitchFamily="18" charset="0"/>
              </a:rPr>
              <a:t>("delete from emp765 where id=33");  </a:t>
            </a:r>
          </a:p>
          <a:p>
            <a:pPr>
              <a:spcBef>
                <a:spcPts val="0"/>
              </a:spcBef>
              <a:buNone/>
            </a:pPr>
            <a:r>
              <a:rPr lang="en-US" sz="2000" dirty="0" err="1" smtClean="0">
                <a:latin typeface="Cambria" panose="02040503050406030204" pitchFamily="18" charset="0"/>
                <a:ea typeface="Cambria" panose="02040503050406030204" pitchFamily="18" charset="0"/>
              </a:rPr>
              <a:t>System.out.println</a:t>
            </a:r>
            <a:r>
              <a:rPr lang="en-US" sz="2000" dirty="0" smtClean="0">
                <a:latin typeface="Cambria" panose="02040503050406030204" pitchFamily="18" charset="0"/>
                <a:ea typeface="Cambria" panose="02040503050406030204" pitchFamily="18" charset="0"/>
              </a:rPr>
              <a:t>(result+" records affected");  </a:t>
            </a:r>
          </a:p>
          <a:p>
            <a:pPr>
              <a:spcBef>
                <a:spcPts val="0"/>
              </a:spcBef>
              <a:buNone/>
            </a:pPr>
            <a:r>
              <a:rPr lang="en-US" sz="2000" dirty="0" err="1" smtClean="0">
                <a:latin typeface="Cambria" panose="02040503050406030204" pitchFamily="18" charset="0"/>
                <a:ea typeface="Cambria" panose="02040503050406030204" pitchFamily="18" charset="0"/>
              </a:rPr>
              <a:t>con.close</a:t>
            </a:r>
            <a:r>
              <a:rPr lang="en-US" sz="2000" dirty="0" smtClean="0">
                <a:latin typeface="Cambria" panose="02040503050406030204" pitchFamily="18" charset="0"/>
                <a:ea typeface="Cambria" panose="02040503050406030204" pitchFamily="18" charset="0"/>
              </a:rPr>
              <a:t>();  </a:t>
            </a:r>
          </a:p>
          <a:p>
            <a:pPr>
              <a:spcBef>
                <a:spcPts val="0"/>
              </a:spcBef>
              <a:buNone/>
            </a:pPr>
            <a:r>
              <a:rPr lang="en-GB" sz="2000" dirty="0" smtClean="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64</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16632"/>
            <a:ext cx="2593504" cy="543595"/>
          </a:xfrm>
        </p:spPr>
        <p:txBody>
          <a:bodyPr/>
          <a:lstStyle/>
          <a:p>
            <a:r>
              <a:rPr lang="en-GB" sz="4000" b="1" dirty="0" err="1" smtClean="0">
                <a:solidFill>
                  <a:schemeClr val="accent1"/>
                </a:solidFill>
                <a:latin typeface="Cambria" panose="02040503050406030204" pitchFamily="18" charset="0"/>
                <a:ea typeface="Cambria" panose="02040503050406030204" pitchFamily="18" charset="0"/>
              </a:rPr>
              <a:t>ResultSet</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3352" y="690822"/>
            <a:ext cx="11928648" cy="4394361"/>
          </a:xfrm>
        </p:spPr>
        <p:txBody>
          <a:bodyPr/>
          <a:lstStyle/>
          <a:p>
            <a:pPr>
              <a:buNone/>
            </a:pPr>
            <a:r>
              <a:rPr lang="en-US"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Class.forName</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oracle.jdbc.driver.OracleDriver</a:t>
            </a:r>
            <a:r>
              <a:rPr lang="en-US" sz="2000" dirty="0" smtClean="0">
                <a:latin typeface="Cambria" panose="02040503050406030204" pitchFamily="18" charset="0"/>
                <a:ea typeface="Cambria" panose="02040503050406030204" pitchFamily="18" charset="0"/>
              </a:rPr>
              <a:t>");  </a:t>
            </a:r>
          </a:p>
          <a:p>
            <a:pPr>
              <a:buNone/>
            </a:pPr>
            <a:r>
              <a:rPr lang="en-US" sz="2000" dirty="0" smtClean="0">
                <a:latin typeface="Cambria" panose="02040503050406030204" pitchFamily="18" charset="0"/>
                <a:ea typeface="Cambria" panose="02040503050406030204" pitchFamily="18" charset="0"/>
              </a:rPr>
              <a:t>Connection con=</a:t>
            </a:r>
            <a:r>
              <a:rPr lang="en-US" sz="2000" dirty="0" err="1" smtClean="0">
                <a:latin typeface="Cambria" panose="02040503050406030204" pitchFamily="18" charset="0"/>
                <a:ea typeface="Cambria" panose="02040503050406030204" pitchFamily="18" charset="0"/>
              </a:rPr>
              <a:t>DriverManager.getConnection</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jdbc:oracle:thin</a:t>
            </a:r>
            <a:r>
              <a:rPr lang="en-US" sz="2000" dirty="0" smtClean="0">
                <a:latin typeface="Cambria" panose="02040503050406030204" pitchFamily="18" charset="0"/>
                <a:ea typeface="Cambria" panose="02040503050406030204" pitchFamily="18" charset="0"/>
              </a:rPr>
              <a:t>:@localhost:1521:xe","system","oracle");  </a:t>
            </a:r>
          </a:p>
          <a:p>
            <a:pPr>
              <a:buNone/>
            </a:pPr>
            <a:r>
              <a:rPr lang="en-US" sz="2000" dirty="0" smtClean="0">
                <a:latin typeface="Cambria" panose="02040503050406030204" pitchFamily="18" charset="0"/>
                <a:ea typeface="Cambria" panose="02040503050406030204" pitchFamily="18" charset="0"/>
              </a:rPr>
              <a:t>Statement stmt=</a:t>
            </a:r>
            <a:r>
              <a:rPr lang="en-US" sz="2000" dirty="0" err="1" smtClean="0">
                <a:latin typeface="Cambria" panose="02040503050406030204" pitchFamily="18" charset="0"/>
                <a:ea typeface="Cambria" panose="02040503050406030204" pitchFamily="18" charset="0"/>
              </a:rPr>
              <a:t>con.createStatement</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ResultSet.TYPE_SCROLL_SENSITIVE,ResultSet.CONCUR_UPDATABLE</a:t>
            </a:r>
            <a:r>
              <a:rPr lang="en-US" sz="2000" dirty="0" smtClean="0">
                <a:latin typeface="Cambria" panose="02040503050406030204" pitchFamily="18" charset="0"/>
                <a:ea typeface="Cambria" panose="02040503050406030204" pitchFamily="18" charset="0"/>
              </a:rPr>
              <a:t>);  </a:t>
            </a:r>
          </a:p>
          <a:p>
            <a:pPr>
              <a:buNone/>
            </a:pPr>
            <a:r>
              <a:rPr lang="en-US" sz="2000" dirty="0" err="1" smtClean="0">
                <a:latin typeface="Cambria" panose="02040503050406030204" pitchFamily="18" charset="0"/>
                <a:ea typeface="Cambria" panose="02040503050406030204" pitchFamily="18" charset="0"/>
              </a:rPr>
              <a:t>ResultSet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rs</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stmt.executeQuery</a:t>
            </a:r>
            <a:r>
              <a:rPr lang="en-US" sz="2000" dirty="0" smtClean="0">
                <a:latin typeface="Cambria" panose="02040503050406030204" pitchFamily="18" charset="0"/>
                <a:ea typeface="Cambria" panose="02040503050406030204" pitchFamily="18" charset="0"/>
              </a:rPr>
              <a:t>("select * from emp765");  </a:t>
            </a:r>
          </a:p>
          <a:p>
            <a:pPr>
              <a:buNone/>
            </a:pPr>
            <a:r>
              <a:rPr lang="en-US" sz="2000" dirty="0" smtClean="0">
                <a:latin typeface="Cambria" panose="02040503050406030204" pitchFamily="18" charset="0"/>
                <a:ea typeface="Cambria" panose="02040503050406030204" pitchFamily="18" charset="0"/>
              </a:rPr>
              <a:t>  </a:t>
            </a:r>
          </a:p>
          <a:p>
            <a:pPr>
              <a:buNone/>
            </a:pPr>
            <a:r>
              <a:rPr lang="en-US" sz="2000" dirty="0" smtClean="0">
                <a:latin typeface="Cambria" panose="02040503050406030204" pitchFamily="18" charset="0"/>
                <a:ea typeface="Cambria" panose="02040503050406030204" pitchFamily="18" charset="0"/>
              </a:rPr>
              <a:t>//getting the record of 3rd row  </a:t>
            </a:r>
          </a:p>
          <a:p>
            <a:pPr>
              <a:buNone/>
            </a:pPr>
            <a:r>
              <a:rPr lang="en-US" sz="2000" dirty="0" err="1" smtClean="0">
                <a:latin typeface="Cambria" panose="02040503050406030204" pitchFamily="18" charset="0"/>
                <a:ea typeface="Cambria" panose="02040503050406030204" pitchFamily="18" charset="0"/>
              </a:rPr>
              <a:t>rs.absolute</a:t>
            </a:r>
            <a:r>
              <a:rPr lang="en-US" sz="2000" dirty="0" smtClean="0">
                <a:latin typeface="Cambria" panose="02040503050406030204" pitchFamily="18" charset="0"/>
                <a:ea typeface="Cambria" panose="02040503050406030204" pitchFamily="18" charset="0"/>
              </a:rPr>
              <a:t>(3);  </a:t>
            </a:r>
          </a:p>
          <a:p>
            <a:pPr>
              <a:buNone/>
            </a:pPr>
            <a:r>
              <a:rPr lang="en-US" sz="2000" dirty="0" err="1" smtClean="0">
                <a:latin typeface="Cambria" panose="02040503050406030204" pitchFamily="18" charset="0"/>
                <a:ea typeface="Cambria" panose="02040503050406030204" pitchFamily="18" charset="0"/>
              </a:rPr>
              <a:t>System.out.println</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rs.getString</a:t>
            </a:r>
            <a:r>
              <a:rPr lang="en-US" sz="2000" dirty="0" smtClean="0">
                <a:latin typeface="Cambria" panose="02040503050406030204" pitchFamily="18" charset="0"/>
                <a:ea typeface="Cambria" panose="02040503050406030204" pitchFamily="18" charset="0"/>
              </a:rPr>
              <a:t>(1)+" "+</a:t>
            </a:r>
            <a:r>
              <a:rPr lang="en-US" sz="2000" dirty="0" err="1" smtClean="0">
                <a:latin typeface="Cambria" panose="02040503050406030204" pitchFamily="18" charset="0"/>
                <a:ea typeface="Cambria" panose="02040503050406030204" pitchFamily="18" charset="0"/>
              </a:rPr>
              <a:t>rs.getString</a:t>
            </a:r>
            <a:r>
              <a:rPr lang="en-US" sz="2000" dirty="0" smtClean="0">
                <a:latin typeface="Cambria" panose="02040503050406030204" pitchFamily="18" charset="0"/>
                <a:ea typeface="Cambria" panose="02040503050406030204" pitchFamily="18" charset="0"/>
              </a:rPr>
              <a:t>(2)+" "+</a:t>
            </a:r>
            <a:r>
              <a:rPr lang="en-US" sz="2000" dirty="0" err="1" smtClean="0">
                <a:latin typeface="Cambria" panose="02040503050406030204" pitchFamily="18" charset="0"/>
                <a:ea typeface="Cambria" panose="02040503050406030204" pitchFamily="18" charset="0"/>
              </a:rPr>
              <a:t>rs.getString</a:t>
            </a:r>
            <a:r>
              <a:rPr lang="en-US" sz="2000" dirty="0" smtClean="0">
                <a:latin typeface="Cambria" panose="02040503050406030204" pitchFamily="18" charset="0"/>
                <a:ea typeface="Cambria" panose="02040503050406030204" pitchFamily="18" charset="0"/>
              </a:rPr>
              <a:t>(3));  </a:t>
            </a:r>
          </a:p>
          <a:p>
            <a:pPr>
              <a:buNone/>
            </a:pPr>
            <a:r>
              <a:rPr lang="en-US" sz="2000" dirty="0" smtClean="0">
                <a:latin typeface="Cambria" panose="02040503050406030204" pitchFamily="18" charset="0"/>
                <a:ea typeface="Cambria" panose="02040503050406030204" pitchFamily="18" charset="0"/>
              </a:rPr>
              <a:t>con.close();  </a:t>
            </a:r>
          </a:p>
          <a:p>
            <a:pPr>
              <a:buNone/>
            </a:pPr>
            <a:r>
              <a:rPr lang="en-US" sz="2000" dirty="0" smtClean="0">
                <a:latin typeface="Cambria" panose="02040503050406030204" pitchFamily="18" charset="0"/>
                <a:ea typeface="Cambria" panose="02040503050406030204" pitchFamily="18" charset="0"/>
              </a:rPr>
              <a:t>}}</a:t>
            </a:r>
          </a:p>
          <a:p>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65</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00" y="116632"/>
            <a:ext cx="4897760" cy="471587"/>
          </a:xfrm>
        </p:spPr>
        <p:txBody>
          <a:bodyPr/>
          <a:lstStyle/>
          <a:p>
            <a:r>
              <a:rPr lang="en-US" sz="4000" b="1" dirty="0" smtClean="0">
                <a:solidFill>
                  <a:schemeClr val="accent1"/>
                </a:solidFill>
                <a:latin typeface="Cambria" panose="02040503050406030204" pitchFamily="18" charset="0"/>
                <a:ea typeface="Cambria" panose="02040503050406030204" pitchFamily="18" charset="0"/>
              </a:rPr>
              <a:t>PreparedStatement </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376" y="617545"/>
            <a:ext cx="11449272" cy="4899687"/>
          </a:xfrm>
        </p:spPr>
        <p:txBody>
          <a:bodyPr/>
          <a:lstStyle/>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java.sql.*;  </a:t>
            </a:r>
          </a:p>
          <a:p>
            <a:pPr>
              <a:spcBef>
                <a:spcPts val="0"/>
              </a:spcBef>
              <a:buNone/>
            </a:pPr>
            <a:r>
              <a:rPr lang="en-US" sz="2000" b="1" dirty="0" smtClean="0">
                <a:latin typeface="Cambria" panose="02040503050406030204" pitchFamily="18" charset="0"/>
                <a:ea typeface="Cambria" panose="02040503050406030204" pitchFamily="18" charset="0"/>
              </a:rPr>
              <a:t>class</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InsertPrepared</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static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void</a:t>
            </a:r>
            <a:r>
              <a:rPr lang="en-US" sz="2000" dirty="0" smtClean="0">
                <a:latin typeface="Cambria" panose="02040503050406030204" pitchFamily="18" charset="0"/>
                <a:ea typeface="Cambria" panose="02040503050406030204" pitchFamily="18" charset="0"/>
              </a:rPr>
              <a:t> main(String </a:t>
            </a:r>
            <a:r>
              <a:rPr lang="en-US" sz="2000" dirty="0" err="1" smtClean="0">
                <a:latin typeface="Cambria" panose="02040503050406030204" pitchFamily="18" charset="0"/>
                <a:ea typeface="Cambria" panose="02040503050406030204" pitchFamily="18" charset="0"/>
              </a:rPr>
              <a:t>args</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try</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err="1" smtClean="0">
                <a:latin typeface="Cambria" panose="02040503050406030204" pitchFamily="18" charset="0"/>
                <a:ea typeface="Cambria" panose="02040503050406030204" pitchFamily="18" charset="0"/>
              </a:rPr>
              <a:t>Class.forName</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oracle.jdbc.driver.OracleDriver</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Connection con=DriverManager.getConnection("jdbc:oracle:thin:@localhost:1521:xe","system","oacle"); </a:t>
            </a:r>
          </a:p>
          <a:p>
            <a:pPr>
              <a:spcBef>
                <a:spcPts val="0"/>
              </a:spcBef>
            </a:pPr>
            <a:endParaRPr lang="en-US" sz="2000" dirty="0" smtClean="0">
              <a:latin typeface="Cambria" panose="02040503050406030204" pitchFamily="18" charset="0"/>
              <a:ea typeface="Cambria" panose="02040503050406030204" pitchFamily="18" charset="0"/>
            </a:endParaRPr>
          </a:p>
          <a:p>
            <a:pPr>
              <a:spcBef>
                <a:spcPts val="0"/>
              </a:spcBef>
              <a:buNone/>
            </a:pPr>
            <a:r>
              <a:rPr lang="en-US" sz="2000" dirty="0" err="1" smtClean="0">
                <a:latin typeface="Cambria" panose="02040503050406030204" pitchFamily="18" charset="0"/>
                <a:ea typeface="Cambria" panose="02040503050406030204" pitchFamily="18" charset="0"/>
              </a:rPr>
              <a:t>PreparedStatement</a:t>
            </a:r>
            <a:r>
              <a:rPr lang="en-US" sz="2000" dirty="0" smtClean="0">
                <a:latin typeface="Cambria" panose="02040503050406030204" pitchFamily="18" charset="0"/>
                <a:ea typeface="Cambria" panose="02040503050406030204" pitchFamily="18" charset="0"/>
              </a:rPr>
              <a:t> stmt=</a:t>
            </a:r>
            <a:r>
              <a:rPr lang="en-US" sz="2000" dirty="0" err="1" smtClean="0">
                <a:latin typeface="Cambria" panose="02040503050406030204" pitchFamily="18" charset="0"/>
                <a:ea typeface="Cambria" panose="02040503050406030204" pitchFamily="18" charset="0"/>
              </a:rPr>
              <a:t>con.prepareStatement</a:t>
            </a:r>
            <a:r>
              <a:rPr lang="en-US" sz="2000" dirty="0" smtClean="0">
                <a:latin typeface="Cambria" panose="02040503050406030204" pitchFamily="18" charset="0"/>
                <a:ea typeface="Cambria" panose="02040503050406030204" pitchFamily="18" charset="0"/>
              </a:rPr>
              <a:t>("insert into </a:t>
            </a:r>
            <a:r>
              <a:rPr lang="en-US" sz="2000" dirty="0" err="1" smtClean="0">
                <a:latin typeface="Cambria" panose="02040503050406030204" pitchFamily="18" charset="0"/>
                <a:ea typeface="Cambria" panose="02040503050406030204" pitchFamily="18" charset="0"/>
              </a:rPr>
              <a:t>Emp</a:t>
            </a:r>
            <a:r>
              <a:rPr lang="en-US" sz="2000" dirty="0" smtClean="0">
                <a:latin typeface="Cambria" panose="02040503050406030204" pitchFamily="18" charset="0"/>
                <a:ea typeface="Cambria" panose="02040503050406030204" pitchFamily="18" charset="0"/>
              </a:rPr>
              <a:t> values(?,?)");  </a:t>
            </a:r>
          </a:p>
          <a:p>
            <a:pPr>
              <a:spcBef>
                <a:spcPts val="0"/>
              </a:spcBef>
              <a:buNone/>
            </a:pPr>
            <a:r>
              <a:rPr lang="en-US" sz="2000" dirty="0" err="1" smtClean="0">
                <a:latin typeface="Cambria" panose="02040503050406030204" pitchFamily="18" charset="0"/>
                <a:ea typeface="Cambria" panose="02040503050406030204" pitchFamily="18" charset="0"/>
              </a:rPr>
              <a:t>stmt.setInt</a:t>
            </a:r>
            <a:r>
              <a:rPr lang="en-US" sz="2000" dirty="0" smtClean="0">
                <a:latin typeface="Cambria" panose="02040503050406030204" pitchFamily="18" charset="0"/>
                <a:ea typeface="Cambria" panose="02040503050406030204" pitchFamily="18" charset="0"/>
              </a:rPr>
              <a:t>(1,101);//1 specifies the first parameter in the query  </a:t>
            </a:r>
          </a:p>
          <a:p>
            <a:pPr>
              <a:spcBef>
                <a:spcPts val="0"/>
              </a:spcBef>
              <a:buNone/>
            </a:pPr>
            <a:r>
              <a:rPr lang="en-US" sz="2000" dirty="0" err="1" smtClean="0">
                <a:latin typeface="Cambria" panose="02040503050406030204" pitchFamily="18" charset="0"/>
                <a:ea typeface="Cambria" panose="02040503050406030204" pitchFamily="18" charset="0"/>
              </a:rPr>
              <a:t>stmt.setString</a:t>
            </a:r>
            <a:r>
              <a:rPr lang="en-US" sz="2000" dirty="0" smtClean="0">
                <a:latin typeface="Cambria" panose="02040503050406030204" pitchFamily="18" charset="0"/>
                <a:ea typeface="Cambria" panose="02040503050406030204" pitchFamily="18" charset="0"/>
              </a:rPr>
              <a:t>(2,"Ratan");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err="1" smtClean="0">
                <a:latin typeface="Cambria" panose="02040503050406030204" pitchFamily="18" charset="0"/>
                <a:ea typeface="Cambria" panose="02040503050406030204" pitchFamily="18" charset="0"/>
              </a:rPr>
              <a:t>int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i</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stmt.executeUpdate</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err="1" smtClean="0">
                <a:latin typeface="Cambria" panose="02040503050406030204" pitchFamily="18" charset="0"/>
                <a:ea typeface="Cambria" panose="02040503050406030204" pitchFamily="18" charset="0"/>
              </a:rPr>
              <a:t>System.out.println</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i</a:t>
            </a:r>
            <a:r>
              <a:rPr lang="en-US" sz="2000" dirty="0" smtClean="0">
                <a:latin typeface="Cambria" panose="02040503050406030204" pitchFamily="18" charset="0"/>
                <a:ea typeface="Cambria" panose="02040503050406030204" pitchFamily="18" charset="0"/>
              </a:rPr>
              <a:t>+" records inserted");  </a:t>
            </a:r>
          </a:p>
          <a:p>
            <a:pPr>
              <a:spcBef>
                <a:spcPts val="0"/>
              </a:spcBef>
              <a:buNone/>
            </a:pPr>
            <a:r>
              <a:rPr lang="en-US" sz="2000" dirty="0" smtClean="0">
                <a:latin typeface="Cambria" panose="02040503050406030204" pitchFamily="18" charset="0"/>
                <a:ea typeface="Cambria" panose="02040503050406030204" pitchFamily="18" charset="0"/>
              </a:rPr>
              <a:t>con.close();    </a:t>
            </a:r>
          </a:p>
          <a:p>
            <a:pPr>
              <a:spcBef>
                <a:spcPts val="0"/>
              </a:spcBef>
              <a:buNone/>
            </a:pPr>
            <a:r>
              <a:rPr lang="en-US" sz="2000" dirty="0" smtClean="0">
                <a:latin typeface="Cambria" panose="02040503050406030204" pitchFamily="18" charset="0"/>
                <a:ea typeface="Cambria" panose="02040503050406030204" pitchFamily="18" charset="0"/>
              </a:rPr>
              <a:t>}</a:t>
            </a:r>
            <a:r>
              <a:rPr lang="en-US" sz="2000" b="1" dirty="0" smtClean="0">
                <a:latin typeface="Cambria" panose="02040503050406030204" pitchFamily="18" charset="0"/>
                <a:ea typeface="Cambria" panose="02040503050406030204" pitchFamily="18" charset="0"/>
              </a:rPr>
              <a:t>catch</a:t>
            </a:r>
            <a:r>
              <a:rPr lang="en-US" sz="2000" dirty="0" smtClean="0">
                <a:latin typeface="Cambria" panose="02040503050406030204" pitchFamily="18" charset="0"/>
                <a:ea typeface="Cambria" panose="02040503050406030204" pitchFamily="18" charset="0"/>
              </a:rPr>
              <a:t>(Exception e){ System.out.println(e);}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p>
          <a:p>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66</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0"/>
            <a:ext cx="2161456" cy="615603"/>
          </a:xfrm>
        </p:spPr>
        <p:txBody>
          <a:bodyPr/>
          <a:lstStyle/>
          <a:p>
            <a:r>
              <a:rPr lang="en-GB" b="1" dirty="0" smtClean="0">
                <a:solidFill>
                  <a:schemeClr val="accent1"/>
                </a:solidFill>
                <a:latin typeface="Cambria" panose="02040503050406030204" pitchFamily="18" charset="0"/>
                <a:ea typeface="Cambria" panose="02040503050406030204" pitchFamily="18" charset="0"/>
              </a:rPr>
              <a:t>Contd..</a:t>
            </a:r>
            <a:endParaRPr lang="en-US"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615603"/>
            <a:ext cx="11856640" cy="4541589"/>
          </a:xfrm>
        </p:spPr>
        <p:txBody>
          <a:bodyPr/>
          <a:lstStyle/>
          <a:p>
            <a:pPr marL="0" indent="0">
              <a:buNone/>
            </a:pPr>
            <a:r>
              <a:rPr lang="en-US" sz="2600" dirty="0" err="1" smtClean="0">
                <a:latin typeface="Cambria" panose="02040503050406030204" pitchFamily="18" charset="0"/>
                <a:ea typeface="Cambria" panose="02040503050406030204" pitchFamily="18" charset="0"/>
              </a:rPr>
              <a:t>PreparedStatement</a:t>
            </a:r>
            <a:r>
              <a:rPr lang="en-US" sz="2600" dirty="0" smtClean="0">
                <a:latin typeface="Cambria" panose="02040503050406030204" pitchFamily="18" charset="0"/>
                <a:ea typeface="Cambria" panose="02040503050406030204" pitchFamily="18" charset="0"/>
              </a:rPr>
              <a:t> stmt=</a:t>
            </a:r>
            <a:r>
              <a:rPr lang="en-US" sz="2600" dirty="0" err="1" smtClean="0">
                <a:latin typeface="Cambria" panose="02040503050406030204" pitchFamily="18" charset="0"/>
                <a:ea typeface="Cambria" panose="02040503050406030204" pitchFamily="18" charset="0"/>
              </a:rPr>
              <a:t>con.prepareStatement</a:t>
            </a:r>
            <a:r>
              <a:rPr lang="en-US" sz="2600" dirty="0" smtClean="0">
                <a:latin typeface="Cambria" panose="02040503050406030204" pitchFamily="18" charset="0"/>
                <a:ea typeface="Cambria" panose="02040503050406030204" pitchFamily="18" charset="0"/>
              </a:rPr>
              <a:t>("delete from </a:t>
            </a:r>
            <a:r>
              <a:rPr lang="en-US" sz="2600" dirty="0" err="1" smtClean="0">
                <a:latin typeface="Cambria" panose="02040503050406030204" pitchFamily="18" charset="0"/>
                <a:ea typeface="Cambria" panose="02040503050406030204" pitchFamily="18" charset="0"/>
              </a:rPr>
              <a:t>emp</a:t>
            </a:r>
            <a:r>
              <a:rPr lang="en-US" sz="2600" dirty="0" smtClean="0">
                <a:latin typeface="Cambria" panose="02040503050406030204" pitchFamily="18" charset="0"/>
                <a:ea typeface="Cambria" panose="02040503050406030204" pitchFamily="18" charset="0"/>
              </a:rPr>
              <a:t> where id=?");  </a:t>
            </a:r>
          </a:p>
          <a:p>
            <a:pPr marL="0" indent="0">
              <a:buNone/>
            </a:pPr>
            <a:r>
              <a:rPr lang="en-US" sz="2600" dirty="0" smtClean="0">
                <a:latin typeface="Cambria" panose="02040503050406030204" pitchFamily="18" charset="0"/>
                <a:ea typeface="Cambria" panose="02040503050406030204" pitchFamily="18" charset="0"/>
              </a:rPr>
              <a:t>	stmt.setInt(1,101);  </a:t>
            </a:r>
          </a:p>
          <a:p>
            <a:pPr marL="0" indent="0">
              <a:buNone/>
            </a:pPr>
            <a:r>
              <a:rPr lang="en-US" sz="2600" dirty="0" smtClean="0">
                <a:latin typeface="Cambria" panose="02040503050406030204" pitchFamily="18" charset="0"/>
                <a:ea typeface="Cambria" panose="02040503050406030204" pitchFamily="18" charset="0"/>
              </a:rPr>
              <a:t>	</a:t>
            </a:r>
            <a:r>
              <a:rPr lang="en-US" sz="2600" b="1" dirty="0" smtClean="0">
                <a:latin typeface="Cambria" panose="02040503050406030204" pitchFamily="18" charset="0"/>
                <a:ea typeface="Cambria" panose="02040503050406030204" pitchFamily="18" charset="0"/>
              </a:rPr>
              <a:t>int</a:t>
            </a:r>
            <a:r>
              <a:rPr lang="en-US" sz="2600" dirty="0" smtClean="0">
                <a:latin typeface="Cambria" panose="02040503050406030204" pitchFamily="18" charset="0"/>
                <a:ea typeface="Cambria" panose="02040503050406030204" pitchFamily="18" charset="0"/>
              </a:rPr>
              <a:t> i=stmt.executeUpdate();  </a:t>
            </a:r>
          </a:p>
          <a:p>
            <a:pPr marL="0" indent="0">
              <a:buNone/>
            </a:pPr>
            <a:r>
              <a:rPr lang="en-US" sz="2600" dirty="0" smtClean="0">
                <a:latin typeface="Cambria" panose="02040503050406030204" pitchFamily="18" charset="0"/>
                <a:ea typeface="Cambria" panose="02040503050406030204" pitchFamily="18" charset="0"/>
              </a:rPr>
              <a:t>	System.out.println(i+" records deleted");  </a:t>
            </a:r>
          </a:p>
          <a:p>
            <a:pPr marL="0" indent="0">
              <a:buNone/>
            </a:pPr>
            <a:r>
              <a:rPr lang="en-US" sz="2600" dirty="0" smtClean="0">
                <a:latin typeface="Cambria" panose="02040503050406030204" pitchFamily="18" charset="0"/>
                <a:ea typeface="Cambria" panose="02040503050406030204" pitchFamily="18" charset="0"/>
              </a:rPr>
              <a:t>	PreparedStatement stmt=con.prepareStatement("select * from emp");  </a:t>
            </a:r>
          </a:p>
          <a:p>
            <a:pPr marL="0" indent="0">
              <a:buNone/>
            </a:pPr>
            <a:r>
              <a:rPr lang="en-US" sz="2600" dirty="0" smtClean="0">
                <a:latin typeface="Cambria" panose="02040503050406030204" pitchFamily="18" charset="0"/>
                <a:ea typeface="Cambria" panose="02040503050406030204" pitchFamily="18" charset="0"/>
              </a:rPr>
              <a:t>	ResultSet rs=stmt.executeQuery();  </a:t>
            </a:r>
          </a:p>
          <a:p>
            <a:pPr marL="0" indent="0">
              <a:buNone/>
            </a:pPr>
            <a:r>
              <a:rPr lang="en-US" sz="2600" b="1" dirty="0" smtClean="0">
                <a:latin typeface="Cambria" panose="02040503050406030204" pitchFamily="18" charset="0"/>
                <a:ea typeface="Cambria" panose="02040503050406030204" pitchFamily="18" charset="0"/>
              </a:rPr>
              <a:t>	while</a:t>
            </a:r>
            <a:r>
              <a:rPr lang="en-US" sz="2600" dirty="0" smtClean="0">
                <a:latin typeface="Cambria" panose="02040503050406030204" pitchFamily="18" charset="0"/>
                <a:ea typeface="Cambria" panose="02040503050406030204" pitchFamily="18" charset="0"/>
              </a:rPr>
              <a:t>(rs.next()){  </a:t>
            </a:r>
          </a:p>
          <a:p>
            <a:pPr marL="0" indent="0">
              <a:buNone/>
            </a:pPr>
            <a:r>
              <a:rPr lang="en-US" sz="2600" dirty="0" smtClean="0">
                <a:latin typeface="Cambria" panose="02040503050406030204" pitchFamily="18" charset="0"/>
                <a:ea typeface="Cambria" panose="02040503050406030204" pitchFamily="18" charset="0"/>
              </a:rPr>
              <a:t>		System.out.println(rs.getInt(1)+" "+rs.getString(2));  </a:t>
            </a:r>
          </a:p>
          <a:p>
            <a:pPr marL="0" indent="0">
              <a:buNone/>
            </a:pPr>
            <a:r>
              <a:rPr lang="en-US" sz="2600" dirty="0" smtClean="0">
                <a:latin typeface="Cambria" panose="02040503050406030204" pitchFamily="18" charset="0"/>
                <a:ea typeface="Cambria" panose="02040503050406030204" pitchFamily="18" charset="0"/>
              </a:rPr>
              <a:t>}  </a:t>
            </a:r>
            <a:endParaRPr lang="en-US" sz="26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67</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CallableStatement?</a:t>
            </a:r>
          </a:p>
        </p:txBody>
      </p:sp>
      <p:sp>
        <p:nvSpPr>
          <p:cNvPr id="3" name="Content Placeholder 2"/>
          <p:cNvSpPr>
            <a:spLocks noGrp="1"/>
          </p:cNvSpPr>
          <p:nvPr>
            <p:ph idx="1"/>
          </p:nvPr>
        </p:nvSpPr>
        <p:spPr/>
        <p:txBody>
          <a:bodyPr/>
          <a:lstStyle/>
          <a:p>
            <a:r>
              <a:t>• Used to call Stored Procedures</a:t>
            </a:r>
          </a:p>
          <a:p>
            <a:r>
              <a:t>• Supports IN, OUT, INOUT parameters</a:t>
            </a:r>
          </a:p>
          <a:p>
            <a:r>
              <a:t>CallableStatement cs = con.prepareCall("{call procedure_name(?)}");</a:t>
            </a:r>
          </a:p>
        </p:txBody>
      </p:sp>
    </p:spTree>
    <p:extLst>
      <p:ext uri="{BB962C8B-B14F-4D97-AF65-F5344CB8AC3E}">
        <p14:creationId xmlns:p14="http://schemas.microsoft.com/office/powerpoint/2010/main" val="28186211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Stored Procedure Example</a:t>
            </a:r>
          </a:p>
        </p:txBody>
      </p:sp>
      <p:sp>
        <p:nvSpPr>
          <p:cNvPr id="3" name="Content Placeholder 2"/>
          <p:cNvSpPr>
            <a:spLocks noGrp="1"/>
          </p:cNvSpPr>
          <p:nvPr>
            <p:ph idx="1"/>
          </p:nvPr>
        </p:nvSpPr>
        <p:spPr/>
        <p:txBody>
          <a:bodyPr/>
          <a:lstStyle/>
          <a:p>
            <a:r>
              <a:t>CREATE PROCEDURE getEmployeeByDept(IN dept_name VARCHAR(50))</a:t>
            </a:r>
          </a:p>
          <a:p>
            <a:r>
              <a:t>BEGIN</a:t>
            </a:r>
          </a:p>
          <a:p>
            <a:r>
              <a:t> SELECT * FROM employee WHERE department = dept_name;</a:t>
            </a:r>
          </a:p>
          <a:p>
            <a:r>
              <a:t>END;</a:t>
            </a:r>
          </a:p>
        </p:txBody>
      </p:sp>
    </p:spTree>
    <p:extLst>
      <p:ext uri="{BB962C8B-B14F-4D97-AF65-F5344CB8AC3E}">
        <p14:creationId xmlns:p14="http://schemas.microsoft.com/office/powerpoint/2010/main" val="394316718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CallableStatement Example (IN)</a:t>
            </a:r>
          </a:p>
        </p:txBody>
      </p:sp>
      <p:sp>
        <p:nvSpPr>
          <p:cNvPr id="3" name="Content Placeholder 2"/>
          <p:cNvSpPr>
            <a:spLocks noGrp="1"/>
          </p:cNvSpPr>
          <p:nvPr>
            <p:ph idx="1"/>
          </p:nvPr>
        </p:nvSpPr>
        <p:spPr/>
        <p:txBody>
          <a:bodyPr/>
          <a:lstStyle/>
          <a:p>
            <a:r>
              <a:t>CallableStatement cs = con.prepareCall("{call getEmployeeByDept(?)}");</a:t>
            </a:r>
          </a:p>
          <a:p>
            <a:r>
              <a:t>cs.setString(1, "IT");</a:t>
            </a:r>
          </a:p>
          <a:p>
            <a:r>
              <a:t>ResultSet rs = cs.executeQuery();</a:t>
            </a:r>
          </a:p>
        </p:txBody>
      </p:sp>
    </p:spTree>
    <p:extLst>
      <p:ext uri="{BB962C8B-B14F-4D97-AF65-F5344CB8AC3E}">
        <p14:creationId xmlns:p14="http://schemas.microsoft.com/office/powerpoint/2010/main" val="34122082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Stored Procedure with OUT Parameter</a:t>
            </a:r>
          </a:p>
        </p:txBody>
      </p:sp>
      <p:sp>
        <p:nvSpPr>
          <p:cNvPr id="3" name="Content Placeholder 2"/>
          <p:cNvSpPr>
            <a:spLocks noGrp="1"/>
          </p:cNvSpPr>
          <p:nvPr>
            <p:ph idx="1"/>
          </p:nvPr>
        </p:nvSpPr>
        <p:spPr/>
        <p:txBody>
          <a:bodyPr/>
          <a:lstStyle/>
          <a:p>
            <a:r>
              <a:t>CREATE PROCEDURE countEmployees(OUT total INT)</a:t>
            </a:r>
          </a:p>
          <a:p>
            <a:r>
              <a:t>BEGIN</a:t>
            </a:r>
          </a:p>
          <a:p>
            <a:r>
              <a:t> SELECT COUNT(*) INTO total FROM employee;</a:t>
            </a:r>
          </a:p>
          <a:p>
            <a:r>
              <a:t>END;</a:t>
            </a:r>
          </a:p>
        </p:txBody>
      </p:sp>
    </p:spTree>
    <p:extLst>
      <p:ext uri="{BB962C8B-B14F-4D97-AF65-F5344CB8AC3E}">
        <p14:creationId xmlns:p14="http://schemas.microsoft.com/office/powerpoint/2010/main" val="25777164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CallableStatement Example (OUT)</a:t>
            </a:r>
          </a:p>
        </p:txBody>
      </p:sp>
      <p:sp>
        <p:nvSpPr>
          <p:cNvPr id="3" name="Content Placeholder 2"/>
          <p:cNvSpPr>
            <a:spLocks noGrp="1"/>
          </p:cNvSpPr>
          <p:nvPr>
            <p:ph idx="1"/>
          </p:nvPr>
        </p:nvSpPr>
        <p:spPr/>
        <p:txBody>
          <a:bodyPr/>
          <a:lstStyle/>
          <a:p>
            <a:r>
              <a:t>CallableStatement cs = con.prepareCall("{call countEmployees(?)}");</a:t>
            </a:r>
          </a:p>
          <a:p>
            <a:r>
              <a:t>cs.registerOutParameter(1, Types.INTEGER);</a:t>
            </a:r>
          </a:p>
          <a:p>
            <a:r>
              <a:t>cs.execute();</a:t>
            </a:r>
          </a:p>
          <a:p>
            <a:r>
              <a:t>int total = cs.getInt(1);</a:t>
            </a:r>
          </a:p>
        </p:txBody>
      </p:sp>
    </p:spTree>
    <p:extLst>
      <p:ext uri="{BB962C8B-B14F-4D97-AF65-F5344CB8AC3E}">
        <p14:creationId xmlns:p14="http://schemas.microsoft.com/office/powerpoint/2010/main" val="101092874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PreparedStatement vs CallableStatement</a:t>
            </a:r>
          </a:p>
        </p:txBody>
      </p:sp>
      <p:sp>
        <p:nvSpPr>
          <p:cNvPr id="3" name="Content Placeholder 2"/>
          <p:cNvSpPr>
            <a:spLocks noGrp="1"/>
          </p:cNvSpPr>
          <p:nvPr>
            <p:ph idx="1"/>
          </p:nvPr>
        </p:nvSpPr>
        <p:spPr/>
        <p:txBody>
          <a:bodyPr/>
          <a:lstStyle/>
          <a:p>
            <a:r>
              <a:t>PreparedStatement:</a:t>
            </a:r>
          </a:p>
          <a:p>
            <a:r>
              <a:t>• Used for SQL Queries</a:t>
            </a:r>
          </a:p>
          <a:p>
            <a:r>
              <a:t>• IN parameters only</a:t>
            </a:r>
          </a:p>
          <a:p>
            <a:endParaRPr/>
          </a:p>
          <a:p>
            <a:r>
              <a:t>CallableStatement:</a:t>
            </a:r>
          </a:p>
          <a:p>
            <a:r>
              <a:t>• Used for Stored Procedures</a:t>
            </a:r>
          </a:p>
          <a:p>
            <a:r>
              <a:t>• IN, OUT, INOUT parameters</a:t>
            </a:r>
          </a:p>
        </p:txBody>
      </p:sp>
    </p:spTree>
    <p:extLst>
      <p:ext uri="{BB962C8B-B14F-4D97-AF65-F5344CB8AC3E}">
        <p14:creationId xmlns:p14="http://schemas.microsoft.com/office/powerpoint/2010/main" val="5084316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 PreparedStatement improves security and performance</a:t>
            </a:r>
          </a:p>
          <a:p>
            <a:r>
              <a:t>• CallableStatement executes stored procedures</a:t>
            </a:r>
          </a:p>
          <a:p>
            <a:r>
              <a:t>• Both are widely used in real-time applications</a:t>
            </a:r>
          </a:p>
        </p:txBody>
      </p:sp>
    </p:spTree>
    <p:extLst>
      <p:ext uri="{BB962C8B-B14F-4D97-AF65-F5344CB8AC3E}">
        <p14:creationId xmlns:p14="http://schemas.microsoft.com/office/powerpoint/2010/main" val="22374753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5" y="-28291"/>
            <a:ext cx="5154651" cy="720987"/>
          </a:xfrm>
        </p:spPr>
        <p:txBody>
          <a:bodyPr/>
          <a:lstStyle/>
          <a:p>
            <a:r>
              <a:rPr lang="en-US" sz="4000" b="1" dirty="0" smtClean="0">
                <a:solidFill>
                  <a:schemeClr val="accent1"/>
                </a:solidFill>
                <a:latin typeface="Cambria" panose="02040503050406030204" pitchFamily="18" charset="0"/>
                <a:ea typeface="Cambria" panose="02040503050406030204" pitchFamily="18" charset="0"/>
              </a:rPr>
              <a:t>ResultSetMetaData</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376" y="692696"/>
            <a:ext cx="11161240" cy="5544616"/>
          </a:xfrm>
        </p:spPr>
        <p:txBody>
          <a:bodyPr/>
          <a:lstStyle/>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java.sql.*;  </a:t>
            </a:r>
          </a:p>
          <a:p>
            <a:pPr>
              <a:spcBef>
                <a:spcPts val="0"/>
              </a:spcBef>
              <a:buNone/>
            </a:pPr>
            <a:r>
              <a:rPr lang="en-US" sz="2000" b="1" dirty="0" smtClean="0">
                <a:latin typeface="Cambria" panose="02040503050406030204" pitchFamily="18" charset="0"/>
                <a:ea typeface="Cambria" panose="02040503050406030204" pitchFamily="18" charset="0"/>
              </a:rPr>
              <a:t>class</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Rsmd</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static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void</a:t>
            </a:r>
            <a:r>
              <a:rPr lang="en-US" sz="2000" dirty="0" smtClean="0">
                <a:latin typeface="Cambria" panose="02040503050406030204" pitchFamily="18" charset="0"/>
                <a:ea typeface="Cambria" panose="02040503050406030204" pitchFamily="18" charset="0"/>
              </a:rPr>
              <a:t> main(String </a:t>
            </a:r>
            <a:r>
              <a:rPr lang="en-US" sz="2000" dirty="0" err="1" smtClean="0">
                <a:latin typeface="Cambria" panose="02040503050406030204" pitchFamily="18" charset="0"/>
                <a:ea typeface="Cambria" panose="02040503050406030204" pitchFamily="18" charset="0"/>
              </a:rPr>
              <a:t>args</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	try</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Class.forName("oracle.jdbc.driver.OracleDriver");  </a:t>
            </a:r>
          </a:p>
          <a:p>
            <a:pPr>
              <a:spcBef>
                <a:spcPts val="0"/>
              </a:spcBef>
              <a:buNone/>
            </a:pPr>
            <a:r>
              <a:rPr lang="en-US" sz="2000" dirty="0" smtClean="0">
                <a:latin typeface="Cambria" panose="02040503050406030204" pitchFamily="18" charset="0"/>
                <a:ea typeface="Cambria" panose="02040503050406030204" pitchFamily="18" charset="0"/>
              </a:rPr>
              <a:t>		Connection con=DriverManager.getConnection(  </a:t>
            </a:r>
          </a:p>
          <a:p>
            <a:pPr>
              <a:spcBef>
                <a:spcPts val="0"/>
              </a:spcBef>
              <a:buNone/>
            </a:pPr>
            <a:r>
              <a:rPr lang="en-US" sz="2000" dirty="0" smtClean="0">
                <a:latin typeface="Cambria" panose="02040503050406030204" pitchFamily="18" charset="0"/>
                <a:ea typeface="Cambria" panose="02040503050406030204" pitchFamily="18" charset="0"/>
              </a:rPr>
              <a:t>		"jdbc:oracle:thin:@localhost:1521:xe","system","oracle");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PreparedStatement ps=con.prepareStatement("select * from emp");  </a:t>
            </a:r>
          </a:p>
          <a:p>
            <a:pPr>
              <a:spcBef>
                <a:spcPts val="0"/>
              </a:spcBef>
              <a:buNone/>
            </a:pPr>
            <a:r>
              <a:rPr lang="en-US" sz="2000" dirty="0" smtClean="0">
                <a:latin typeface="Cambria" panose="02040503050406030204" pitchFamily="18" charset="0"/>
                <a:ea typeface="Cambria" panose="02040503050406030204" pitchFamily="18" charset="0"/>
              </a:rPr>
              <a:t>		ResultSet rs=ps.executeQuery();  </a:t>
            </a:r>
          </a:p>
          <a:p>
            <a:pPr>
              <a:spcBef>
                <a:spcPts val="0"/>
              </a:spcBef>
              <a:buNone/>
            </a:pPr>
            <a:r>
              <a:rPr lang="en-US" sz="2000" dirty="0" smtClean="0">
                <a:latin typeface="Cambria" panose="02040503050406030204" pitchFamily="18" charset="0"/>
                <a:ea typeface="Cambria" panose="02040503050406030204" pitchFamily="18" charset="0"/>
              </a:rPr>
              <a:t>		ResultSetMetaData rsmd=rs.getMetaData();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System.out.println("Total columns: "+rsmd.getColumnCount());  </a:t>
            </a:r>
          </a:p>
          <a:p>
            <a:pPr>
              <a:spcBef>
                <a:spcPts val="0"/>
              </a:spcBef>
              <a:buNone/>
            </a:pPr>
            <a:r>
              <a:rPr lang="en-US" sz="2000" dirty="0" smtClean="0">
                <a:latin typeface="Cambria" panose="02040503050406030204" pitchFamily="18" charset="0"/>
                <a:ea typeface="Cambria" panose="02040503050406030204" pitchFamily="18" charset="0"/>
              </a:rPr>
              <a:t>		System.out.println("Column Name of 1st column: "+rsmd.getColumnName(1));  </a:t>
            </a:r>
          </a:p>
          <a:p>
            <a:pPr>
              <a:spcBef>
                <a:spcPts val="0"/>
              </a:spcBef>
              <a:buNone/>
            </a:pPr>
            <a:r>
              <a:rPr lang="en-US" sz="2000" dirty="0" smtClean="0">
                <a:latin typeface="Cambria" panose="02040503050406030204" pitchFamily="18" charset="0"/>
                <a:ea typeface="Cambria" panose="02040503050406030204" pitchFamily="18" charset="0"/>
              </a:rPr>
              <a:t>		System.out.println("Column Type Name of 1st column: "+rsmd.getColumnTypeName(1));  </a:t>
            </a:r>
          </a:p>
          <a:p>
            <a:pPr>
              <a:spcBef>
                <a:spcPts val="0"/>
              </a:spcBef>
              <a:buNone/>
            </a:pPr>
            <a:r>
              <a:rPr lang="en-US" sz="2000" dirty="0" smtClean="0">
                <a:latin typeface="Cambria" panose="02040503050406030204" pitchFamily="18" charset="0"/>
                <a:ea typeface="Cambria" panose="02040503050406030204" pitchFamily="18" charset="0"/>
              </a:rPr>
              <a:t>  		con.close();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catch</a:t>
            </a:r>
            <a:r>
              <a:rPr lang="en-US" sz="2000" dirty="0" smtClean="0">
                <a:latin typeface="Cambria" panose="02040503050406030204" pitchFamily="18" charset="0"/>
                <a:ea typeface="Cambria" panose="02040503050406030204" pitchFamily="18" charset="0"/>
              </a:rPr>
              <a:t>(Exception e){ System.out.println(e);}  </a:t>
            </a:r>
          </a:p>
          <a:p>
            <a:pPr>
              <a:spcBef>
                <a:spcPts val="0"/>
              </a:spcBef>
              <a:buNone/>
            </a:pPr>
            <a:r>
              <a:rPr lang="en-US" sz="2000" dirty="0">
                <a:latin typeface="Cambria" panose="02040503050406030204" pitchFamily="18" charset="0"/>
                <a:ea typeface="Cambria" panose="02040503050406030204" pitchFamily="18" charset="0"/>
              </a:rPr>
              <a:t> </a:t>
            </a:r>
            <a:r>
              <a:rPr lang="en-US" sz="2000" dirty="0" smtClean="0">
                <a:latin typeface="Cambria" panose="02040503050406030204" pitchFamily="18" charset="0"/>
                <a:ea typeface="Cambria" panose="02040503050406030204" pitchFamily="18" charset="0"/>
              </a:rPr>
              <a:t> }  </a:t>
            </a:r>
          </a:p>
          <a:p>
            <a:pPr>
              <a:spcBef>
                <a:spcPts val="0"/>
              </a:spcBef>
              <a:buNone/>
            </a:pPr>
            <a:r>
              <a:rPr lang="en-US" sz="2000" dirty="0" smtClean="0">
                <a:latin typeface="Cambria" panose="02040503050406030204" pitchFamily="18" charset="0"/>
                <a:ea typeface="Cambria" panose="02040503050406030204" pitchFamily="18" charset="0"/>
              </a:rPr>
              <a:t>}  </a:t>
            </a:r>
          </a:p>
          <a:p>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75</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4321696" cy="543595"/>
          </a:xfrm>
        </p:spPr>
        <p:txBody>
          <a:bodyPr/>
          <a:lstStyle/>
          <a:p>
            <a:r>
              <a:rPr lang="en-GB" sz="4000" b="1" dirty="0" smtClean="0">
                <a:solidFill>
                  <a:srgbClr val="FF0000"/>
                </a:solidFill>
                <a:latin typeface="Cambria" panose="02040503050406030204" pitchFamily="18" charset="0"/>
                <a:ea typeface="Cambria" panose="02040503050406030204" pitchFamily="18" charset="0"/>
              </a:rPr>
              <a:t>Other </a:t>
            </a:r>
            <a:r>
              <a:rPr lang="en-GB" sz="4000" b="1" dirty="0">
                <a:solidFill>
                  <a:srgbClr val="FF0000"/>
                </a:solidFill>
                <a:latin typeface="Cambria" panose="02040503050406030204" pitchFamily="18" charset="0"/>
                <a:ea typeface="Cambria" panose="02040503050406030204" pitchFamily="18" charset="0"/>
              </a:rPr>
              <a:t>R</a:t>
            </a:r>
            <a:r>
              <a:rPr lang="en-GB" sz="4000" b="1" dirty="0" smtClean="0">
                <a:solidFill>
                  <a:srgbClr val="FF0000"/>
                </a:solidFill>
                <a:latin typeface="Cambria" panose="02040503050406030204" pitchFamily="18" charset="0"/>
                <a:ea typeface="Cambria" panose="02040503050406030204" pitchFamily="18" charset="0"/>
              </a:rPr>
              <a:t>eferences</a:t>
            </a:r>
            <a:endParaRPr lang="en-US" sz="4000" b="1" dirty="0">
              <a:solidFill>
                <a:srgbClr val="FF000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51384" y="620688"/>
            <a:ext cx="10585176" cy="4680520"/>
          </a:xfrm>
        </p:spPr>
        <p:txBody>
          <a:bodyPr/>
          <a:lstStyle/>
          <a:p>
            <a:pPr algn="just"/>
            <a:r>
              <a:rPr lang="en-US" sz="2400" dirty="0" smtClean="0">
                <a:latin typeface="Cambria" panose="02040503050406030204" pitchFamily="18" charset="0"/>
                <a:ea typeface="Cambria" panose="02040503050406030204" pitchFamily="18" charset="0"/>
                <a:hlinkClick r:id="rId2"/>
              </a:rPr>
              <a:t>https://www.javatpoint.com/DatabaseMetaData-interface</a:t>
            </a:r>
            <a:endParaRPr lang="en-US" sz="2400" dirty="0" smtClean="0">
              <a:latin typeface="Cambria" panose="02040503050406030204" pitchFamily="18" charset="0"/>
              <a:ea typeface="Cambria" panose="02040503050406030204" pitchFamily="18" charset="0"/>
            </a:endParaRPr>
          </a:p>
          <a:p>
            <a:pPr algn="just"/>
            <a:r>
              <a:rPr lang="en-US" sz="2400" dirty="0" smtClean="0">
                <a:latin typeface="Cambria" panose="02040503050406030204" pitchFamily="18" charset="0"/>
                <a:ea typeface="Cambria" panose="02040503050406030204" pitchFamily="18" charset="0"/>
                <a:hlinkClick r:id="rId3"/>
              </a:rPr>
              <a:t>https://www.javatpoint.com/storing-image-in-oracle-database</a:t>
            </a:r>
            <a:endParaRPr lang="en-US" sz="2400" dirty="0" smtClean="0">
              <a:latin typeface="Cambria" panose="02040503050406030204" pitchFamily="18" charset="0"/>
              <a:ea typeface="Cambria" panose="02040503050406030204" pitchFamily="18" charset="0"/>
            </a:endParaRPr>
          </a:p>
          <a:p>
            <a:pPr algn="just"/>
            <a:r>
              <a:rPr lang="en-US" sz="2400" dirty="0" smtClean="0">
                <a:latin typeface="Cambria" panose="02040503050406030204" pitchFamily="18" charset="0"/>
                <a:ea typeface="Cambria" panose="02040503050406030204" pitchFamily="18" charset="0"/>
                <a:hlinkClick r:id="rId3"/>
              </a:rPr>
              <a:t>https://www.javatpoint.com/storing-image-in-oracle-database</a:t>
            </a:r>
            <a:endParaRPr lang="en-US" sz="2400" dirty="0" smtClean="0">
              <a:latin typeface="Cambria" panose="02040503050406030204" pitchFamily="18" charset="0"/>
              <a:ea typeface="Cambria" panose="02040503050406030204" pitchFamily="18" charset="0"/>
            </a:endParaRPr>
          </a:p>
          <a:p>
            <a:pPr algn="just"/>
            <a:r>
              <a:rPr lang="en-US" sz="2400" dirty="0" smtClean="0">
                <a:latin typeface="Cambria" panose="02040503050406030204" pitchFamily="18" charset="0"/>
                <a:ea typeface="Cambria" panose="02040503050406030204" pitchFamily="18" charset="0"/>
                <a:hlinkClick r:id="rId4"/>
              </a:rPr>
              <a:t>https://www.javatpoint.com/storing-file-in-oracle-database</a:t>
            </a:r>
            <a:endParaRPr lang="en-US" sz="2400" dirty="0" smtClean="0">
              <a:latin typeface="Cambria" panose="02040503050406030204" pitchFamily="18" charset="0"/>
              <a:ea typeface="Cambria" panose="02040503050406030204" pitchFamily="18" charset="0"/>
            </a:endParaRPr>
          </a:p>
          <a:p>
            <a:pPr algn="just"/>
            <a:r>
              <a:rPr lang="en-US" sz="2400" dirty="0" smtClean="0">
                <a:latin typeface="Cambria" panose="02040503050406030204" pitchFamily="18" charset="0"/>
                <a:ea typeface="Cambria" panose="02040503050406030204" pitchFamily="18" charset="0"/>
                <a:hlinkClick r:id="rId5"/>
              </a:rPr>
              <a:t>https://www.javatpoint.com/retrieving-file-from-oracle-database</a:t>
            </a:r>
            <a:endParaRPr lang="en-US" sz="2400" dirty="0" smtClean="0">
              <a:latin typeface="Cambria" panose="02040503050406030204" pitchFamily="18" charset="0"/>
              <a:ea typeface="Cambria" panose="02040503050406030204" pitchFamily="18" charset="0"/>
            </a:endParaRPr>
          </a:p>
          <a:p>
            <a:pPr algn="just"/>
            <a:r>
              <a:rPr lang="en-US" sz="2400" dirty="0" smtClean="0">
                <a:latin typeface="Cambria" panose="02040503050406030204" pitchFamily="18" charset="0"/>
                <a:ea typeface="Cambria" panose="02040503050406030204" pitchFamily="18" charset="0"/>
                <a:hlinkClick r:id="rId6"/>
              </a:rPr>
              <a:t>https://www.javatpoint.com/CallableStatement-interface</a:t>
            </a:r>
            <a:endParaRPr lang="en-US" sz="2400" dirty="0" smtClean="0">
              <a:latin typeface="Cambria" panose="02040503050406030204" pitchFamily="18" charset="0"/>
              <a:ea typeface="Cambria" panose="02040503050406030204" pitchFamily="18" charset="0"/>
            </a:endParaRPr>
          </a:p>
          <a:p>
            <a:pPr algn="just"/>
            <a:r>
              <a:rPr lang="en-US" sz="2400" dirty="0" smtClean="0">
                <a:latin typeface="Cambria" panose="02040503050406030204" pitchFamily="18" charset="0"/>
                <a:ea typeface="Cambria" panose="02040503050406030204" pitchFamily="18" charset="0"/>
                <a:hlinkClick r:id="rId7"/>
              </a:rPr>
              <a:t>https://www.javatpoint.com/transaction-management-in-jdbc</a:t>
            </a:r>
            <a:endParaRPr lang="en-US" sz="2400" dirty="0" smtClean="0">
              <a:latin typeface="Cambria" panose="02040503050406030204" pitchFamily="18" charset="0"/>
              <a:ea typeface="Cambria" panose="02040503050406030204" pitchFamily="18" charset="0"/>
            </a:endParaRPr>
          </a:p>
          <a:p>
            <a:pPr algn="just"/>
            <a:r>
              <a:rPr lang="en-US" sz="2400" dirty="0" smtClean="0">
                <a:latin typeface="Cambria" panose="02040503050406030204" pitchFamily="18" charset="0"/>
                <a:ea typeface="Cambria" panose="02040503050406030204" pitchFamily="18" charset="0"/>
                <a:hlinkClick r:id="rId8"/>
              </a:rPr>
              <a:t>https://www.javatpoint.com/batch-processing-in-jdbc</a:t>
            </a:r>
            <a:endParaRPr lang="en-US" sz="2400" dirty="0" smtClean="0">
              <a:latin typeface="Cambria" panose="02040503050406030204" pitchFamily="18" charset="0"/>
              <a:ea typeface="Cambria" panose="02040503050406030204" pitchFamily="18" charset="0"/>
            </a:endParaRPr>
          </a:p>
          <a:p>
            <a:pPr algn="just"/>
            <a:r>
              <a:rPr lang="en-US" sz="2400" dirty="0" smtClean="0">
                <a:latin typeface="Cambria" panose="02040503050406030204" pitchFamily="18" charset="0"/>
                <a:ea typeface="Cambria" panose="02040503050406030204" pitchFamily="18" charset="0"/>
                <a:hlinkClick r:id="rId9"/>
              </a:rPr>
              <a:t>https://www.javatpoint.com/jdbc-rowset</a:t>
            </a:r>
            <a:endParaRPr lang="en-US" sz="2400" dirty="0" smtClean="0">
              <a:latin typeface="Cambria" panose="02040503050406030204" pitchFamily="18" charset="0"/>
              <a:ea typeface="Cambria" panose="02040503050406030204" pitchFamily="18" charset="0"/>
            </a:endParaRPr>
          </a:p>
          <a:p>
            <a:pPr algn="just"/>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76</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Oracle</a:t>
            </a:r>
            <a:endParaRPr lang="en-US" dirty="0"/>
          </a:p>
        </p:txBody>
      </p:sp>
      <p:sp>
        <p:nvSpPr>
          <p:cNvPr id="3" name="Content Placeholder 2"/>
          <p:cNvSpPr>
            <a:spLocks noGrp="1"/>
          </p:cNvSpPr>
          <p:nvPr>
            <p:ph idx="1"/>
          </p:nvPr>
        </p:nvSpPr>
        <p:spPr>
          <a:xfrm>
            <a:off x="838200" y="1285860"/>
            <a:ext cx="10515600" cy="4891103"/>
          </a:xfrm>
        </p:spPr>
        <p:txBody>
          <a:bodyPr/>
          <a:lstStyle/>
          <a:p>
            <a:r>
              <a:rPr lang="en-GB" sz="2000" dirty="0" smtClean="0"/>
              <a:t> To connect java application with the Oracle database ojdbc14.jar file is required to be loaded.</a:t>
            </a:r>
          </a:p>
          <a:p>
            <a:r>
              <a:rPr lang="en-GB" sz="2000" dirty="0" smtClean="0">
                <a:hlinkClick r:id="rId2"/>
              </a:rPr>
              <a:t>download the jar file ojdbc14.jar</a:t>
            </a:r>
            <a:endParaRPr lang="en-GB" sz="2000" dirty="0" smtClean="0"/>
          </a:p>
          <a:p>
            <a:r>
              <a:rPr lang="en-GB" sz="2000" dirty="0" smtClean="0"/>
              <a:t>Two ways to load the jar file:</a:t>
            </a:r>
          </a:p>
          <a:p>
            <a:r>
              <a:rPr lang="en-GB" sz="2000" dirty="0" smtClean="0"/>
              <a:t>paste the ojdbc14.jar file in </a:t>
            </a:r>
            <a:r>
              <a:rPr lang="en-GB" sz="2000" dirty="0" err="1" smtClean="0"/>
              <a:t>jre</a:t>
            </a:r>
            <a:r>
              <a:rPr lang="en-GB" sz="2000" dirty="0" smtClean="0"/>
              <a:t>/lib/ext folder</a:t>
            </a:r>
          </a:p>
          <a:p>
            <a:r>
              <a:rPr lang="en-GB" sz="2000" dirty="0" smtClean="0"/>
              <a:t>set </a:t>
            </a:r>
            <a:r>
              <a:rPr lang="en-GB" sz="2000" dirty="0" err="1" smtClean="0"/>
              <a:t>classpath</a:t>
            </a:r>
            <a:endParaRPr lang="en-GB" sz="2000" dirty="0" smtClean="0"/>
          </a:p>
          <a:p>
            <a:r>
              <a:rPr lang="en-GB" sz="2000" dirty="0" smtClean="0"/>
              <a:t>1) paste the ojdbc14.jar file in JRE/lib/ext folder:</a:t>
            </a:r>
          </a:p>
          <a:p>
            <a:r>
              <a:rPr lang="en-GB" sz="2000" dirty="0" smtClean="0"/>
              <a:t>Firstly, search the ojdbc14.jar file then go to JRE/lib/ext folder and paste the jar file here.2) set </a:t>
            </a:r>
            <a:r>
              <a:rPr lang="en-GB" sz="2000" dirty="0" err="1" smtClean="0"/>
              <a:t>classpath</a:t>
            </a:r>
            <a:r>
              <a:rPr lang="en-GB" sz="2000" dirty="0" smtClean="0"/>
              <a:t>:</a:t>
            </a:r>
          </a:p>
          <a:p>
            <a:r>
              <a:rPr lang="en-GB" sz="2000" dirty="0" smtClean="0"/>
              <a:t>There are two ways to set the </a:t>
            </a:r>
            <a:r>
              <a:rPr lang="en-GB" sz="2000" dirty="0" err="1" smtClean="0"/>
              <a:t>classpath:temporary</a:t>
            </a:r>
            <a:endParaRPr lang="en-GB" sz="2000" dirty="0" smtClean="0"/>
          </a:p>
          <a:p>
            <a:r>
              <a:rPr lang="en-GB" sz="2000" dirty="0" smtClean="0"/>
              <a:t>permanent</a:t>
            </a:r>
          </a:p>
          <a:p>
            <a:r>
              <a:rPr lang="en-GB" sz="2000" dirty="0" smtClean="0"/>
              <a:t>How to set the temporary </a:t>
            </a:r>
            <a:r>
              <a:rPr lang="en-GB" sz="2000" dirty="0" err="1" smtClean="0"/>
              <a:t>classpath</a:t>
            </a:r>
            <a:r>
              <a:rPr lang="en-GB" sz="2000" dirty="0" smtClean="0"/>
              <a:t>:</a:t>
            </a:r>
          </a:p>
          <a:p>
            <a:r>
              <a:rPr lang="en-GB" sz="2000" dirty="0" smtClean="0"/>
              <a:t>Firstly, search the ojdbc14.jar file then open command prompt and write:</a:t>
            </a:r>
          </a:p>
          <a:p>
            <a:r>
              <a:rPr lang="en-GB" sz="2000" dirty="0" smtClean="0"/>
              <a:t>C:&gt;set </a:t>
            </a:r>
            <a:r>
              <a:rPr lang="en-GB" sz="2000" dirty="0" err="1" smtClean="0"/>
              <a:t>classpath</a:t>
            </a:r>
            <a:r>
              <a:rPr lang="en-GB" sz="2000" dirty="0" smtClean="0"/>
              <a:t>=c:\folder\ojdbc14.jar;.;  </a:t>
            </a:r>
          </a:p>
          <a:p>
            <a:r>
              <a:rPr lang="en-GB" sz="2000" dirty="0" smtClean="0"/>
              <a:t>How to set the permanent </a:t>
            </a:r>
            <a:r>
              <a:rPr lang="en-GB" sz="2000" dirty="0" err="1" smtClean="0"/>
              <a:t>classpath</a:t>
            </a:r>
            <a:r>
              <a:rPr lang="en-GB" sz="2000" dirty="0" smtClean="0"/>
              <a:t>:</a:t>
            </a:r>
          </a:p>
          <a:p>
            <a:r>
              <a:rPr lang="en-GB" sz="2000" dirty="0" smtClean="0"/>
              <a:t>Go to environment variable then click on new tab. In variable name write </a:t>
            </a:r>
            <a:r>
              <a:rPr lang="en-GB" sz="2000" b="1" dirty="0" err="1" smtClean="0"/>
              <a:t>classpath</a:t>
            </a:r>
            <a:r>
              <a:rPr lang="en-GB" sz="2000" dirty="0" smtClean="0"/>
              <a:t> and in variable value paste the path to ojdbc14.jar by appending ojdbc14.jar;.; as C:\oraclexe\app\oracle\product\10.2.0\server\jdbc\lib\ojdbc14.jar;.;</a:t>
            </a:r>
          </a:p>
          <a:p>
            <a:pPr>
              <a:buNone/>
            </a:pPr>
            <a:endParaRPr lang="en-GB" dirty="0" smtClean="0"/>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77</a:t>
            </a:fld>
            <a:endParaRPr lang="en-US" altLang="en-US"/>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4257"/>
            <a:ext cx="9408368" cy="654945"/>
          </a:xfrm>
        </p:spPr>
        <p:txBody>
          <a:bodyPr/>
          <a:lstStyle/>
          <a:p>
            <a:r>
              <a:rPr lang="en-GB" sz="4000" b="1" dirty="0" smtClean="0">
                <a:solidFill>
                  <a:schemeClr val="accent1"/>
                </a:solidFill>
                <a:latin typeface="Cambria" panose="02040503050406030204" pitchFamily="18" charset="0"/>
                <a:ea typeface="Cambria" panose="02040503050406030204" pitchFamily="18" charset="0"/>
              </a:rPr>
              <a:t/>
            </a:r>
            <a:br>
              <a:rPr lang="en-GB" sz="4000" b="1" dirty="0" smtClean="0">
                <a:solidFill>
                  <a:schemeClr val="accent1"/>
                </a:solidFill>
                <a:latin typeface="Cambria" panose="02040503050406030204" pitchFamily="18" charset="0"/>
                <a:ea typeface="Cambria" panose="02040503050406030204" pitchFamily="18" charset="0"/>
              </a:rPr>
            </a:br>
            <a:r>
              <a:rPr lang="en-GB" sz="4000" b="1" dirty="0" smtClean="0">
                <a:solidFill>
                  <a:schemeClr val="accent1"/>
                </a:solidFill>
                <a:latin typeface="Cambria" panose="02040503050406030204" pitchFamily="18" charset="0"/>
                <a:ea typeface="Cambria" panose="02040503050406030204" pitchFamily="18" charset="0"/>
              </a:rPr>
              <a:t>Java Database Connectivity with </a:t>
            </a:r>
            <a:r>
              <a:rPr lang="en-GB" sz="4000" b="1" dirty="0" err="1" smtClean="0">
                <a:solidFill>
                  <a:schemeClr val="accent1"/>
                </a:solidFill>
                <a:latin typeface="Cambria" panose="02040503050406030204" pitchFamily="18" charset="0"/>
                <a:ea typeface="Cambria" panose="02040503050406030204" pitchFamily="18" charset="0"/>
              </a:rPr>
              <a:t>MySQL</a:t>
            </a:r>
            <a:r>
              <a:rPr lang="en-GB" sz="4000" b="1" dirty="0" smtClean="0">
                <a:solidFill>
                  <a:schemeClr val="accent1"/>
                </a:solidFill>
                <a:latin typeface="Cambria" panose="02040503050406030204" pitchFamily="18" charset="0"/>
                <a:ea typeface="Cambria" panose="02040503050406030204" pitchFamily="18" charset="0"/>
              </a:rPr>
              <a:t/>
            </a:r>
            <a:br>
              <a:rPr lang="en-GB" sz="4000" b="1" dirty="0" smtClean="0">
                <a:solidFill>
                  <a:schemeClr val="accent1"/>
                </a:solidFill>
                <a:latin typeface="Cambria" panose="02040503050406030204" pitchFamily="18" charset="0"/>
                <a:ea typeface="Cambria" panose="02040503050406030204" pitchFamily="18" charset="0"/>
              </a:rPr>
            </a:br>
            <a:endParaRPr lang="en-US" sz="4000" b="1" dirty="0">
              <a:solidFill>
                <a:schemeClr val="accent1"/>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78</a:t>
            </a:fld>
            <a:endParaRPr lang="en-US" altLang="en-US">
              <a:latin typeface="Cambria" panose="02040503050406030204" pitchFamily="18" charset="0"/>
              <a:ea typeface="Cambria" panose="02040503050406030204" pitchFamily="18" charset="0"/>
            </a:endParaRPr>
          </a:p>
        </p:txBody>
      </p:sp>
      <p:sp>
        <p:nvSpPr>
          <p:cNvPr id="6" name="Content Placeholder 5"/>
          <p:cNvSpPr>
            <a:spLocks noGrp="1"/>
          </p:cNvSpPr>
          <p:nvPr>
            <p:ph idx="1"/>
          </p:nvPr>
        </p:nvSpPr>
        <p:spPr>
          <a:xfrm>
            <a:off x="479376" y="614283"/>
            <a:ext cx="10585176" cy="4470902"/>
          </a:xfrm>
        </p:spPr>
        <p:txBody>
          <a:bodyPr/>
          <a:lstStyle/>
          <a:p>
            <a:pPr marL="514350" indent="-514350" algn="just">
              <a:buFont typeface="+mj-lt"/>
              <a:buAutoNum type="arabicPeriod"/>
            </a:pPr>
            <a:r>
              <a:rPr lang="en-GB" sz="2400" b="1" dirty="0" smtClean="0">
                <a:latin typeface="Cambria" panose="02040503050406030204" pitchFamily="18" charset="0"/>
                <a:ea typeface="Cambria" panose="02040503050406030204" pitchFamily="18" charset="0"/>
              </a:rPr>
              <a:t>Driver class: </a:t>
            </a:r>
            <a:r>
              <a:rPr lang="en-GB" sz="2400" dirty="0" smtClean="0">
                <a:latin typeface="Cambria" panose="02040503050406030204" pitchFamily="18" charset="0"/>
                <a:ea typeface="Cambria" panose="02040503050406030204" pitchFamily="18" charset="0"/>
              </a:rPr>
              <a:t>The driver class for the </a:t>
            </a:r>
            <a:r>
              <a:rPr lang="en-GB" sz="2400" dirty="0" err="1" smtClean="0">
                <a:latin typeface="Cambria" panose="02040503050406030204" pitchFamily="18" charset="0"/>
                <a:ea typeface="Cambria" panose="02040503050406030204" pitchFamily="18" charset="0"/>
              </a:rPr>
              <a:t>mysql</a:t>
            </a:r>
            <a:r>
              <a:rPr lang="en-GB" sz="2400" dirty="0" smtClean="0">
                <a:latin typeface="Cambria" panose="02040503050406030204" pitchFamily="18" charset="0"/>
                <a:ea typeface="Cambria" panose="02040503050406030204" pitchFamily="18" charset="0"/>
              </a:rPr>
              <a:t> database is </a:t>
            </a:r>
            <a:r>
              <a:rPr lang="en-GB" sz="2400" b="1" dirty="0" err="1" smtClean="0">
                <a:latin typeface="Cambria" panose="02040503050406030204" pitchFamily="18" charset="0"/>
                <a:ea typeface="Cambria" panose="02040503050406030204" pitchFamily="18" charset="0"/>
              </a:rPr>
              <a:t>com.mysql.jdbc.Driver</a:t>
            </a:r>
            <a:r>
              <a:rPr lang="en-GB" sz="2400" dirty="0" smtClean="0">
                <a:latin typeface="Cambria" panose="02040503050406030204" pitchFamily="18" charset="0"/>
                <a:ea typeface="Cambria" panose="02040503050406030204" pitchFamily="18" charset="0"/>
              </a:rPr>
              <a:t>.</a:t>
            </a:r>
          </a:p>
          <a:p>
            <a:pPr marL="514350" indent="-514350" algn="just">
              <a:buFont typeface="+mj-lt"/>
              <a:buAutoNum type="arabicPeriod"/>
            </a:pPr>
            <a:r>
              <a:rPr lang="en-GB" sz="2400" b="1" dirty="0" smtClean="0">
                <a:latin typeface="Cambria" panose="02040503050406030204" pitchFamily="18" charset="0"/>
                <a:ea typeface="Cambria" panose="02040503050406030204" pitchFamily="18" charset="0"/>
              </a:rPr>
              <a:t>Connection URL: </a:t>
            </a:r>
            <a:r>
              <a:rPr lang="en-GB" sz="2400" dirty="0" smtClean="0">
                <a:latin typeface="Cambria" panose="02040503050406030204" pitchFamily="18" charset="0"/>
                <a:ea typeface="Cambria" panose="02040503050406030204" pitchFamily="18" charset="0"/>
              </a:rPr>
              <a:t>The connection URL for the </a:t>
            </a:r>
            <a:r>
              <a:rPr lang="en-GB" sz="2400" dirty="0" err="1" smtClean="0">
                <a:latin typeface="Cambria" panose="02040503050406030204" pitchFamily="18" charset="0"/>
                <a:ea typeface="Cambria" panose="02040503050406030204" pitchFamily="18" charset="0"/>
              </a:rPr>
              <a:t>mysql</a:t>
            </a:r>
            <a:r>
              <a:rPr lang="en-GB" sz="2400" dirty="0" smtClean="0">
                <a:latin typeface="Cambria" panose="02040503050406030204" pitchFamily="18" charset="0"/>
                <a:ea typeface="Cambria" panose="02040503050406030204" pitchFamily="18" charset="0"/>
              </a:rPr>
              <a:t> database is </a:t>
            </a:r>
            <a:r>
              <a:rPr lang="en-GB" sz="2400" b="1" dirty="0" err="1" smtClean="0">
                <a:latin typeface="Cambria" panose="02040503050406030204" pitchFamily="18" charset="0"/>
                <a:ea typeface="Cambria" panose="02040503050406030204" pitchFamily="18" charset="0"/>
              </a:rPr>
              <a:t>jdbc:mysql</a:t>
            </a:r>
            <a:r>
              <a:rPr lang="en-GB" sz="2400" b="1" dirty="0" smtClean="0">
                <a:latin typeface="Cambria" panose="02040503050406030204" pitchFamily="18" charset="0"/>
                <a:ea typeface="Cambria" panose="02040503050406030204" pitchFamily="18" charset="0"/>
              </a:rPr>
              <a:t>://localhost:3306/</a:t>
            </a:r>
            <a:r>
              <a:rPr lang="en-GB" sz="2400" b="1" dirty="0" err="1" smtClean="0">
                <a:latin typeface="Cambria" panose="02040503050406030204" pitchFamily="18" charset="0"/>
                <a:ea typeface="Cambria" panose="02040503050406030204" pitchFamily="18" charset="0"/>
              </a:rPr>
              <a:t>sonoo</a:t>
            </a:r>
            <a:r>
              <a:rPr lang="en-GB" sz="2400" dirty="0" smtClean="0">
                <a:latin typeface="Cambria" panose="02040503050406030204" pitchFamily="18" charset="0"/>
                <a:ea typeface="Cambria" panose="02040503050406030204" pitchFamily="18" charset="0"/>
              </a:rPr>
              <a:t> where </a:t>
            </a:r>
            <a:r>
              <a:rPr lang="en-GB" sz="2400" dirty="0" err="1" smtClean="0">
                <a:latin typeface="Cambria" panose="02040503050406030204" pitchFamily="18" charset="0"/>
                <a:ea typeface="Cambria" panose="02040503050406030204" pitchFamily="18" charset="0"/>
              </a:rPr>
              <a:t>jdbc</a:t>
            </a:r>
            <a:r>
              <a:rPr lang="en-GB" sz="2400" dirty="0" smtClean="0">
                <a:latin typeface="Cambria" panose="02040503050406030204" pitchFamily="18" charset="0"/>
                <a:ea typeface="Cambria" panose="02040503050406030204" pitchFamily="18" charset="0"/>
              </a:rPr>
              <a:t> is the API, </a:t>
            </a:r>
            <a:r>
              <a:rPr lang="en-GB" sz="2400" dirty="0" err="1" smtClean="0">
                <a:latin typeface="Cambria" panose="02040503050406030204" pitchFamily="18" charset="0"/>
                <a:ea typeface="Cambria" panose="02040503050406030204" pitchFamily="18" charset="0"/>
              </a:rPr>
              <a:t>mysql</a:t>
            </a:r>
            <a:r>
              <a:rPr lang="en-GB" sz="2400" dirty="0" smtClean="0">
                <a:latin typeface="Cambria" panose="02040503050406030204" pitchFamily="18" charset="0"/>
                <a:ea typeface="Cambria" panose="02040503050406030204" pitchFamily="18" charset="0"/>
              </a:rPr>
              <a:t> is the database, </a:t>
            </a:r>
            <a:r>
              <a:rPr lang="en-GB" sz="2400" dirty="0" err="1" smtClean="0">
                <a:latin typeface="Cambria" panose="02040503050406030204" pitchFamily="18" charset="0"/>
                <a:ea typeface="Cambria" panose="02040503050406030204" pitchFamily="18" charset="0"/>
              </a:rPr>
              <a:t>localhost</a:t>
            </a:r>
            <a:r>
              <a:rPr lang="en-GB" sz="2400" dirty="0" smtClean="0">
                <a:latin typeface="Cambria" panose="02040503050406030204" pitchFamily="18" charset="0"/>
                <a:ea typeface="Cambria" panose="02040503050406030204" pitchFamily="18" charset="0"/>
              </a:rPr>
              <a:t> is the server name on which </a:t>
            </a:r>
            <a:r>
              <a:rPr lang="en-GB" sz="2400" dirty="0" err="1" smtClean="0">
                <a:latin typeface="Cambria" panose="02040503050406030204" pitchFamily="18" charset="0"/>
                <a:ea typeface="Cambria" panose="02040503050406030204" pitchFamily="18" charset="0"/>
              </a:rPr>
              <a:t>mysql</a:t>
            </a:r>
            <a:r>
              <a:rPr lang="en-GB" sz="2400" dirty="0" smtClean="0">
                <a:latin typeface="Cambria" panose="02040503050406030204" pitchFamily="18" charset="0"/>
                <a:ea typeface="Cambria" panose="02040503050406030204" pitchFamily="18" charset="0"/>
              </a:rPr>
              <a:t> is running, we may also use IP address, 3306 is the port number and </a:t>
            </a:r>
            <a:r>
              <a:rPr lang="en-GB" sz="2400" dirty="0" err="1" smtClean="0">
                <a:latin typeface="Cambria" panose="02040503050406030204" pitchFamily="18" charset="0"/>
                <a:ea typeface="Cambria" panose="02040503050406030204" pitchFamily="18" charset="0"/>
              </a:rPr>
              <a:t>sonoo</a:t>
            </a:r>
            <a:r>
              <a:rPr lang="en-GB" sz="2400" dirty="0" smtClean="0">
                <a:latin typeface="Cambria" panose="02040503050406030204" pitchFamily="18" charset="0"/>
                <a:ea typeface="Cambria" panose="02040503050406030204" pitchFamily="18" charset="0"/>
              </a:rPr>
              <a:t> is the database name. We may use any database, in such case, we need to replace the </a:t>
            </a:r>
            <a:r>
              <a:rPr lang="en-GB" sz="2400" dirty="0" err="1" smtClean="0">
                <a:latin typeface="Cambria" panose="02040503050406030204" pitchFamily="18" charset="0"/>
                <a:ea typeface="Cambria" panose="02040503050406030204" pitchFamily="18" charset="0"/>
              </a:rPr>
              <a:t>sonoo</a:t>
            </a:r>
            <a:r>
              <a:rPr lang="en-GB" sz="2400" dirty="0" smtClean="0">
                <a:latin typeface="Cambria" panose="02040503050406030204" pitchFamily="18" charset="0"/>
                <a:ea typeface="Cambria" panose="02040503050406030204" pitchFamily="18" charset="0"/>
              </a:rPr>
              <a:t> with our database name.</a:t>
            </a:r>
          </a:p>
          <a:p>
            <a:pPr marL="514350" indent="-514350" algn="just">
              <a:buFont typeface="+mj-lt"/>
              <a:buAutoNum type="arabicPeriod"/>
            </a:pPr>
            <a:r>
              <a:rPr lang="en-GB" sz="2400" b="1" dirty="0" smtClean="0">
                <a:latin typeface="Cambria" panose="02040503050406030204" pitchFamily="18" charset="0"/>
                <a:ea typeface="Cambria" panose="02040503050406030204" pitchFamily="18" charset="0"/>
              </a:rPr>
              <a:t>Username: </a:t>
            </a:r>
            <a:r>
              <a:rPr lang="en-GB" sz="2400" dirty="0" smtClean="0">
                <a:latin typeface="Cambria" panose="02040503050406030204" pitchFamily="18" charset="0"/>
                <a:ea typeface="Cambria" panose="02040503050406030204" pitchFamily="18" charset="0"/>
              </a:rPr>
              <a:t>The default username for the </a:t>
            </a:r>
            <a:r>
              <a:rPr lang="en-GB" sz="2400" dirty="0" err="1" smtClean="0">
                <a:latin typeface="Cambria" panose="02040503050406030204" pitchFamily="18" charset="0"/>
                <a:ea typeface="Cambria" panose="02040503050406030204" pitchFamily="18" charset="0"/>
              </a:rPr>
              <a:t>mysql</a:t>
            </a:r>
            <a:r>
              <a:rPr lang="en-GB" sz="2400" dirty="0" smtClean="0">
                <a:latin typeface="Cambria" panose="02040503050406030204" pitchFamily="18" charset="0"/>
                <a:ea typeface="Cambria" panose="02040503050406030204" pitchFamily="18" charset="0"/>
              </a:rPr>
              <a:t> database is </a:t>
            </a:r>
            <a:r>
              <a:rPr lang="en-GB" sz="2400" b="1" dirty="0" smtClean="0">
                <a:latin typeface="Cambria" panose="02040503050406030204" pitchFamily="18" charset="0"/>
                <a:ea typeface="Cambria" panose="02040503050406030204" pitchFamily="18" charset="0"/>
              </a:rPr>
              <a:t>root</a:t>
            </a:r>
            <a:r>
              <a:rPr lang="en-GB" sz="2400" dirty="0" smtClean="0">
                <a:latin typeface="Cambria" panose="02040503050406030204" pitchFamily="18" charset="0"/>
                <a:ea typeface="Cambria" panose="02040503050406030204" pitchFamily="18" charset="0"/>
              </a:rPr>
              <a:t>.</a:t>
            </a:r>
          </a:p>
          <a:p>
            <a:pPr marL="514350" indent="-514350" algn="just">
              <a:buFont typeface="+mj-lt"/>
              <a:buAutoNum type="arabicPeriod"/>
            </a:pPr>
            <a:r>
              <a:rPr lang="en-GB" sz="2400" b="1" dirty="0" smtClean="0">
                <a:latin typeface="Cambria" panose="02040503050406030204" pitchFamily="18" charset="0"/>
                <a:ea typeface="Cambria" panose="02040503050406030204" pitchFamily="18" charset="0"/>
              </a:rPr>
              <a:t>Password: </a:t>
            </a:r>
            <a:r>
              <a:rPr lang="en-GB" sz="2400" dirty="0" smtClean="0">
                <a:latin typeface="Cambria" panose="02040503050406030204" pitchFamily="18" charset="0"/>
                <a:ea typeface="Cambria" panose="02040503050406030204" pitchFamily="18" charset="0"/>
              </a:rPr>
              <a:t>It is the password given by the user at the time of installing the </a:t>
            </a:r>
            <a:r>
              <a:rPr lang="en-GB" sz="2400" dirty="0" err="1" smtClean="0">
                <a:latin typeface="Cambria" panose="02040503050406030204" pitchFamily="18" charset="0"/>
                <a:ea typeface="Cambria" panose="02040503050406030204" pitchFamily="18" charset="0"/>
              </a:rPr>
              <a:t>mysql</a:t>
            </a:r>
            <a:r>
              <a:rPr lang="en-GB" sz="2400" dirty="0" smtClean="0">
                <a:latin typeface="Cambria" panose="02040503050406030204" pitchFamily="18" charset="0"/>
                <a:ea typeface="Cambria" panose="02040503050406030204" pitchFamily="18" charset="0"/>
              </a:rPr>
              <a:t> database. In this example, we are going to use root as the password.</a:t>
            </a:r>
          </a:p>
          <a:p>
            <a:pPr algn="just"/>
            <a:endParaRPr lang="en-US" sz="2400"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803"/>
            <a:ext cx="2711624" cy="612885"/>
          </a:xfrm>
        </p:spPr>
        <p:txBody>
          <a:bodyPr/>
          <a:lstStyle/>
          <a:p>
            <a:r>
              <a:rPr lang="en-GB" b="1" dirty="0" err="1" smtClean="0">
                <a:solidFill>
                  <a:schemeClr val="accent1"/>
                </a:solidFill>
                <a:latin typeface="Cambria" panose="02040503050406030204" pitchFamily="18" charset="0"/>
                <a:ea typeface="Cambria" panose="02040503050406030204" pitchFamily="18" charset="0"/>
              </a:rPr>
              <a:t>MySQL</a:t>
            </a:r>
            <a:endParaRPr lang="en-US"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836712"/>
            <a:ext cx="10801200" cy="2520280"/>
          </a:xfrm>
        </p:spPr>
        <p:txBody>
          <a:bodyPr/>
          <a:lstStyle/>
          <a:p>
            <a:pPr algn="just"/>
            <a:r>
              <a:rPr lang="en-GB" dirty="0" smtClean="0">
                <a:latin typeface="Cambria" panose="02040503050406030204" pitchFamily="18" charset="0"/>
                <a:ea typeface="Cambria" panose="02040503050406030204" pitchFamily="18" charset="0"/>
              </a:rPr>
              <a:t>Let's first create a table in the </a:t>
            </a:r>
            <a:r>
              <a:rPr lang="en-GB" dirty="0" err="1" smtClean="0">
                <a:latin typeface="Cambria" panose="02040503050406030204" pitchFamily="18" charset="0"/>
                <a:ea typeface="Cambria" panose="02040503050406030204" pitchFamily="18" charset="0"/>
              </a:rPr>
              <a:t>mysql</a:t>
            </a:r>
            <a:r>
              <a:rPr lang="en-GB" dirty="0" smtClean="0">
                <a:latin typeface="Cambria" panose="02040503050406030204" pitchFamily="18" charset="0"/>
                <a:ea typeface="Cambria" panose="02040503050406030204" pitchFamily="18" charset="0"/>
              </a:rPr>
              <a:t> database, but before creating table, we need to create database first.</a:t>
            </a:r>
          </a:p>
          <a:p>
            <a:pPr algn="just"/>
            <a:r>
              <a:rPr lang="en-GB" dirty="0" smtClean="0">
                <a:latin typeface="Cambria" panose="02040503050406030204" pitchFamily="18" charset="0"/>
                <a:ea typeface="Cambria" panose="02040503050406030204" pitchFamily="18" charset="0"/>
              </a:rPr>
              <a:t>create database </a:t>
            </a:r>
            <a:r>
              <a:rPr lang="en-GB" dirty="0" err="1" smtClean="0">
                <a:latin typeface="Cambria" panose="02040503050406030204" pitchFamily="18" charset="0"/>
                <a:ea typeface="Cambria" panose="02040503050406030204" pitchFamily="18" charset="0"/>
              </a:rPr>
              <a:t>sonoo</a:t>
            </a:r>
            <a:r>
              <a:rPr lang="en-GB" dirty="0" smtClean="0">
                <a:latin typeface="Cambria" panose="02040503050406030204" pitchFamily="18" charset="0"/>
                <a:ea typeface="Cambria" panose="02040503050406030204" pitchFamily="18" charset="0"/>
              </a:rPr>
              <a:t>;  </a:t>
            </a:r>
          </a:p>
          <a:p>
            <a:pPr algn="just"/>
            <a:r>
              <a:rPr lang="en-GB" dirty="0" smtClean="0">
                <a:latin typeface="Cambria" panose="02040503050406030204" pitchFamily="18" charset="0"/>
                <a:ea typeface="Cambria" panose="02040503050406030204" pitchFamily="18" charset="0"/>
              </a:rPr>
              <a:t>use </a:t>
            </a:r>
            <a:r>
              <a:rPr lang="en-GB" dirty="0" err="1" smtClean="0">
                <a:latin typeface="Cambria" panose="02040503050406030204" pitchFamily="18" charset="0"/>
                <a:ea typeface="Cambria" panose="02040503050406030204" pitchFamily="18" charset="0"/>
              </a:rPr>
              <a:t>sonoo</a:t>
            </a:r>
            <a:r>
              <a:rPr lang="en-GB" dirty="0" smtClean="0">
                <a:latin typeface="Cambria" panose="02040503050406030204" pitchFamily="18" charset="0"/>
                <a:ea typeface="Cambria" panose="02040503050406030204" pitchFamily="18" charset="0"/>
              </a:rPr>
              <a:t>;  </a:t>
            </a:r>
          </a:p>
          <a:p>
            <a:pPr algn="just"/>
            <a:r>
              <a:rPr lang="en-GB" dirty="0" smtClean="0">
                <a:latin typeface="Cambria" panose="02040503050406030204" pitchFamily="18" charset="0"/>
                <a:ea typeface="Cambria" panose="02040503050406030204" pitchFamily="18" charset="0"/>
              </a:rPr>
              <a:t>create table </a:t>
            </a:r>
            <a:r>
              <a:rPr lang="en-GB" dirty="0" err="1" smtClean="0">
                <a:latin typeface="Cambria" panose="02040503050406030204" pitchFamily="18" charset="0"/>
                <a:ea typeface="Cambria" panose="02040503050406030204" pitchFamily="18" charset="0"/>
              </a:rPr>
              <a:t>emp</a:t>
            </a:r>
            <a:r>
              <a:rPr lang="en-GB" dirty="0" smtClean="0">
                <a:latin typeface="Cambria" panose="02040503050406030204" pitchFamily="18" charset="0"/>
                <a:ea typeface="Cambria" panose="02040503050406030204" pitchFamily="18" charset="0"/>
              </a:rPr>
              <a:t>(id </a:t>
            </a:r>
            <a:r>
              <a:rPr lang="en-GB" b="1" dirty="0" err="1" smtClean="0">
                <a:latin typeface="Cambria" panose="02040503050406030204" pitchFamily="18" charset="0"/>
                <a:ea typeface="Cambria" panose="02040503050406030204" pitchFamily="18" charset="0"/>
              </a:rPr>
              <a:t>int</a:t>
            </a:r>
            <a:r>
              <a:rPr lang="en-GB" dirty="0" smtClean="0">
                <a:latin typeface="Cambria" panose="02040503050406030204" pitchFamily="18" charset="0"/>
                <a:ea typeface="Cambria" panose="02040503050406030204" pitchFamily="18" charset="0"/>
              </a:rPr>
              <a:t>(10),name </a:t>
            </a:r>
            <a:r>
              <a:rPr lang="en-GB" dirty="0" err="1" smtClean="0">
                <a:latin typeface="Cambria" panose="02040503050406030204" pitchFamily="18" charset="0"/>
                <a:ea typeface="Cambria" panose="02040503050406030204" pitchFamily="18" charset="0"/>
              </a:rPr>
              <a:t>varchar</a:t>
            </a:r>
            <a:r>
              <a:rPr lang="en-GB" dirty="0" smtClean="0">
                <a:latin typeface="Cambria" panose="02040503050406030204" pitchFamily="18" charset="0"/>
                <a:ea typeface="Cambria" panose="02040503050406030204" pitchFamily="18" charset="0"/>
              </a:rPr>
              <a:t>(40),age </a:t>
            </a:r>
            <a:r>
              <a:rPr lang="en-GB" b="1" dirty="0" err="1" smtClean="0">
                <a:latin typeface="Cambria" panose="02040503050406030204" pitchFamily="18" charset="0"/>
                <a:ea typeface="Cambria" panose="02040503050406030204" pitchFamily="18" charset="0"/>
              </a:rPr>
              <a:t>int</a:t>
            </a:r>
            <a:r>
              <a:rPr lang="en-GB" dirty="0" smtClean="0">
                <a:latin typeface="Cambria" panose="02040503050406030204" pitchFamily="18" charset="0"/>
                <a:ea typeface="Cambria" panose="02040503050406030204" pitchFamily="18" charset="0"/>
              </a:rPr>
              <a:t>(3));  </a:t>
            </a: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79</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803"/>
            <a:ext cx="10920536" cy="756901"/>
          </a:xfrm>
        </p:spPr>
        <p:txBody>
          <a:bodyPr/>
          <a:lstStyle/>
          <a:p>
            <a:r>
              <a:rPr lang="en-GB" sz="3200" b="1" dirty="0" smtClean="0">
                <a:solidFill>
                  <a:schemeClr val="accent1"/>
                </a:solidFill>
                <a:latin typeface="Cambria" panose="02040503050406030204" pitchFamily="18" charset="0"/>
                <a:ea typeface="Cambria" panose="02040503050406030204" pitchFamily="18" charset="0"/>
              </a:rPr>
              <a:t> </a:t>
            </a:r>
            <a:br>
              <a:rPr lang="en-GB" sz="3200" b="1" dirty="0" smtClean="0">
                <a:solidFill>
                  <a:schemeClr val="accent1"/>
                </a:solidFill>
                <a:latin typeface="Cambria" panose="02040503050406030204" pitchFamily="18" charset="0"/>
                <a:ea typeface="Cambria" panose="02040503050406030204" pitchFamily="18" charset="0"/>
              </a:rPr>
            </a:br>
            <a:r>
              <a:rPr lang="en-GB" sz="3200" b="1" dirty="0" smtClean="0">
                <a:solidFill>
                  <a:schemeClr val="accent1"/>
                </a:solidFill>
                <a:latin typeface="Cambria" panose="02040503050406030204" pitchFamily="18" charset="0"/>
                <a:ea typeface="Cambria" panose="02040503050406030204" pitchFamily="18" charset="0"/>
              </a:rPr>
              <a:t>Example to Connect Java Application with </a:t>
            </a:r>
            <a:r>
              <a:rPr lang="en-GB" sz="3200" b="1" dirty="0" err="1" smtClean="0">
                <a:solidFill>
                  <a:schemeClr val="accent1"/>
                </a:solidFill>
                <a:latin typeface="Cambria" panose="02040503050406030204" pitchFamily="18" charset="0"/>
                <a:ea typeface="Cambria" panose="02040503050406030204" pitchFamily="18" charset="0"/>
              </a:rPr>
              <a:t>mysql</a:t>
            </a:r>
            <a:r>
              <a:rPr lang="en-GB" sz="3200" b="1" dirty="0" smtClean="0">
                <a:solidFill>
                  <a:schemeClr val="accent1"/>
                </a:solidFill>
                <a:latin typeface="Cambria" panose="02040503050406030204" pitchFamily="18" charset="0"/>
                <a:ea typeface="Cambria" panose="02040503050406030204" pitchFamily="18" charset="0"/>
              </a:rPr>
              <a:t> database</a:t>
            </a:r>
            <a:br>
              <a:rPr lang="en-GB" sz="3200" b="1" dirty="0" smtClean="0">
                <a:solidFill>
                  <a:schemeClr val="accent1"/>
                </a:solidFill>
                <a:latin typeface="Cambria" panose="02040503050406030204" pitchFamily="18" charset="0"/>
                <a:ea typeface="Cambria" panose="02040503050406030204" pitchFamily="18" charset="0"/>
              </a:rPr>
            </a:br>
            <a:endParaRPr lang="en-US" sz="32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51384" y="768696"/>
            <a:ext cx="10515600" cy="4351338"/>
          </a:xfrm>
        </p:spPr>
        <p:txBody>
          <a:bodyPr/>
          <a:lstStyle/>
          <a:p>
            <a:pPr algn="just">
              <a:spcBef>
                <a:spcPts val="0"/>
              </a:spcBef>
            </a:pPr>
            <a:r>
              <a:rPr lang="en-GB" sz="1800" dirty="0" smtClean="0">
                <a:latin typeface="Cambria" panose="02040503050406030204" pitchFamily="18" charset="0"/>
                <a:ea typeface="Cambria" panose="02040503050406030204" pitchFamily="18" charset="0"/>
              </a:rPr>
              <a:t>In this example, </a:t>
            </a:r>
            <a:r>
              <a:rPr lang="en-GB" sz="1800" dirty="0" err="1" smtClean="0">
                <a:latin typeface="Cambria" panose="02040503050406030204" pitchFamily="18" charset="0"/>
                <a:ea typeface="Cambria" panose="02040503050406030204" pitchFamily="18" charset="0"/>
              </a:rPr>
              <a:t>sonoo</a:t>
            </a:r>
            <a:r>
              <a:rPr lang="en-GB" sz="1800" dirty="0" smtClean="0">
                <a:latin typeface="Cambria" panose="02040503050406030204" pitchFamily="18" charset="0"/>
                <a:ea typeface="Cambria" panose="02040503050406030204" pitchFamily="18" charset="0"/>
              </a:rPr>
              <a:t> is the database name, root is the username and password both.</a:t>
            </a:r>
          </a:p>
          <a:p>
            <a:pPr algn="just">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java.sql.*;  </a:t>
            </a:r>
          </a:p>
          <a:p>
            <a:pPr algn="just">
              <a:spcBef>
                <a:spcPts val="0"/>
              </a:spcBef>
              <a:buNone/>
            </a:pPr>
            <a:r>
              <a:rPr lang="en-US" sz="1800" b="1" dirty="0" smtClean="0">
                <a:latin typeface="Cambria" panose="02040503050406030204" pitchFamily="18" charset="0"/>
                <a:ea typeface="Cambria" panose="02040503050406030204" pitchFamily="18" charset="0"/>
              </a:rPr>
              <a:t>class</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MysqlCon</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static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void</a:t>
            </a:r>
            <a:r>
              <a:rPr lang="en-US" sz="1800" dirty="0" smtClean="0">
                <a:latin typeface="Cambria" panose="02040503050406030204" pitchFamily="18" charset="0"/>
                <a:ea typeface="Cambria" panose="02040503050406030204" pitchFamily="18" charset="0"/>
              </a:rPr>
              <a:t> main(String </a:t>
            </a:r>
            <a:r>
              <a:rPr lang="en-US" sz="1800" dirty="0" err="1" smtClean="0">
                <a:latin typeface="Cambria" panose="02040503050406030204" pitchFamily="18" charset="0"/>
                <a:ea typeface="Cambria" panose="02040503050406030204" pitchFamily="18" charset="0"/>
              </a:rPr>
              <a:t>args</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b="1" dirty="0" smtClean="0">
                <a:latin typeface="Cambria" panose="02040503050406030204" pitchFamily="18" charset="0"/>
                <a:ea typeface="Cambria" panose="02040503050406030204" pitchFamily="18" charset="0"/>
              </a:rPr>
              <a:t>try</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dirty="0" err="1" smtClean="0">
                <a:latin typeface="Cambria" panose="02040503050406030204" pitchFamily="18" charset="0"/>
                <a:ea typeface="Cambria" panose="02040503050406030204" pitchFamily="18" charset="0"/>
              </a:rPr>
              <a:t>Class.forName</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com.mysql.jdbc.Driver</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dirty="0" smtClean="0">
                <a:latin typeface="Cambria" panose="02040503050406030204" pitchFamily="18" charset="0"/>
                <a:ea typeface="Cambria" panose="02040503050406030204" pitchFamily="18" charset="0"/>
              </a:rPr>
              <a:t>Connection con=</a:t>
            </a:r>
            <a:r>
              <a:rPr lang="en-US" sz="1800" dirty="0" err="1" smtClean="0">
                <a:latin typeface="Cambria" panose="02040503050406030204" pitchFamily="18" charset="0"/>
                <a:ea typeface="Cambria" panose="02040503050406030204" pitchFamily="18" charset="0"/>
              </a:rPr>
              <a:t>DriverManager.getConnection</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jdbc:mysql</a:t>
            </a:r>
            <a:r>
              <a:rPr lang="en-US" sz="1800" dirty="0" smtClean="0">
                <a:latin typeface="Cambria" panose="02040503050406030204" pitchFamily="18" charset="0"/>
                <a:ea typeface="Cambria" panose="02040503050406030204" pitchFamily="18" charset="0"/>
              </a:rPr>
              <a:t>://localhost:3306/</a:t>
            </a:r>
            <a:r>
              <a:rPr lang="en-US" sz="1800" dirty="0" err="1" smtClean="0">
                <a:latin typeface="Cambria" panose="02040503050406030204" pitchFamily="18" charset="0"/>
                <a:ea typeface="Cambria" panose="02040503050406030204" pitchFamily="18" charset="0"/>
              </a:rPr>
              <a:t>sonoo","root","root</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dirty="0" smtClean="0">
                <a:latin typeface="Cambria" panose="02040503050406030204" pitchFamily="18" charset="0"/>
                <a:ea typeface="Cambria" panose="02040503050406030204" pitchFamily="18" charset="0"/>
              </a:rPr>
              <a:t>//here </a:t>
            </a:r>
            <a:r>
              <a:rPr lang="en-US" sz="1800" dirty="0" err="1" smtClean="0">
                <a:latin typeface="Cambria" panose="02040503050406030204" pitchFamily="18" charset="0"/>
                <a:ea typeface="Cambria" panose="02040503050406030204" pitchFamily="18" charset="0"/>
              </a:rPr>
              <a:t>sonoo</a:t>
            </a:r>
            <a:r>
              <a:rPr lang="en-US" sz="1800" dirty="0" smtClean="0">
                <a:latin typeface="Cambria" panose="02040503050406030204" pitchFamily="18" charset="0"/>
                <a:ea typeface="Cambria" panose="02040503050406030204" pitchFamily="18" charset="0"/>
              </a:rPr>
              <a:t> is database name, root is username and password  </a:t>
            </a:r>
          </a:p>
          <a:p>
            <a:pPr algn="just">
              <a:spcBef>
                <a:spcPts val="0"/>
              </a:spcBef>
              <a:buNone/>
            </a:pPr>
            <a:r>
              <a:rPr lang="en-US" sz="1800" dirty="0" smtClean="0">
                <a:latin typeface="Cambria" panose="02040503050406030204" pitchFamily="18" charset="0"/>
                <a:ea typeface="Cambria" panose="02040503050406030204" pitchFamily="18" charset="0"/>
              </a:rPr>
              <a:t>Statement stmt=</a:t>
            </a:r>
            <a:r>
              <a:rPr lang="en-US" sz="1800" dirty="0" err="1" smtClean="0">
                <a:latin typeface="Cambria" panose="02040503050406030204" pitchFamily="18" charset="0"/>
                <a:ea typeface="Cambria" panose="02040503050406030204" pitchFamily="18" charset="0"/>
              </a:rPr>
              <a:t>con.createStatement</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dirty="0" err="1" smtClean="0">
                <a:latin typeface="Cambria" panose="02040503050406030204" pitchFamily="18" charset="0"/>
                <a:ea typeface="Cambria" panose="02040503050406030204" pitchFamily="18" charset="0"/>
              </a:rPr>
              <a:t>ResultSet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rs</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stmt.executeQuery</a:t>
            </a:r>
            <a:r>
              <a:rPr lang="en-US" sz="1800" dirty="0" smtClean="0">
                <a:latin typeface="Cambria" panose="02040503050406030204" pitchFamily="18" charset="0"/>
                <a:ea typeface="Cambria" panose="02040503050406030204" pitchFamily="18" charset="0"/>
              </a:rPr>
              <a:t>("select * from </a:t>
            </a:r>
            <a:r>
              <a:rPr lang="en-US" sz="1800" dirty="0" err="1" smtClean="0">
                <a:latin typeface="Cambria" panose="02040503050406030204" pitchFamily="18" charset="0"/>
                <a:ea typeface="Cambria" panose="02040503050406030204" pitchFamily="18" charset="0"/>
              </a:rPr>
              <a:t>emp</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b="1" dirty="0" smtClean="0">
                <a:latin typeface="Cambria" panose="02040503050406030204" pitchFamily="18" charset="0"/>
                <a:ea typeface="Cambria" panose="02040503050406030204" pitchFamily="18" charset="0"/>
              </a:rPr>
              <a:t>while</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rs.next</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rs.getInt</a:t>
            </a:r>
            <a:r>
              <a:rPr lang="en-US" sz="1800" dirty="0" smtClean="0">
                <a:latin typeface="Cambria" panose="02040503050406030204" pitchFamily="18" charset="0"/>
                <a:ea typeface="Cambria" panose="02040503050406030204" pitchFamily="18" charset="0"/>
              </a:rPr>
              <a:t>(1)+"  "+</a:t>
            </a:r>
            <a:r>
              <a:rPr lang="en-US" sz="1800" dirty="0" err="1" smtClean="0">
                <a:latin typeface="Cambria" panose="02040503050406030204" pitchFamily="18" charset="0"/>
                <a:ea typeface="Cambria" panose="02040503050406030204" pitchFamily="18" charset="0"/>
              </a:rPr>
              <a:t>rs.getString</a:t>
            </a:r>
            <a:r>
              <a:rPr lang="en-US" sz="1800" dirty="0" smtClean="0">
                <a:latin typeface="Cambria" panose="02040503050406030204" pitchFamily="18" charset="0"/>
                <a:ea typeface="Cambria" panose="02040503050406030204" pitchFamily="18" charset="0"/>
              </a:rPr>
              <a:t>(2)+"  "+</a:t>
            </a:r>
            <a:r>
              <a:rPr lang="en-US" sz="1800" dirty="0" err="1" smtClean="0">
                <a:latin typeface="Cambria" panose="02040503050406030204" pitchFamily="18" charset="0"/>
                <a:ea typeface="Cambria" panose="02040503050406030204" pitchFamily="18" charset="0"/>
              </a:rPr>
              <a:t>rs.getString</a:t>
            </a:r>
            <a:r>
              <a:rPr lang="en-US" sz="1800" dirty="0" smtClean="0">
                <a:latin typeface="Cambria" panose="02040503050406030204" pitchFamily="18" charset="0"/>
                <a:ea typeface="Cambria" panose="02040503050406030204" pitchFamily="18" charset="0"/>
              </a:rPr>
              <a:t>(3));  </a:t>
            </a:r>
          </a:p>
          <a:p>
            <a:pPr algn="just">
              <a:spcBef>
                <a:spcPts val="0"/>
              </a:spcBef>
              <a:buNone/>
            </a:pPr>
            <a:r>
              <a:rPr lang="en-US" sz="1800" dirty="0" err="1" smtClean="0">
                <a:latin typeface="Cambria" panose="02040503050406030204" pitchFamily="18" charset="0"/>
                <a:ea typeface="Cambria" panose="02040503050406030204" pitchFamily="18" charset="0"/>
              </a:rPr>
              <a:t>con.close</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dirty="0" smtClean="0">
                <a:latin typeface="Cambria" panose="02040503050406030204" pitchFamily="18" charset="0"/>
                <a:ea typeface="Cambria" panose="02040503050406030204" pitchFamily="18" charset="0"/>
              </a:rPr>
              <a:t>}</a:t>
            </a:r>
            <a:r>
              <a:rPr lang="en-US" sz="1800" b="1" dirty="0" smtClean="0">
                <a:latin typeface="Cambria" panose="02040503050406030204" pitchFamily="18" charset="0"/>
                <a:ea typeface="Cambria" panose="02040503050406030204" pitchFamily="18" charset="0"/>
              </a:rPr>
              <a:t>catch</a:t>
            </a:r>
            <a:r>
              <a:rPr lang="en-US" sz="1800" dirty="0" smtClean="0">
                <a:latin typeface="Cambria" panose="02040503050406030204" pitchFamily="18" charset="0"/>
                <a:ea typeface="Cambria" panose="02040503050406030204" pitchFamily="18" charset="0"/>
              </a:rPr>
              <a:t>(Exception e){ </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(e);}  </a:t>
            </a:r>
          </a:p>
          <a:p>
            <a:pPr algn="just">
              <a:spcBef>
                <a:spcPts val="0"/>
              </a:spcBef>
              <a:buNone/>
            </a:pP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dirty="0" smtClean="0">
                <a:latin typeface="Cambria" panose="02040503050406030204" pitchFamily="18" charset="0"/>
                <a:ea typeface="Cambria" panose="02040503050406030204" pitchFamily="18" charset="0"/>
              </a:rPr>
              <a:t>}  </a:t>
            </a:r>
          </a:p>
          <a:p>
            <a:pPr algn="just">
              <a:spcBef>
                <a:spcPts val="0"/>
              </a:spcBef>
              <a:buNone/>
            </a:pPr>
            <a:endParaRPr lang="en-US" sz="18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80</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Configuring</a:t>
            </a:r>
            <a:endParaRPr lang="en-US" dirty="0"/>
          </a:p>
        </p:txBody>
      </p:sp>
      <p:sp>
        <p:nvSpPr>
          <p:cNvPr id="3" name="Content Placeholder 2"/>
          <p:cNvSpPr>
            <a:spLocks noGrp="1"/>
          </p:cNvSpPr>
          <p:nvPr>
            <p:ph idx="1"/>
          </p:nvPr>
        </p:nvSpPr>
        <p:spPr/>
        <p:txBody>
          <a:bodyPr/>
          <a:lstStyle/>
          <a:p>
            <a:r>
              <a:rPr lang="en-GB" dirty="0" smtClean="0"/>
              <a:t> o connect java application with the </a:t>
            </a:r>
            <a:r>
              <a:rPr lang="en-GB" dirty="0" err="1" smtClean="0"/>
              <a:t>mysql</a:t>
            </a:r>
            <a:r>
              <a:rPr lang="en-GB" dirty="0" smtClean="0"/>
              <a:t> database, </a:t>
            </a:r>
            <a:r>
              <a:rPr lang="en-GB" b="1" dirty="0" smtClean="0"/>
              <a:t>mysqlconnector.jar</a:t>
            </a:r>
            <a:r>
              <a:rPr lang="en-GB" dirty="0" smtClean="0"/>
              <a:t> file is required to be loaded.</a:t>
            </a:r>
          </a:p>
          <a:p>
            <a:r>
              <a:rPr lang="en-GB" dirty="0" smtClean="0">
                <a:hlinkClick r:id="rId2"/>
              </a:rPr>
              <a:t>download the jar file mysql-connector.jar</a:t>
            </a:r>
            <a:endParaRPr lang="en-GB" dirty="0" smtClean="0"/>
          </a:p>
          <a:p>
            <a:r>
              <a:rPr lang="en-GB" dirty="0" smtClean="0"/>
              <a:t>Two ways to load the jar file:</a:t>
            </a:r>
          </a:p>
          <a:p>
            <a:r>
              <a:rPr lang="en-GB" dirty="0" smtClean="0"/>
              <a:t>Paste the mysqlconnector.jar file in </a:t>
            </a:r>
            <a:r>
              <a:rPr lang="en-GB" dirty="0" err="1" smtClean="0"/>
              <a:t>jre</a:t>
            </a:r>
            <a:r>
              <a:rPr lang="en-GB" dirty="0" smtClean="0"/>
              <a:t>/lib/ext folder</a:t>
            </a:r>
          </a:p>
          <a:p>
            <a:r>
              <a:rPr lang="en-GB" dirty="0" smtClean="0"/>
              <a:t>Set </a:t>
            </a:r>
            <a:r>
              <a:rPr lang="en-GB" dirty="0" err="1" smtClean="0"/>
              <a:t>classpath</a:t>
            </a:r>
            <a:endParaRPr lang="en-GB" dirty="0" smtClean="0"/>
          </a:p>
          <a:p>
            <a:r>
              <a:rPr lang="en-GB" dirty="0" smtClean="0"/>
              <a:t>1) Paste the mysqlconnector.jar file in JRE/lib/ext folder:</a:t>
            </a:r>
          </a:p>
          <a:p>
            <a:r>
              <a:rPr lang="en-GB" dirty="0" smtClean="0"/>
              <a:t>Download the mysqlconnector.jar file. Go to </a:t>
            </a:r>
            <a:r>
              <a:rPr lang="en-GB" dirty="0" err="1" smtClean="0"/>
              <a:t>jre</a:t>
            </a:r>
            <a:r>
              <a:rPr lang="en-GB" dirty="0" smtClean="0"/>
              <a:t>/lib/ext folder and paste the jar file here.2) Set </a:t>
            </a:r>
            <a:r>
              <a:rPr lang="en-GB" dirty="0" err="1" smtClean="0"/>
              <a:t>classpath</a:t>
            </a:r>
            <a:r>
              <a:rPr lang="en-GB" dirty="0" smtClean="0"/>
              <a:t>:</a:t>
            </a:r>
          </a:p>
          <a:p>
            <a:r>
              <a:rPr lang="en-GB" dirty="0" smtClean="0"/>
              <a:t>There are two ways to set the </a:t>
            </a:r>
            <a:r>
              <a:rPr lang="en-GB" dirty="0" err="1" smtClean="0"/>
              <a:t>classpath:temporary</a:t>
            </a:r>
            <a:endParaRPr lang="en-GB" dirty="0" smtClean="0"/>
          </a:p>
          <a:p>
            <a:r>
              <a:rPr lang="en-GB" dirty="0" smtClean="0"/>
              <a:t>permanent</a:t>
            </a:r>
          </a:p>
          <a:p>
            <a:r>
              <a:rPr lang="en-GB" dirty="0" smtClean="0"/>
              <a:t>How to set the temporary </a:t>
            </a:r>
            <a:r>
              <a:rPr lang="en-GB" dirty="0" err="1" smtClean="0"/>
              <a:t>classpath</a:t>
            </a:r>
            <a:endParaRPr lang="en-GB" dirty="0" smtClean="0"/>
          </a:p>
          <a:p>
            <a:r>
              <a:rPr lang="en-GB" dirty="0" smtClean="0"/>
              <a:t>open command prompt and write:</a:t>
            </a:r>
          </a:p>
          <a:p>
            <a:r>
              <a:rPr lang="en-GB" dirty="0" smtClean="0"/>
              <a:t>C:&gt;set </a:t>
            </a:r>
            <a:r>
              <a:rPr lang="en-GB" dirty="0" err="1" smtClean="0"/>
              <a:t>classpath</a:t>
            </a:r>
            <a:r>
              <a:rPr lang="en-GB" dirty="0" smtClean="0"/>
              <a:t>=c:\folder\mysql-connector-java-5.0.8-bin.jar;.;  </a:t>
            </a:r>
          </a:p>
          <a:p>
            <a:r>
              <a:rPr lang="en-GB" dirty="0" smtClean="0"/>
              <a:t>How to set the permanent </a:t>
            </a:r>
            <a:r>
              <a:rPr lang="en-GB" dirty="0" err="1" smtClean="0"/>
              <a:t>classpath</a:t>
            </a:r>
            <a:endParaRPr lang="en-GB" dirty="0" smtClean="0"/>
          </a:p>
          <a:p>
            <a:r>
              <a:rPr lang="en-GB" dirty="0" smtClean="0"/>
              <a:t>Go to environment variable then click on new tab. In variable name write </a:t>
            </a:r>
            <a:r>
              <a:rPr lang="en-GB" b="1" dirty="0" err="1" smtClean="0"/>
              <a:t>classpath</a:t>
            </a:r>
            <a:r>
              <a:rPr lang="en-GB" dirty="0" smtClean="0"/>
              <a:t> and in variable value paste the path to the mysqlconnector.jar file by appending mysqlconnector.jar;.; as C:\folder\mysql-connector-java-5.0.8-bin.jar;.;</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81</a:t>
            </a:fld>
            <a:endParaRPr lang="en-US" altLang="en-US"/>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GB" dirty="0" smtClean="0"/>
              <a:t> Connectivity with Access without DSN</a:t>
            </a:r>
            <a:br>
              <a:rPr lang="en-GB" dirty="0" smtClean="0"/>
            </a:br>
            <a:endParaRPr lang="en-US" dirty="0"/>
          </a:p>
        </p:txBody>
      </p:sp>
      <p:sp>
        <p:nvSpPr>
          <p:cNvPr id="3" name="Content Placeholder 2"/>
          <p:cNvSpPr>
            <a:spLocks noGrp="1"/>
          </p:cNvSpPr>
          <p:nvPr>
            <p:ph idx="1"/>
          </p:nvPr>
        </p:nvSpPr>
        <p:spPr>
          <a:xfrm>
            <a:off x="838200" y="1214422"/>
            <a:ext cx="10515600" cy="4962541"/>
          </a:xfrm>
        </p:spPr>
        <p:txBody>
          <a:bodyPr/>
          <a:lstStyle/>
          <a:p>
            <a:r>
              <a:rPr lang="en-GB" dirty="0" smtClean="0"/>
              <a:t>There are two ways to connect java application with the access database.</a:t>
            </a:r>
          </a:p>
          <a:p>
            <a:pPr marL="514350" indent="-514350">
              <a:buFont typeface="+mj-lt"/>
              <a:buAutoNum type="arabicPeriod"/>
            </a:pPr>
            <a:r>
              <a:rPr lang="en-GB" dirty="0" smtClean="0"/>
              <a:t>Without DSN (Data Source Name)</a:t>
            </a:r>
          </a:p>
          <a:p>
            <a:pPr marL="514350" indent="-514350">
              <a:buFont typeface="+mj-lt"/>
              <a:buAutoNum type="arabicPeriod"/>
            </a:pPr>
            <a:r>
              <a:rPr lang="en-GB" dirty="0" smtClean="0"/>
              <a:t>With DSN</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82</a:t>
            </a:fld>
            <a:endParaRPr lang="en-US" altLang="en-US"/>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Example to Connect Java Application with access without DSN</a:t>
            </a:r>
            <a:br>
              <a:rPr lang="en-GB" dirty="0" smtClean="0"/>
            </a:br>
            <a:endParaRPr lang="en-US" dirty="0"/>
          </a:p>
        </p:txBody>
      </p:sp>
      <p:sp>
        <p:nvSpPr>
          <p:cNvPr id="3" name="Content Placeholder 2"/>
          <p:cNvSpPr>
            <a:spLocks noGrp="1"/>
          </p:cNvSpPr>
          <p:nvPr>
            <p:ph idx="1"/>
          </p:nvPr>
        </p:nvSpPr>
        <p:spPr>
          <a:xfrm>
            <a:off x="838200" y="1428736"/>
            <a:ext cx="10515600" cy="4748227"/>
          </a:xfrm>
        </p:spPr>
        <p:txBody>
          <a:bodyPr/>
          <a:lstStyle/>
          <a:p>
            <a:pPr>
              <a:spcBef>
                <a:spcPts val="0"/>
              </a:spcBef>
              <a:buNone/>
            </a:pPr>
            <a:r>
              <a:rPr lang="en-GB" sz="2000" dirty="0" smtClean="0"/>
              <a:t> </a:t>
            </a:r>
            <a:r>
              <a:rPr lang="en-GB" sz="2000" dirty="0" err="1" smtClean="0"/>
              <a:t>i</a:t>
            </a:r>
            <a:r>
              <a:rPr lang="en-US" sz="2000" b="1" dirty="0" err="1" smtClean="0"/>
              <a:t>mport</a:t>
            </a:r>
            <a:r>
              <a:rPr lang="en-US" sz="2000" dirty="0" smtClean="0"/>
              <a:t> java.sql.*;  </a:t>
            </a:r>
          </a:p>
          <a:p>
            <a:pPr>
              <a:spcBef>
                <a:spcPts val="0"/>
              </a:spcBef>
              <a:buNone/>
            </a:pPr>
            <a:r>
              <a:rPr lang="en-US" sz="2000" b="1" dirty="0" smtClean="0"/>
              <a:t>class</a:t>
            </a:r>
            <a:r>
              <a:rPr lang="en-US" sz="2000" dirty="0" smtClean="0"/>
              <a:t> Test{  </a:t>
            </a:r>
          </a:p>
          <a:p>
            <a:pPr>
              <a:spcBef>
                <a:spcPts val="0"/>
              </a:spcBef>
              <a:buNone/>
            </a:pP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a:t>
            </a:r>
            <a:r>
              <a:rPr lang="en-US" sz="2000" dirty="0" smtClean="0"/>
              <a:t>[]){  </a:t>
            </a:r>
          </a:p>
          <a:p>
            <a:pPr>
              <a:spcBef>
                <a:spcPts val="0"/>
              </a:spcBef>
              <a:buNone/>
            </a:pPr>
            <a:r>
              <a:rPr lang="en-US" sz="2000" dirty="0" smtClean="0"/>
              <a:t> </a:t>
            </a:r>
            <a:r>
              <a:rPr lang="en-US" sz="2000" b="1" dirty="0" smtClean="0"/>
              <a:t>try</a:t>
            </a:r>
            <a:r>
              <a:rPr lang="en-US" sz="2000" dirty="0" smtClean="0"/>
              <a:t>{  </a:t>
            </a:r>
          </a:p>
          <a:p>
            <a:pPr>
              <a:spcBef>
                <a:spcPts val="0"/>
              </a:spcBef>
              <a:buNone/>
            </a:pPr>
            <a:r>
              <a:rPr lang="en-US" sz="2000" dirty="0" smtClean="0"/>
              <a:t>   String database="student.mdb";//Here database exists in the current directory  </a:t>
            </a:r>
          </a:p>
          <a:p>
            <a:pPr>
              <a:spcBef>
                <a:spcPts val="0"/>
              </a:spcBef>
              <a:buNone/>
            </a:pPr>
            <a:r>
              <a:rPr lang="en-US" sz="2000" dirty="0" smtClean="0"/>
              <a:t>  </a:t>
            </a:r>
          </a:p>
          <a:p>
            <a:pPr>
              <a:spcBef>
                <a:spcPts val="0"/>
              </a:spcBef>
              <a:buNone/>
            </a:pPr>
            <a:r>
              <a:rPr lang="en-US" sz="2000" dirty="0" smtClean="0"/>
              <a:t>   String </a:t>
            </a:r>
            <a:r>
              <a:rPr lang="en-US" sz="2000" dirty="0" err="1" smtClean="0"/>
              <a:t>url</a:t>
            </a:r>
            <a:r>
              <a:rPr lang="en-US" sz="2000" dirty="0" smtClean="0"/>
              <a:t>="</a:t>
            </a:r>
            <a:r>
              <a:rPr lang="en-US" sz="2000" dirty="0" err="1" smtClean="0"/>
              <a:t>jdbc:odbc:Driver</a:t>
            </a:r>
            <a:r>
              <a:rPr lang="en-US" sz="2000" dirty="0" smtClean="0"/>
              <a:t>={Microsoft Access Driver (*.mdb)};  </a:t>
            </a:r>
          </a:p>
          <a:p>
            <a:pPr>
              <a:spcBef>
                <a:spcPts val="0"/>
              </a:spcBef>
              <a:buNone/>
            </a:pPr>
            <a:r>
              <a:rPr lang="en-US" sz="2000" dirty="0" smtClean="0"/>
              <a:t>                    DBQ=" + database + ";</a:t>
            </a:r>
            <a:r>
              <a:rPr lang="en-US" sz="2000" dirty="0" err="1" smtClean="0"/>
              <a:t>DriverID</a:t>
            </a:r>
            <a:r>
              <a:rPr lang="en-US" sz="2000" dirty="0" smtClean="0"/>
              <a:t>=22;READONLY=</a:t>
            </a:r>
            <a:r>
              <a:rPr lang="en-US" sz="2000" b="1" dirty="0" smtClean="0"/>
              <a:t>true</a:t>
            </a:r>
            <a:r>
              <a:rPr lang="en-US" sz="2000" dirty="0" smtClean="0"/>
              <a:t>";  </a:t>
            </a:r>
          </a:p>
          <a:p>
            <a:pPr>
              <a:spcBef>
                <a:spcPts val="0"/>
              </a:spcBef>
              <a:buNone/>
            </a:pPr>
            <a:r>
              <a:rPr lang="en-US" sz="2000" dirty="0" smtClean="0"/>
              <a:t>  </a:t>
            </a:r>
          </a:p>
          <a:p>
            <a:pPr>
              <a:spcBef>
                <a:spcPts val="0"/>
              </a:spcBef>
              <a:buNone/>
            </a:pPr>
            <a:r>
              <a:rPr lang="en-US" sz="2000" dirty="0" smtClean="0"/>
              <a:t>   </a:t>
            </a:r>
            <a:r>
              <a:rPr lang="en-US" sz="2000" dirty="0" err="1" smtClean="0"/>
              <a:t>Class.forName</a:t>
            </a:r>
            <a:r>
              <a:rPr lang="en-US" sz="2000" dirty="0" smtClean="0"/>
              <a:t>("</a:t>
            </a:r>
            <a:r>
              <a:rPr lang="en-US" sz="2000" dirty="0" err="1" smtClean="0"/>
              <a:t>sun.jdbc.odbc.JdbcOdbcDriver</a:t>
            </a:r>
            <a:r>
              <a:rPr lang="en-US" sz="2000" dirty="0" smtClean="0"/>
              <a:t>");  </a:t>
            </a:r>
          </a:p>
          <a:p>
            <a:pPr>
              <a:spcBef>
                <a:spcPts val="0"/>
              </a:spcBef>
              <a:buNone/>
            </a:pPr>
            <a:r>
              <a:rPr lang="en-US" sz="2000" dirty="0" smtClean="0"/>
              <a:t>   Connection c=</a:t>
            </a:r>
            <a:r>
              <a:rPr lang="en-US" sz="2000" dirty="0" err="1" smtClean="0"/>
              <a:t>DriverManager.getConnection</a:t>
            </a:r>
            <a:r>
              <a:rPr lang="en-US" sz="2000" dirty="0" smtClean="0"/>
              <a:t>(</a:t>
            </a:r>
            <a:r>
              <a:rPr lang="en-US" sz="2000" dirty="0" err="1" smtClean="0"/>
              <a:t>url</a:t>
            </a:r>
            <a:r>
              <a:rPr lang="en-US" sz="2000" dirty="0" smtClean="0"/>
              <a:t>);  </a:t>
            </a:r>
          </a:p>
          <a:p>
            <a:pPr>
              <a:spcBef>
                <a:spcPts val="0"/>
              </a:spcBef>
              <a:buNone/>
            </a:pPr>
            <a:r>
              <a:rPr lang="en-US" sz="2000" dirty="0" smtClean="0"/>
              <a:t>   Statement </a:t>
            </a:r>
            <a:r>
              <a:rPr lang="en-US" sz="2000" dirty="0" err="1" smtClean="0"/>
              <a:t>st</a:t>
            </a:r>
            <a:r>
              <a:rPr lang="en-US" sz="2000" dirty="0" smtClean="0"/>
              <a:t>=</a:t>
            </a:r>
            <a:r>
              <a:rPr lang="en-US" sz="2000" dirty="0" err="1" smtClean="0"/>
              <a:t>c.createStatement</a:t>
            </a:r>
            <a:r>
              <a:rPr lang="en-US" sz="2000" dirty="0" smtClean="0"/>
              <a:t>();  </a:t>
            </a:r>
          </a:p>
          <a:p>
            <a:pPr>
              <a:spcBef>
                <a:spcPts val="0"/>
              </a:spcBef>
              <a:buNone/>
            </a:pPr>
            <a:r>
              <a:rPr lang="en-US" sz="2000" dirty="0" smtClean="0"/>
              <a:t>   </a:t>
            </a:r>
            <a:r>
              <a:rPr lang="en-US" sz="2000" dirty="0" err="1" smtClean="0"/>
              <a:t>ResultSet</a:t>
            </a:r>
            <a:r>
              <a:rPr lang="en-US" sz="2000" dirty="0" smtClean="0"/>
              <a:t> </a:t>
            </a:r>
            <a:r>
              <a:rPr lang="en-US" sz="2000" dirty="0" err="1" smtClean="0"/>
              <a:t>rs</a:t>
            </a:r>
            <a:r>
              <a:rPr lang="en-US" sz="2000" dirty="0" smtClean="0"/>
              <a:t>=</a:t>
            </a:r>
            <a:r>
              <a:rPr lang="en-US" sz="2000" dirty="0" err="1" smtClean="0"/>
              <a:t>st.executeQuery</a:t>
            </a:r>
            <a:r>
              <a:rPr lang="en-US" sz="2000" dirty="0" smtClean="0"/>
              <a:t>("select * from login");  </a:t>
            </a:r>
          </a:p>
          <a:p>
            <a:pPr>
              <a:spcBef>
                <a:spcPts val="0"/>
              </a:spcBef>
              <a:buNone/>
            </a:pPr>
            <a:r>
              <a:rPr lang="en-US" sz="2000" dirty="0" smtClean="0"/>
              <a:t>    </a:t>
            </a:r>
          </a:p>
          <a:p>
            <a:pPr>
              <a:spcBef>
                <a:spcPts val="0"/>
              </a:spcBef>
              <a:buNone/>
            </a:pPr>
            <a:r>
              <a:rPr lang="en-US" sz="2000" dirty="0" smtClean="0"/>
              <a:t>   </a:t>
            </a:r>
            <a:r>
              <a:rPr lang="en-US" sz="2000" b="1" dirty="0" smtClean="0"/>
              <a:t>while</a:t>
            </a:r>
            <a:r>
              <a:rPr lang="en-US" sz="2000" dirty="0" smtClean="0"/>
              <a:t>(</a:t>
            </a:r>
            <a:r>
              <a:rPr lang="en-US" sz="2000" dirty="0" err="1" smtClean="0"/>
              <a:t>rs.next</a:t>
            </a:r>
            <a:r>
              <a:rPr lang="en-US" sz="2000" dirty="0" smtClean="0"/>
              <a:t>()){  </a:t>
            </a:r>
          </a:p>
          <a:p>
            <a:pPr>
              <a:spcBef>
                <a:spcPts val="0"/>
              </a:spcBef>
              <a:buNone/>
            </a:pPr>
            <a:r>
              <a:rPr lang="en-US" sz="2000" dirty="0" smtClean="0"/>
              <a:t>    </a:t>
            </a:r>
            <a:r>
              <a:rPr lang="en-US" sz="2000" dirty="0" err="1" smtClean="0"/>
              <a:t>System.out.println</a:t>
            </a:r>
            <a:r>
              <a:rPr lang="en-US" sz="2000" dirty="0" smtClean="0"/>
              <a:t>(</a:t>
            </a:r>
            <a:r>
              <a:rPr lang="en-US" sz="2000" dirty="0" err="1" smtClean="0"/>
              <a:t>rs.getString</a:t>
            </a:r>
            <a:r>
              <a:rPr lang="en-US" sz="2000" dirty="0" smtClean="0"/>
              <a:t>(1));  </a:t>
            </a:r>
          </a:p>
          <a:p>
            <a:pPr>
              <a:spcBef>
                <a:spcPts val="0"/>
              </a:spcBef>
              <a:buNone/>
            </a:pPr>
            <a:r>
              <a:rPr lang="en-US" sz="2000" dirty="0" smtClean="0"/>
              <a:t>   }  </a:t>
            </a:r>
          </a:p>
          <a:p>
            <a:pPr>
              <a:spcBef>
                <a:spcPts val="0"/>
              </a:spcBef>
              <a:buNone/>
            </a:pPr>
            <a:r>
              <a:rPr lang="en-US" sz="2000" dirty="0" smtClean="0"/>
              <a:t>  </a:t>
            </a:r>
          </a:p>
          <a:p>
            <a:pPr>
              <a:spcBef>
                <a:spcPts val="0"/>
              </a:spcBef>
              <a:buNone/>
            </a:pPr>
            <a:r>
              <a:rPr lang="en-US" sz="2000" dirty="0" smtClean="0"/>
              <a:t>}</a:t>
            </a:r>
            <a:r>
              <a:rPr lang="en-US" sz="2000" b="1" dirty="0" smtClean="0"/>
              <a:t>catch</a:t>
            </a:r>
            <a:r>
              <a:rPr lang="en-US" sz="2000" dirty="0" smtClean="0"/>
              <a:t>(Exception </a:t>
            </a:r>
            <a:r>
              <a:rPr lang="en-US" sz="2000" dirty="0" err="1" smtClean="0"/>
              <a:t>ee</a:t>
            </a:r>
            <a:r>
              <a:rPr lang="en-US" sz="2000" dirty="0" smtClean="0"/>
              <a:t>){</a:t>
            </a:r>
            <a:r>
              <a:rPr lang="en-US" sz="2000" dirty="0" err="1" smtClean="0"/>
              <a:t>System.out.println</a:t>
            </a:r>
            <a:r>
              <a:rPr lang="en-US" sz="2000" dirty="0" smtClean="0"/>
              <a:t>(</a:t>
            </a:r>
            <a:r>
              <a:rPr lang="en-US" sz="2000" dirty="0" err="1" smtClean="0"/>
              <a:t>ee</a:t>
            </a:r>
            <a:r>
              <a:rPr lang="en-US" sz="2000" dirty="0" smtClean="0"/>
              <a:t>);}  </a:t>
            </a:r>
          </a:p>
          <a:p>
            <a:pPr>
              <a:spcBef>
                <a:spcPts val="0"/>
              </a:spcBef>
              <a:buNone/>
            </a:pPr>
            <a:r>
              <a:rPr lang="en-US" sz="2000" dirty="0" smtClean="0"/>
              <a:t>  </a:t>
            </a:r>
          </a:p>
          <a:p>
            <a:pPr>
              <a:spcBef>
                <a:spcPts val="0"/>
              </a:spcBef>
              <a:buNone/>
            </a:pPr>
            <a:r>
              <a:rPr lang="en-US" sz="2000" dirty="0" smtClean="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83</a:t>
            </a:fld>
            <a:endParaRPr lang="en-US" altLang="en-US"/>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Example to Connect Java Application with access with DSN</a:t>
            </a:r>
            <a:endParaRPr lang="en-GB" dirty="0"/>
          </a:p>
        </p:txBody>
      </p:sp>
      <p:sp>
        <p:nvSpPr>
          <p:cNvPr id="3" name="Content Placeholder 2"/>
          <p:cNvSpPr>
            <a:spLocks noGrp="1"/>
          </p:cNvSpPr>
          <p:nvPr>
            <p:ph idx="1"/>
          </p:nvPr>
        </p:nvSpPr>
        <p:spPr/>
        <p:txBody>
          <a:bodyPr/>
          <a:lstStyle/>
          <a:p>
            <a:pPr>
              <a:spcBef>
                <a:spcPts val="0"/>
              </a:spcBef>
              <a:buNone/>
            </a:pPr>
            <a:r>
              <a:rPr lang="en-US" sz="2000" b="1" dirty="0" smtClean="0"/>
              <a:t>import</a:t>
            </a:r>
            <a:r>
              <a:rPr lang="en-US" sz="2000" dirty="0" smtClean="0"/>
              <a:t> java.sql.*;  </a:t>
            </a:r>
          </a:p>
          <a:p>
            <a:pPr>
              <a:spcBef>
                <a:spcPts val="0"/>
              </a:spcBef>
              <a:buNone/>
            </a:pPr>
            <a:r>
              <a:rPr lang="en-US" sz="2000" b="1" dirty="0" smtClean="0"/>
              <a:t>class</a:t>
            </a:r>
            <a:r>
              <a:rPr lang="en-US" sz="2000" dirty="0" smtClean="0"/>
              <a:t> Test{  </a:t>
            </a:r>
          </a:p>
          <a:p>
            <a:pPr>
              <a:spcBef>
                <a:spcPts val="0"/>
              </a:spcBef>
              <a:buNone/>
            </a:pP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a:t>
            </a:r>
            <a:r>
              <a:rPr lang="en-US" sz="2000" dirty="0" smtClean="0"/>
              <a:t>[]){  </a:t>
            </a:r>
          </a:p>
          <a:p>
            <a:pPr>
              <a:spcBef>
                <a:spcPts val="0"/>
              </a:spcBef>
              <a:buNone/>
            </a:pPr>
            <a:r>
              <a:rPr lang="en-US" sz="2000" dirty="0" smtClean="0"/>
              <a:t> </a:t>
            </a:r>
            <a:r>
              <a:rPr lang="en-US" sz="2000" b="1" dirty="0" smtClean="0"/>
              <a:t>try</a:t>
            </a:r>
            <a:r>
              <a:rPr lang="en-US" sz="2000" dirty="0" smtClean="0"/>
              <a:t>{  </a:t>
            </a:r>
          </a:p>
          <a:p>
            <a:pPr>
              <a:spcBef>
                <a:spcPts val="0"/>
              </a:spcBef>
              <a:buNone/>
            </a:pPr>
            <a:r>
              <a:rPr lang="en-US" sz="2000" dirty="0" smtClean="0"/>
              <a:t>   String </a:t>
            </a:r>
            <a:r>
              <a:rPr lang="en-US" sz="2000" dirty="0" err="1" smtClean="0"/>
              <a:t>url</a:t>
            </a:r>
            <a:r>
              <a:rPr lang="en-US" sz="2000" dirty="0" smtClean="0"/>
              <a:t>="</a:t>
            </a:r>
            <a:r>
              <a:rPr lang="en-US" sz="2000" dirty="0" err="1" smtClean="0"/>
              <a:t>jdbc:odbc:mydsn</a:t>
            </a:r>
            <a:r>
              <a:rPr lang="en-US" sz="2000" dirty="0" smtClean="0"/>
              <a:t>";  </a:t>
            </a:r>
          </a:p>
          <a:p>
            <a:pPr>
              <a:spcBef>
                <a:spcPts val="0"/>
              </a:spcBef>
              <a:buNone/>
            </a:pPr>
            <a:r>
              <a:rPr lang="en-US" sz="2000" dirty="0" smtClean="0"/>
              <a:t>   </a:t>
            </a:r>
            <a:r>
              <a:rPr lang="en-US" sz="2000" dirty="0" err="1" smtClean="0"/>
              <a:t>Class.forName</a:t>
            </a:r>
            <a:r>
              <a:rPr lang="en-US" sz="2000" dirty="0" smtClean="0"/>
              <a:t>("</a:t>
            </a:r>
            <a:r>
              <a:rPr lang="en-US" sz="2000" dirty="0" err="1" smtClean="0"/>
              <a:t>sun.jdbc.odbc.JdbcOdbcDriver</a:t>
            </a:r>
            <a:r>
              <a:rPr lang="en-US" sz="2000" dirty="0" smtClean="0"/>
              <a:t>");  </a:t>
            </a:r>
          </a:p>
          <a:p>
            <a:pPr>
              <a:spcBef>
                <a:spcPts val="0"/>
              </a:spcBef>
              <a:buNone/>
            </a:pPr>
            <a:r>
              <a:rPr lang="en-US" sz="2000" dirty="0" smtClean="0"/>
              <a:t>   Connection c=</a:t>
            </a:r>
            <a:r>
              <a:rPr lang="en-US" sz="2000" dirty="0" err="1" smtClean="0"/>
              <a:t>DriverManager.getConnection</a:t>
            </a:r>
            <a:r>
              <a:rPr lang="en-US" sz="2000" dirty="0" smtClean="0"/>
              <a:t>(</a:t>
            </a:r>
            <a:r>
              <a:rPr lang="en-US" sz="2000" dirty="0" err="1" smtClean="0"/>
              <a:t>url</a:t>
            </a:r>
            <a:r>
              <a:rPr lang="en-US" sz="2000" dirty="0" smtClean="0"/>
              <a:t>);  </a:t>
            </a:r>
          </a:p>
          <a:p>
            <a:pPr>
              <a:spcBef>
                <a:spcPts val="0"/>
              </a:spcBef>
              <a:buNone/>
            </a:pPr>
            <a:r>
              <a:rPr lang="en-US" sz="2000" dirty="0" smtClean="0"/>
              <a:t>   Statement </a:t>
            </a:r>
            <a:r>
              <a:rPr lang="en-US" sz="2000" dirty="0" err="1" smtClean="0"/>
              <a:t>st</a:t>
            </a:r>
            <a:r>
              <a:rPr lang="en-US" sz="2000" dirty="0" smtClean="0"/>
              <a:t>=</a:t>
            </a:r>
            <a:r>
              <a:rPr lang="en-US" sz="2000" dirty="0" err="1" smtClean="0"/>
              <a:t>c.createStatement</a:t>
            </a:r>
            <a:r>
              <a:rPr lang="en-US" sz="2000" dirty="0" smtClean="0"/>
              <a:t>();  </a:t>
            </a:r>
          </a:p>
          <a:p>
            <a:pPr>
              <a:spcBef>
                <a:spcPts val="0"/>
              </a:spcBef>
              <a:buNone/>
            </a:pPr>
            <a:r>
              <a:rPr lang="en-US" sz="2000" dirty="0" smtClean="0"/>
              <a:t>   </a:t>
            </a:r>
            <a:r>
              <a:rPr lang="en-US" sz="2000" dirty="0" err="1" smtClean="0"/>
              <a:t>ResultSet</a:t>
            </a:r>
            <a:r>
              <a:rPr lang="en-US" sz="2000" dirty="0" smtClean="0"/>
              <a:t> </a:t>
            </a:r>
            <a:r>
              <a:rPr lang="en-US" sz="2000" dirty="0" err="1" smtClean="0"/>
              <a:t>rs</a:t>
            </a:r>
            <a:r>
              <a:rPr lang="en-US" sz="2000" dirty="0" smtClean="0"/>
              <a:t>=</a:t>
            </a:r>
            <a:r>
              <a:rPr lang="en-US" sz="2000" dirty="0" err="1" smtClean="0"/>
              <a:t>st.executeQuery</a:t>
            </a:r>
            <a:r>
              <a:rPr lang="en-US" sz="2000" dirty="0" smtClean="0"/>
              <a:t>("select * from login");  </a:t>
            </a:r>
          </a:p>
          <a:p>
            <a:pPr>
              <a:spcBef>
                <a:spcPts val="0"/>
              </a:spcBef>
              <a:buNone/>
            </a:pPr>
            <a:r>
              <a:rPr lang="en-US" sz="2000" dirty="0" smtClean="0"/>
              <a:t>    </a:t>
            </a:r>
          </a:p>
          <a:p>
            <a:pPr>
              <a:spcBef>
                <a:spcPts val="0"/>
              </a:spcBef>
              <a:buNone/>
            </a:pPr>
            <a:r>
              <a:rPr lang="en-US" sz="2000" dirty="0" smtClean="0"/>
              <a:t>  </a:t>
            </a:r>
            <a:r>
              <a:rPr lang="en-US" sz="2000" b="1" dirty="0" smtClean="0"/>
              <a:t>while</a:t>
            </a:r>
            <a:r>
              <a:rPr lang="en-US" sz="2000" dirty="0" smtClean="0"/>
              <a:t>(</a:t>
            </a:r>
            <a:r>
              <a:rPr lang="en-US" sz="2000" dirty="0" err="1" smtClean="0"/>
              <a:t>rs.next</a:t>
            </a:r>
            <a:r>
              <a:rPr lang="en-US" sz="2000" dirty="0" smtClean="0"/>
              <a:t>()){  </a:t>
            </a:r>
          </a:p>
          <a:p>
            <a:pPr>
              <a:spcBef>
                <a:spcPts val="0"/>
              </a:spcBef>
              <a:buNone/>
            </a:pPr>
            <a:r>
              <a:rPr lang="en-US" sz="2000" dirty="0" smtClean="0"/>
              <a:t>    </a:t>
            </a:r>
            <a:r>
              <a:rPr lang="en-US" sz="2000" dirty="0" err="1" smtClean="0"/>
              <a:t>System.out.println</a:t>
            </a:r>
            <a:r>
              <a:rPr lang="en-US" sz="2000" dirty="0" smtClean="0"/>
              <a:t>(</a:t>
            </a:r>
            <a:r>
              <a:rPr lang="en-US" sz="2000" dirty="0" err="1" smtClean="0"/>
              <a:t>rs.getString</a:t>
            </a:r>
            <a:r>
              <a:rPr lang="en-US" sz="2000" dirty="0" smtClean="0"/>
              <a:t>(1));  </a:t>
            </a:r>
          </a:p>
          <a:p>
            <a:pPr>
              <a:spcBef>
                <a:spcPts val="0"/>
              </a:spcBef>
              <a:buNone/>
            </a:pPr>
            <a:r>
              <a:rPr lang="en-US" sz="2000" dirty="0" smtClean="0"/>
              <a:t>   }  </a:t>
            </a:r>
          </a:p>
          <a:p>
            <a:pPr>
              <a:spcBef>
                <a:spcPts val="0"/>
              </a:spcBef>
              <a:buNone/>
            </a:pPr>
            <a:r>
              <a:rPr lang="en-US" sz="2000" dirty="0" smtClean="0"/>
              <a:t>  </a:t>
            </a:r>
          </a:p>
          <a:p>
            <a:pPr>
              <a:spcBef>
                <a:spcPts val="0"/>
              </a:spcBef>
              <a:buNone/>
            </a:pPr>
            <a:r>
              <a:rPr lang="en-US" sz="2000" dirty="0" smtClean="0"/>
              <a:t>}</a:t>
            </a:r>
            <a:r>
              <a:rPr lang="en-US" sz="2000" b="1" dirty="0" smtClean="0"/>
              <a:t>catch</a:t>
            </a:r>
            <a:r>
              <a:rPr lang="en-US" sz="2000" dirty="0" smtClean="0"/>
              <a:t>(Exception </a:t>
            </a:r>
            <a:r>
              <a:rPr lang="en-US" sz="2000" dirty="0" err="1" smtClean="0"/>
              <a:t>ee</a:t>
            </a:r>
            <a:r>
              <a:rPr lang="en-US" sz="2000" dirty="0" smtClean="0"/>
              <a:t>){</a:t>
            </a:r>
            <a:r>
              <a:rPr lang="en-US" sz="2000" dirty="0" err="1" smtClean="0"/>
              <a:t>System.out.println</a:t>
            </a:r>
            <a:r>
              <a:rPr lang="en-US" sz="2000" dirty="0" smtClean="0"/>
              <a:t>(</a:t>
            </a:r>
            <a:r>
              <a:rPr lang="en-US" sz="2000" dirty="0" err="1" smtClean="0"/>
              <a:t>ee</a:t>
            </a:r>
            <a:r>
              <a:rPr lang="en-US" sz="2000" dirty="0" smtClean="0"/>
              <a:t>);}  </a:t>
            </a:r>
          </a:p>
          <a:p>
            <a:pPr>
              <a:spcBef>
                <a:spcPts val="0"/>
              </a:spcBef>
              <a:buNone/>
            </a:pPr>
            <a:r>
              <a:rPr lang="en-US" sz="2000" dirty="0" smtClean="0"/>
              <a:t>  </a:t>
            </a:r>
          </a:p>
          <a:p>
            <a:pPr>
              <a:spcBef>
                <a:spcPts val="0"/>
              </a:spcBef>
              <a:buNone/>
            </a:pPr>
            <a:r>
              <a:rPr lang="en-US" sz="2000" dirty="0" smtClean="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84</a:t>
            </a:fld>
            <a:endParaRPr lang="en-US" altLang="en-US"/>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85</a:t>
            </a:fld>
            <a:endParaRPr lang="en-US" altLang="en-US"/>
          </a:p>
        </p:txBody>
      </p:sp>
    </p:spTree>
    <p:extLst>
      <p:ext uri="{BB962C8B-B14F-4D97-AF65-F5344CB8AC3E}">
        <p14:creationId xmlns:p14="http://schemas.microsoft.com/office/powerpoint/2010/main" val="27962159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22318</TotalTime>
  <Words>9632</Words>
  <Application>Microsoft Office PowerPoint</Application>
  <PresentationFormat>Widescreen</PresentationFormat>
  <Paragraphs>967</Paragraphs>
  <Slides>85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85</vt:i4>
      </vt:variant>
    </vt:vector>
  </HeadingPairs>
  <TitlesOfParts>
    <vt:vector size="93" baseType="lpstr">
      <vt:lpstr>Arial</vt:lpstr>
      <vt:lpstr>Arial MT</vt:lpstr>
      <vt:lpstr>Calibri</vt:lpstr>
      <vt:lpstr>Calibri Light</vt:lpstr>
      <vt:lpstr>Cambria</vt:lpstr>
      <vt:lpstr>Times New Roman</vt:lpstr>
      <vt:lpstr>Wingdings</vt:lpstr>
      <vt:lpstr>Office Theme</vt:lpstr>
      <vt:lpstr>Module 3  Collections and Database Programming using JDBC</vt:lpstr>
      <vt:lpstr>Topics</vt:lpstr>
      <vt:lpstr>Collection Framework</vt:lpstr>
      <vt:lpstr>What Is a Collection? </vt:lpstr>
      <vt:lpstr>Collection Framework 1 </vt:lpstr>
      <vt:lpstr>Collection Framework 2 </vt:lpstr>
      <vt:lpstr>Collection Framework 3 </vt:lpstr>
      <vt:lpstr>Benefits 1 </vt:lpstr>
      <vt:lpstr>Benefits 2 </vt:lpstr>
      <vt:lpstr>Core Collection Interfaces 1 </vt:lpstr>
      <vt:lpstr>Hierarchy of Collection Framework</vt:lpstr>
      <vt:lpstr>Methods of Collection interface</vt:lpstr>
      <vt:lpstr>Methods of Collection interface (contd...)</vt:lpstr>
      <vt:lpstr>Iterable Interface</vt:lpstr>
      <vt:lpstr>Iterator interface</vt:lpstr>
      <vt:lpstr>Java Cursor</vt:lpstr>
      <vt:lpstr>Collection Interface</vt:lpstr>
      <vt:lpstr>List Interface</vt:lpstr>
      <vt:lpstr>ArrayList</vt:lpstr>
      <vt:lpstr>PowerPoint Presentation</vt:lpstr>
      <vt:lpstr>Example</vt:lpstr>
      <vt:lpstr>Example</vt:lpstr>
      <vt:lpstr>Example: User-defined class objects in Java ArrayList </vt:lpstr>
      <vt:lpstr>Vector</vt:lpstr>
      <vt:lpstr>Difference between ArrayList and Vector</vt:lpstr>
      <vt:lpstr>Stack</vt:lpstr>
      <vt:lpstr>Example</vt:lpstr>
      <vt:lpstr>Queue</vt:lpstr>
      <vt:lpstr>Example</vt:lpstr>
      <vt:lpstr>Java LinkedList class</vt:lpstr>
      <vt:lpstr>Example</vt:lpstr>
      <vt:lpstr>Example</vt:lpstr>
      <vt:lpstr>Set  </vt:lpstr>
      <vt:lpstr>HashSet</vt:lpstr>
      <vt:lpstr>TreeSet</vt:lpstr>
      <vt:lpstr>Example</vt:lpstr>
      <vt:lpstr> Difference between List and Set </vt:lpstr>
      <vt:lpstr> Map Interface</vt:lpstr>
      <vt:lpstr>Java HashMap</vt:lpstr>
      <vt:lpstr>TreeMap</vt:lpstr>
      <vt:lpstr>Java Map Example: Non-Generic (Old Style)</vt:lpstr>
      <vt:lpstr>Java Map Example: Generic (New Style)</vt:lpstr>
      <vt:lpstr>Comparable interface</vt:lpstr>
      <vt:lpstr>Comparator interface</vt:lpstr>
      <vt:lpstr>Comparable vs Comparator </vt:lpstr>
      <vt:lpstr>JDBC</vt:lpstr>
      <vt:lpstr>JDBC</vt:lpstr>
      <vt:lpstr> Interfaces of JDBC API</vt:lpstr>
      <vt:lpstr>classes of JDBC API</vt:lpstr>
      <vt:lpstr>    JDBC Driver  </vt:lpstr>
      <vt:lpstr> JDBC-ODBC bridge driver</vt:lpstr>
      <vt:lpstr>  Native-API driver  </vt:lpstr>
      <vt:lpstr>  Network Protocol driver  </vt:lpstr>
      <vt:lpstr> Thin driver</vt:lpstr>
      <vt:lpstr>Database Connectivity with 5 Steps</vt:lpstr>
      <vt:lpstr> 1) Register the driver class</vt:lpstr>
      <vt:lpstr>2) Create the connection object</vt:lpstr>
      <vt:lpstr>3) Create the Statement object</vt:lpstr>
      <vt:lpstr>4) Execute the query</vt:lpstr>
      <vt:lpstr>5) Close the connection object</vt:lpstr>
      <vt:lpstr>PowerPoint Presentation</vt:lpstr>
      <vt:lpstr> Java Database Connectivity with Oracle</vt:lpstr>
      <vt:lpstr>Example</vt:lpstr>
      <vt:lpstr>Statement interface to insert, update and delete the record.</vt:lpstr>
      <vt:lpstr>ResultSet</vt:lpstr>
      <vt:lpstr>PreparedStatement </vt:lpstr>
      <vt:lpstr>Contd..</vt:lpstr>
      <vt:lpstr>What is CallableStatement?</vt:lpstr>
      <vt:lpstr>Stored Procedure Example</vt:lpstr>
      <vt:lpstr>CallableStatement Example (IN)</vt:lpstr>
      <vt:lpstr>Stored Procedure with OUT Parameter</vt:lpstr>
      <vt:lpstr>CallableStatement Example (OUT)</vt:lpstr>
      <vt:lpstr>PreparedStatement vs CallableStatement</vt:lpstr>
      <vt:lpstr>Conclusion</vt:lpstr>
      <vt:lpstr>ResultSetMetaData</vt:lpstr>
      <vt:lpstr>Other References</vt:lpstr>
      <vt:lpstr>Oracle</vt:lpstr>
      <vt:lpstr> Java Database Connectivity with MySQL </vt:lpstr>
      <vt:lpstr>MySQL</vt:lpstr>
      <vt:lpstr>  Example to Connect Java Application with mysql database </vt:lpstr>
      <vt:lpstr>Configuring</vt:lpstr>
      <vt:lpstr> Connectivity with Access without DSN </vt:lpstr>
      <vt:lpstr> Example to Connect Java Application with access without DSN </vt:lpstr>
      <vt:lpstr>Example to Connect Java Application with access with DSN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Solving Techniques</dc:title>
  <dc:creator>admin</dc:creator>
  <cp:lastModifiedBy>HP</cp:lastModifiedBy>
  <cp:revision>1113</cp:revision>
  <dcterms:created xsi:type="dcterms:W3CDTF">2007-08-28T09:12:38Z</dcterms:created>
  <dcterms:modified xsi:type="dcterms:W3CDTF">2026-03-16T06:18:47Z</dcterms:modified>
</cp:coreProperties>
</file>