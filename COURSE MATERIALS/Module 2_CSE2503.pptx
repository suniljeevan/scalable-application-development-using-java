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1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0"/>
  </p:notesMasterIdLst>
  <p:handoutMasterIdLst>
    <p:handoutMasterId r:id="rId71"/>
  </p:handoutMasterIdLst>
  <p:sldIdLst>
    <p:sldId id="520" r:id="rId2"/>
    <p:sldId id="596" r:id="rId3"/>
    <p:sldId id="597" r:id="rId4"/>
    <p:sldId id="619" r:id="rId5"/>
    <p:sldId id="598" r:id="rId6"/>
    <p:sldId id="609" r:id="rId7"/>
    <p:sldId id="612" r:id="rId8"/>
    <p:sldId id="613" r:id="rId9"/>
    <p:sldId id="620" r:id="rId10"/>
    <p:sldId id="621" r:id="rId11"/>
    <p:sldId id="622" r:id="rId12"/>
    <p:sldId id="624" r:id="rId13"/>
    <p:sldId id="662" r:id="rId14"/>
    <p:sldId id="663" r:id="rId15"/>
    <p:sldId id="626" r:id="rId16"/>
    <p:sldId id="664" r:id="rId17"/>
    <p:sldId id="665" r:id="rId18"/>
    <p:sldId id="628" r:id="rId19"/>
    <p:sldId id="629" r:id="rId20"/>
    <p:sldId id="667" r:id="rId21"/>
    <p:sldId id="631" r:id="rId22"/>
    <p:sldId id="666" r:id="rId23"/>
    <p:sldId id="671" r:id="rId24"/>
    <p:sldId id="632" r:id="rId25"/>
    <p:sldId id="601" r:id="rId26"/>
    <p:sldId id="608" r:id="rId27"/>
    <p:sldId id="633" r:id="rId28"/>
    <p:sldId id="639" r:id="rId29"/>
    <p:sldId id="640" r:id="rId30"/>
    <p:sldId id="641" r:id="rId31"/>
    <p:sldId id="642" r:id="rId32"/>
    <p:sldId id="643" r:id="rId33"/>
    <p:sldId id="644" r:id="rId34"/>
    <p:sldId id="645" r:id="rId35"/>
    <p:sldId id="673" r:id="rId36"/>
    <p:sldId id="674" r:id="rId37"/>
    <p:sldId id="676" r:id="rId38"/>
    <p:sldId id="672" r:id="rId39"/>
    <p:sldId id="634" r:id="rId40"/>
    <p:sldId id="661" r:id="rId41"/>
    <p:sldId id="635" r:id="rId42"/>
    <p:sldId id="636" r:id="rId43"/>
    <p:sldId id="637" r:id="rId44"/>
    <p:sldId id="638" r:id="rId45"/>
    <p:sldId id="677" r:id="rId46"/>
    <p:sldId id="678" r:id="rId47"/>
    <p:sldId id="679" r:id="rId48"/>
    <p:sldId id="680" r:id="rId49"/>
    <p:sldId id="681" r:id="rId50"/>
    <p:sldId id="646" r:id="rId51"/>
    <p:sldId id="647" r:id="rId52"/>
    <p:sldId id="648" r:id="rId53"/>
    <p:sldId id="649" r:id="rId54"/>
    <p:sldId id="650" r:id="rId55"/>
    <p:sldId id="652" r:id="rId56"/>
    <p:sldId id="653" r:id="rId57"/>
    <p:sldId id="654" r:id="rId58"/>
    <p:sldId id="655" r:id="rId59"/>
    <p:sldId id="656" r:id="rId60"/>
    <p:sldId id="657" r:id="rId61"/>
    <p:sldId id="658" r:id="rId62"/>
    <p:sldId id="659" r:id="rId63"/>
    <p:sldId id="660" r:id="rId64"/>
    <p:sldId id="594" r:id="rId65"/>
    <p:sldId id="683" r:id="rId66"/>
    <p:sldId id="682" r:id="rId67"/>
    <p:sldId id="684" r:id="rId68"/>
    <p:sldId id="567" r:id="rId69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B29A"/>
    <a:srgbClr val="000F2E"/>
    <a:srgbClr val="00194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12" autoAdjust="0"/>
    <p:restoredTop sz="94434" autoAdjust="0"/>
  </p:normalViewPr>
  <p:slideViewPr>
    <p:cSldViewPr showGuides="1">
      <p:cViewPr varScale="1">
        <p:scale>
          <a:sx n="69" d="100"/>
          <a:sy n="69" d="100"/>
        </p:scale>
        <p:origin x="90" y="4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13" Type="http://schemas.openxmlformats.org/officeDocument/2006/relationships/slide" Target="slides/slide28.xml"/><Relationship Id="rId18" Type="http://schemas.openxmlformats.org/officeDocument/2006/relationships/slide" Target="slides/slide33.xml"/><Relationship Id="rId26" Type="http://schemas.openxmlformats.org/officeDocument/2006/relationships/slide" Target="slides/slide51.xml"/><Relationship Id="rId21" Type="http://schemas.openxmlformats.org/officeDocument/2006/relationships/slide" Target="slides/slide40.xml"/><Relationship Id="rId34" Type="http://schemas.openxmlformats.org/officeDocument/2006/relationships/slide" Target="slides/slide60.xml"/><Relationship Id="rId7" Type="http://schemas.openxmlformats.org/officeDocument/2006/relationships/slide" Target="slides/slide18.xml"/><Relationship Id="rId12" Type="http://schemas.openxmlformats.org/officeDocument/2006/relationships/slide" Target="slides/slide27.xml"/><Relationship Id="rId17" Type="http://schemas.openxmlformats.org/officeDocument/2006/relationships/slide" Target="slides/slide32.xml"/><Relationship Id="rId25" Type="http://schemas.openxmlformats.org/officeDocument/2006/relationships/slide" Target="slides/slide44.xml"/><Relationship Id="rId33" Type="http://schemas.openxmlformats.org/officeDocument/2006/relationships/slide" Target="slides/slide59.xml"/><Relationship Id="rId2" Type="http://schemas.openxmlformats.org/officeDocument/2006/relationships/slide" Target="slides/slide6.xml"/><Relationship Id="rId16" Type="http://schemas.openxmlformats.org/officeDocument/2006/relationships/slide" Target="slides/slide31.xml"/><Relationship Id="rId20" Type="http://schemas.openxmlformats.org/officeDocument/2006/relationships/slide" Target="slides/slide39.xml"/><Relationship Id="rId29" Type="http://schemas.openxmlformats.org/officeDocument/2006/relationships/slide" Target="slides/slide54.xml"/><Relationship Id="rId1" Type="http://schemas.openxmlformats.org/officeDocument/2006/relationships/slide" Target="slides/slide5.xml"/><Relationship Id="rId6" Type="http://schemas.openxmlformats.org/officeDocument/2006/relationships/slide" Target="slides/slide15.xml"/><Relationship Id="rId11" Type="http://schemas.openxmlformats.org/officeDocument/2006/relationships/slide" Target="slides/slide26.xml"/><Relationship Id="rId24" Type="http://schemas.openxmlformats.org/officeDocument/2006/relationships/slide" Target="slides/slide43.xml"/><Relationship Id="rId32" Type="http://schemas.openxmlformats.org/officeDocument/2006/relationships/slide" Target="slides/slide58.xml"/><Relationship Id="rId37" Type="http://schemas.openxmlformats.org/officeDocument/2006/relationships/slide" Target="slides/slide63.xml"/><Relationship Id="rId5" Type="http://schemas.openxmlformats.org/officeDocument/2006/relationships/slide" Target="slides/slide12.xml"/><Relationship Id="rId15" Type="http://schemas.openxmlformats.org/officeDocument/2006/relationships/slide" Target="slides/slide30.xml"/><Relationship Id="rId23" Type="http://schemas.openxmlformats.org/officeDocument/2006/relationships/slide" Target="slides/slide42.xml"/><Relationship Id="rId28" Type="http://schemas.openxmlformats.org/officeDocument/2006/relationships/slide" Target="slides/slide53.xml"/><Relationship Id="rId36" Type="http://schemas.openxmlformats.org/officeDocument/2006/relationships/slide" Target="slides/slide62.xml"/><Relationship Id="rId10" Type="http://schemas.openxmlformats.org/officeDocument/2006/relationships/slide" Target="slides/slide25.xml"/><Relationship Id="rId19" Type="http://schemas.openxmlformats.org/officeDocument/2006/relationships/slide" Target="slides/slide34.xml"/><Relationship Id="rId31" Type="http://schemas.openxmlformats.org/officeDocument/2006/relationships/slide" Target="slides/slide56.xml"/><Relationship Id="rId4" Type="http://schemas.openxmlformats.org/officeDocument/2006/relationships/slide" Target="slides/slide11.xml"/><Relationship Id="rId9" Type="http://schemas.openxmlformats.org/officeDocument/2006/relationships/slide" Target="slides/slide21.xml"/><Relationship Id="rId14" Type="http://schemas.openxmlformats.org/officeDocument/2006/relationships/slide" Target="slides/slide29.xml"/><Relationship Id="rId22" Type="http://schemas.openxmlformats.org/officeDocument/2006/relationships/slide" Target="slides/slide41.xml"/><Relationship Id="rId27" Type="http://schemas.openxmlformats.org/officeDocument/2006/relationships/slide" Target="slides/slide52.xml"/><Relationship Id="rId30" Type="http://schemas.openxmlformats.org/officeDocument/2006/relationships/slide" Target="slides/slide55.xml"/><Relationship Id="rId35" Type="http://schemas.openxmlformats.org/officeDocument/2006/relationships/slide" Target="slides/slide61.xml"/><Relationship Id="rId8" Type="http://schemas.openxmlformats.org/officeDocument/2006/relationships/slide" Target="slides/slide19.xml"/><Relationship Id="rId3" Type="http://schemas.openxmlformats.org/officeDocument/2006/relationships/slide" Target="slides/slide1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5163DD-12C9-4B8E-91F3-BECE4B548A1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Mr. R C Ravindranath, Asst. Prof., SOE-CSE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884565-77A9-41BC-A3D1-C71554A711C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35E0ABE-3FD2-4491-A84F-F5DF78F574D2}" type="datetimeFigureOut">
              <a:rPr lang="en-US"/>
              <a:t>2/6/2026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r>
              <a:rPr lang="en-US" smtClean="0"/>
              <a:t>Mr. R C Ravindranath, Asst. Prof., SOE-CSE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DD763F7-5C11-4DBC-83B1-39D83E1FBE10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D763F7-5C11-4DBC-83B1-39D83E1FBE10}" type="slidenum">
              <a:rPr lang="en-US" altLang="en-US" smtClean="0"/>
              <a:t>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Mr. R C Ravindranath, Asst. Prof., SOE-CSE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2BE670-627B-4710-A3DB-75C35D56B3B8}" type="slidenum">
              <a:rPr lang="en-US" altLang="en-US"/>
              <a:t>5</a:t>
            </a:fld>
            <a:endParaRPr lang="en-US" altLang="en-US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73A665FF-A521-41CF-BC56-AB7489220B2E}" type="slidenum">
              <a:rPr lang="en-US" altLang="en-US"/>
              <a:t>6</a:t>
            </a:fld>
            <a:endParaRPr lang="en-US" altLang="en-US"/>
          </a:p>
        </p:txBody>
      </p:sp>
      <p:sp>
        <p:nvSpPr>
          <p:cNvPr id="304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725895FC-29C7-4ADE-826E-62CB46B8CC48}" type="slidenum">
              <a:rPr lang="en-US" altLang="en-US"/>
              <a:t>7</a:t>
            </a:fld>
            <a:endParaRPr lang="en-US" altLang="en-US"/>
          </a:p>
        </p:txBody>
      </p:sp>
      <p:sp>
        <p:nvSpPr>
          <p:cNvPr id="310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10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526D72E-F1D6-4620-AB30-F8C87BD5D7BB}" type="slidenum">
              <a:rPr lang="en-US" altLang="en-US"/>
              <a:t>8</a:t>
            </a:fld>
            <a:endParaRPr lang="en-US" altLang="en-US"/>
          </a:p>
        </p:txBody>
      </p:sp>
      <p:sp>
        <p:nvSpPr>
          <p:cNvPr id="312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12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2BE670-627B-4710-A3DB-75C35D56B3B8}" type="slidenum">
              <a:rPr lang="en-US" altLang="en-US"/>
              <a:t>10</a:t>
            </a:fld>
            <a:endParaRPr lang="en-US" altLang="en-US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2BE670-627B-4710-A3DB-75C35D56B3B8}" type="slidenum">
              <a:rPr lang="en-US" altLang="en-US"/>
              <a:t>11</a:t>
            </a:fld>
            <a:endParaRPr lang="en-US" altLang="en-US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2BE670-627B-4710-A3DB-75C35D56B3B8}" type="slidenum">
              <a:rPr lang="en-US" altLang="en-US"/>
              <a:t>12</a:t>
            </a:fld>
            <a:endParaRPr lang="en-US" altLang="en-US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2BE670-627B-4710-A3DB-75C35D56B3B8}" type="slidenum">
              <a:rPr lang="en-US" altLang="en-US"/>
              <a:t>15</a:t>
            </a:fld>
            <a:endParaRPr lang="en-US" altLang="en-US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2BE670-627B-4710-A3DB-75C35D56B3B8}" type="slidenum">
              <a:rPr lang="en-US" altLang="en-US"/>
              <a:t>18</a:t>
            </a:fld>
            <a:endParaRPr lang="en-US" altLang="en-US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2BE670-627B-4710-A3DB-75C35D56B3B8}" type="slidenum">
              <a:rPr lang="en-US" altLang="en-US"/>
              <a:t>19</a:t>
            </a:fld>
            <a:endParaRPr lang="en-US" altLang="en-US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2BE670-627B-4710-A3DB-75C35D56B3B8}" type="slidenum">
              <a:rPr lang="en-US" altLang="en-US"/>
              <a:t>21</a:t>
            </a:fld>
            <a:endParaRPr lang="en-US" altLang="en-US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C933362-4C40-4F8C-85DA-0FC1AAFCA1F7}" type="slidenum">
              <a:rPr lang="en-US" altLang="en-US"/>
              <a:t>25</a:t>
            </a:fld>
            <a:endParaRPr lang="en-US" altLang="en-US"/>
          </a:p>
        </p:txBody>
      </p:sp>
      <p:sp>
        <p:nvSpPr>
          <p:cNvPr id="302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2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C933362-4C40-4F8C-85DA-0FC1AAFCA1F7}" type="slidenum">
              <a:rPr lang="en-US" altLang="en-US"/>
              <a:t>26</a:t>
            </a:fld>
            <a:endParaRPr lang="en-US" altLang="en-US"/>
          </a:p>
        </p:txBody>
      </p:sp>
      <p:sp>
        <p:nvSpPr>
          <p:cNvPr id="302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2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2BE670-627B-4710-A3DB-75C35D56B3B8}" type="slidenum">
              <a:rPr lang="en-US" altLang="en-US"/>
              <a:t>27</a:t>
            </a:fld>
            <a:endParaRPr lang="en-US" altLang="en-US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2BE670-627B-4710-A3DB-75C35D56B3B8}" type="slidenum">
              <a:rPr lang="en-US" altLang="en-US"/>
              <a:t>28</a:t>
            </a:fld>
            <a:endParaRPr lang="en-US" altLang="en-US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2BE670-627B-4710-A3DB-75C35D56B3B8}" type="slidenum">
              <a:rPr lang="en-US" altLang="en-US"/>
              <a:t>29</a:t>
            </a:fld>
            <a:endParaRPr lang="en-US" altLang="en-US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2BE670-627B-4710-A3DB-75C35D56B3B8}" type="slidenum">
              <a:rPr lang="en-US" altLang="en-US"/>
              <a:t>30</a:t>
            </a:fld>
            <a:endParaRPr lang="en-US" altLang="en-US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2BE670-627B-4710-A3DB-75C35D56B3B8}" type="slidenum">
              <a:rPr lang="en-US" altLang="en-US"/>
              <a:t>31</a:t>
            </a:fld>
            <a:endParaRPr lang="en-US" altLang="en-US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2BE670-627B-4710-A3DB-75C35D56B3B8}" type="slidenum">
              <a:rPr lang="en-US" altLang="en-US"/>
              <a:t>32</a:t>
            </a:fld>
            <a:endParaRPr lang="en-US" altLang="en-US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2BE670-627B-4710-A3DB-75C35D56B3B8}" type="slidenum">
              <a:rPr lang="en-US" altLang="en-US"/>
              <a:t>33</a:t>
            </a:fld>
            <a:endParaRPr lang="en-US" altLang="en-US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2BE670-627B-4710-A3DB-75C35D56B3B8}" type="slidenum">
              <a:rPr lang="en-US" altLang="en-US"/>
              <a:t>34</a:t>
            </a:fld>
            <a:endParaRPr lang="en-US" altLang="en-US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2BE670-627B-4710-A3DB-75C35D56B3B8}" type="slidenum">
              <a:rPr lang="en-US" altLang="en-US"/>
              <a:t>39</a:t>
            </a:fld>
            <a:endParaRPr lang="en-US" altLang="en-US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2BE670-627B-4710-A3DB-75C35D56B3B8}" type="slidenum">
              <a:rPr lang="en-US" altLang="en-US"/>
              <a:t>40</a:t>
            </a:fld>
            <a:endParaRPr lang="en-US" altLang="en-US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2BE670-627B-4710-A3DB-75C35D56B3B8}" type="slidenum">
              <a:rPr lang="en-US" altLang="en-US"/>
              <a:t>41</a:t>
            </a:fld>
            <a:endParaRPr lang="en-US" altLang="en-US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2BE670-627B-4710-A3DB-75C35D56B3B8}" type="slidenum">
              <a:rPr lang="en-US" altLang="en-US"/>
              <a:t>42</a:t>
            </a:fld>
            <a:endParaRPr lang="en-US" altLang="en-US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2BE670-627B-4710-A3DB-75C35D56B3B8}" type="slidenum">
              <a:rPr lang="en-US" altLang="en-US"/>
              <a:t>43</a:t>
            </a:fld>
            <a:endParaRPr lang="en-US" altLang="en-US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2BE670-627B-4710-A3DB-75C35D56B3B8}" type="slidenum">
              <a:rPr lang="en-US" altLang="en-US"/>
              <a:t>44</a:t>
            </a:fld>
            <a:endParaRPr lang="en-US" altLang="en-US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2BE670-627B-4710-A3DB-75C35D56B3B8}" type="slidenum">
              <a:rPr lang="en-US" altLang="en-US"/>
              <a:t>51</a:t>
            </a:fld>
            <a:endParaRPr lang="en-US" altLang="en-US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2BE670-627B-4710-A3DB-75C35D56B3B8}" type="slidenum">
              <a:rPr lang="en-US" altLang="en-US"/>
              <a:t>52</a:t>
            </a:fld>
            <a:endParaRPr lang="en-US" altLang="en-US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2BE670-627B-4710-A3DB-75C35D56B3B8}" type="slidenum">
              <a:rPr lang="en-US" altLang="en-US"/>
              <a:t>53</a:t>
            </a:fld>
            <a:endParaRPr lang="en-US" altLang="en-US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2BE670-627B-4710-A3DB-75C35D56B3B8}" type="slidenum">
              <a:rPr lang="en-US" altLang="en-US"/>
              <a:t>54</a:t>
            </a:fld>
            <a:endParaRPr lang="en-US" altLang="en-US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2BE670-627B-4710-A3DB-75C35D56B3B8}" type="slidenum">
              <a:rPr lang="en-US" altLang="en-US"/>
              <a:t>55</a:t>
            </a:fld>
            <a:endParaRPr lang="en-US" altLang="en-US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2BE670-627B-4710-A3DB-75C35D56B3B8}" type="slidenum">
              <a:rPr lang="en-US" altLang="en-US"/>
              <a:t>56</a:t>
            </a:fld>
            <a:endParaRPr lang="en-US" altLang="en-US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2BE670-627B-4710-A3DB-75C35D56B3B8}" type="slidenum">
              <a:rPr lang="en-US" altLang="en-US"/>
              <a:t>58</a:t>
            </a:fld>
            <a:endParaRPr lang="en-US" altLang="en-US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2BE670-627B-4710-A3DB-75C35D56B3B8}" type="slidenum">
              <a:rPr lang="en-US" altLang="en-US"/>
              <a:t>59</a:t>
            </a:fld>
            <a:endParaRPr lang="en-US" altLang="en-US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2BE670-627B-4710-A3DB-75C35D56B3B8}" type="slidenum">
              <a:rPr lang="en-US" altLang="en-US"/>
              <a:t>60</a:t>
            </a:fld>
            <a:endParaRPr lang="en-US" altLang="en-US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2BE670-627B-4710-A3DB-75C35D56B3B8}" type="slidenum">
              <a:rPr lang="en-US" altLang="en-US"/>
              <a:t>61</a:t>
            </a:fld>
            <a:endParaRPr lang="en-US" altLang="en-US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2BE670-627B-4710-A3DB-75C35D56B3B8}" type="slidenum">
              <a:rPr lang="en-US" altLang="en-US"/>
              <a:t>62</a:t>
            </a:fld>
            <a:endParaRPr lang="en-US" altLang="en-US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F2BE670-627B-4710-A3DB-75C35D56B3B8}" type="slidenum">
              <a:rPr lang="en-US" altLang="en-US"/>
              <a:t>63</a:t>
            </a:fld>
            <a:endParaRPr lang="en-US" altLang="en-US"/>
          </a:p>
        </p:txBody>
      </p:sp>
      <p:sp>
        <p:nvSpPr>
          <p:cNvPr id="300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38DF3D-30B5-4203-9F61-4DF4C93549F9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2A8AC2-F0C4-4335-A6D7-C22D8A222454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5B14D7-8BA9-4EE1-835E-4199F7C88E61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1CA5F2-CD08-4EF5-BAD9-872B7BB2716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ACBE5-8387-44C2-8244-3C027748E0C1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B43365-358E-4EFB-9D2F-D6778ADA2A3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333E74-61D9-4270-845E-08C577B4746D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61B66A-860D-4F77-A12A-57453AAB16AB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2D354B-A90F-4649-BCD0-7311B9A1E519}" type="datetime1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9E9FAA-A59B-4AE0-A044-7FE2AB03AB9B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5BB299-A05B-4721-910A-149978AA2F99}" type="datetime1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F55CBD-5A35-43A0-8B72-DFEEFFF7823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5C664-8172-4B0B-91AD-99832E49CA68}" type="datetime1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DAE260-203A-48BA-B1E0-2820BBC6B00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9FEB66-1999-4885-9013-09B59463BA52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3378E-E05F-4D65-B4F7-A87FC027630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28574B-A9ED-4C5D-BC0D-2EE4E2CF73B9}" type="datetime1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2A09E5-A14B-4738-A48E-EF064E453217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F852DC-FA04-43A8-808A-7B02012B408F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110372-953E-4601-976C-D82CD9FCE07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285DBF-07E6-4C04-8128-7BB2323544A4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CDF80F-6F68-4B94-9701-0F2026993C48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290EFBF-FDBC-4E11-8D09-14402F29F22D}" type="datetime1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391736-D1CD-4256-BC31-406FE5C1CD1F}" type="slidenum">
              <a:rPr lang="en-US" altLang="en-US"/>
              <a:t>‹#›</a:t>
            </a:fld>
            <a:endParaRPr lang="en-US" altLang="en-US"/>
          </a:p>
        </p:txBody>
      </p:sp>
      <p:pic>
        <p:nvPicPr>
          <p:cNvPr id="1031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53025"/>
            <a:ext cx="121920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6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8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9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9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4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6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7.w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0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1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22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3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24.w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31.w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32.wmf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14600" y="1905000"/>
            <a:ext cx="71628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/>
          <a:p>
            <a:pPr algn="ctr" defTabSz="45720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sz="2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–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 defTabSz="45720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sz="28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Input/Output</a:t>
            </a:r>
            <a:r>
              <a:rPr lang="en-US" sz="2800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Operation </a:t>
            </a:r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>
                <a:cs typeface="Arial" panose="020B0604020202020204" pitchFamily="34" charset="0"/>
              </a:rPr>
              <a:t>1</a:t>
            </a:fld>
            <a:endParaRPr lang="en-US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419100" y="990600"/>
            <a:ext cx="10248900" cy="3200400"/>
          </a:xfrm>
        </p:spPr>
        <p:txBody>
          <a:bodyPr rtlCol="0">
            <a:noAutofit/>
          </a:bodyPr>
          <a:lstStyle/>
          <a:p>
            <a:pPr marL="0" indent="0">
              <a:buNone/>
            </a:pPr>
            <a:r>
              <a:rPr lang="en-US" sz="2400" dirty="0"/>
              <a:t>Input/output operation in java (java.io), Streams and the new I/O capabilities, understanding streams, working with file object, file I/O basics, reading and writing to files, buffer and buffer management, read/write operations with file channel, serializing objects, observer and observable interfaces.</a:t>
            </a:r>
            <a:endParaRPr lang="en-IN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t>2</a:t>
            </a:fld>
            <a:endParaRPr lang="en-US" alt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19100" y="154723"/>
            <a:ext cx="2247900" cy="454878"/>
          </a:xfrm>
          <a:solidFill>
            <a:schemeClr val="bg1"/>
          </a:solidFill>
          <a:ln w="9525">
            <a:solidFill>
              <a:schemeClr val="accent1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/>
          <a:p>
            <a:pPr defTabSz="457200" eaLnBrk="0" hangingPunct="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Syllabus</a:t>
            </a:r>
            <a:endParaRPr lang="en-US" sz="30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419100" y="990600"/>
            <a:ext cx="10248900" cy="3200400"/>
          </a:xfrm>
        </p:spPr>
        <p:txBody>
          <a:bodyPr rtlCol="0">
            <a:noAutofit/>
          </a:bodyPr>
          <a:lstStyle/>
          <a:p>
            <a:pPr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IN" sz="2400" dirty="0" smtClean="0"/>
              <a:t> Introduction of I/O operations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Stream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java.io.* package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File operations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Channel and Buffer usages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Serialization of network objects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Observer and Observable interfaces (Knowledge level)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t>3</a:t>
            </a:fld>
            <a:endParaRPr lang="en-US" alt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19100" y="154723"/>
            <a:ext cx="2247900" cy="454878"/>
          </a:xfrm>
          <a:solidFill>
            <a:schemeClr val="bg1"/>
          </a:solidFill>
          <a:ln w="9525">
            <a:solidFill>
              <a:schemeClr val="accent1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/>
          <a:p>
            <a:pPr defTabSz="457200" eaLnBrk="0" hangingPunct="0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Contents</a:t>
            </a:r>
            <a:endParaRPr lang="en-US" sz="30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65125"/>
            <a:ext cx="10591800" cy="4511675"/>
          </a:xfrm>
          <a:solidFill>
            <a:schemeClr val="bg1"/>
          </a:solidFill>
          <a:effectLst>
            <a:outerShdw blurRad="50800" dist="38100" dir="16200000" rotWithShape="0">
              <a:prstClr val="black">
                <a:alpha val="40000"/>
              </a:prstClr>
            </a:outerShdw>
          </a:effectLst>
          <a:scene3d>
            <a:camera prst="obliqueTopLeft"/>
            <a:lightRig rig="threePt" dir="t"/>
          </a:scene3d>
        </p:spPr>
        <p:txBody>
          <a:bodyPr/>
          <a:lstStyle/>
          <a:p>
            <a:r>
              <a:rPr lang="en-US" dirty="0" smtClean="0"/>
              <a:t>                             </a:t>
            </a:r>
            <a:r>
              <a:rPr lang="en-US" dirty="0" smtClean="0">
                <a:latin typeface="Apple Chancery" panose="03020702040506060504" pitchFamily="66" charset="0"/>
              </a:rPr>
              <a:t>Introduction</a:t>
            </a:r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t>4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601200" cy="549275"/>
          </a:xfrm>
        </p:spPr>
        <p:txBody>
          <a:bodyPr/>
          <a:lstStyle/>
          <a:p>
            <a:r>
              <a:rPr lang="en-US" altLang="en-US" dirty="0"/>
              <a:t>I/O </a:t>
            </a:r>
            <a:r>
              <a:rPr lang="en-US" altLang="en-US" dirty="0" smtClean="0"/>
              <a:t>Introduction</a:t>
            </a:r>
            <a:endParaRPr lang="en-US" altLang="en-US" dirty="0"/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0200" y="1066800"/>
            <a:ext cx="7772400" cy="4267200"/>
          </a:xfrm>
        </p:spPr>
        <p:txBody>
          <a:bodyPr/>
          <a:lstStyle/>
          <a:p>
            <a:endParaRPr lang="en-US" altLang="en-US" sz="2000" i="1" dirty="0">
              <a:latin typeface="Arial" panose="020B0604020202020204" pitchFamily="34" charset="0"/>
            </a:endParaRPr>
          </a:p>
          <a:p>
            <a:r>
              <a:rPr lang="en-US" altLang="en-US" sz="2000" dirty="0">
                <a:latin typeface="Arial" panose="020B0604020202020204" pitchFamily="34" charset="0"/>
              </a:rPr>
              <a:t>I/O (Input/Output) is used to read data from a source and write data to a destination.</a:t>
            </a:r>
          </a:p>
          <a:p>
            <a:r>
              <a:rPr lang="en-US" altLang="en-US" sz="2000" dirty="0">
                <a:latin typeface="Arial" panose="020B0604020202020204" pitchFamily="34" charset="0"/>
              </a:rPr>
              <a:t>In this context it is input to and output from programs</a:t>
            </a:r>
          </a:p>
          <a:p>
            <a:r>
              <a:rPr lang="en-US" altLang="en-US" sz="2000" dirty="0">
                <a:latin typeface="Arial" panose="020B0604020202020204" pitchFamily="34" charset="0"/>
              </a:rPr>
              <a:t>Input can be from keyboard or a file</a:t>
            </a:r>
          </a:p>
          <a:p>
            <a:r>
              <a:rPr lang="en-US" altLang="en-US" sz="2000" dirty="0">
                <a:latin typeface="Arial" panose="020B0604020202020204" pitchFamily="34" charset="0"/>
              </a:rPr>
              <a:t>Output can be to display (screen) or a file</a:t>
            </a:r>
          </a:p>
          <a:p>
            <a:r>
              <a:rPr lang="en-US" altLang="en-US" sz="2000" dirty="0">
                <a:latin typeface="Arial" panose="020B0604020202020204" pitchFamily="34" charset="0"/>
              </a:rPr>
              <a:t>Advantages of file I/O</a:t>
            </a:r>
          </a:p>
          <a:p>
            <a:pPr lvl="1"/>
            <a:r>
              <a:rPr lang="en-US" altLang="en-US" sz="2000" dirty="0">
                <a:latin typeface="Arial" panose="020B0604020202020204" pitchFamily="34" charset="0"/>
              </a:rPr>
              <a:t>permanent copy</a:t>
            </a:r>
          </a:p>
          <a:p>
            <a:pPr lvl="1"/>
            <a:r>
              <a:rPr lang="en-US" altLang="en-US" sz="2000" dirty="0">
                <a:latin typeface="Arial" panose="020B0604020202020204" pitchFamily="34" charset="0"/>
              </a:rPr>
              <a:t>output from one program can be input to another</a:t>
            </a:r>
          </a:p>
          <a:p>
            <a:pPr lvl="1"/>
            <a:r>
              <a:rPr lang="en-US" altLang="en-US" sz="2000" dirty="0">
                <a:latin typeface="Arial" panose="020B0604020202020204" pitchFamily="34" charset="0"/>
              </a:rPr>
              <a:t>input can be automated (rather than entered  manually)</a:t>
            </a:r>
          </a:p>
          <a:p>
            <a:pPr lvl="1"/>
            <a:endParaRPr lang="en-US" altLang="en-US" sz="2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7772400" cy="762000"/>
          </a:xfrm>
        </p:spPr>
        <p:txBody>
          <a:bodyPr/>
          <a:lstStyle/>
          <a:p>
            <a:r>
              <a:rPr lang="en-US" altLang="en-US" dirty="0"/>
              <a:t>Binary Versus Text Files</a:t>
            </a: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86200" y="1005840"/>
            <a:ext cx="8305800" cy="4953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i="1" dirty="0"/>
              <a:t>All</a:t>
            </a:r>
            <a:r>
              <a:rPr lang="en-US" altLang="en-US" sz="2000" dirty="0"/>
              <a:t> data and programs are ultimately just zeros and ones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each digit can have one of two values, hence </a:t>
            </a:r>
            <a:r>
              <a:rPr lang="en-US" altLang="en-US" sz="2000" i="1" dirty="0"/>
              <a:t>binary</a:t>
            </a:r>
          </a:p>
          <a:p>
            <a:pPr lvl="1">
              <a:lnSpc>
                <a:spcPct val="90000"/>
              </a:lnSpc>
            </a:pPr>
            <a:r>
              <a:rPr lang="en-US" altLang="en-US" sz="2000" i="1" dirty="0"/>
              <a:t>bit</a:t>
            </a:r>
            <a:r>
              <a:rPr lang="en-US" altLang="en-US" sz="2000" dirty="0"/>
              <a:t> is one binary digit</a:t>
            </a:r>
          </a:p>
          <a:p>
            <a:pPr lvl="1">
              <a:lnSpc>
                <a:spcPct val="90000"/>
              </a:lnSpc>
            </a:pPr>
            <a:r>
              <a:rPr lang="en-US" altLang="en-US" sz="2000" i="1" dirty="0"/>
              <a:t>byte</a:t>
            </a:r>
            <a:r>
              <a:rPr lang="en-US" altLang="en-US" sz="2000" dirty="0"/>
              <a:t> is a group of eight bits</a:t>
            </a:r>
          </a:p>
          <a:p>
            <a:pPr>
              <a:lnSpc>
                <a:spcPct val="90000"/>
              </a:lnSpc>
            </a:pPr>
            <a:r>
              <a:rPr lang="en-US" altLang="en-US" sz="2000" i="1" dirty="0">
                <a:solidFill>
                  <a:srgbClr val="FF3300"/>
                </a:solidFill>
              </a:rPr>
              <a:t>Text files</a:t>
            </a:r>
            <a:r>
              <a:rPr lang="en-US" altLang="en-US" sz="2000" dirty="0"/>
              <a:t>: the bits represent printable characters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one byte per character for ASCII, the most common code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for example, Java source files are text files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so is any file created with a "text editor"</a:t>
            </a:r>
          </a:p>
          <a:p>
            <a:pPr>
              <a:lnSpc>
                <a:spcPct val="90000"/>
              </a:lnSpc>
            </a:pPr>
            <a:r>
              <a:rPr lang="en-US" altLang="en-US" sz="2000" i="1" dirty="0">
                <a:solidFill>
                  <a:srgbClr val="FF3300"/>
                </a:solidFill>
              </a:rPr>
              <a:t>Binary files</a:t>
            </a:r>
            <a:r>
              <a:rPr lang="en-US" altLang="en-US" sz="2000" dirty="0"/>
              <a:t>: the bits represent other types of encoded information, such as executable instructions or numeric data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these files are easily read by the computer but not humans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they are </a:t>
            </a:r>
            <a:r>
              <a:rPr lang="en-US" altLang="en-US" sz="2000" i="1" dirty="0"/>
              <a:t>not</a:t>
            </a:r>
            <a:r>
              <a:rPr lang="en-US" altLang="en-US" sz="2000" dirty="0"/>
              <a:t> "printable" files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actually, you </a:t>
            </a:r>
            <a:r>
              <a:rPr lang="en-US" altLang="en-US" i="1" dirty="0"/>
              <a:t>can</a:t>
            </a:r>
            <a:r>
              <a:rPr lang="en-US" altLang="en-US" dirty="0"/>
              <a:t> print them, but they will be unintelligible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"printable" means "easily readable by humans when printed"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Text file: an example </a:t>
            </a:r>
            <a:r>
              <a:rPr lang="en-US" altLang="en-US" sz="2400" dirty="0"/>
              <a:t> </a:t>
            </a:r>
            <a:br>
              <a:rPr lang="en-US" altLang="en-US" sz="2400" dirty="0"/>
            </a:br>
            <a:endParaRPr lang="en-US" altLang="en-US" sz="2400" dirty="0"/>
          </a:p>
        </p:txBody>
      </p:sp>
      <p:sp>
        <p:nvSpPr>
          <p:cNvPr id="309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</a:rPr>
              <a:t>Some description</a:t>
            </a:r>
          </a:p>
          <a:p>
            <a:pPr>
              <a:buFontTx/>
              <a:buNone/>
            </a:pPr>
            <a:endParaRPr lang="en-US" altLang="en-US" sz="2000" dirty="0"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</a:rPr>
              <a:t>----------------------</a:t>
            </a:r>
          </a:p>
          <a:p>
            <a:pPr>
              <a:buFontTx/>
              <a:buNone/>
            </a:pPr>
            <a:endParaRPr lang="en-US" altLang="en-US" sz="2000" dirty="0">
              <a:latin typeface="Courier New" panose="02070309020205020404" pitchFamily="49" charset="0"/>
            </a:endParaRPr>
          </a:p>
          <a:p>
            <a:pPr marL="457200" indent="-457200">
              <a:buFontTx/>
              <a:buAutoNum type="arabicPlain"/>
            </a:pPr>
            <a:r>
              <a:rPr lang="en-US" altLang="en-US" sz="2000" dirty="0" err="1" smtClean="0">
                <a:latin typeface="Courier New" panose="02070309020205020404" pitchFamily="49" charset="0"/>
              </a:rPr>
              <a:t>Abc</a:t>
            </a:r>
            <a:r>
              <a:rPr lang="en-US" altLang="en-US" sz="2000" dirty="0" smtClean="0">
                <a:latin typeface="Courier New" panose="02070309020205020404" pitchFamily="49" charset="0"/>
              </a:rPr>
              <a:t> 222   </a:t>
            </a:r>
          </a:p>
          <a:p>
            <a:pPr marL="457200" indent="-457200">
              <a:buFontTx/>
              <a:buAutoNum type="arabicPlain"/>
            </a:pPr>
            <a:endParaRPr lang="en-US" altLang="en-US" sz="2000" dirty="0">
              <a:latin typeface="Courier New" panose="02070309020205020404" pitchFamily="49" charset="0"/>
            </a:endParaRPr>
          </a:p>
          <a:p>
            <a:pPr marL="457200" indent="-457200">
              <a:buFontTx/>
              <a:buAutoNum type="arabicPlain"/>
            </a:pPr>
            <a:endParaRPr lang="en-US" altLang="en-US" sz="2000" dirty="0"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endParaRPr lang="en-US" altLang="en-US" sz="2000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file: an example </a:t>
            </a:r>
            <a:r>
              <a:rPr lang="en-US" altLang="en-US" sz="2400"/>
              <a:t>[a .class file]</a:t>
            </a:r>
            <a:endParaRPr lang="en-US" altLang="en-US"/>
          </a:p>
        </p:txBody>
      </p:sp>
      <p:sp>
        <p:nvSpPr>
          <p:cNvPr id="311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828800"/>
            <a:ext cx="7772400" cy="41148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pt-BR" altLang="en-US" sz="1600">
                <a:latin typeface="Courier New" panose="02070309020205020404" pitchFamily="49" charset="0"/>
              </a:rPr>
              <a:t>0000000 312 376 272 276 000 000 000 061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pt-BR" altLang="en-US" sz="1600">
                <a:latin typeface="Courier New" panose="02070309020205020404" pitchFamily="49" charset="0"/>
              </a:rPr>
              <a:t>        312 376 272 276  \0  \0  \0   1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pt-BR" altLang="en-US" sz="1600">
                <a:latin typeface="Courier New" panose="02070309020205020404" pitchFamily="49" charset="0"/>
              </a:rPr>
              <a:t>0000010 000 164 012 000 051 000 062 007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pt-BR" altLang="en-US" sz="1600">
                <a:latin typeface="Courier New" panose="02070309020205020404" pitchFamily="49" charset="0"/>
              </a:rPr>
              <a:t>         \0   t  \n  \0   )  \0   2  \a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pt-BR" altLang="en-US" sz="1600">
                <a:latin typeface="Courier New" panose="02070309020205020404" pitchFamily="49" charset="0"/>
              </a:rPr>
              <a:t>0000020 000 063 007 000 064 010 000 065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pt-BR" altLang="en-US" sz="1600">
                <a:latin typeface="Courier New" panose="02070309020205020404" pitchFamily="49" charset="0"/>
              </a:rPr>
              <a:t>         \0   3  \a  \0   4  \b  \0   5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pt-BR" altLang="en-US" sz="1600">
                <a:latin typeface="Courier New" panose="02070309020205020404" pitchFamily="49" charset="0"/>
              </a:rPr>
              <a:t>0000030 012 000 003 000 066 012 000 002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pt-BR" altLang="en-US" sz="1600">
                <a:latin typeface="Courier New" panose="02070309020205020404" pitchFamily="49" charset="0"/>
              </a:rPr>
              <a:t>         \n  \0 003  \0   6  \n  \0 002</a:t>
            </a:r>
          </a:p>
          <a:p>
            <a:pPr>
              <a:lnSpc>
                <a:spcPct val="80000"/>
              </a:lnSpc>
              <a:buFontTx/>
              <a:buNone/>
            </a:pPr>
            <a:endParaRPr lang="pt-BR" altLang="en-US" sz="160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pt-BR" altLang="en-US" sz="1600">
                <a:latin typeface="Courier New" panose="02070309020205020404" pitchFamily="49" charset="0"/>
              </a:rPr>
              <a:t>...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pt-BR" altLang="en-US" sz="1600">
                <a:latin typeface="Courier New" panose="02070309020205020404" pitchFamily="49" charset="0"/>
              </a:rPr>
              <a:t>0000630 000 145 000 146 001 000 027 152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pt-BR" altLang="en-US" sz="1600">
                <a:latin typeface="Courier New" panose="02070309020205020404" pitchFamily="49" charset="0"/>
              </a:rPr>
              <a:t>         \0   e  \0   f 001  \0 027   j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pt-BR" altLang="en-US" sz="1600">
                <a:latin typeface="Courier New" panose="02070309020205020404" pitchFamily="49" charset="0"/>
              </a:rPr>
              <a:t>0000640 141 166 141 057 154 141 156 147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pt-BR" altLang="en-US" sz="1600">
                <a:latin typeface="Courier New" panose="02070309020205020404" pitchFamily="49" charset="0"/>
              </a:rPr>
              <a:t>          a   v   a   /   l   a   n   g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pt-BR" altLang="en-US" sz="1600">
                <a:latin typeface="Courier New" panose="02070309020205020404" pitchFamily="49" charset="0"/>
              </a:rPr>
              <a:t>0000650 057 123 164 162 151 156 147 102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pt-BR" altLang="en-US" sz="1600">
                <a:latin typeface="Courier New" panose="02070309020205020404" pitchFamily="49" charset="0"/>
              </a:rPr>
              <a:t>          /   S   t   r   i   n   g   B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pt-BR" altLang="en-US" sz="1600">
                <a:latin typeface="Courier New" panose="02070309020205020404" pitchFamily="49" charset="0"/>
              </a:rPr>
              <a:t>0000660 165 151 154 144 145 162 014 000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pt-BR" altLang="en-US" sz="1600">
                <a:latin typeface="Courier New" panose="02070309020205020404" pitchFamily="49" charset="0"/>
              </a:rPr>
              <a:t>          u   i   l   d   e   r  \f  \0</a:t>
            </a:r>
          </a:p>
          <a:p>
            <a:pPr>
              <a:lnSpc>
                <a:spcPct val="80000"/>
              </a:lnSpc>
              <a:buFontTx/>
              <a:buNone/>
            </a:pPr>
            <a:endParaRPr lang="pt-BR" altLang="en-US" sz="160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pt-BR" altLang="en-US" sz="200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00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363200" cy="3978275"/>
          </a:xfrm>
          <a:solidFill>
            <a:schemeClr val="bg1"/>
          </a:solidFill>
          <a:effectLst>
            <a:outerShdw blurRad="50800" dist="38100" dir="16200000" rotWithShape="0">
              <a:prstClr val="black">
                <a:alpha val="40000"/>
              </a:prstClr>
            </a:outerShdw>
          </a:effectLst>
          <a:scene3d>
            <a:camera prst="obliqueTopLeft"/>
            <a:lightRig rig="threePt" dir="t"/>
          </a:scene3d>
        </p:spPr>
        <p:txBody>
          <a:bodyPr/>
          <a:lstStyle/>
          <a:p>
            <a:pPr algn="ctr"/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 </a:t>
            </a:r>
            <a:br>
              <a:rPr lang="en-US" dirty="0" smtClean="0"/>
            </a:br>
            <a:r>
              <a:rPr lang="en-US" sz="6600" dirty="0" smtClean="0">
                <a:latin typeface="Apple Chancery" panose="03020702040506060504" pitchFamily="66" charset="0"/>
              </a:rPr>
              <a:t>Files &amp; Directories</a:t>
            </a:r>
            <a:endParaRPr lang="en-IN" sz="6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t>9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601200" cy="549275"/>
          </a:xfrm>
        </p:spPr>
        <p:txBody>
          <a:bodyPr/>
          <a:lstStyle/>
          <a:p>
            <a:r>
              <a:rPr lang="en-US" altLang="en-US" dirty="0" smtClean="0">
                <a:latin typeface="Agency FB" panose="020B0503020202020204" pitchFamily="34" charset="0"/>
              </a:rPr>
              <a:t>File Class</a:t>
            </a:r>
            <a:endParaRPr lang="en-US" altLang="en-US" dirty="0">
              <a:latin typeface="Agency FB" panose="020B0503020202020204" pitchFamily="34" charset="0"/>
            </a:endParaRPr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10896600" cy="4267200"/>
          </a:xfrm>
        </p:spPr>
        <p:txBody>
          <a:bodyPr/>
          <a:lstStyle/>
          <a:p>
            <a:r>
              <a:rPr lang="en-US" sz="2000" b="1" dirty="0"/>
              <a:t>File </a:t>
            </a:r>
            <a:r>
              <a:rPr lang="en-US" sz="2000" dirty="0"/>
              <a:t>class </a:t>
            </a:r>
            <a:r>
              <a:rPr lang="en-US" sz="2000" dirty="0" smtClean="0"/>
              <a:t> </a:t>
            </a:r>
            <a:r>
              <a:rPr lang="en-US" sz="2000" dirty="0"/>
              <a:t>describes the properties of a </a:t>
            </a:r>
            <a:r>
              <a:rPr lang="en-US" sz="2000" dirty="0" smtClean="0"/>
              <a:t>file/directory. </a:t>
            </a:r>
          </a:p>
          <a:p>
            <a:r>
              <a:rPr lang="en-US" sz="2000" b="1" dirty="0" smtClean="0"/>
              <a:t>A File </a:t>
            </a:r>
            <a:r>
              <a:rPr lang="en-US" sz="2000" dirty="0"/>
              <a:t>object is used to obtain or manipulate the information associated with a disk file, such</a:t>
            </a:r>
          </a:p>
          <a:p>
            <a:pPr marL="0" indent="0">
              <a:buNone/>
            </a:pPr>
            <a:r>
              <a:rPr lang="en-US" sz="2000" dirty="0" smtClean="0"/>
              <a:t>    as </a:t>
            </a:r>
            <a:r>
              <a:rPr lang="en-US" sz="2000" dirty="0"/>
              <a:t>the permissions, time, date, and directory path, and to navigate subdirectory hierarchies.</a:t>
            </a:r>
          </a:p>
          <a:p>
            <a:r>
              <a:rPr lang="en-US" sz="2000" dirty="0" smtClean="0"/>
              <a:t>An absolute file name (full name) contains a file name with its complete path and drive letter.</a:t>
            </a:r>
          </a:p>
          <a:p>
            <a:pPr marL="0" indent="0">
              <a:buNone/>
            </a:pPr>
            <a:r>
              <a:rPr lang="en-US" sz="2000" dirty="0" smtClean="0"/>
              <a:t>    For example, c:\books\welcome.pdf</a:t>
            </a:r>
          </a:p>
          <a:p>
            <a:r>
              <a:rPr lang="en-US" sz="2000" dirty="0" smtClean="0"/>
              <a:t>A relative file is in relation to the current working directory.</a:t>
            </a:r>
          </a:p>
          <a:p>
            <a:pPr marL="0" indent="0">
              <a:buNone/>
            </a:pPr>
            <a:r>
              <a:rPr lang="en-US" sz="2000" dirty="0" smtClean="0"/>
              <a:t>    For example, welcome.pdf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601200" cy="549275"/>
          </a:xfrm>
        </p:spPr>
        <p:txBody>
          <a:bodyPr/>
          <a:lstStyle/>
          <a:p>
            <a:r>
              <a:rPr lang="en-US" altLang="en-US" dirty="0" smtClean="0">
                <a:latin typeface="Agency FB" panose="020B0503020202020204" pitchFamily="34" charset="0"/>
              </a:rPr>
              <a:t>File Class</a:t>
            </a:r>
            <a:endParaRPr lang="en-US" altLang="en-US" dirty="0">
              <a:latin typeface="Agency FB" panose="020B0503020202020204" pitchFamily="34" charset="0"/>
            </a:endParaRPr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10896600" cy="4267200"/>
          </a:xfrm>
        </p:spPr>
        <p:txBody>
          <a:bodyPr/>
          <a:lstStyle/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 file class is a wrapper class for the file name and its directory path.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for example, 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new File(“c:\\book”)   , it creates a File object for the directory c:\book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new File(“c:\\book\\test.dat”)  , it creates a File object for the file c:\book\test.dat</a:t>
            </a:r>
          </a:p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following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constructors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can be used to create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File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objects: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File(String </a:t>
            </a:r>
            <a:r>
              <a:rPr lang="en-IN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directoryPath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File(String </a:t>
            </a:r>
            <a:r>
              <a:rPr lang="en-IN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directoryPath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String </a:t>
            </a:r>
            <a:r>
              <a:rPr lang="en-IN" sz="2000" i="1" dirty="0">
                <a:latin typeface="Arial" panose="020B0604020202020204" pitchFamily="34" charset="0"/>
                <a:cs typeface="Arial" panose="020B0604020202020204" pitchFamily="34" charset="0"/>
              </a:rPr>
              <a:t>filename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File(File </a:t>
            </a:r>
            <a:r>
              <a:rPr lang="en-IN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dirObj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String </a:t>
            </a:r>
            <a:r>
              <a:rPr lang="en-IN" sz="2000" i="1" dirty="0">
                <a:latin typeface="Arial" panose="020B0604020202020204" pitchFamily="34" charset="0"/>
                <a:cs typeface="Arial" panose="020B0604020202020204" pitchFamily="34" charset="0"/>
              </a:rPr>
              <a:t>filename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File(URI </a:t>
            </a:r>
            <a:r>
              <a:rPr lang="en-IN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uriObj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altLang="en-US" sz="2000" dirty="0" smtClean="0">
                <a:latin typeface="Arial" panose="020B0604020202020204" pitchFamily="34" charset="0"/>
              </a:rPr>
              <a:t>File class does not contain the methods for reading and writing file contents.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601200" cy="549275"/>
          </a:xfrm>
        </p:spPr>
        <p:txBody>
          <a:bodyPr/>
          <a:lstStyle/>
          <a:p>
            <a:r>
              <a:rPr lang="en-US" altLang="en-US" dirty="0" smtClean="0">
                <a:latin typeface="Agency FB" panose="020B0503020202020204" pitchFamily="34" charset="0"/>
              </a:rPr>
              <a:t>File Class, methods</a:t>
            </a:r>
            <a:endParaRPr lang="en-US" altLang="en-US" dirty="0">
              <a:latin typeface="Agency FB" panose="020B0503020202020204" pitchFamily="34" charset="0"/>
            </a:endParaRPr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10896600" cy="4267200"/>
          </a:xfrm>
        </p:spPr>
        <p:txBody>
          <a:bodyPr/>
          <a:lstStyle/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Boolean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isFile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Boolean 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isDirectory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Boolean 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isHidden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Boolean exists()</a:t>
            </a:r>
          </a:p>
          <a:p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Boolean 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canRead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Boolean 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canWrite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String 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getName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String 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getPath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String 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getAbsolutePath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325"/>
            <a:ext cx="10515600" cy="882015"/>
          </a:xfrm>
        </p:spPr>
        <p:txBody>
          <a:bodyPr/>
          <a:lstStyle/>
          <a:p>
            <a:pPr algn="ctr"/>
            <a:r>
              <a:rPr lang="en-US" altLang="en-US" sz="3600" b="1" dirty="0" smtClean="0">
                <a:sym typeface="+mn-ea"/>
              </a:rPr>
              <a:t>Exercise 1 : Demonstrating File </a:t>
            </a:r>
            <a:br>
              <a:rPr lang="en-US" altLang="en-US" sz="3600" b="1" dirty="0" smtClean="0">
                <a:sym typeface="+mn-ea"/>
              </a:rPr>
            </a:br>
            <a:r>
              <a:rPr lang="en-US" altLang="en-US" sz="3600" b="1" dirty="0" smtClean="0">
                <a:sym typeface="+mn-ea"/>
              </a:rPr>
              <a:t>(Class, COnstructors &amp; Methods)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/>
              <a:t>13</a:t>
            </a:fld>
            <a:endParaRPr lang="en-US" altLang="en-US"/>
          </a:p>
        </p:txBody>
      </p:sp>
      <p:graphicFrame>
        <p:nvGraphicFramePr>
          <p:cNvPr id="7" name="Object 6"/>
          <p:cNvGraphicFramePr/>
          <p:nvPr/>
        </p:nvGraphicFramePr>
        <p:xfrm>
          <a:off x="872490" y="998220"/>
          <a:ext cx="9532620" cy="4709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r:id="rId3" imgW="9525000" imgH="4705350" progId="Paint.Picture">
                  <p:embed/>
                </p:oleObj>
              </mc:Choice>
              <mc:Fallback>
                <p:oleObj r:id="rId3" imgW="9525000" imgH="4705350" progId="Paint.Picture">
                  <p:embed/>
                  <p:pic>
                    <p:nvPicPr>
                      <p:cNvPr id="0" name="Picture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72490" y="998220"/>
                        <a:ext cx="9532620" cy="47091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Output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/>
              <a:t>14</a:t>
            </a:fld>
            <a:endParaRPr lang="en-US" altLang="en-US"/>
          </a:p>
        </p:txBody>
      </p:sp>
      <p:graphicFrame>
        <p:nvGraphicFramePr>
          <p:cNvPr id="6" name="Object 5"/>
          <p:cNvGraphicFramePr/>
          <p:nvPr/>
        </p:nvGraphicFramePr>
        <p:xfrm>
          <a:off x="2057400" y="1981200"/>
          <a:ext cx="6451600" cy="3268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r:id="rId3" imgW="4000500" imgH="2552700" progId="Paint.Picture">
                  <p:embed/>
                </p:oleObj>
              </mc:Choice>
              <mc:Fallback>
                <p:oleObj r:id="rId3" imgW="4000500" imgH="2552700" progId="Paint.Picture">
                  <p:embed/>
                  <p:pic>
                    <p:nvPicPr>
                      <p:cNvPr id="0" name="Picture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7400" y="1981200"/>
                        <a:ext cx="6451600" cy="32683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601200" cy="549275"/>
          </a:xfrm>
        </p:spPr>
        <p:txBody>
          <a:bodyPr/>
          <a:lstStyle/>
          <a:p>
            <a:r>
              <a:rPr lang="en-US" altLang="en-US" dirty="0" smtClean="0"/>
              <a:t>File class , for a folder/directory</a:t>
            </a:r>
            <a:endParaRPr lang="en-US" altLang="en-US" dirty="0"/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10896600" cy="4267200"/>
          </a:xfrm>
        </p:spPr>
        <p:txBody>
          <a:bodyPr/>
          <a:lstStyle/>
          <a:p>
            <a:r>
              <a:rPr lang="en-US" sz="2000" dirty="0"/>
              <a:t>A directory in Java is </a:t>
            </a:r>
            <a:r>
              <a:rPr lang="en-US" sz="2000" dirty="0" smtClean="0"/>
              <a:t>treated simply </a:t>
            </a:r>
            <a:r>
              <a:rPr lang="en-US" sz="2000" dirty="0"/>
              <a:t>as a </a:t>
            </a:r>
            <a:r>
              <a:rPr lang="en-US" sz="2000" b="1" dirty="0"/>
              <a:t>File </a:t>
            </a:r>
            <a:r>
              <a:rPr lang="en-US" sz="2000" dirty="0"/>
              <a:t>with one additional property—a list of filenames that can be examined </a:t>
            </a:r>
            <a:r>
              <a:rPr lang="en-US" sz="2000" dirty="0" smtClean="0"/>
              <a:t>by </a:t>
            </a:r>
            <a:r>
              <a:rPr lang="en-IN" sz="2000" dirty="0" smtClean="0"/>
              <a:t>the </a:t>
            </a:r>
            <a:r>
              <a:rPr lang="en-IN" sz="2000" b="1" dirty="0"/>
              <a:t>list( ) </a:t>
            </a:r>
            <a:r>
              <a:rPr lang="en-IN" sz="2000" dirty="0"/>
              <a:t>method.</a:t>
            </a:r>
            <a:endParaRPr lang="en-US" altLang="en-US" sz="2000" dirty="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 noChangeAspect="1"/>
          </p:cNvGraphicFramePr>
          <p:nvPr>
            <p:ph idx="1"/>
          </p:nvPr>
        </p:nvGraphicFramePr>
        <p:xfrm>
          <a:off x="1087120" y="725805"/>
          <a:ext cx="8885555" cy="529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r:id="rId3" imgW="7880350" imgH="4699000" progId="Paint.Picture">
                  <p:embed/>
                </p:oleObj>
              </mc:Choice>
              <mc:Fallback>
                <p:oleObj r:id="rId3" imgW="7880350" imgH="4699000" progId="Paint.Picture">
                  <p:embed/>
                  <p:pic>
                    <p:nvPicPr>
                      <p:cNvPr id="0" name="Picture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7120" y="725805"/>
                        <a:ext cx="8885555" cy="5299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/>
              <a:t>16</a:t>
            </a:fld>
            <a:endParaRPr lang="en-US" altLang="en-US"/>
          </a:p>
        </p:txBody>
      </p:sp>
      <p:sp>
        <p:nvSpPr>
          <p:cNvPr id="299010" name="Rectangle 2"/>
          <p:cNvSpPr>
            <a:spLocks noGrp="1" noChangeArrowheads="1"/>
          </p:cNvSpPr>
          <p:nvPr/>
        </p:nvSpPr>
        <p:spPr>
          <a:xfrm>
            <a:off x="838200" y="60325"/>
            <a:ext cx="9601200" cy="5492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US" altLang="en-US" sz="3200" b="1" dirty="0" smtClean="0"/>
              <a:t>Exercise2 : Demonstrating directories</a:t>
            </a:r>
            <a:endParaRPr lang="en-US" alt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Output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/>
              <a:t>17</a:t>
            </a:fld>
            <a:endParaRPr lang="en-US" altLang="en-US"/>
          </a:p>
        </p:txBody>
      </p:sp>
      <p:graphicFrame>
        <p:nvGraphicFramePr>
          <p:cNvPr id="3" name="Object 2"/>
          <p:cNvGraphicFramePr/>
          <p:nvPr/>
        </p:nvGraphicFramePr>
        <p:xfrm>
          <a:off x="1447800" y="1524000"/>
          <a:ext cx="9551670" cy="361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r:id="rId3" imgW="5727700" imgH="1771650" progId="Paint.Picture">
                  <p:embed/>
                </p:oleObj>
              </mc:Choice>
              <mc:Fallback>
                <p:oleObj r:id="rId3" imgW="5727700" imgH="1771650" progId="Paint.Picture">
                  <p:embed/>
                  <p:pic>
                    <p:nvPicPr>
                      <p:cNvPr id="0" name="Picture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47800" y="1524000"/>
                        <a:ext cx="9551670" cy="3613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601200" cy="549275"/>
          </a:xfrm>
        </p:spPr>
        <p:txBody>
          <a:bodyPr/>
          <a:lstStyle/>
          <a:p>
            <a:r>
              <a:rPr lang="en-US" altLang="en-US" dirty="0" smtClean="0">
                <a:latin typeface="Agency FB" panose="020B0503020202020204" pitchFamily="34" charset="0"/>
              </a:rPr>
              <a:t>Reading and Writing Files</a:t>
            </a:r>
            <a:endParaRPr lang="en-US" altLang="en-US" dirty="0">
              <a:latin typeface="Agency FB" panose="020B0503020202020204" pitchFamily="34" charset="0"/>
            </a:endParaRPr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10896600" cy="4267200"/>
          </a:xfrm>
        </p:spPr>
        <p:txBody>
          <a:bodyPr/>
          <a:lstStyle/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In Java, all files are byte-oriented, and java provides methods to read and write bytes from and to a file.</a:t>
            </a:r>
          </a:p>
          <a:p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Java allows us to wrap a byte-oriented file stream within a character-based object.</a:t>
            </a:r>
          </a:p>
          <a:p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We can use </a:t>
            </a:r>
            <a:r>
              <a:rPr lang="en-US" altLang="en-US" sz="20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Scanner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en-US" sz="2000" b="1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PrintWriter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class to read and write files.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601200" cy="549275"/>
          </a:xfrm>
        </p:spPr>
        <p:txBody>
          <a:bodyPr/>
          <a:lstStyle/>
          <a:p>
            <a:r>
              <a:rPr lang="en-US" altLang="en-US" dirty="0" err="1" smtClean="0">
                <a:latin typeface="Agency FB" panose="020B0503020202020204" pitchFamily="34" charset="0"/>
              </a:rPr>
              <a:t>PrintWriter</a:t>
            </a:r>
            <a:r>
              <a:rPr lang="en-US" altLang="en-US" dirty="0" smtClean="0">
                <a:latin typeface="Agency FB" panose="020B0503020202020204" pitchFamily="34" charset="0"/>
              </a:rPr>
              <a:t> Class</a:t>
            </a:r>
            <a:endParaRPr lang="en-US" altLang="en-US" dirty="0">
              <a:latin typeface="Agency FB" panose="020B0503020202020204" pitchFamily="34" charset="0"/>
            </a:endParaRPr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10896600" cy="4267200"/>
          </a:xfrm>
        </p:spPr>
        <p:txBody>
          <a:bodyPr/>
          <a:lstStyle/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Character-based class.</a:t>
            </a:r>
          </a:p>
          <a:p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Using a character-based class for console output makes it easier to internationalize the program.</a:t>
            </a:r>
          </a:p>
          <a:p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PrintWriter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OutputStream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outputstream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flushOnNewline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where 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Outputstream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is an object of type 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OutputStream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flushOnNewLine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controls whether Java flushes the output stream every time a 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println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() method is called.</a:t>
            </a:r>
          </a:p>
          <a:p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flushOnLine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is true, flushing automatically takes place.</a:t>
            </a:r>
          </a:p>
          <a:p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If false, flushing is not automatic.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-2133600" y="6096000"/>
            <a:ext cx="2743200" cy="365125"/>
          </a:xfrm>
        </p:spPr>
        <p:txBody>
          <a:bodyPr/>
          <a:lstStyle/>
          <a:p>
            <a:pPr>
              <a:defRPr/>
            </a:pPr>
            <a:fld id="{A01CA5F2-CD08-4EF5-BAD9-872B7BB27165}" type="slidenum">
              <a:rPr lang="en-US" altLang="en-US"/>
              <a:t>20</a:t>
            </a:fld>
            <a:endParaRPr lang="en-US" altLang="en-US"/>
          </a:p>
        </p:txBody>
      </p:sp>
      <p:graphicFrame>
        <p:nvGraphicFramePr>
          <p:cNvPr id="8" name="Object 7"/>
          <p:cNvGraphicFramePr/>
          <p:nvPr/>
        </p:nvGraphicFramePr>
        <p:xfrm>
          <a:off x="1000760" y="122555"/>
          <a:ext cx="9926955" cy="5833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r:id="rId3" imgW="6604000" imgH="4203700" progId="Paint.Picture">
                  <p:embed/>
                </p:oleObj>
              </mc:Choice>
              <mc:Fallback>
                <p:oleObj r:id="rId3" imgW="6604000" imgH="4203700" progId="Paint.Picture">
                  <p:embed/>
                  <p:pic>
                    <p:nvPicPr>
                      <p:cNvPr id="0" name="Picture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00760" y="122555"/>
                        <a:ext cx="9926955" cy="5833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0972800" y="4267200"/>
          <a:ext cx="97155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showAsIcon="1" r:id="rId5" imgW="971550" imgH="971550" progId="Package">
                  <p:embed/>
                </p:oleObj>
              </mc:Choice>
              <mc:Fallback>
                <p:oleObj showAsIcon="1" r:id="rId5" imgW="971550" imgH="971550" progId="Package">
                  <p:embed/>
                  <p:pic>
                    <p:nvPicPr>
                      <p:cNvPr id="0" name="Picture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972800" y="4267200"/>
                        <a:ext cx="971550" cy="971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601200" cy="549275"/>
          </a:xfrm>
        </p:spPr>
        <p:txBody>
          <a:bodyPr/>
          <a:lstStyle/>
          <a:p>
            <a:r>
              <a:rPr lang="en-US" altLang="en-US" dirty="0" smtClean="0">
                <a:latin typeface="Agency FB" panose="020B0503020202020204" pitchFamily="34" charset="0"/>
              </a:rPr>
              <a:t>Scanner Class</a:t>
            </a:r>
            <a:endParaRPr lang="en-US" altLang="en-US" dirty="0">
              <a:latin typeface="Agency FB" panose="020B0503020202020204" pitchFamily="34" charset="0"/>
            </a:endParaRPr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10896600" cy="4267200"/>
          </a:xfrm>
        </p:spPr>
        <p:txBody>
          <a:bodyPr/>
          <a:lstStyle/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To read from the keyboard, we create a Scanner as follows:</a:t>
            </a:r>
          </a:p>
          <a:p>
            <a:pPr marL="0" indent="0"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   Scanner 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sc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=new Scanner(System.in);</a:t>
            </a:r>
          </a:p>
          <a:p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To read from a file, create a Scanner for a file, as follows:</a:t>
            </a:r>
          </a:p>
          <a:p>
            <a:pPr marL="0" indent="0">
              <a:buNone/>
            </a:pP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Scanner 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sc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=new Scanner(new File(filename));</a:t>
            </a:r>
          </a:p>
          <a:p>
            <a:pPr marL="0" indent="0">
              <a:buNone/>
            </a:pP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Scanner Methods:</a:t>
            </a:r>
            <a:b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	next()</a:t>
            </a:r>
          </a:p>
          <a:p>
            <a:pPr marL="0" indent="0">
              <a:buNone/>
            </a:pP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	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nextLine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0" indent="0">
              <a:buNone/>
            </a:pP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	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nextInt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0" indent="0">
              <a:buNone/>
            </a:pP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 ……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/>
              <a:t>22</a:t>
            </a:fld>
            <a:endParaRPr lang="en-US" altLang="en-US"/>
          </a:p>
        </p:txBody>
      </p:sp>
      <p:graphicFrame>
        <p:nvGraphicFramePr>
          <p:cNvPr id="6" name="Object 5"/>
          <p:cNvGraphicFramePr/>
          <p:nvPr/>
        </p:nvGraphicFramePr>
        <p:xfrm>
          <a:off x="685800" y="152400"/>
          <a:ext cx="9051290" cy="547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r:id="rId3" imgW="7181850" imgH="5099050" progId="Paint.Picture">
                  <p:embed/>
                </p:oleObj>
              </mc:Choice>
              <mc:Fallback>
                <p:oleObj r:id="rId3" imgW="7181850" imgH="5099050" progId="Paint.Picture">
                  <p:embed/>
                  <p:pic>
                    <p:nvPicPr>
                      <p:cNvPr id="0" name="Picture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5800" y="152400"/>
                        <a:ext cx="9051290" cy="547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6260"/>
          </a:xfrm>
        </p:spPr>
        <p:txBody>
          <a:bodyPr/>
          <a:lstStyle/>
          <a:p>
            <a:r>
              <a:rPr lang="en-US"/>
              <a:t>Output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/>
              <a:t>23</a:t>
            </a:fld>
            <a:endParaRPr lang="en-US" altLang="en-US"/>
          </a:p>
        </p:txBody>
      </p:sp>
      <p:graphicFrame>
        <p:nvGraphicFramePr>
          <p:cNvPr id="6" name="Object 5"/>
          <p:cNvGraphicFramePr/>
          <p:nvPr/>
        </p:nvGraphicFramePr>
        <p:xfrm>
          <a:off x="3286760" y="583565"/>
          <a:ext cx="6349365" cy="4709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r:id="rId3" imgW="3225800" imgH="2717800" progId="Paint.Picture">
                  <p:embed/>
                </p:oleObj>
              </mc:Choice>
              <mc:Fallback>
                <p:oleObj r:id="rId3" imgW="3225800" imgH="2717800" progId="Paint.Picture">
                  <p:embed/>
                  <p:pic>
                    <p:nvPicPr>
                      <p:cNvPr id="0" name="Picture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86760" y="583565"/>
                        <a:ext cx="6349365" cy="47091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363200" cy="3978275"/>
          </a:xfrm>
          <a:solidFill>
            <a:schemeClr val="bg1"/>
          </a:solidFill>
          <a:effectLst>
            <a:outerShdw blurRad="50800" dist="38100" dir="16200000" rotWithShape="0">
              <a:prstClr val="black">
                <a:alpha val="40000"/>
              </a:prstClr>
            </a:outerShdw>
          </a:effectLst>
          <a:scene3d>
            <a:camera prst="obliqueTopLeft"/>
            <a:lightRig rig="threePt" dir="t"/>
          </a:scene3d>
        </p:spPr>
        <p:txBody>
          <a:bodyPr/>
          <a:lstStyle/>
          <a:p>
            <a:r>
              <a:rPr lang="en-US" dirty="0" smtClean="0"/>
              <a:t>                             </a:t>
            </a:r>
            <a:br>
              <a:rPr lang="en-US" dirty="0" smtClean="0"/>
            </a:br>
            <a:r>
              <a:rPr lang="en-US" dirty="0"/>
              <a:t> </a:t>
            </a:r>
            <a:r>
              <a:rPr lang="en-US" dirty="0" smtClean="0"/>
              <a:t>                      </a:t>
            </a:r>
            <a:r>
              <a:rPr lang="en-US" sz="6600" dirty="0" smtClean="0">
                <a:latin typeface="Apple Chancery" panose="03020702040506060504" pitchFamily="66" charset="0"/>
              </a:rPr>
              <a:t>I/O Streams</a:t>
            </a:r>
            <a:endParaRPr lang="en-IN" sz="6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t>24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-42909"/>
            <a:ext cx="10515600" cy="1325563"/>
          </a:xfrm>
        </p:spPr>
        <p:txBody>
          <a:bodyPr/>
          <a:lstStyle/>
          <a:p>
            <a:r>
              <a:rPr lang="en-US" altLang="en-US" dirty="0"/>
              <a:t>Streams</a:t>
            </a:r>
          </a:p>
        </p:txBody>
      </p:sp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0" y="914400"/>
            <a:ext cx="6326777" cy="5492750"/>
          </a:xfrm>
        </p:spPr>
        <p:txBody>
          <a:bodyPr/>
          <a:lstStyle/>
          <a:p>
            <a:r>
              <a:rPr lang="en-US" altLang="en-US" sz="2000" b="1" i="1" dirty="0"/>
              <a:t>Stream</a:t>
            </a:r>
            <a:r>
              <a:rPr lang="en-US" altLang="en-US" sz="2000" dirty="0"/>
              <a:t>: an object that either delivers data to its destination (screen, file, etc.) or that takes data from a source (keyboard, file, etc.)</a:t>
            </a:r>
          </a:p>
          <a:p>
            <a:pPr lvl="1"/>
            <a:r>
              <a:rPr lang="en-US" altLang="en-US" sz="2000" dirty="0"/>
              <a:t>it acts as a buffer between the data source and destination</a:t>
            </a:r>
          </a:p>
          <a:p>
            <a:r>
              <a:rPr lang="en-US" altLang="en-US" sz="2000" b="1" i="1" dirty="0"/>
              <a:t>Input stream</a:t>
            </a:r>
            <a:r>
              <a:rPr lang="en-US" altLang="en-US" sz="2000" dirty="0"/>
              <a:t>: a stream that provides input to a program</a:t>
            </a:r>
          </a:p>
          <a:p>
            <a:pPr lvl="1"/>
            <a:r>
              <a:rPr lang="en-US" altLang="en-US" sz="2000" dirty="0">
                <a:latin typeface="Courier New" panose="02070309020205020404" pitchFamily="49" charset="0"/>
              </a:rPr>
              <a:t>System.in</a:t>
            </a:r>
            <a:r>
              <a:rPr lang="en-US" altLang="en-US" sz="2000" dirty="0"/>
              <a:t> is an input stream</a:t>
            </a:r>
          </a:p>
          <a:p>
            <a:r>
              <a:rPr lang="en-US" altLang="en-US" sz="2000" b="1" i="1" dirty="0"/>
              <a:t>Output stream</a:t>
            </a:r>
            <a:r>
              <a:rPr lang="en-US" altLang="en-US" sz="2000" dirty="0"/>
              <a:t>: a stream that accepts output from a program</a:t>
            </a:r>
          </a:p>
          <a:p>
            <a:pPr lvl="1"/>
            <a:r>
              <a:rPr lang="en-US" altLang="en-US" sz="2000" dirty="0" err="1">
                <a:latin typeface="Courier New" panose="02070309020205020404" pitchFamily="49" charset="0"/>
              </a:rPr>
              <a:t>System.out</a:t>
            </a:r>
            <a:r>
              <a:rPr lang="en-US" altLang="en-US" sz="2000" dirty="0"/>
              <a:t> is an output stream</a:t>
            </a:r>
          </a:p>
          <a:p>
            <a:r>
              <a:rPr lang="en-US" altLang="en-US" sz="2000" dirty="0"/>
              <a:t>A stream connects a program to an I/O object</a:t>
            </a:r>
          </a:p>
          <a:p>
            <a:pPr lvl="1"/>
            <a:r>
              <a:rPr lang="en-US" altLang="en-US" sz="2000" dirty="0" err="1">
                <a:latin typeface="Courier New" panose="02070309020205020404" pitchFamily="49" charset="0"/>
              </a:rPr>
              <a:t>System.out</a:t>
            </a:r>
            <a:r>
              <a:rPr lang="en-US" altLang="en-US" sz="2000" dirty="0"/>
              <a:t> connects a program to the screen</a:t>
            </a:r>
          </a:p>
          <a:p>
            <a:pPr lvl="1"/>
            <a:r>
              <a:rPr lang="en-US" altLang="en-US" sz="2000" dirty="0">
                <a:latin typeface="Courier New" panose="02070309020205020404" pitchFamily="49" charset="0"/>
              </a:rPr>
              <a:t>System.in</a:t>
            </a:r>
            <a:r>
              <a:rPr lang="en-US" altLang="en-US" sz="2000" dirty="0"/>
              <a:t> connects a program to the keyboard</a:t>
            </a:r>
          </a:p>
          <a:p>
            <a:endParaRPr lang="en-US" altLang="en-US" sz="2000" dirty="0"/>
          </a:p>
        </p:txBody>
      </p:sp>
      <p:pic>
        <p:nvPicPr>
          <p:cNvPr id="14338" name="Picture 2" descr="I/O Streams (The Java™ Tutorials &gt; Essential Java Classes &gt; Basic I/O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442" y="1524000"/>
            <a:ext cx="2746858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162300" y="2127227"/>
            <a:ext cx="1506582" cy="317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en-US" altLang="en-US" sz="2000" dirty="0" smtClean="0"/>
              <a:t>Input stream</a:t>
            </a:r>
            <a:endParaRPr lang="en-US" altLang="en-US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442" y="3124201"/>
            <a:ext cx="2556358" cy="1755400"/>
          </a:xfrm>
          <a:prstGeom prst="rect">
            <a:avLst/>
          </a:prstGeom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3136174" y="3733800"/>
            <a:ext cx="1664426" cy="317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en-US" altLang="en-US" sz="2000" dirty="0" smtClean="0"/>
              <a:t>output stream</a:t>
            </a: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3657600" cy="244475"/>
          </a:xfrm>
        </p:spPr>
        <p:txBody>
          <a:bodyPr/>
          <a:lstStyle/>
          <a:p>
            <a:r>
              <a:rPr lang="en-US" altLang="en-US" dirty="0" smtClean="0"/>
              <a:t>Streams Types </a:t>
            </a:r>
            <a:endParaRPr lang="en-US" altLang="en-US" dirty="0"/>
          </a:p>
        </p:txBody>
      </p:sp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590800"/>
            <a:ext cx="5410200" cy="1143000"/>
          </a:xfrm>
        </p:spPr>
        <p:txBody>
          <a:bodyPr/>
          <a:lstStyle/>
          <a:p>
            <a:r>
              <a:rPr lang="en-US" altLang="en-US" sz="2000" b="1" i="1" dirty="0" smtClean="0"/>
              <a:t>Java defines two different types of Streams-</a:t>
            </a:r>
          </a:p>
          <a:p>
            <a:pPr marL="0" indent="0">
              <a:buNone/>
            </a:pPr>
            <a:r>
              <a:rPr lang="en-US" altLang="en-US" sz="2000" b="1" i="1" dirty="0" smtClean="0"/>
              <a:t>    </a:t>
            </a:r>
            <a:r>
              <a:rPr lang="en-US" altLang="en-US" sz="2000" b="1" i="1" dirty="0" err="1" smtClean="0"/>
              <a:t>ByteStream</a:t>
            </a:r>
            <a:r>
              <a:rPr lang="en-US" altLang="en-US" sz="2000" b="1" i="1" dirty="0" smtClean="0"/>
              <a:t> </a:t>
            </a:r>
          </a:p>
          <a:p>
            <a:pPr marL="0" indent="0">
              <a:buNone/>
            </a:pPr>
            <a:r>
              <a:rPr lang="en-US" altLang="en-US" sz="2000" b="1" i="1" dirty="0" smtClean="0"/>
              <a:t>   </a:t>
            </a:r>
            <a:r>
              <a:rPr lang="en-US" altLang="en-US" sz="2000" b="1" i="1" dirty="0" err="1" smtClean="0"/>
              <a:t>CharacterStream</a:t>
            </a:r>
            <a:endParaRPr lang="en-US" altLang="en-US" sz="2000" b="1" i="1" dirty="0" smtClean="0"/>
          </a:p>
          <a:p>
            <a:pPr marL="0" indent="0">
              <a:buNone/>
            </a:pPr>
            <a:endParaRPr lang="en-US" altLang="en-US" sz="2000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400800" y="642257"/>
            <a:ext cx="3331029" cy="2240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en-US" altLang="en-US" sz="2000" u="sng" dirty="0" err="1" smtClean="0"/>
              <a:t>ByteStreams</a:t>
            </a:r>
            <a:endParaRPr lang="en-US" altLang="en-US" sz="2000" dirty="0"/>
          </a:p>
          <a:p>
            <a:r>
              <a:rPr lang="en-US" altLang="en-US" sz="2000" dirty="0" smtClean="0"/>
              <a:t>Works with bytes and binary objects</a:t>
            </a:r>
            <a:endParaRPr lang="en-US" altLang="en-US" sz="2000" dirty="0"/>
          </a:p>
          <a:p>
            <a:r>
              <a:rPr lang="en-US" altLang="en-US" sz="2000" dirty="0" err="1" smtClean="0"/>
              <a:t>InputStream</a:t>
            </a:r>
            <a:r>
              <a:rPr lang="en-US" altLang="en-US" sz="2000" dirty="0" smtClean="0"/>
              <a:t> class for read operation</a:t>
            </a:r>
            <a:endParaRPr lang="en-US" altLang="en-US" sz="2000" dirty="0"/>
          </a:p>
          <a:p>
            <a:r>
              <a:rPr lang="en-US" altLang="en-US" sz="2000" dirty="0" err="1" smtClean="0"/>
              <a:t>OutputStream</a:t>
            </a:r>
            <a:r>
              <a:rPr lang="en-US" altLang="en-US" sz="2000" dirty="0" smtClean="0"/>
              <a:t> class for write operation</a:t>
            </a:r>
            <a:endParaRPr lang="en-US" altLang="en-US" sz="2000" u="sng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389914" y="3753394"/>
            <a:ext cx="33528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en-US" altLang="en-US" sz="2000" u="sng" dirty="0" err="1" smtClean="0"/>
              <a:t>CharacterStreams</a:t>
            </a:r>
            <a:endParaRPr lang="en-US" altLang="en-US" sz="2000" dirty="0"/>
          </a:p>
          <a:p>
            <a:r>
              <a:rPr lang="en-US" altLang="en-US" sz="2000" dirty="0" smtClean="0"/>
              <a:t>Works with characters and strings</a:t>
            </a:r>
            <a:endParaRPr lang="en-US" altLang="en-US" sz="2000" dirty="0"/>
          </a:p>
          <a:p>
            <a:r>
              <a:rPr lang="en-US" altLang="en-US" sz="2000" dirty="0" smtClean="0"/>
              <a:t>Reader class for read operation</a:t>
            </a:r>
            <a:endParaRPr lang="en-US" altLang="en-US" sz="2000" dirty="0"/>
          </a:p>
          <a:p>
            <a:r>
              <a:rPr lang="en-US" altLang="en-US" sz="2000" dirty="0" smtClean="0"/>
              <a:t>Writer for  write operation</a:t>
            </a:r>
            <a:endParaRPr lang="en-US" altLang="en-US" sz="2000" u="sng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601200" cy="549275"/>
          </a:xfrm>
        </p:spPr>
        <p:txBody>
          <a:bodyPr/>
          <a:lstStyle/>
          <a:p>
            <a:r>
              <a:rPr lang="en-US" altLang="en-US" dirty="0" smtClean="0">
                <a:latin typeface="Agency FB" panose="020B0503020202020204" pitchFamily="34" charset="0"/>
              </a:rPr>
              <a:t>Byte Streams</a:t>
            </a:r>
            <a:endParaRPr lang="en-US" altLang="en-US" dirty="0">
              <a:latin typeface="Agency FB" panose="020B0503020202020204" pitchFamily="34" charset="0"/>
            </a:endParaRPr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10896600" cy="4267200"/>
          </a:xfrm>
        </p:spPr>
        <p:txBody>
          <a:bodyPr/>
          <a:lstStyle/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Programs use byte streams to perform input and output of 8-bit bytes</a:t>
            </a: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Byte streams are defined by using two class hierarchies</a:t>
            </a: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At the top, there are two </a:t>
            </a:r>
            <a:r>
              <a:rPr lang="en-US" altLang="en-US" sz="2000" dirty="0" smtClean="0">
                <a:solidFill>
                  <a:srgbClr val="FF0000"/>
                </a:solidFill>
                <a:latin typeface="Arial" panose="020B0604020202020204" pitchFamily="34" charset="0"/>
              </a:rPr>
              <a:t>abstract classes : </a:t>
            </a:r>
            <a:r>
              <a:rPr lang="en-US" altLang="en-US" sz="2000" dirty="0" err="1" smtClean="0">
                <a:solidFill>
                  <a:srgbClr val="FF0000"/>
                </a:solidFill>
                <a:latin typeface="Arial" panose="020B0604020202020204" pitchFamily="34" charset="0"/>
              </a:rPr>
              <a:t>InputStream</a:t>
            </a:r>
            <a:r>
              <a:rPr lang="en-US" altLang="en-US" sz="2000" dirty="0" smtClean="0">
                <a:solidFill>
                  <a:srgbClr val="FF0000"/>
                </a:solidFill>
                <a:latin typeface="Arial" panose="020B0604020202020204" pitchFamily="34" charset="0"/>
              </a:rPr>
              <a:t> and </a:t>
            </a:r>
            <a:r>
              <a:rPr lang="en-US" altLang="en-US" sz="2000" dirty="0" err="1" smtClean="0">
                <a:solidFill>
                  <a:srgbClr val="FF0000"/>
                </a:solidFill>
                <a:latin typeface="Arial" panose="020B0604020202020204" pitchFamily="34" charset="0"/>
              </a:rPr>
              <a:t>OutputStream</a:t>
            </a:r>
            <a:endParaRPr lang="en-US" altLang="en-US" sz="2000" dirty="0" smtClean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The abstract classes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InputStream</a:t>
            </a:r>
            <a:r>
              <a:rPr lang="en-US" altLang="en-US" sz="2000" dirty="0" smtClean="0">
                <a:latin typeface="Arial" panose="020B0604020202020204" pitchFamily="34" charset="0"/>
              </a:rPr>
              <a:t> and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OutputStream</a:t>
            </a:r>
            <a:r>
              <a:rPr lang="en-US" altLang="en-US" sz="2000" dirty="0" smtClean="0">
                <a:latin typeface="Arial" panose="020B0604020202020204" pitchFamily="34" charset="0"/>
              </a:rPr>
              <a:t> define several key methods that the other stream classes implement</a:t>
            </a: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Two of the most important methods are read() and write() , which respectively read and write bytes of data</a:t>
            </a: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Both methods are declared as abstract inside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InputStream</a:t>
            </a:r>
            <a:r>
              <a:rPr lang="en-US" altLang="en-US" sz="2000" dirty="0" smtClean="0">
                <a:latin typeface="Arial" panose="020B0604020202020204" pitchFamily="34" charset="0"/>
              </a:rPr>
              <a:t> and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OutputStream</a:t>
            </a:r>
            <a:endParaRPr lang="en-US" altLang="en-US" sz="2000" dirty="0" smtClean="0">
              <a:latin typeface="Arial" panose="020B0604020202020204" pitchFamily="34" charset="0"/>
            </a:endParaRP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It is important that we have used a finally block to guarantee that both streams will be closed even if an error occurs. This helps resource leaks.</a:t>
            </a: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When we call the close() , it clears buffer by performing the write operation to the destination and then closes the stream.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601200" cy="549275"/>
          </a:xfrm>
        </p:spPr>
        <p:txBody>
          <a:bodyPr/>
          <a:lstStyle/>
          <a:p>
            <a:r>
              <a:rPr lang="en-US" altLang="en-US" dirty="0">
                <a:latin typeface="Agency FB" panose="020B0503020202020204" pitchFamily="34" charset="0"/>
              </a:rPr>
              <a:t>Byte </a:t>
            </a:r>
            <a:r>
              <a:rPr lang="en-US" altLang="en-US" dirty="0" smtClean="0">
                <a:latin typeface="Agency FB" panose="020B0503020202020204" pitchFamily="34" charset="0"/>
              </a:rPr>
              <a:t>Stream classes</a:t>
            </a:r>
            <a:endParaRPr lang="en-US" altLang="en-US" dirty="0"/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10896600" cy="42672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 dirty="0" smtClean="0">
                <a:latin typeface="Arial" panose="020B0604020202020204" pitchFamily="34" charset="0"/>
              </a:rPr>
              <a:t>The following are the child classes for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InputStream</a:t>
            </a:r>
            <a:r>
              <a:rPr lang="en-US" altLang="en-US" sz="2000" dirty="0" smtClean="0">
                <a:latin typeface="Arial" panose="020B0604020202020204" pitchFamily="34" charset="0"/>
              </a:rPr>
              <a:t> and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OutputStream</a:t>
            </a:r>
            <a:r>
              <a:rPr lang="en-US" altLang="en-US" sz="2000" dirty="0" smtClean="0">
                <a:latin typeface="Arial" panose="020B0604020202020204" pitchFamily="34" charset="0"/>
              </a:rPr>
              <a:t> 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sz="2000" dirty="0" smtClean="0"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1674859"/>
            <a:ext cx="5717311" cy="38115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601200" cy="549275"/>
          </a:xfrm>
        </p:spPr>
        <p:txBody>
          <a:bodyPr/>
          <a:lstStyle/>
          <a:p>
            <a:r>
              <a:rPr lang="en-US" altLang="en-US" dirty="0">
                <a:latin typeface="Agency FB" panose="020B0503020202020204" pitchFamily="34" charset="0"/>
              </a:rPr>
              <a:t>Byte </a:t>
            </a:r>
            <a:r>
              <a:rPr lang="en-US" altLang="en-US" dirty="0" smtClean="0">
                <a:latin typeface="Agency FB" panose="020B0503020202020204" pitchFamily="34" charset="0"/>
              </a:rPr>
              <a:t>Stream : </a:t>
            </a:r>
            <a:r>
              <a:rPr lang="en-US" altLang="en-US" sz="3200" b="1" dirty="0" err="1" smtClean="0">
                <a:latin typeface="Agency FB" panose="020B0503020202020204" pitchFamily="34" charset="0"/>
              </a:rPr>
              <a:t>InputStream</a:t>
            </a:r>
            <a:r>
              <a:rPr lang="en-US" altLang="en-US" sz="3200" b="1" dirty="0" smtClean="0">
                <a:latin typeface="Agency FB" panose="020B0503020202020204" pitchFamily="34" charset="0"/>
              </a:rPr>
              <a:t> and </a:t>
            </a:r>
            <a:r>
              <a:rPr lang="en-US" altLang="en-US" sz="3200" b="1" dirty="0" err="1" smtClean="0">
                <a:latin typeface="Agency FB" panose="020B0503020202020204" pitchFamily="34" charset="0"/>
              </a:rPr>
              <a:t>OutputStream</a:t>
            </a:r>
            <a:r>
              <a:rPr lang="en-US" altLang="en-US" sz="3200" b="1" dirty="0" smtClean="0">
                <a:latin typeface="Agency FB" panose="020B0503020202020204" pitchFamily="34" charset="0"/>
              </a:rPr>
              <a:t> classes</a:t>
            </a:r>
            <a:endParaRPr lang="en-US" altLang="en-US" sz="3200" b="1" dirty="0"/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10896600" cy="42672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 dirty="0" smtClean="0">
                <a:latin typeface="Arial" panose="020B0604020202020204" pitchFamily="34" charset="0"/>
              </a:rPr>
              <a:t>The following are the child classes for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InputStream</a:t>
            </a:r>
            <a:r>
              <a:rPr lang="en-US" altLang="en-US" sz="2000" dirty="0" smtClean="0">
                <a:latin typeface="Arial" panose="020B0604020202020204" pitchFamily="34" charset="0"/>
              </a:rPr>
              <a:t> and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OutputStream</a:t>
            </a:r>
            <a:r>
              <a:rPr lang="en-US" altLang="en-US" sz="2000" dirty="0" smtClean="0">
                <a:latin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altLang="en-US" sz="2000" dirty="0" err="1" smtClean="0">
                <a:latin typeface="Arial" panose="020B0604020202020204" pitchFamily="34" charset="0"/>
              </a:rPr>
              <a:t>BufferedInputStream</a:t>
            </a:r>
            <a:r>
              <a:rPr lang="en-US" altLang="en-US" sz="2000" dirty="0" smtClean="0">
                <a:latin typeface="Arial" panose="020B0604020202020204" pitchFamily="34" charset="0"/>
              </a:rPr>
              <a:t> : contain methods to read from input stream buffer</a:t>
            </a:r>
          </a:p>
          <a:p>
            <a:pPr marL="0" indent="0">
              <a:buNone/>
            </a:pPr>
            <a:r>
              <a:rPr lang="en-US" altLang="en-US" sz="2000" dirty="0" err="1" smtClean="0">
                <a:latin typeface="Arial" panose="020B0604020202020204" pitchFamily="34" charset="0"/>
              </a:rPr>
              <a:t>BufferOutputStream</a:t>
            </a:r>
            <a:r>
              <a:rPr lang="en-US" altLang="en-US" sz="2000" dirty="0" smtClean="0">
                <a:latin typeface="Arial" panose="020B0604020202020204" pitchFamily="34" charset="0"/>
              </a:rPr>
              <a:t> : to write </a:t>
            </a:r>
          </a:p>
          <a:p>
            <a:pPr marL="0" indent="0">
              <a:buNone/>
            </a:pPr>
            <a:r>
              <a:rPr lang="en-US" altLang="en-US" sz="2000" dirty="0" err="1" smtClean="0">
                <a:latin typeface="Arial" panose="020B0604020202020204" pitchFamily="34" charset="0"/>
              </a:rPr>
              <a:t>DataInputStream</a:t>
            </a:r>
            <a:r>
              <a:rPr lang="en-US" altLang="en-US" sz="2000" dirty="0" smtClean="0">
                <a:latin typeface="Arial" panose="020B0604020202020204" pitchFamily="34" charset="0"/>
              </a:rPr>
              <a:t> : contain methods for reading the Java standard data types</a:t>
            </a:r>
          </a:p>
          <a:p>
            <a:pPr marL="0" indent="0">
              <a:buNone/>
            </a:pPr>
            <a:r>
              <a:rPr lang="en-US" altLang="en-US" sz="2000" dirty="0" err="1" smtClean="0">
                <a:latin typeface="Arial" panose="020B0604020202020204" pitchFamily="34" charset="0"/>
              </a:rPr>
              <a:t>DataOutputStream</a:t>
            </a:r>
            <a:r>
              <a:rPr lang="en-US" altLang="en-US" sz="2000" dirty="0" smtClean="0">
                <a:latin typeface="Arial" panose="020B0604020202020204" pitchFamily="34" charset="0"/>
              </a:rPr>
              <a:t> : contain methods for writing the Java standard data types</a:t>
            </a:r>
          </a:p>
          <a:p>
            <a:pPr marL="0" indent="0">
              <a:buNone/>
            </a:pPr>
            <a:r>
              <a:rPr lang="en-US" altLang="en-US" sz="2000" dirty="0" err="1" smtClean="0">
                <a:latin typeface="Arial" panose="020B0604020202020204" pitchFamily="34" charset="0"/>
              </a:rPr>
              <a:t>FileInputStream</a:t>
            </a:r>
            <a:r>
              <a:rPr lang="en-US" altLang="en-US" sz="2000" dirty="0" smtClean="0">
                <a:latin typeface="Arial" panose="020B0604020202020204" pitchFamily="34" charset="0"/>
              </a:rPr>
              <a:t> : Input stream that reads from a file</a:t>
            </a:r>
          </a:p>
          <a:p>
            <a:pPr marL="0" indent="0">
              <a:buNone/>
            </a:pPr>
            <a:r>
              <a:rPr lang="en-US" altLang="en-US" sz="2000" dirty="0" err="1" smtClean="0">
                <a:latin typeface="Arial" panose="020B0604020202020204" pitchFamily="34" charset="0"/>
              </a:rPr>
              <a:t>FileOutputStream</a:t>
            </a:r>
            <a:r>
              <a:rPr lang="en-US" altLang="en-US" sz="2000" dirty="0" smtClean="0">
                <a:latin typeface="Arial" panose="020B0604020202020204" pitchFamily="34" charset="0"/>
              </a:rPr>
              <a:t> : output stream the writes to a file</a:t>
            </a:r>
          </a:p>
          <a:p>
            <a:pPr marL="0" indent="0">
              <a:buNone/>
            </a:pPr>
            <a:r>
              <a:rPr lang="en-US" altLang="en-US" sz="2000" dirty="0" err="1" smtClean="0">
                <a:latin typeface="Arial" panose="020B0604020202020204" pitchFamily="34" charset="0"/>
              </a:rPr>
              <a:t>InputStream</a:t>
            </a:r>
            <a:r>
              <a:rPr lang="en-US" altLang="en-US" sz="2000" dirty="0" smtClean="0">
                <a:latin typeface="Arial" panose="020B0604020202020204" pitchFamily="34" charset="0"/>
              </a:rPr>
              <a:t> : abstract class that describes stream inputs</a:t>
            </a:r>
          </a:p>
          <a:p>
            <a:pPr marL="0" indent="0">
              <a:buNone/>
            </a:pPr>
            <a:r>
              <a:rPr lang="en-US" altLang="en-US" sz="2000" dirty="0" err="1" smtClean="0">
                <a:latin typeface="Arial" panose="020B0604020202020204" pitchFamily="34" charset="0"/>
              </a:rPr>
              <a:t>OutputStream</a:t>
            </a:r>
            <a:r>
              <a:rPr lang="en-US" altLang="en-US" sz="2000" dirty="0" smtClean="0">
                <a:latin typeface="Arial" panose="020B0604020202020204" pitchFamily="34" charset="0"/>
              </a:rPr>
              <a:t> : abstract class that describes stream outputs</a:t>
            </a:r>
          </a:p>
          <a:p>
            <a:pPr marL="0" indent="0">
              <a:buNone/>
            </a:pPr>
            <a:r>
              <a:rPr lang="en-US" altLang="en-US" sz="2000" dirty="0" err="1" smtClean="0">
                <a:latin typeface="Arial" panose="020B0604020202020204" pitchFamily="34" charset="0"/>
              </a:rPr>
              <a:t>PrintStream</a:t>
            </a:r>
            <a:r>
              <a:rPr lang="en-US" altLang="en-US" sz="2000" dirty="0" smtClean="0">
                <a:latin typeface="Arial" panose="020B0604020202020204" pitchFamily="34" charset="0"/>
              </a:rPr>
              <a:t> : output stream that contains print() and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println</a:t>
            </a:r>
            <a:r>
              <a:rPr lang="en-US" altLang="en-US" sz="2000" dirty="0" smtClean="0">
                <a:latin typeface="Arial" panose="020B0604020202020204" pitchFamily="34" charset="0"/>
              </a:rPr>
              <a:t>()</a:t>
            </a:r>
          </a:p>
          <a:p>
            <a:pPr marL="0" indent="0">
              <a:buNone/>
            </a:pPr>
            <a:r>
              <a:rPr lang="en-US" altLang="en-US" sz="2000" dirty="0" err="1" smtClean="0">
                <a:latin typeface="Arial" panose="020B0604020202020204" pitchFamily="34" charset="0"/>
              </a:rPr>
              <a:t>PipedInputStream</a:t>
            </a:r>
            <a:r>
              <a:rPr lang="en-US" altLang="en-US" sz="2000" dirty="0" smtClean="0">
                <a:latin typeface="Arial" panose="020B0604020202020204" pitchFamily="34" charset="0"/>
              </a:rPr>
              <a:t> : Input pipe</a:t>
            </a:r>
          </a:p>
          <a:p>
            <a:pPr marL="0" indent="0">
              <a:buNone/>
            </a:pPr>
            <a:r>
              <a:rPr lang="en-US" altLang="en-US" sz="2000" dirty="0" err="1" smtClean="0">
                <a:latin typeface="Arial" panose="020B0604020202020204" pitchFamily="34" charset="0"/>
              </a:rPr>
              <a:t>PipedOutputStream</a:t>
            </a:r>
            <a:r>
              <a:rPr lang="en-US" altLang="en-US" sz="2000" dirty="0" smtClean="0">
                <a:latin typeface="Arial" panose="020B0604020202020204" pitchFamily="34" charset="0"/>
              </a:rPr>
              <a:t> : Output pipe</a:t>
            </a:r>
          </a:p>
          <a:p>
            <a:pPr marL="0" indent="0"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sz="2000" dirty="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601200" cy="549275"/>
          </a:xfrm>
        </p:spPr>
        <p:txBody>
          <a:bodyPr/>
          <a:lstStyle/>
          <a:p>
            <a:r>
              <a:rPr lang="en-US" altLang="en-US" dirty="0">
                <a:latin typeface="Agency FB" panose="020B0503020202020204" pitchFamily="34" charset="0"/>
              </a:rPr>
              <a:t>Byte </a:t>
            </a:r>
            <a:r>
              <a:rPr lang="en-US" altLang="en-US" dirty="0" smtClean="0">
                <a:latin typeface="Agency FB" panose="020B0503020202020204" pitchFamily="34" charset="0"/>
              </a:rPr>
              <a:t>Stream : </a:t>
            </a:r>
            <a:r>
              <a:rPr lang="en-US" altLang="en-US" sz="3200" b="1" dirty="0" err="1" smtClean="0">
                <a:latin typeface="Agency FB" panose="020B0503020202020204" pitchFamily="34" charset="0"/>
              </a:rPr>
              <a:t>InputStream</a:t>
            </a:r>
            <a:r>
              <a:rPr lang="en-US" altLang="en-US" sz="3200" b="1" dirty="0" smtClean="0">
                <a:latin typeface="Agency FB" panose="020B0503020202020204" pitchFamily="34" charset="0"/>
              </a:rPr>
              <a:t> Methods</a:t>
            </a:r>
            <a:endParaRPr lang="en-US" altLang="en-US" sz="3200" b="1" dirty="0"/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10896600" cy="42672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 dirty="0" smtClean="0">
                <a:latin typeface="Arial" panose="020B0604020202020204" pitchFamily="34" charset="0"/>
              </a:rPr>
              <a:t>The following are the methods  for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InputStream</a:t>
            </a:r>
            <a:r>
              <a:rPr lang="en-US" altLang="en-US" sz="2000" dirty="0" smtClean="0">
                <a:latin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int</a:t>
            </a:r>
            <a:r>
              <a:rPr lang="en-US" altLang="en-US" sz="2000" dirty="0" smtClean="0">
                <a:latin typeface="Arial" panose="020B0604020202020204" pitchFamily="34" charset="0"/>
              </a:rPr>
              <a:t> available() </a:t>
            </a:r>
          </a:p>
          <a:p>
            <a:pPr marL="0" indent="0"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smtClean="0">
                <a:latin typeface="Arial" panose="020B0604020202020204" pitchFamily="34" charset="0"/>
              </a:rPr>
              <a:t>void close()</a:t>
            </a:r>
          </a:p>
          <a:p>
            <a:pPr marL="0" indent="0"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smtClean="0">
                <a:latin typeface="Arial" panose="020B0604020202020204" pitchFamily="34" charset="0"/>
              </a:rPr>
              <a:t>void mark(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int</a:t>
            </a:r>
            <a:r>
              <a:rPr lang="en-US" altLang="en-US" sz="2000" dirty="0" smtClean="0">
                <a:latin typeface="Arial" panose="020B0604020202020204" pitchFamily="34" charset="0"/>
              </a:rPr>
              <a:t>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numbytes</a:t>
            </a:r>
            <a:r>
              <a:rPr lang="en-US" altLang="en-US" sz="2000" dirty="0" smtClean="0">
                <a:latin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int</a:t>
            </a:r>
            <a:r>
              <a:rPr lang="en-US" altLang="en-US" sz="2000" dirty="0" smtClean="0">
                <a:latin typeface="Arial" panose="020B0604020202020204" pitchFamily="34" charset="0"/>
              </a:rPr>
              <a:t> read()</a:t>
            </a:r>
          </a:p>
          <a:p>
            <a:pPr marL="0" indent="0"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int</a:t>
            </a:r>
            <a:r>
              <a:rPr lang="en-US" altLang="en-US" sz="2000" dirty="0" smtClean="0">
                <a:latin typeface="Arial" panose="020B0604020202020204" pitchFamily="34" charset="0"/>
              </a:rPr>
              <a:t> read(byte buffer[])</a:t>
            </a:r>
          </a:p>
          <a:p>
            <a:pPr marL="0" indent="0"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smtClean="0">
                <a:latin typeface="Arial" panose="020B0604020202020204" pitchFamily="34" charset="0"/>
              </a:rPr>
              <a:t>void reset()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sz="2000" dirty="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601200" cy="549275"/>
          </a:xfrm>
        </p:spPr>
        <p:txBody>
          <a:bodyPr/>
          <a:lstStyle/>
          <a:p>
            <a:r>
              <a:rPr lang="en-US" altLang="en-US" dirty="0">
                <a:latin typeface="Agency FB" panose="020B0503020202020204" pitchFamily="34" charset="0"/>
              </a:rPr>
              <a:t>Byte </a:t>
            </a:r>
            <a:r>
              <a:rPr lang="en-US" altLang="en-US" dirty="0" smtClean="0">
                <a:latin typeface="Agency FB" panose="020B0503020202020204" pitchFamily="34" charset="0"/>
              </a:rPr>
              <a:t>Stream : </a:t>
            </a:r>
            <a:r>
              <a:rPr lang="en-US" altLang="en-US" sz="3200" b="1" dirty="0" err="1" smtClean="0">
                <a:latin typeface="Agency FB" panose="020B0503020202020204" pitchFamily="34" charset="0"/>
              </a:rPr>
              <a:t>OutputStream</a:t>
            </a:r>
            <a:r>
              <a:rPr lang="en-US" altLang="en-US" sz="3200" b="1" dirty="0" smtClean="0">
                <a:latin typeface="Agency FB" panose="020B0503020202020204" pitchFamily="34" charset="0"/>
              </a:rPr>
              <a:t> Methods</a:t>
            </a:r>
            <a:endParaRPr lang="en-US" altLang="en-US" sz="3200" b="1" dirty="0"/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10896600" cy="42672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 dirty="0" smtClean="0">
                <a:latin typeface="Arial" panose="020B0604020202020204" pitchFamily="34" charset="0"/>
              </a:rPr>
              <a:t>The following are the methods for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OutputStream</a:t>
            </a:r>
            <a:r>
              <a:rPr lang="en-US" altLang="en-US" sz="2000" dirty="0" smtClean="0">
                <a:latin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smtClean="0">
                <a:latin typeface="Arial" panose="020B0604020202020204" pitchFamily="34" charset="0"/>
              </a:rPr>
              <a:t>void close() </a:t>
            </a:r>
          </a:p>
          <a:p>
            <a:pPr marL="0" indent="0"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smtClean="0">
                <a:latin typeface="Arial" panose="020B0604020202020204" pitchFamily="34" charset="0"/>
              </a:rPr>
              <a:t>void flush()</a:t>
            </a:r>
          </a:p>
          <a:p>
            <a:pPr marL="0" indent="0"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smtClean="0">
                <a:latin typeface="Arial" panose="020B0604020202020204" pitchFamily="34" charset="0"/>
              </a:rPr>
              <a:t>void write(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int</a:t>
            </a:r>
            <a:r>
              <a:rPr lang="en-US" altLang="en-US" sz="2000" dirty="0" smtClean="0">
                <a:latin typeface="Arial" panose="020B0604020202020204" pitchFamily="34" charset="0"/>
              </a:rPr>
              <a:t> b)</a:t>
            </a:r>
          </a:p>
          <a:p>
            <a:pPr marL="0" indent="0"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smtClean="0">
                <a:latin typeface="Arial" panose="020B0604020202020204" pitchFamily="34" charset="0"/>
              </a:rPr>
              <a:t>void write(byte[] buffer)</a:t>
            </a:r>
          </a:p>
          <a:p>
            <a:pPr marL="0" indent="0"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smtClean="0">
                <a:latin typeface="Arial" panose="020B0604020202020204" pitchFamily="34" charset="0"/>
              </a:rPr>
              <a:t>void write(byte[] buffer,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int</a:t>
            </a:r>
            <a:r>
              <a:rPr lang="en-US" altLang="en-US" sz="2000" dirty="0" smtClean="0">
                <a:latin typeface="Arial" panose="020B0604020202020204" pitchFamily="34" charset="0"/>
              </a:rPr>
              <a:t> offset,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int</a:t>
            </a:r>
            <a:r>
              <a:rPr lang="en-US" altLang="en-US" sz="2000" dirty="0" smtClean="0">
                <a:latin typeface="Arial" panose="020B0604020202020204" pitchFamily="34" charset="0"/>
              </a:rPr>
              <a:t>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numBytes</a:t>
            </a:r>
            <a:r>
              <a:rPr lang="en-US" altLang="en-US" sz="2000" dirty="0" smtClean="0">
                <a:latin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sz="2000" dirty="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601200" cy="549275"/>
          </a:xfrm>
        </p:spPr>
        <p:txBody>
          <a:bodyPr/>
          <a:lstStyle/>
          <a:p>
            <a:r>
              <a:rPr lang="en-US" altLang="en-US" dirty="0">
                <a:latin typeface="Agency FB" panose="020B0503020202020204" pitchFamily="34" charset="0"/>
              </a:rPr>
              <a:t>Byte </a:t>
            </a:r>
            <a:r>
              <a:rPr lang="en-US" altLang="en-US" dirty="0" smtClean="0">
                <a:latin typeface="Agency FB" panose="020B0503020202020204" pitchFamily="34" charset="0"/>
              </a:rPr>
              <a:t>Stream : </a:t>
            </a:r>
            <a:r>
              <a:rPr lang="en-US" altLang="en-US" sz="3200" b="1" dirty="0" smtClean="0">
                <a:latin typeface="Agency FB" panose="020B0503020202020204" pitchFamily="34" charset="0"/>
              </a:rPr>
              <a:t>File operation</a:t>
            </a:r>
            <a:endParaRPr lang="en-US" altLang="en-US" sz="3200" b="1" dirty="0"/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10896600" cy="4267200"/>
          </a:xfrm>
        </p:spPr>
        <p:txBody>
          <a:bodyPr/>
          <a:lstStyle/>
          <a:p>
            <a:r>
              <a:rPr lang="en-US" altLang="en-US" sz="2000" dirty="0" err="1" smtClean="0">
                <a:latin typeface="Arial" panose="020B0604020202020204" pitchFamily="34" charset="0"/>
              </a:rPr>
              <a:t>FileInputStream</a:t>
            </a:r>
            <a:r>
              <a:rPr lang="en-US" altLang="en-US" sz="2000" dirty="0" smtClean="0">
                <a:latin typeface="Arial" panose="020B0604020202020204" pitchFamily="34" charset="0"/>
              </a:rPr>
              <a:t> and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FileOutputStream</a:t>
            </a:r>
            <a:r>
              <a:rPr lang="en-US" altLang="en-US" sz="2000" dirty="0" smtClean="0">
                <a:latin typeface="Arial" panose="020B0604020202020204" pitchFamily="34" charset="0"/>
              </a:rPr>
              <a:t> are stream classes which create streams linked to files.</a:t>
            </a:r>
          </a:p>
          <a:p>
            <a:r>
              <a:rPr lang="en-US" altLang="en-US" sz="2000" b="1" u="sng" dirty="0" smtClean="0">
                <a:latin typeface="Arial" panose="020B0604020202020204" pitchFamily="34" charset="0"/>
              </a:rPr>
              <a:t>Constructo</a:t>
            </a:r>
            <a:r>
              <a:rPr lang="en-US" altLang="en-US" sz="2000" u="sng" dirty="0" smtClean="0">
                <a:latin typeface="Arial" panose="020B0604020202020204" pitchFamily="34" charset="0"/>
              </a:rPr>
              <a:t>r</a:t>
            </a:r>
          </a:p>
          <a:p>
            <a:r>
              <a:rPr lang="en-US" altLang="en-US" sz="2000" dirty="0" err="1" smtClean="0">
                <a:latin typeface="Arial" panose="020B0604020202020204" pitchFamily="34" charset="0"/>
              </a:rPr>
              <a:t>FileInputStream</a:t>
            </a:r>
            <a:r>
              <a:rPr lang="en-US" altLang="en-US" sz="2000" dirty="0" smtClean="0">
                <a:latin typeface="Arial" panose="020B0604020202020204" pitchFamily="34" charset="0"/>
              </a:rPr>
              <a:t>(String filename)  throws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FileNotFoundException</a:t>
            </a:r>
            <a:endParaRPr lang="en-US" altLang="en-US" sz="2000" dirty="0" smtClean="0">
              <a:latin typeface="Arial" panose="020B0604020202020204" pitchFamily="34" charset="0"/>
            </a:endParaRPr>
          </a:p>
          <a:p>
            <a:r>
              <a:rPr lang="en-US" altLang="en-US" sz="2000" dirty="0" err="1" smtClean="0">
                <a:latin typeface="Arial" panose="020B0604020202020204" pitchFamily="34" charset="0"/>
              </a:rPr>
              <a:t>FileInputStream</a:t>
            </a:r>
            <a:r>
              <a:rPr lang="en-US" altLang="en-US" sz="2000" dirty="0" smtClean="0">
                <a:latin typeface="Arial" panose="020B0604020202020204" pitchFamily="34" charset="0"/>
              </a:rPr>
              <a:t>(File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fname</a:t>
            </a:r>
            <a:r>
              <a:rPr lang="en-US" altLang="en-US" sz="2000" dirty="0" smtClean="0">
                <a:latin typeface="Arial" panose="020B0604020202020204" pitchFamily="34" charset="0"/>
              </a:rPr>
              <a:t>) throws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FileNotFoundException</a:t>
            </a:r>
            <a:endParaRPr lang="en-US" altLang="en-US" sz="2000" dirty="0" smtClean="0">
              <a:latin typeface="Arial" panose="020B0604020202020204" pitchFamily="34" charset="0"/>
            </a:endParaRPr>
          </a:p>
          <a:p>
            <a:r>
              <a:rPr lang="en-US" altLang="en-US" sz="2000" dirty="0" err="1" smtClean="0">
                <a:latin typeface="Arial" panose="020B0604020202020204" pitchFamily="34" charset="0"/>
              </a:rPr>
              <a:t>FileOutputStream</a:t>
            </a:r>
            <a:r>
              <a:rPr lang="en-US" altLang="en-US" sz="2000" dirty="0" smtClean="0">
                <a:latin typeface="Arial" panose="020B0604020202020204" pitchFamily="34" charset="0"/>
              </a:rPr>
              <a:t>(String </a:t>
            </a:r>
            <a:r>
              <a:rPr lang="en-US" altLang="en-US" sz="2000" dirty="0">
                <a:latin typeface="Arial" panose="020B0604020202020204" pitchFamily="34" charset="0"/>
              </a:rPr>
              <a:t>filename)  throws </a:t>
            </a:r>
            <a:r>
              <a:rPr lang="en-US" altLang="en-US" sz="2000" dirty="0" err="1">
                <a:latin typeface="Arial" panose="020B0604020202020204" pitchFamily="34" charset="0"/>
              </a:rPr>
              <a:t>FileNotFoundException</a:t>
            </a:r>
            <a:endParaRPr lang="en-US" altLang="en-US" sz="2000" dirty="0">
              <a:latin typeface="Arial" panose="020B0604020202020204" pitchFamily="34" charset="0"/>
            </a:endParaRPr>
          </a:p>
          <a:p>
            <a:r>
              <a:rPr lang="en-US" altLang="en-US" sz="2000" dirty="0" err="1" smtClean="0">
                <a:latin typeface="Arial" panose="020B0604020202020204" pitchFamily="34" charset="0"/>
              </a:rPr>
              <a:t>FileOutputStream</a:t>
            </a:r>
            <a:r>
              <a:rPr lang="en-US" altLang="en-US" sz="2000" dirty="0" smtClean="0">
                <a:latin typeface="Arial" panose="020B0604020202020204" pitchFamily="34" charset="0"/>
              </a:rPr>
              <a:t>(File </a:t>
            </a:r>
            <a:r>
              <a:rPr lang="en-US" altLang="en-US" sz="2000" dirty="0" err="1">
                <a:latin typeface="Arial" panose="020B0604020202020204" pitchFamily="34" charset="0"/>
              </a:rPr>
              <a:t>fname</a:t>
            </a:r>
            <a:r>
              <a:rPr lang="en-US" altLang="en-US" sz="2000" dirty="0">
                <a:latin typeface="Arial" panose="020B0604020202020204" pitchFamily="34" charset="0"/>
              </a:rPr>
              <a:t>) throws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FileNotFoundException</a:t>
            </a:r>
            <a:endParaRPr lang="en-US" altLang="en-US" sz="2000" dirty="0" smtClean="0">
              <a:latin typeface="Arial" panose="020B0604020202020204" pitchFamily="34" charset="0"/>
            </a:endParaRPr>
          </a:p>
          <a:p>
            <a:r>
              <a:rPr lang="en-US" altLang="en-US" sz="2000" dirty="0" err="1">
                <a:latin typeface="Arial" panose="020B0604020202020204" pitchFamily="34" charset="0"/>
              </a:rPr>
              <a:t>FileOutputStream</a:t>
            </a:r>
            <a:r>
              <a:rPr lang="en-US" altLang="en-US" sz="2000" dirty="0">
                <a:latin typeface="Arial" panose="020B0604020202020204" pitchFamily="34" charset="0"/>
              </a:rPr>
              <a:t>(String </a:t>
            </a:r>
            <a:r>
              <a:rPr lang="en-US" altLang="en-US" sz="2000" dirty="0" smtClean="0">
                <a:latin typeface="Arial" panose="020B0604020202020204" pitchFamily="34" charset="0"/>
              </a:rPr>
              <a:t>filename,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boolean</a:t>
            </a:r>
            <a:r>
              <a:rPr lang="en-US" altLang="en-US" sz="2000" dirty="0" smtClean="0">
                <a:latin typeface="Arial" panose="020B0604020202020204" pitchFamily="34" charset="0"/>
              </a:rPr>
              <a:t> append)  </a:t>
            </a:r>
            <a:r>
              <a:rPr lang="en-US" altLang="en-US" sz="2000" dirty="0">
                <a:latin typeface="Arial" panose="020B0604020202020204" pitchFamily="34" charset="0"/>
              </a:rPr>
              <a:t>throws </a:t>
            </a:r>
            <a:r>
              <a:rPr lang="en-US" altLang="en-US" sz="2000" dirty="0" err="1">
                <a:latin typeface="Arial" panose="020B0604020202020204" pitchFamily="34" charset="0"/>
              </a:rPr>
              <a:t>FileNotFoundException</a:t>
            </a:r>
            <a:endParaRPr lang="en-US" altLang="en-US" sz="2000" dirty="0">
              <a:latin typeface="Arial" panose="020B0604020202020204" pitchFamily="34" charset="0"/>
            </a:endParaRPr>
          </a:p>
          <a:p>
            <a:r>
              <a:rPr lang="en-US" altLang="en-US" sz="2000" dirty="0" err="1">
                <a:latin typeface="Arial" panose="020B0604020202020204" pitchFamily="34" charset="0"/>
              </a:rPr>
              <a:t>FileOutputStream</a:t>
            </a:r>
            <a:r>
              <a:rPr lang="en-US" altLang="en-US" sz="2000" dirty="0">
                <a:latin typeface="Arial" panose="020B0604020202020204" pitchFamily="34" charset="0"/>
              </a:rPr>
              <a:t>(File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fname</a:t>
            </a:r>
            <a:r>
              <a:rPr lang="en-US" altLang="en-US" sz="2000" dirty="0" smtClean="0">
                <a:latin typeface="Arial" panose="020B0604020202020204" pitchFamily="34" charset="0"/>
              </a:rPr>
              <a:t>,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boolean</a:t>
            </a:r>
            <a:r>
              <a:rPr lang="en-US" altLang="en-US" sz="2000" dirty="0" smtClean="0">
                <a:latin typeface="Arial" panose="020B0604020202020204" pitchFamily="34" charset="0"/>
              </a:rPr>
              <a:t>) </a:t>
            </a:r>
            <a:r>
              <a:rPr lang="en-US" altLang="en-US" sz="2000" dirty="0">
                <a:latin typeface="Arial" panose="020B0604020202020204" pitchFamily="34" charset="0"/>
              </a:rPr>
              <a:t>throws </a:t>
            </a:r>
            <a:r>
              <a:rPr lang="en-US" altLang="en-US" sz="2000" dirty="0" err="1">
                <a:latin typeface="Arial" panose="020B0604020202020204" pitchFamily="34" charset="0"/>
              </a:rPr>
              <a:t>FileNotFoundException</a:t>
            </a:r>
            <a:endParaRPr lang="en-US" altLang="en-US" sz="2000" dirty="0">
              <a:latin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</a:endParaRPr>
          </a:p>
          <a:p>
            <a:endParaRPr lang="en-US" altLang="en-US" sz="2000" dirty="0" smtClean="0">
              <a:latin typeface="Arial" panose="020B0604020202020204" pitchFamily="34" charset="0"/>
            </a:endParaRPr>
          </a:p>
          <a:p>
            <a:endParaRPr lang="en-US" altLang="en-US" sz="2000" dirty="0" smtClean="0">
              <a:latin typeface="Arial" panose="020B0604020202020204" pitchFamily="34" charset="0"/>
            </a:endParaRPr>
          </a:p>
          <a:p>
            <a:endParaRPr lang="en-US" altLang="en-US" sz="2000" dirty="0" smtClean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sz="2000" dirty="0" smtClean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sz="2000" dirty="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601200" cy="549275"/>
          </a:xfrm>
        </p:spPr>
        <p:txBody>
          <a:bodyPr/>
          <a:lstStyle/>
          <a:p>
            <a:r>
              <a:rPr lang="en-US" altLang="en-US" dirty="0">
                <a:latin typeface="Agency FB" panose="020B0503020202020204" pitchFamily="34" charset="0"/>
              </a:rPr>
              <a:t>Byte </a:t>
            </a:r>
            <a:r>
              <a:rPr lang="en-US" altLang="en-US" dirty="0" smtClean="0">
                <a:latin typeface="Agency FB" panose="020B0503020202020204" pitchFamily="34" charset="0"/>
              </a:rPr>
              <a:t>Stream : </a:t>
            </a:r>
            <a:r>
              <a:rPr lang="en-US" altLang="en-US" sz="3200" b="1" dirty="0" smtClean="0">
                <a:latin typeface="Agency FB" panose="020B0503020202020204" pitchFamily="34" charset="0"/>
              </a:rPr>
              <a:t>File operation</a:t>
            </a:r>
            <a:endParaRPr lang="en-US" altLang="en-US" sz="3200" b="1" dirty="0"/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10896600" cy="4267200"/>
          </a:xfrm>
        </p:spPr>
        <p:txBody>
          <a:bodyPr/>
          <a:lstStyle/>
          <a:p>
            <a:r>
              <a:rPr lang="en-US" altLang="en-US" sz="2000" dirty="0" smtClean="0">
                <a:latin typeface="Arial" panose="020B0604020202020204" pitchFamily="34" charset="0"/>
              </a:rPr>
              <a:t>To read from a file , we can use read() that is defined within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FileInputStream</a:t>
            </a:r>
            <a:r>
              <a:rPr lang="en-US" altLang="en-US" sz="2000" dirty="0" smtClean="0">
                <a:latin typeface="Arial" panose="020B0604020202020204" pitchFamily="34" charset="0"/>
              </a:rPr>
              <a:t> </a:t>
            </a:r>
          </a:p>
          <a:p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int</a:t>
            </a:r>
            <a:r>
              <a:rPr lang="en-US" altLang="en-US" sz="2000" dirty="0" smtClean="0">
                <a:latin typeface="Arial" panose="020B0604020202020204" pitchFamily="34" charset="0"/>
              </a:rPr>
              <a:t> read() throws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IOException</a:t>
            </a:r>
            <a:endParaRPr lang="en-US" altLang="en-US" sz="2000" dirty="0" smtClean="0">
              <a:latin typeface="Arial" panose="020B0604020202020204" pitchFamily="34" charset="0"/>
            </a:endParaRPr>
          </a:p>
          <a:p>
            <a:r>
              <a:rPr lang="en-US" altLang="en-US" sz="2000" dirty="0" smtClean="0">
                <a:latin typeface="Arial" panose="020B0604020202020204" pitchFamily="34" charset="0"/>
              </a:rPr>
              <a:t>Each time read() is called, it reads a single byte from the file and returns the byte as an integer value.</a:t>
            </a:r>
          </a:p>
          <a:p>
            <a:r>
              <a:rPr lang="en-US" altLang="en-US" sz="2000" dirty="0" smtClean="0">
                <a:latin typeface="Arial" panose="020B0604020202020204" pitchFamily="34" charset="0"/>
              </a:rPr>
              <a:t>To write a file, we can use the write() method defined by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FileOutputStream</a:t>
            </a:r>
            <a:r>
              <a:rPr lang="en-US" altLang="en-US" sz="2000" dirty="0" smtClean="0">
                <a:latin typeface="Arial" panose="020B0604020202020204" pitchFamily="34" charset="0"/>
              </a:rPr>
              <a:t>.</a:t>
            </a:r>
          </a:p>
          <a:p>
            <a:r>
              <a:rPr lang="en-US" altLang="en-US" sz="2000" dirty="0" smtClean="0">
                <a:latin typeface="Arial" panose="020B0604020202020204" pitchFamily="34" charset="0"/>
              </a:rPr>
              <a:t> void write(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int</a:t>
            </a:r>
            <a:r>
              <a:rPr lang="en-US" altLang="en-US" sz="2000" dirty="0" smtClean="0">
                <a:latin typeface="Arial" panose="020B0604020202020204" pitchFamily="34" charset="0"/>
              </a:rPr>
              <a:t>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bytevalue</a:t>
            </a:r>
            <a:r>
              <a:rPr lang="en-US" altLang="en-US" sz="2000" dirty="0" smtClean="0">
                <a:latin typeface="Arial" panose="020B0604020202020204" pitchFamily="34" charset="0"/>
              </a:rPr>
              <a:t>)  throws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IOException</a:t>
            </a:r>
            <a:endParaRPr lang="en-US" altLang="en-US" sz="2000" dirty="0" smtClean="0">
              <a:latin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</a:endParaRPr>
          </a:p>
          <a:p>
            <a:endParaRPr lang="en-US" altLang="en-US" sz="2000" dirty="0" smtClean="0">
              <a:latin typeface="Arial" panose="020B0604020202020204" pitchFamily="34" charset="0"/>
            </a:endParaRPr>
          </a:p>
          <a:p>
            <a:endParaRPr lang="en-US" altLang="en-US" sz="2000" dirty="0" smtClean="0">
              <a:latin typeface="Arial" panose="020B0604020202020204" pitchFamily="34" charset="0"/>
            </a:endParaRPr>
          </a:p>
          <a:p>
            <a:endParaRPr lang="en-US" altLang="en-US" sz="2000" dirty="0" smtClean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sz="2000" dirty="0" smtClean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sz="2000" dirty="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11125200" cy="549275"/>
          </a:xfrm>
        </p:spPr>
        <p:txBody>
          <a:bodyPr/>
          <a:lstStyle/>
          <a:p>
            <a:r>
              <a:rPr lang="en-US" altLang="en-US" dirty="0">
                <a:latin typeface="Agency FB" panose="020B0503020202020204" pitchFamily="34" charset="0"/>
              </a:rPr>
              <a:t>Fileinput</a:t>
            </a:r>
            <a:r>
              <a:rPr lang="en-US" altLang="en-US" dirty="0" smtClean="0">
                <a:latin typeface="Agency FB" panose="020B0503020202020204" pitchFamily="34" charset="0"/>
              </a:rPr>
              <a:t>Stream / FileOutputStream Demo Program </a:t>
            </a:r>
            <a:endParaRPr lang="en-US" altLang="en-US" sz="2400" b="1" dirty="0"/>
          </a:p>
        </p:txBody>
      </p:sp>
      <p:graphicFrame>
        <p:nvGraphicFramePr>
          <p:cNvPr id="3" name="Object 2"/>
          <p:cNvGraphicFramePr/>
          <p:nvPr/>
        </p:nvGraphicFramePr>
        <p:xfrm>
          <a:off x="673735" y="884555"/>
          <a:ext cx="10053955" cy="455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r:id="rId4" imgW="7734300" imgH="3886200" progId="Paint.Picture">
                  <p:embed/>
                </p:oleObj>
              </mc:Choice>
              <mc:Fallback>
                <p:oleObj r:id="rId4" imgW="7734300" imgH="3886200" progId="Paint.Picture">
                  <p:embed/>
                  <p:pic>
                    <p:nvPicPr>
                      <p:cNvPr id="0" name="Picture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73735" y="884555"/>
                        <a:ext cx="10053955" cy="4556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Output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/>
              <a:t>35</a:t>
            </a:fld>
            <a:endParaRPr lang="en-US" altLang="en-US"/>
          </a:p>
        </p:txBody>
      </p:sp>
      <p:graphicFrame>
        <p:nvGraphicFramePr>
          <p:cNvPr id="6" name="Object 5"/>
          <p:cNvGraphicFramePr/>
          <p:nvPr/>
        </p:nvGraphicFramePr>
        <p:xfrm>
          <a:off x="847090" y="2133600"/>
          <a:ext cx="5857875" cy="1360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r:id="rId3" imgW="4387850" imgH="615950" progId="Paint.Picture">
                  <p:embed/>
                </p:oleObj>
              </mc:Choice>
              <mc:Fallback>
                <p:oleObj r:id="rId3" imgW="4387850" imgH="615950" progId="Paint.Picture">
                  <p:embed/>
                  <p:pic>
                    <p:nvPicPr>
                      <p:cNvPr id="0" name="Picture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47090" y="2133600"/>
                        <a:ext cx="5857875" cy="1360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772400" y="2286000"/>
          <a:ext cx="1459230" cy="1459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showAsIcon="1" r:id="rId5" imgW="971550" imgH="971550" progId="Package">
                  <p:embed/>
                </p:oleObj>
              </mc:Choice>
              <mc:Fallback>
                <p:oleObj showAsIcon="1" r:id="rId5" imgW="971550" imgH="971550" progId="Package">
                  <p:embed/>
                  <p:pic>
                    <p:nvPicPr>
                      <p:cNvPr id="0" name="Picture 204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772400" y="2286000"/>
                        <a:ext cx="1459230" cy="14592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/>
              <a:t>36</a:t>
            </a:fld>
            <a:endParaRPr lang="en-US" altLang="en-US"/>
          </a:p>
        </p:txBody>
      </p:sp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11125200" cy="549275"/>
          </a:xfrm>
        </p:spPr>
        <p:txBody>
          <a:bodyPr/>
          <a:lstStyle/>
          <a:p>
            <a:r>
              <a:rPr lang="en-US" altLang="en-US" dirty="0">
                <a:latin typeface="Agency FB" panose="020B0503020202020204" pitchFamily="34" charset="0"/>
              </a:rPr>
              <a:t>BufferedInput</a:t>
            </a:r>
            <a:r>
              <a:rPr lang="en-US" altLang="en-US" dirty="0" smtClean="0">
                <a:latin typeface="Agency FB" panose="020B0503020202020204" pitchFamily="34" charset="0"/>
              </a:rPr>
              <a:t>Stream / BufferedOutputStream Demo Program </a:t>
            </a:r>
            <a:endParaRPr lang="en-US" altLang="en-US" sz="2400" b="1" dirty="0"/>
          </a:p>
        </p:txBody>
      </p:sp>
      <p:graphicFrame>
        <p:nvGraphicFramePr>
          <p:cNvPr id="6" name="Object 5"/>
          <p:cNvGraphicFramePr/>
          <p:nvPr/>
        </p:nvGraphicFramePr>
        <p:xfrm>
          <a:off x="1644015" y="853440"/>
          <a:ext cx="8275320" cy="466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r:id="rId3" imgW="6819900" imgH="3613150" progId="Paint.Picture">
                  <p:embed/>
                </p:oleObj>
              </mc:Choice>
              <mc:Fallback>
                <p:oleObj r:id="rId3" imgW="6819900" imgH="3613150" progId="Paint.Picture">
                  <p:embed/>
                  <p:pic>
                    <p:nvPicPr>
                      <p:cNvPr id="0" name="Picture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44015" y="853440"/>
                        <a:ext cx="8275320" cy="466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Output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/>
              <a:t>37</a:t>
            </a:fld>
            <a:endParaRPr lang="en-US" altLang="en-US"/>
          </a:p>
        </p:txBody>
      </p:sp>
      <p:graphicFrame>
        <p:nvGraphicFramePr>
          <p:cNvPr id="3" name="Object 2"/>
          <p:cNvGraphicFramePr/>
          <p:nvPr/>
        </p:nvGraphicFramePr>
        <p:xfrm>
          <a:off x="838200" y="1691005"/>
          <a:ext cx="6405880" cy="1204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r:id="rId3" imgW="5156200" imgH="596900" progId="Paint.Picture">
                  <p:embed/>
                </p:oleObj>
              </mc:Choice>
              <mc:Fallback>
                <p:oleObj r:id="rId3" imgW="5156200" imgH="596900" progId="Paint.Picture">
                  <p:embed/>
                  <p:pic>
                    <p:nvPicPr>
                      <p:cNvPr id="0" name="Picture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8200" y="1691005"/>
                        <a:ext cx="6405880" cy="12045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610225" y="2943225"/>
          <a:ext cx="97155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showAsIcon="1" r:id="rId5" imgW="971550" imgH="971550" progId="Package">
                  <p:embed/>
                </p:oleObj>
              </mc:Choice>
              <mc:Fallback>
                <p:oleObj showAsIcon="1" r:id="rId5" imgW="971550" imgH="971550" progId="Package">
                  <p:embed/>
                  <p:pic>
                    <p:nvPicPr>
                      <p:cNvPr id="0" name="Picture 307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10225" y="2943225"/>
                        <a:ext cx="971550" cy="971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8815"/>
          </a:xfrm>
        </p:spPr>
        <p:txBody>
          <a:bodyPr/>
          <a:lstStyle/>
          <a:p>
            <a:pPr algn="ctr"/>
            <a:r>
              <a:rPr lang="en-US" altLang="en-US" sz="3600" b="1">
                <a:sym typeface="+mn-ea"/>
              </a:rPr>
              <a:t>File Streams vs Buffered Streams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/>
              <a:t>38</a:t>
            </a:fld>
            <a:endParaRPr lang="en-US" altLang="en-US"/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1371600" y="228600"/>
          <a:ext cx="9486900" cy="5021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3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3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69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4000">
                          <a:sym typeface="+mn-ea"/>
                        </a:rPr>
                        <a:t>File Streams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4000">
                          <a:sym typeface="+mn-ea"/>
                        </a:rPr>
                        <a:t>Buffered Streams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6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800">
                          <a:sym typeface="+mn-ea"/>
                        </a:rPr>
                        <a:t>Direct file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800">
                          <a:sym typeface="+mn-ea"/>
                        </a:rPr>
                        <a:t>Uses memory buffer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6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800">
                          <a:sym typeface="+mn-ea"/>
                        </a:rPr>
                        <a:t>Slower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800">
                          <a:sym typeface="+mn-ea"/>
                        </a:rPr>
                        <a:t>Faster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6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800">
                          <a:sym typeface="+mn-ea"/>
                        </a:rPr>
                        <a:t>Reads byte-by-byte from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800">
                          <a:sym typeface="+mn-ea"/>
                        </a:rPr>
                        <a:t>Reads chunk-wise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6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800">
                          <a:sym typeface="+mn-ea"/>
                        </a:rPr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800">
                          <a:sym typeface="+mn-ea"/>
                        </a:rPr>
                        <a:t>Efficient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6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800">
                          <a:sym typeface="+mn-ea"/>
                        </a:rPr>
                        <a:t>Used for small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800">
                          <a:sym typeface="+mn-ea"/>
                        </a:rPr>
                        <a:t>Used for large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601200" cy="549275"/>
          </a:xfrm>
        </p:spPr>
        <p:txBody>
          <a:bodyPr/>
          <a:lstStyle/>
          <a:p>
            <a:r>
              <a:rPr lang="en-US" altLang="en-US" dirty="0" smtClean="0">
                <a:latin typeface="Agency FB" panose="020B0503020202020204" pitchFamily="34" charset="0"/>
              </a:rPr>
              <a:t>Character Streams</a:t>
            </a:r>
            <a:endParaRPr lang="en-US" altLang="en-US" dirty="0">
              <a:latin typeface="Agency FB" panose="020B0503020202020204" pitchFamily="34" charset="0"/>
            </a:endParaRPr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10896600" cy="4267200"/>
          </a:xfrm>
        </p:spPr>
        <p:txBody>
          <a:bodyPr/>
          <a:lstStyle/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Programs use character streams to perform input and output of 16-bit </a:t>
            </a:r>
            <a:r>
              <a:rPr lang="en-US" altLang="en-US" sz="2000" dirty="0" err="1">
                <a:latin typeface="Arial" panose="020B0604020202020204" pitchFamily="34" charset="0"/>
              </a:rPr>
              <a:t>U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nicodes</a:t>
            </a:r>
            <a:r>
              <a:rPr lang="en-US" altLang="en-US" sz="2000" dirty="0" smtClean="0">
                <a:latin typeface="Arial" panose="020B0604020202020204" pitchFamily="34" charset="0"/>
              </a:rPr>
              <a:t> that java supports.</a:t>
            </a: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Character streams are defined by using two class hierarchies</a:t>
            </a: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At the top, there are two </a:t>
            </a:r>
            <a:r>
              <a:rPr lang="en-US" altLang="en-US" sz="2000" dirty="0" smtClean="0">
                <a:solidFill>
                  <a:srgbClr val="FF0000"/>
                </a:solidFill>
                <a:latin typeface="Arial" panose="020B0604020202020204" pitchFamily="34" charset="0"/>
              </a:rPr>
              <a:t>abstract classes : Reader and Writer</a:t>
            </a: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The abstract classes Reader and Writer define several key methods that the other character classes implement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601200" cy="549275"/>
          </a:xfrm>
        </p:spPr>
        <p:txBody>
          <a:bodyPr/>
          <a:lstStyle/>
          <a:p>
            <a:r>
              <a:rPr lang="en-US" altLang="en-US" dirty="0" smtClean="0">
                <a:latin typeface="Agency FB" panose="020B0503020202020204" pitchFamily="34" charset="0"/>
              </a:rPr>
              <a:t>Character Streams</a:t>
            </a:r>
            <a:endParaRPr lang="en-US" altLang="en-US" dirty="0">
              <a:latin typeface="Agency FB" panose="020B0503020202020204" pitchFamily="34" charset="0"/>
            </a:endParaRPr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10896600" cy="42672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The following are the child classes for </a:t>
            </a:r>
            <a:r>
              <a:rPr lang="en-US" altLang="en-US" sz="2000" dirty="0" smtClean="0">
                <a:latin typeface="Arial" panose="020B0604020202020204" pitchFamily="34" charset="0"/>
              </a:rPr>
              <a:t>Reader and Writer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sz="2000" dirty="0"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913" y="1783076"/>
            <a:ext cx="6583687" cy="370332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601200" cy="549275"/>
          </a:xfrm>
        </p:spPr>
        <p:txBody>
          <a:bodyPr/>
          <a:lstStyle/>
          <a:p>
            <a:r>
              <a:rPr lang="en-US" altLang="en-US" dirty="0" smtClean="0">
                <a:latin typeface="Agency FB" panose="020B0503020202020204" pitchFamily="34" charset="0"/>
              </a:rPr>
              <a:t>Character Streams : Reader Class</a:t>
            </a:r>
            <a:endParaRPr lang="en-US" altLang="en-US" dirty="0">
              <a:latin typeface="Agency FB" panose="020B0503020202020204" pitchFamily="34" charset="0"/>
            </a:endParaRPr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10896600" cy="4267200"/>
          </a:xfrm>
        </p:spPr>
        <p:txBody>
          <a:bodyPr/>
          <a:lstStyle/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The abstract classes Reader define several key methods that the other character classes implement.</a:t>
            </a: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The subclasses those implements the method of Reader are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altLang="en-US" sz="2000" dirty="0" err="1" smtClean="0">
                <a:latin typeface="Arial" panose="020B0604020202020204" pitchFamily="34" charset="0"/>
              </a:rPr>
              <a:t>BufferedReader</a:t>
            </a:r>
            <a:r>
              <a:rPr lang="en-US" altLang="en-US" sz="2000" dirty="0" smtClean="0">
                <a:latin typeface="Arial" panose="020B0604020202020204" pitchFamily="34" charset="0"/>
              </a:rPr>
              <a:t>   : read characters from buffer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altLang="en-US" sz="2000" dirty="0" err="1" smtClean="0">
                <a:latin typeface="Arial" panose="020B0604020202020204" pitchFamily="34" charset="0"/>
              </a:rPr>
              <a:t>CharArrayReader</a:t>
            </a:r>
            <a:r>
              <a:rPr lang="en-US" altLang="en-US" sz="2000" dirty="0" smtClean="0">
                <a:latin typeface="Arial" panose="020B0604020202020204" pitchFamily="34" charset="0"/>
              </a:rPr>
              <a:t> : read characters from character array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altLang="en-US" sz="2000" dirty="0" err="1" smtClean="0">
                <a:latin typeface="Arial" panose="020B0604020202020204" pitchFamily="34" charset="0"/>
              </a:rPr>
              <a:t>FileReader</a:t>
            </a:r>
            <a:r>
              <a:rPr lang="en-US" altLang="en-US" sz="2000" dirty="0" smtClean="0">
                <a:latin typeface="Arial" panose="020B0604020202020204" pitchFamily="34" charset="0"/>
              </a:rPr>
              <a:t> : read characters from the file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altLang="en-US" sz="2000" dirty="0" err="1" smtClean="0">
                <a:latin typeface="Arial" panose="020B0604020202020204" pitchFamily="34" charset="0"/>
              </a:rPr>
              <a:t>FilterReader</a:t>
            </a:r>
            <a:r>
              <a:rPr lang="en-US" altLang="en-US" sz="2000" dirty="0" smtClean="0">
                <a:latin typeface="Arial" panose="020B0604020202020204" pitchFamily="34" charset="0"/>
              </a:rPr>
              <a:t> : read characters from the character input stream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altLang="en-US" sz="2000" dirty="0" err="1" smtClean="0">
                <a:latin typeface="Arial" panose="020B0604020202020204" pitchFamily="34" charset="0"/>
              </a:rPr>
              <a:t>InputStreamReader</a:t>
            </a:r>
            <a:r>
              <a:rPr lang="en-US" altLang="en-US" sz="2000" dirty="0" smtClean="0">
                <a:latin typeface="Arial" panose="020B0604020202020204" pitchFamily="34" charset="0"/>
              </a:rPr>
              <a:t> : converts bytes to character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altLang="en-US" sz="2000" dirty="0" err="1" smtClean="0">
                <a:latin typeface="Arial" panose="020B0604020202020204" pitchFamily="34" charset="0"/>
              </a:rPr>
              <a:t>PipedReader</a:t>
            </a:r>
            <a:r>
              <a:rPr lang="en-US" altLang="en-US" sz="2000" dirty="0" smtClean="0">
                <a:latin typeface="Arial" panose="020B0604020202020204" pitchFamily="34" charset="0"/>
              </a:rPr>
              <a:t> : read characters from a piped output stream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altLang="en-US" sz="2000" dirty="0" err="1" smtClean="0">
                <a:latin typeface="Arial" panose="020B0604020202020204" pitchFamily="34" charset="0"/>
              </a:rPr>
              <a:t>StringReader</a:t>
            </a:r>
            <a:r>
              <a:rPr lang="en-US" altLang="en-US" sz="2000" dirty="0" smtClean="0">
                <a:latin typeface="Arial" panose="020B0604020202020204" pitchFamily="34" charset="0"/>
              </a:rPr>
              <a:t> : read characters from a string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601200" cy="549275"/>
          </a:xfrm>
        </p:spPr>
        <p:txBody>
          <a:bodyPr/>
          <a:lstStyle/>
          <a:p>
            <a:r>
              <a:rPr lang="en-US" altLang="en-US" dirty="0" smtClean="0">
                <a:latin typeface="Agency FB" panose="020B0503020202020204" pitchFamily="34" charset="0"/>
              </a:rPr>
              <a:t>Character Streams : Reader Methods</a:t>
            </a:r>
            <a:endParaRPr lang="en-US" altLang="en-US" dirty="0">
              <a:latin typeface="Agency FB" panose="020B0503020202020204" pitchFamily="34" charset="0"/>
            </a:endParaRPr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10896600" cy="4267200"/>
          </a:xfrm>
        </p:spPr>
        <p:txBody>
          <a:bodyPr/>
          <a:lstStyle/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The abstract classes Reader define several key methods that the other character classes implement.</a:t>
            </a: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Methods declared abstract in Reader classes are :</a:t>
            </a: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int</a:t>
            </a:r>
            <a:r>
              <a:rPr lang="en-US" altLang="en-US" sz="2000" dirty="0" smtClean="0">
                <a:latin typeface="Arial" panose="020B0604020202020204" pitchFamily="34" charset="0"/>
              </a:rPr>
              <a:t> read()</a:t>
            </a: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i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nt</a:t>
            </a:r>
            <a:r>
              <a:rPr lang="en-US" altLang="en-US" sz="2000" dirty="0" smtClean="0">
                <a:latin typeface="Arial" panose="020B0604020202020204" pitchFamily="34" charset="0"/>
              </a:rPr>
              <a:t> read(char[] buffer)</a:t>
            </a:r>
          </a:p>
          <a:p>
            <a:pPr algn="just"/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int</a:t>
            </a:r>
            <a:r>
              <a:rPr lang="en-US" altLang="en-US" sz="2000" dirty="0" smtClean="0">
                <a:latin typeface="Arial" panose="020B0604020202020204" pitchFamily="34" charset="0"/>
              </a:rPr>
              <a:t> read(char[] buffer,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int</a:t>
            </a:r>
            <a:r>
              <a:rPr lang="en-US" altLang="en-US" sz="2000" dirty="0" smtClean="0">
                <a:latin typeface="Arial" panose="020B0604020202020204" pitchFamily="34" charset="0"/>
              </a:rPr>
              <a:t>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loc</a:t>
            </a:r>
            <a:r>
              <a:rPr lang="en-US" altLang="en-US" sz="2000" dirty="0" smtClean="0">
                <a:latin typeface="Arial" panose="020B0604020202020204" pitchFamily="34" charset="0"/>
              </a:rPr>
              <a:t>,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int</a:t>
            </a:r>
            <a:r>
              <a:rPr lang="en-US" altLang="en-US" sz="2000" dirty="0" smtClean="0">
                <a:latin typeface="Arial" panose="020B0604020202020204" pitchFamily="34" charset="0"/>
              </a:rPr>
              <a:t>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nchars</a:t>
            </a:r>
            <a:r>
              <a:rPr lang="en-US" altLang="en-US" sz="2000" dirty="0" smtClean="0">
                <a:latin typeface="Arial" panose="020B0604020202020204" pitchFamily="34" charset="0"/>
              </a:rPr>
              <a:t>)</a:t>
            </a:r>
          </a:p>
          <a:p>
            <a:pPr algn="just"/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smtClean="0">
                <a:latin typeface="Arial" panose="020B0604020202020204" pitchFamily="34" charset="0"/>
              </a:rPr>
              <a:t>void reset()</a:t>
            </a:r>
          </a:p>
          <a:p>
            <a:pPr algn="just"/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smtClean="0">
                <a:latin typeface="Arial" panose="020B0604020202020204" pitchFamily="34" charset="0"/>
              </a:rPr>
              <a:t>void close()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601200" cy="549275"/>
          </a:xfrm>
        </p:spPr>
        <p:txBody>
          <a:bodyPr/>
          <a:lstStyle/>
          <a:p>
            <a:r>
              <a:rPr lang="en-US" altLang="en-US" dirty="0" smtClean="0">
                <a:latin typeface="Agency FB" panose="020B0503020202020204" pitchFamily="34" charset="0"/>
              </a:rPr>
              <a:t>Character Streams : Writer Class</a:t>
            </a:r>
            <a:endParaRPr lang="en-US" altLang="en-US" dirty="0">
              <a:latin typeface="Agency FB" panose="020B0503020202020204" pitchFamily="34" charset="0"/>
            </a:endParaRPr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10896600" cy="4267200"/>
          </a:xfrm>
        </p:spPr>
        <p:txBody>
          <a:bodyPr/>
          <a:lstStyle/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The abstract classes Writer define several key methods that the other character classes implement.</a:t>
            </a: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The subclasses those implements the method of Writer are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altLang="en-US" sz="2000" dirty="0" err="1" smtClean="0">
                <a:latin typeface="Arial" panose="020B0604020202020204" pitchFamily="34" charset="0"/>
              </a:rPr>
              <a:t>BufferedWriter</a:t>
            </a:r>
            <a:r>
              <a:rPr lang="en-US" altLang="en-US" sz="2000" dirty="0" smtClean="0">
                <a:latin typeface="Arial" panose="020B0604020202020204" pitchFamily="34" charset="0"/>
              </a:rPr>
              <a:t>   : write characters to buffer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altLang="en-US" sz="2000" dirty="0" err="1" smtClean="0">
                <a:latin typeface="Arial" panose="020B0604020202020204" pitchFamily="34" charset="0"/>
              </a:rPr>
              <a:t>FileWriter</a:t>
            </a:r>
            <a:r>
              <a:rPr lang="en-US" altLang="en-US" sz="2000" dirty="0" smtClean="0">
                <a:latin typeface="Arial" panose="020B0604020202020204" pitchFamily="34" charset="0"/>
              </a:rPr>
              <a:t> : write characters to file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altLang="en-US" sz="2000" dirty="0" err="1" smtClean="0">
                <a:latin typeface="Arial" panose="020B0604020202020204" pitchFamily="34" charset="0"/>
              </a:rPr>
              <a:t>CharArrayWriter</a:t>
            </a:r>
            <a:r>
              <a:rPr lang="en-US" altLang="en-US" sz="2000" dirty="0" smtClean="0">
                <a:latin typeface="Arial" panose="020B0604020202020204" pitchFamily="34" charset="0"/>
              </a:rPr>
              <a:t> : write characters to the character array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altLang="en-US" sz="2000" dirty="0" err="1" smtClean="0">
                <a:latin typeface="Arial" panose="020B0604020202020204" pitchFamily="34" charset="0"/>
              </a:rPr>
              <a:t>OutputStreamWriter</a:t>
            </a:r>
            <a:r>
              <a:rPr lang="en-US" altLang="en-US" sz="2000" dirty="0" smtClean="0">
                <a:latin typeface="Arial" panose="020B0604020202020204" pitchFamily="34" charset="0"/>
              </a:rPr>
              <a:t> : converts bytes to character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altLang="en-US" sz="2000" dirty="0" err="1" smtClean="0">
                <a:latin typeface="Arial" panose="020B0604020202020204" pitchFamily="34" charset="0"/>
              </a:rPr>
              <a:t>PipedWriter</a:t>
            </a:r>
            <a:r>
              <a:rPr lang="en-US" altLang="en-US" sz="2000" dirty="0" smtClean="0">
                <a:latin typeface="Arial" panose="020B0604020202020204" pitchFamily="34" charset="0"/>
              </a:rPr>
              <a:t> : write characters to a piped output stream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altLang="en-US" sz="2000" dirty="0" err="1" smtClean="0">
                <a:latin typeface="Arial" panose="020B0604020202020204" pitchFamily="34" charset="0"/>
              </a:rPr>
              <a:t>StringWriter</a:t>
            </a:r>
            <a:r>
              <a:rPr lang="en-US" altLang="en-US" sz="2000" dirty="0" smtClean="0">
                <a:latin typeface="Arial" panose="020B0604020202020204" pitchFamily="34" charset="0"/>
              </a:rPr>
              <a:t> : write characters to a string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601200" cy="549275"/>
          </a:xfrm>
        </p:spPr>
        <p:txBody>
          <a:bodyPr/>
          <a:lstStyle/>
          <a:p>
            <a:r>
              <a:rPr lang="en-US" altLang="en-US" dirty="0" smtClean="0">
                <a:latin typeface="Agency FB" panose="020B0503020202020204" pitchFamily="34" charset="0"/>
              </a:rPr>
              <a:t>Character Streams : Writer Methods</a:t>
            </a:r>
            <a:endParaRPr lang="en-US" altLang="en-US" dirty="0">
              <a:latin typeface="Agency FB" panose="020B0503020202020204" pitchFamily="34" charset="0"/>
            </a:endParaRPr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10896600" cy="4267200"/>
          </a:xfrm>
        </p:spPr>
        <p:txBody>
          <a:bodyPr/>
          <a:lstStyle/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The abstract classes Writer define several key methods that the other character classes implement.</a:t>
            </a: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Methods declared abstract in Writer classes are :</a:t>
            </a: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 void write()</a:t>
            </a: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 void write(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int</a:t>
            </a:r>
            <a:r>
              <a:rPr lang="en-US" altLang="en-US" sz="2000" dirty="0" smtClean="0">
                <a:latin typeface="Arial" panose="020B0604020202020204" pitchFamily="34" charset="0"/>
              </a:rPr>
              <a:t>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i</a:t>
            </a:r>
            <a:r>
              <a:rPr lang="en-US" altLang="en-US" sz="2000" dirty="0" smtClean="0">
                <a:latin typeface="Arial" panose="020B0604020202020204" pitchFamily="34" charset="0"/>
              </a:rPr>
              <a:t>)</a:t>
            </a:r>
          </a:p>
          <a:p>
            <a:pPr algn="just"/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smtClean="0">
                <a:latin typeface="Arial" panose="020B0604020202020204" pitchFamily="34" charset="0"/>
              </a:rPr>
              <a:t>void write(char[] buffer,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int</a:t>
            </a:r>
            <a:r>
              <a:rPr lang="en-US" altLang="en-US" sz="2000" dirty="0" smtClean="0">
                <a:latin typeface="Arial" panose="020B0604020202020204" pitchFamily="34" charset="0"/>
              </a:rPr>
              <a:t>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loc</a:t>
            </a:r>
            <a:r>
              <a:rPr lang="en-US" altLang="en-US" sz="2000" dirty="0" smtClean="0">
                <a:latin typeface="Arial" panose="020B0604020202020204" pitchFamily="34" charset="0"/>
              </a:rPr>
              <a:t>,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int</a:t>
            </a:r>
            <a:r>
              <a:rPr lang="en-US" altLang="en-US" sz="2000" dirty="0" smtClean="0">
                <a:latin typeface="Arial" panose="020B0604020202020204" pitchFamily="34" charset="0"/>
              </a:rPr>
              <a:t>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nchars</a:t>
            </a:r>
            <a:r>
              <a:rPr lang="en-US" altLang="en-US" sz="2000" dirty="0" smtClean="0">
                <a:latin typeface="Arial" panose="020B0604020202020204" pitchFamily="34" charset="0"/>
              </a:rPr>
              <a:t>)</a:t>
            </a:r>
          </a:p>
          <a:p>
            <a:pPr algn="just"/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smtClean="0">
                <a:latin typeface="Arial" panose="020B0604020202020204" pitchFamily="34" charset="0"/>
              </a:rPr>
              <a:t>void flush()</a:t>
            </a:r>
          </a:p>
          <a:p>
            <a:pPr algn="just"/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smtClean="0">
                <a:latin typeface="Arial" panose="020B0604020202020204" pitchFamily="34" charset="0"/>
              </a:rPr>
              <a:t>void close()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325"/>
            <a:ext cx="10515600" cy="452120"/>
          </a:xfrm>
        </p:spPr>
        <p:txBody>
          <a:bodyPr/>
          <a:lstStyle/>
          <a:p>
            <a:r>
              <a:rPr lang="en-US" sz="3600" b="1"/>
              <a:t>FileReader / FileWriter Demo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/>
              <a:t>45</a:t>
            </a:fld>
            <a:endParaRPr lang="en-US" altLang="en-US"/>
          </a:p>
        </p:txBody>
      </p:sp>
      <p:graphicFrame>
        <p:nvGraphicFramePr>
          <p:cNvPr id="6" name="Object 5"/>
          <p:cNvGraphicFramePr/>
          <p:nvPr/>
        </p:nvGraphicFramePr>
        <p:xfrm>
          <a:off x="2437765" y="461645"/>
          <a:ext cx="7193915" cy="4976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r:id="rId3" imgW="5886450" imgH="4711700" progId="Paint.Picture">
                  <p:embed/>
                </p:oleObj>
              </mc:Choice>
              <mc:Fallback>
                <p:oleObj r:id="rId3" imgW="5886450" imgH="4711700" progId="Paint.Picture">
                  <p:embed/>
                  <p:pic>
                    <p:nvPicPr>
                      <p:cNvPr id="0" name="Picture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37765" y="461645"/>
                        <a:ext cx="7193915" cy="49764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/>
              <a:t>46</a:t>
            </a:fld>
            <a:endParaRPr lang="en-US" altLang="en-US"/>
          </a:p>
        </p:txBody>
      </p:sp>
      <p:graphicFrame>
        <p:nvGraphicFramePr>
          <p:cNvPr id="6" name="Object 5"/>
          <p:cNvGraphicFramePr/>
          <p:nvPr/>
        </p:nvGraphicFramePr>
        <p:xfrm>
          <a:off x="1744980" y="762635"/>
          <a:ext cx="8340725" cy="502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r:id="rId3" imgW="7283450" imgH="5327650" progId="Paint.Picture">
                  <p:embed/>
                </p:oleObj>
              </mc:Choice>
              <mc:Fallback>
                <p:oleObj r:id="rId3" imgW="7283450" imgH="5327650" progId="Paint.Picture">
                  <p:embed/>
                  <p:pic>
                    <p:nvPicPr>
                      <p:cNvPr id="0" name="Picture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44980" y="762635"/>
                        <a:ext cx="8340725" cy="5026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38200" y="60325"/>
            <a:ext cx="10515600" cy="452120"/>
          </a:xfrm>
        </p:spPr>
        <p:txBody>
          <a:bodyPr/>
          <a:lstStyle/>
          <a:p>
            <a:r>
              <a:rPr lang="en-US" sz="3600" b="1"/>
              <a:t>BufferedReader / </a:t>
            </a:r>
            <a:r>
              <a:rPr lang="en-US" sz="3600" b="1">
                <a:sym typeface="+mn-ea"/>
              </a:rPr>
              <a:t>Buffered</a:t>
            </a:r>
            <a:r>
              <a:rPr lang="en-US" sz="3600" b="1"/>
              <a:t>Writer Demo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6355"/>
            <a:ext cx="10515600" cy="730250"/>
          </a:xfrm>
        </p:spPr>
        <p:txBody>
          <a:bodyPr/>
          <a:lstStyle/>
          <a:p>
            <a:r>
              <a:rPr lang="en-US"/>
              <a:t>StringReader / StringWriter Demo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/>
              <a:t>47</a:t>
            </a:fld>
            <a:endParaRPr lang="en-US" altLang="en-US"/>
          </a:p>
        </p:txBody>
      </p:sp>
      <p:graphicFrame>
        <p:nvGraphicFramePr>
          <p:cNvPr id="6" name="Object 5"/>
          <p:cNvGraphicFramePr/>
          <p:nvPr/>
        </p:nvGraphicFramePr>
        <p:xfrm>
          <a:off x="1624330" y="681355"/>
          <a:ext cx="8999220" cy="5047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r:id="rId3" imgW="5962650" imgH="4616450" progId="Paint.Picture">
                  <p:embed/>
                </p:oleObj>
              </mc:Choice>
              <mc:Fallback>
                <p:oleObj r:id="rId3" imgW="5962650" imgH="4616450" progId="Paint.Picture">
                  <p:embed/>
                  <p:pic>
                    <p:nvPicPr>
                      <p:cNvPr id="0" name="Picture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24330" y="681355"/>
                        <a:ext cx="8999220" cy="50476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5960"/>
          </a:xfrm>
        </p:spPr>
        <p:txBody>
          <a:bodyPr/>
          <a:lstStyle/>
          <a:p>
            <a:r>
              <a:rPr lang="en-US" altLang="en-US"/>
              <a:t>PipedReader / PipedWriter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/>
              <a:t>48</a:t>
            </a:fld>
            <a:endParaRPr lang="en-US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1066800" y="806450"/>
            <a:ext cx="886587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>
                <a:sym typeface="+mn-ea"/>
              </a:rPr>
              <a:t>Used to transfer data between two threads</a:t>
            </a:r>
          </a:p>
        </p:txBody>
      </p:sp>
      <p:graphicFrame>
        <p:nvGraphicFramePr>
          <p:cNvPr id="7" name="Object 6"/>
          <p:cNvGraphicFramePr/>
          <p:nvPr/>
        </p:nvGraphicFramePr>
        <p:xfrm>
          <a:off x="1295400" y="1600200"/>
          <a:ext cx="7033260" cy="3362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r:id="rId3" imgW="4826000" imgH="2997200" progId="Paint.Picture">
                  <p:embed/>
                </p:oleObj>
              </mc:Choice>
              <mc:Fallback>
                <p:oleObj r:id="rId3" imgW="4826000" imgH="2997200" progId="Paint.Picture">
                  <p:embed/>
                  <p:pic>
                    <p:nvPicPr>
                      <p:cNvPr id="0" name="Picture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95400" y="1600200"/>
                        <a:ext cx="7033260" cy="3362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/>
              <a:t>49</a:t>
            </a:fld>
            <a:endParaRPr lang="en-US" altLang="en-US"/>
          </a:p>
        </p:txBody>
      </p:sp>
      <p:graphicFrame>
        <p:nvGraphicFramePr>
          <p:cNvPr id="8" name="Object 7"/>
          <p:cNvGraphicFramePr/>
          <p:nvPr/>
        </p:nvGraphicFramePr>
        <p:xfrm>
          <a:off x="928370" y="236855"/>
          <a:ext cx="9888220" cy="5748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r:id="rId3" imgW="6242050" imgH="4451350" progId="Paint.Picture">
                  <p:embed/>
                </p:oleObj>
              </mc:Choice>
              <mc:Fallback>
                <p:oleObj r:id="rId3" imgW="6242050" imgH="4451350" progId="Paint.Picture">
                  <p:embed/>
                  <p:pic>
                    <p:nvPicPr>
                      <p:cNvPr id="0" name="Picture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28370" y="236855"/>
                        <a:ext cx="9888220" cy="57486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363200" cy="3978275"/>
          </a:xfrm>
          <a:solidFill>
            <a:schemeClr val="bg1"/>
          </a:solidFill>
          <a:effectLst>
            <a:outerShdw blurRad="50800" dist="38100" dir="16200000" rotWithShape="0">
              <a:prstClr val="black">
                <a:alpha val="40000"/>
              </a:prstClr>
            </a:outerShdw>
          </a:effectLst>
          <a:scene3d>
            <a:camera prst="obliqueTopLeft"/>
            <a:lightRig rig="threePt" dir="t"/>
          </a:scene3d>
        </p:spPr>
        <p:txBody>
          <a:bodyPr/>
          <a:lstStyle/>
          <a:p>
            <a:r>
              <a:rPr lang="en-US" dirty="0" smtClean="0"/>
              <a:t>                             </a:t>
            </a:r>
            <a:br>
              <a:rPr lang="en-US" dirty="0" smtClean="0"/>
            </a:br>
            <a:r>
              <a:rPr lang="en-US" dirty="0"/>
              <a:t> </a:t>
            </a:r>
            <a:r>
              <a:rPr lang="en-US" dirty="0" smtClean="0"/>
              <a:t>              </a:t>
            </a:r>
            <a:r>
              <a:rPr lang="en-US" sz="6600" dirty="0" smtClean="0">
                <a:latin typeface="Apple Chancery" panose="03020702040506060504" pitchFamily="66" charset="0"/>
              </a:rPr>
              <a:t>Channel &amp; Buffer </a:t>
            </a:r>
            <a:endParaRPr lang="en-IN" sz="6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t>50</a:t>
            </a:fld>
            <a:endParaRPr lang="en-US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7924800" cy="244475"/>
          </a:xfrm>
        </p:spPr>
        <p:txBody>
          <a:bodyPr/>
          <a:lstStyle/>
          <a:p>
            <a:r>
              <a:rPr lang="en-US" altLang="en-US" dirty="0" smtClean="0">
                <a:latin typeface="Agency FB" panose="020B0503020202020204" pitchFamily="34" charset="0"/>
              </a:rPr>
              <a:t> NIO </a:t>
            </a:r>
            <a:r>
              <a:rPr lang="en-US" altLang="en-US" dirty="0" err="1" smtClean="0">
                <a:latin typeface="Agency FB" panose="020B0503020202020204" pitchFamily="34" charset="0"/>
              </a:rPr>
              <a:t>api</a:t>
            </a:r>
            <a:r>
              <a:rPr lang="en-US" altLang="en-US" dirty="0" smtClean="0">
                <a:latin typeface="Agency FB" panose="020B0503020202020204" pitchFamily="34" charset="0"/>
              </a:rPr>
              <a:t> : introduced channel and Buffer</a:t>
            </a:r>
            <a:endParaRPr lang="en-US" altLang="en-US" dirty="0">
              <a:latin typeface="Agency FB" panose="020B0503020202020204" pitchFamily="34" charset="0"/>
            </a:endParaRPr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10896600" cy="4267200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en-US" sz="2000" b="1" u="sng" dirty="0" smtClean="0">
                <a:latin typeface="Arial" panose="020B0604020202020204" pitchFamily="34" charset="0"/>
              </a:rPr>
              <a:t>Drawbacks of traditional java.io.* </a:t>
            </a: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Lacks some important functionality , such as copy() not available in File class</a:t>
            </a: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Defined many methods that returns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boolean</a:t>
            </a:r>
            <a:r>
              <a:rPr lang="en-US" altLang="en-US" sz="2000" dirty="0" smtClean="0">
                <a:latin typeface="Arial" panose="020B0604020202020204" pitchFamily="34" charset="0"/>
              </a:rPr>
              <a:t>. In case of error , instead of exception, method returns false.</a:t>
            </a: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A limited set of file attributes was provided.</a:t>
            </a:r>
          </a:p>
          <a:p>
            <a:pPr marL="0" indent="0" algn="just">
              <a:buNone/>
            </a:pPr>
            <a:r>
              <a:rPr lang="en-US" altLang="en-US" sz="2000" b="1" u="sng" dirty="0" smtClean="0">
                <a:latin typeface="Arial" panose="020B0604020202020204" pitchFamily="34" charset="0"/>
              </a:rPr>
              <a:t>Features </a:t>
            </a:r>
            <a:r>
              <a:rPr lang="en-US" altLang="en-US" sz="2000" b="1" u="sng" dirty="0">
                <a:latin typeface="Arial" panose="020B0604020202020204" pitchFamily="34" charset="0"/>
              </a:rPr>
              <a:t>of </a:t>
            </a:r>
            <a:r>
              <a:rPr lang="en-US" altLang="en-US" sz="2000" b="1" u="sng" dirty="0" smtClean="0">
                <a:latin typeface="Arial" panose="020B0604020202020204" pitchFamily="34" charset="0"/>
              </a:rPr>
              <a:t> java.nio</a:t>
            </a:r>
            <a:r>
              <a:rPr lang="en-US" altLang="en-US" sz="2000" b="1" u="sng" dirty="0">
                <a:latin typeface="Arial" panose="020B0604020202020204" pitchFamily="34" charset="0"/>
              </a:rPr>
              <a:t>.* </a:t>
            </a:r>
            <a:endParaRPr lang="en-US" altLang="en-US" sz="2000" b="1" u="sng" dirty="0" smtClean="0">
              <a:latin typeface="Arial" panose="020B0604020202020204" pitchFamily="34" charset="0"/>
            </a:endParaRP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Added with java 6/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jdk</a:t>
            </a:r>
            <a:r>
              <a:rPr lang="en-US" altLang="en-US" sz="2000" dirty="0" smtClean="0">
                <a:latin typeface="Arial" panose="020B0604020202020204" pitchFamily="34" charset="0"/>
              </a:rPr>
              <a:t> 6</a:t>
            </a: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Stands for non blocking i/o</a:t>
            </a: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Bulk access to raw bytes</a:t>
            </a: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Bidirectional channels</a:t>
            </a: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Introduces three new concepts : Channel, Buffer and Selector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indent="0" algn="just">
              <a:buNone/>
            </a:pPr>
            <a:endParaRPr lang="en-US" altLang="en-US" sz="2000" dirty="0" smtClean="0">
              <a:latin typeface="Arial" panose="020B0604020202020204" pitchFamily="34" charset="0"/>
            </a:endParaRPr>
          </a:p>
          <a:p>
            <a:pPr algn="just"/>
            <a:endParaRPr lang="en-US" altLang="en-US" sz="2000" dirty="0" smtClean="0">
              <a:latin typeface="Arial" panose="020B0604020202020204" pitchFamily="34" charset="0"/>
            </a:endParaRPr>
          </a:p>
          <a:p>
            <a:pPr algn="just"/>
            <a:endParaRPr lang="en-US" altLang="en-US" sz="2000" dirty="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7924800" cy="244475"/>
          </a:xfrm>
        </p:spPr>
        <p:txBody>
          <a:bodyPr/>
          <a:lstStyle/>
          <a:p>
            <a:r>
              <a:rPr lang="en-US" altLang="en-US" dirty="0" smtClean="0">
                <a:latin typeface="Agency FB" panose="020B0503020202020204" pitchFamily="34" charset="0"/>
              </a:rPr>
              <a:t> Channel</a:t>
            </a:r>
            <a:endParaRPr lang="en-US" altLang="en-US" dirty="0">
              <a:latin typeface="Agency FB" panose="020B0503020202020204" pitchFamily="34" charset="0"/>
            </a:endParaRPr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10896600" cy="4267200"/>
          </a:xfrm>
        </p:spPr>
        <p:txBody>
          <a:bodyPr/>
          <a:lstStyle/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The channel is where the data comes from.</a:t>
            </a: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The channel object is an object that connect to a file .</a:t>
            </a: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A channel can write the buffer to the medium or can read data from that medium to a buffer.</a:t>
            </a: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In Java , Channel is an interface</a:t>
            </a: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Implemented by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FileChannel</a:t>
            </a:r>
            <a:r>
              <a:rPr lang="en-US" altLang="en-US" sz="2000" dirty="0" smtClean="0">
                <a:latin typeface="Arial" panose="020B0604020202020204" pitchFamily="34" charset="0"/>
              </a:rPr>
              <a:t>,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DatagramChannel</a:t>
            </a:r>
            <a:r>
              <a:rPr lang="en-US" altLang="en-US" sz="2000" dirty="0" smtClean="0">
                <a:latin typeface="Arial" panose="020B0604020202020204" pitchFamily="34" charset="0"/>
              </a:rPr>
              <a:t>,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SocketChannel</a:t>
            </a:r>
            <a:endParaRPr lang="en-US" altLang="en-US" sz="2000" dirty="0" smtClean="0">
              <a:latin typeface="Arial" panose="020B0604020202020204" pitchFamily="34" charset="0"/>
            </a:endParaRPr>
          </a:p>
          <a:p>
            <a:pPr algn="just"/>
            <a:endParaRPr lang="en-US" altLang="en-US" sz="2000" dirty="0" smtClean="0">
              <a:latin typeface="Arial" panose="020B0604020202020204" pitchFamily="34" charset="0"/>
            </a:endParaRPr>
          </a:p>
          <a:p>
            <a:pPr marL="0" indent="0" algn="just"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indent="0" algn="just">
              <a:buNone/>
            </a:pPr>
            <a:endParaRPr lang="en-US" altLang="en-US" sz="2000" dirty="0" smtClean="0">
              <a:latin typeface="Arial" panose="020B0604020202020204" pitchFamily="34" charset="0"/>
            </a:endParaRPr>
          </a:p>
          <a:p>
            <a:pPr algn="just"/>
            <a:endParaRPr lang="en-US" altLang="en-US" sz="2000" dirty="0" smtClean="0">
              <a:latin typeface="Arial" panose="020B0604020202020204" pitchFamily="34" charset="0"/>
            </a:endParaRPr>
          </a:p>
          <a:p>
            <a:pPr algn="just"/>
            <a:endParaRPr lang="en-US" altLang="en-US" sz="2000" dirty="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7924800" cy="244475"/>
          </a:xfrm>
        </p:spPr>
        <p:txBody>
          <a:bodyPr/>
          <a:lstStyle/>
          <a:p>
            <a:r>
              <a:rPr lang="en-US" altLang="en-US" dirty="0" smtClean="0">
                <a:latin typeface="Agency FB" panose="020B0503020202020204" pitchFamily="34" charset="0"/>
              </a:rPr>
              <a:t> Channel : </a:t>
            </a:r>
            <a:r>
              <a:rPr lang="en-US" altLang="en-US" dirty="0" err="1" smtClean="0">
                <a:latin typeface="Agency FB" panose="020B0503020202020204" pitchFamily="34" charset="0"/>
              </a:rPr>
              <a:t>FileChannel</a:t>
            </a:r>
            <a:endParaRPr lang="en-US" altLang="en-US" dirty="0">
              <a:latin typeface="Agency FB" panose="020B0503020202020204" pitchFamily="34" charset="0"/>
            </a:endParaRPr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10896600" cy="4267200"/>
          </a:xfrm>
        </p:spPr>
        <p:txBody>
          <a:bodyPr/>
          <a:lstStyle/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A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FileChannel</a:t>
            </a:r>
            <a:r>
              <a:rPr lang="en-US" altLang="en-US" sz="2000" dirty="0" smtClean="0">
                <a:latin typeface="Arial" panose="020B0604020202020204" pitchFamily="34" charset="0"/>
              </a:rPr>
              <a:t> can be mapped to a memory array for direct access. This allows for much faster operation than accessing to the disk directly. </a:t>
            </a: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It is built on native features provided by the different operating system and this is the reason why the concrete implementation of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FileChannel</a:t>
            </a:r>
            <a:r>
              <a:rPr lang="en-US" altLang="en-US" sz="2000" dirty="0" smtClean="0">
                <a:latin typeface="Arial" panose="020B0604020202020204" pitchFamily="34" charset="0"/>
              </a:rPr>
              <a:t> are hidden just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bcz</a:t>
            </a:r>
            <a:r>
              <a:rPr lang="en-US" altLang="en-US" sz="2000" dirty="0" smtClean="0">
                <a:latin typeface="Arial" panose="020B0604020202020204" pitchFamily="34" charset="0"/>
              </a:rPr>
              <a:t> they are different depending on the machine we are working on.</a:t>
            </a: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There are 3 modes of operation by a channel</a:t>
            </a: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READ_ONLY</a:t>
            </a: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READ_WRITE</a:t>
            </a: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PRIVATE</a:t>
            </a:r>
          </a:p>
          <a:p>
            <a:pPr algn="just"/>
            <a:endParaRPr lang="en-US" altLang="en-US" sz="2000" dirty="0" smtClean="0">
              <a:latin typeface="Arial" panose="020B0604020202020204" pitchFamily="34" charset="0"/>
            </a:endParaRPr>
          </a:p>
          <a:p>
            <a:pPr marL="0" indent="0" algn="just"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indent="0" algn="just">
              <a:buNone/>
            </a:pPr>
            <a:endParaRPr lang="en-US" altLang="en-US" sz="2000" dirty="0" smtClean="0">
              <a:latin typeface="Arial" panose="020B0604020202020204" pitchFamily="34" charset="0"/>
            </a:endParaRPr>
          </a:p>
          <a:p>
            <a:pPr algn="just"/>
            <a:endParaRPr lang="en-US" altLang="en-US" sz="2000" dirty="0" smtClean="0">
              <a:latin typeface="Arial" panose="020B0604020202020204" pitchFamily="34" charset="0"/>
            </a:endParaRPr>
          </a:p>
          <a:p>
            <a:pPr algn="just"/>
            <a:endParaRPr lang="en-US" altLang="en-US" sz="2000" dirty="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7924800" cy="244475"/>
          </a:xfrm>
        </p:spPr>
        <p:txBody>
          <a:bodyPr/>
          <a:lstStyle/>
          <a:p>
            <a:r>
              <a:rPr lang="en-US" altLang="en-US" dirty="0" smtClean="0">
                <a:latin typeface="Agency FB" panose="020B0503020202020204" pitchFamily="34" charset="0"/>
              </a:rPr>
              <a:t> Buffer</a:t>
            </a:r>
            <a:endParaRPr lang="en-US" altLang="en-US" dirty="0">
              <a:latin typeface="Agency FB" panose="020B0503020202020204" pitchFamily="34" charset="0"/>
            </a:endParaRPr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10896600" cy="4267200"/>
          </a:xfrm>
        </p:spPr>
        <p:txBody>
          <a:bodyPr/>
          <a:lstStyle/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A buffer can be seen as a space in memory. It can reside in the main memory of the JVM. </a:t>
            </a:r>
          </a:p>
          <a:p>
            <a:r>
              <a:rPr lang="en-US" sz="2000" dirty="0">
                <a:latin typeface="Ariel"/>
              </a:rPr>
              <a:t>A buffer object has 3 properties:</a:t>
            </a:r>
          </a:p>
          <a:p>
            <a:r>
              <a:rPr lang="en-US" sz="2000" dirty="0">
                <a:latin typeface="Ariel"/>
              </a:rPr>
              <a:t>a capacity = the size of the backing array.</a:t>
            </a:r>
          </a:p>
          <a:p>
            <a:r>
              <a:rPr lang="en-US" sz="2000" dirty="0">
                <a:latin typeface="Ariel"/>
              </a:rPr>
              <a:t>a current position that can be seen as cursor. All the read and the write operations are made to or from the current </a:t>
            </a:r>
            <a:r>
              <a:rPr lang="en-US" sz="2000" dirty="0" smtClean="0">
                <a:latin typeface="Ariel"/>
              </a:rPr>
              <a:t>position.</a:t>
            </a:r>
          </a:p>
          <a:p>
            <a:r>
              <a:rPr lang="en-US" sz="2000" dirty="0" smtClean="0">
                <a:latin typeface="Ariel"/>
              </a:rPr>
              <a:t>a </a:t>
            </a:r>
            <a:r>
              <a:rPr lang="en-US" sz="2000" dirty="0">
                <a:latin typeface="Ariel"/>
              </a:rPr>
              <a:t>limit which is the last position in memory seen by this buffer</a:t>
            </a:r>
            <a:r>
              <a:rPr lang="en-US" sz="2000" dirty="0" smtClean="0">
                <a:latin typeface="Ariel"/>
              </a:rPr>
              <a:t>.</a:t>
            </a:r>
          </a:p>
          <a:p>
            <a:r>
              <a:rPr lang="en-US" sz="2000" dirty="0">
                <a:latin typeface="Ariel"/>
              </a:rPr>
              <a:t>A buffer supports 4 operations:</a:t>
            </a:r>
          </a:p>
          <a:p>
            <a:r>
              <a:rPr lang="en-US" sz="2000" dirty="0">
                <a:latin typeface="Ariel"/>
              </a:rPr>
              <a:t>rewind: clears the mark and sets the current position to 0.</a:t>
            </a:r>
          </a:p>
          <a:p>
            <a:r>
              <a:rPr lang="en-US" sz="2000" dirty="0">
                <a:latin typeface="Ariel"/>
              </a:rPr>
              <a:t>reset: sets the current position to the previously set mark. This is the companion method of the mark method.</a:t>
            </a:r>
          </a:p>
          <a:p>
            <a:r>
              <a:rPr lang="en-US" sz="2000" dirty="0">
                <a:latin typeface="Ariel"/>
              </a:rPr>
              <a:t>flip: sets the limit to the current position and rewinds the buffer.</a:t>
            </a:r>
          </a:p>
          <a:p>
            <a:r>
              <a:rPr lang="en-US" sz="2000" dirty="0">
                <a:latin typeface="Ariel"/>
              </a:rPr>
              <a:t>clear: clears the buffer.</a:t>
            </a:r>
          </a:p>
          <a:p>
            <a:pPr algn="just"/>
            <a:endParaRPr lang="en-US" altLang="en-US" sz="2000" dirty="0" smtClean="0">
              <a:latin typeface="Arial" panose="020B0604020202020204" pitchFamily="34" charset="0"/>
            </a:endParaRPr>
          </a:p>
          <a:p>
            <a:pPr algn="just"/>
            <a:endParaRPr lang="en-US" altLang="en-US" sz="2000" dirty="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7924800" cy="244475"/>
          </a:xfrm>
        </p:spPr>
        <p:txBody>
          <a:bodyPr/>
          <a:lstStyle/>
          <a:p>
            <a:r>
              <a:rPr lang="en-US" altLang="en-US" dirty="0" smtClean="0">
                <a:latin typeface="Agency FB" panose="020B0503020202020204" pitchFamily="34" charset="0"/>
              </a:rPr>
              <a:t> Buffer</a:t>
            </a:r>
            <a:endParaRPr lang="en-US" altLang="en-US" dirty="0">
              <a:latin typeface="Agency FB" panose="020B0503020202020204" pitchFamily="34" charset="0"/>
            </a:endParaRPr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10896600" cy="4267200"/>
          </a:xfrm>
        </p:spPr>
        <p:txBody>
          <a:bodyPr/>
          <a:lstStyle/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Buffer is an abstract class in java.</a:t>
            </a:r>
          </a:p>
          <a:p>
            <a:pPr algn="just"/>
            <a:endParaRPr lang="en-US" altLang="en-US" sz="2000" dirty="0" smtClean="0">
              <a:latin typeface="Arial" panose="020B0604020202020204" pitchFamily="34" charset="0"/>
            </a:endParaRPr>
          </a:p>
          <a:p>
            <a:pPr algn="just"/>
            <a:r>
              <a:rPr lang="en-US" altLang="en-US" sz="2000" dirty="0" smtClean="0">
                <a:latin typeface="Arial" panose="020B0604020202020204" pitchFamily="34" charset="0"/>
              </a:rPr>
              <a:t>Extended by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ByteBuffer</a:t>
            </a:r>
            <a:r>
              <a:rPr lang="en-US" altLang="en-US" sz="2000" dirty="0" smtClean="0">
                <a:latin typeface="Arial" panose="020B0604020202020204" pitchFamily="34" charset="0"/>
              </a:rPr>
              <a:t>, </a:t>
            </a:r>
            <a:r>
              <a:rPr lang="en-US" altLang="en-US" sz="2000" dirty="0" err="1" smtClean="0">
                <a:latin typeface="Arial" panose="020B0604020202020204" pitchFamily="34" charset="0"/>
              </a:rPr>
              <a:t>CharBuffer</a:t>
            </a:r>
            <a:r>
              <a:rPr lang="en-US" altLang="en-US" sz="2000" dirty="0" smtClean="0">
                <a:latin typeface="Arial" panose="020B0604020202020204" pitchFamily="34" charset="0"/>
              </a:rPr>
              <a:t>, 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indent="0" algn="just">
              <a:buNone/>
            </a:pPr>
            <a:endParaRPr lang="en-US" altLang="en-US" sz="2000" dirty="0" smtClean="0">
              <a:latin typeface="Arial" panose="020B0604020202020204" pitchFamily="34" charset="0"/>
            </a:endParaRPr>
          </a:p>
          <a:p>
            <a:pPr algn="just"/>
            <a:endParaRPr lang="en-US" altLang="en-US" sz="2000" dirty="0" smtClean="0">
              <a:latin typeface="Arial" panose="020B0604020202020204" pitchFamily="34" charset="0"/>
            </a:endParaRPr>
          </a:p>
          <a:p>
            <a:pPr algn="just"/>
            <a:endParaRPr lang="en-US" altLang="en-US" sz="2000" dirty="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144000" cy="396875"/>
          </a:xfrm>
        </p:spPr>
        <p:txBody>
          <a:bodyPr/>
          <a:lstStyle/>
          <a:p>
            <a:r>
              <a:rPr lang="en-US" altLang="en-US" dirty="0" smtClean="0">
                <a:latin typeface="Agency FB" panose="020B0503020202020204" pitchFamily="34" charset="0"/>
              </a:rPr>
              <a:t> Exercise : </a:t>
            </a:r>
            <a:r>
              <a:rPr lang="en-US" sz="2400" b="1" dirty="0"/>
              <a:t>Writing content to a file using Buffers and Channels</a:t>
            </a:r>
            <a:br>
              <a:rPr lang="en-US" sz="2400" b="1" dirty="0"/>
            </a:br>
            <a:endParaRPr lang="en-US" altLang="en-US" sz="2400" dirty="0">
              <a:latin typeface="Agency FB" panose="020B0503020202020204" pitchFamily="34" charset="0"/>
            </a:endParaRPr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10896600" cy="4267200"/>
          </a:xfrm>
        </p:spPr>
        <p:txBody>
          <a:bodyPr/>
          <a:lstStyle/>
          <a:p>
            <a:r>
              <a:rPr lang="en-US" sz="2000" dirty="0" smtClean="0"/>
              <a:t>Steps:</a:t>
            </a:r>
          </a:p>
          <a:p>
            <a:endParaRPr lang="en-US" sz="2000" dirty="0"/>
          </a:p>
          <a:p>
            <a:r>
              <a:rPr lang="en-US" sz="2000" dirty="0" smtClean="0"/>
              <a:t>Create </a:t>
            </a:r>
            <a:r>
              <a:rPr lang="en-US" sz="2000" dirty="0"/>
              <a:t>a </a:t>
            </a:r>
            <a:r>
              <a:rPr lang="en-US" sz="2000" dirty="0" err="1"/>
              <a:t>ByteBuffer</a:t>
            </a:r>
            <a:r>
              <a:rPr lang="en-US" sz="2000" dirty="0"/>
              <a:t>.</a:t>
            </a:r>
          </a:p>
          <a:p>
            <a:r>
              <a:rPr lang="en-US" sz="2000" dirty="0"/>
              <a:t>use the </a:t>
            </a:r>
            <a:r>
              <a:rPr lang="en-US" sz="2000" dirty="0" err="1"/>
              <a:t>putXXX</a:t>
            </a:r>
            <a:r>
              <a:rPr lang="en-US" sz="2000" dirty="0"/>
              <a:t>() method to write data.</a:t>
            </a:r>
          </a:p>
          <a:p>
            <a:r>
              <a:rPr lang="en-US" sz="2000" dirty="0"/>
              <a:t>have our </a:t>
            </a:r>
            <a:r>
              <a:rPr lang="en-US" sz="2000" dirty="0" err="1"/>
              <a:t>FileChannel</a:t>
            </a:r>
            <a:r>
              <a:rPr lang="en-US" sz="2000" dirty="0"/>
              <a:t> to write the </a:t>
            </a:r>
            <a:r>
              <a:rPr lang="en-US" sz="2000" dirty="0" err="1"/>
              <a:t>ByteBuffer</a:t>
            </a:r>
            <a:r>
              <a:rPr lang="en-US" sz="2000" dirty="0"/>
              <a:t> to a file.</a:t>
            </a:r>
          </a:p>
          <a:p>
            <a:pPr marL="0" indent="0" algn="just">
              <a:buNone/>
            </a:pPr>
            <a:endParaRPr lang="en-US" altLang="en-US" sz="2000" dirty="0" smtClean="0">
              <a:latin typeface="Arial" panose="020B0604020202020204" pitchFamily="34" charset="0"/>
            </a:endParaRPr>
          </a:p>
          <a:p>
            <a:pPr marL="0" indent="0" algn="just">
              <a:buNone/>
            </a:pPr>
            <a:endParaRPr lang="en-US" altLang="en-US" sz="2000" dirty="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363200" cy="3978275"/>
          </a:xfrm>
          <a:solidFill>
            <a:schemeClr val="bg1"/>
          </a:solidFill>
          <a:effectLst>
            <a:outerShdw blurRad="50800" dist="38100" dir="16200000" rotWithShape="0">
              <a:prstClr val="black">
                <a:alpha val="40000"/>
              </a:prstClr>
            </a:outerShdw>
          </a:effectLst>
          <a:scene3d>
            <a:camera prst="obliqueTopLeft"/>
            <a:lightRig rig="threePt" dir="t"/>
          </a:scene3d>
        </p:spPr>
        <p:txBody>
          <a:bodyPr/>
          <a:lstStyle/>
          <a:p>
            <a:r>
              <a:rPr lang="en-US" dirty="0" smtClean="0"/>
              <a:t>                             </a:t>
            </a:r>
            <a:br>
              <a:rPr lang="en-US" dirty="0" smtClean="0"/>
            </a:br>
            <a:r>
              <a:rPr lang="en-US" dirty="0"/>
              <a:t> </a:t>
            </a:r>
            <a:r>
              <a:rPr lang="en-US" dirty="0" smtClean="0"/>
              <a:t>                   </a:t>
            </a:r>
            <a:r>
              <a:rPr lang="en-US" sz="6600" dirty="0" smtClean="0">
                <a:latin typeface="Apple Chancery" panose="03020702040506060504" pitchFamily="66" charset="0"/>
              </a:rPr>
              <a:t>Serialization</a:t>
            </a:r>
            <a:endParaRPr lang="en-IN" sz="6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t>57</a:t>
            </a:fld>
            <a:endParaRPr lang="en-US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52401"/>
            <a:ext cx="3429000" cy="609600"/>
          </a:xfrm>
        </p:spPr>
        <p:txBody>
          <a:bodyPr/>
          <a:lstStyle/>
          <a:p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smtClean="0"/>
              <a:t>Serialization </a:t>
            </a:r>
            <a:r>
              <a:rPr lang="en-US" sz="2400" b="1" dirty="0"/>
              <a:t/>
            </a:r>
            <a:br>
              <a:rPr lang="en-US" sz="2400" b="1" dirty="0"/>
            </a:br>
            <a:endParaRPr lang="en-US" altLang="en-US" sz="2400" dirty="0">
              <a:latin typeface="Agency FB" panose="020B0503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642" y="1066800"/>
            <a:ext cx="7097115" cy="43916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52401"/>
            <a:ext cx="3429000" cy="609600"/>
          </a:xfrm>
        </p:spPr>
        <p:txBody>
          <a:bodyPr/>
          <a:lstStyle/>
          <a:p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smtClean="0"/>
              <a:t>Serializable Interface </a:t>
            </a:r>
            <a:r>
              <a:rPr lang="en-US" sz="2400" b="1" dirty="0"/>
              <a:t/>
            </a:r>
            <a:br>
              <a:rPr lang="en-US" sz="2400" b="1" dirty="0"/>
            </a:br>
            <a:endParaRPr lang="en-US" altLang="en-US" sz="2400" dirty="0">
              <a:latin typeface="Agency FB" panose="020B0503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371600"/>
            <a:ext cx="7620000" cy="38152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52401"/>
            <a:ext cx="3429000" cy="609600"/>
          </a:xfrm>
        </p:spPr>
        <p:txBody>
          <a:bodyPr/>
          <a:lstStyle/>
          <a:p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smtClean="0"/>
              <a:t>Serialization Example </a:t>
            </a:r>
            <a:r>
              <a:rPr lang="en-US" sz="2400" b="1" dirty="0"/>
              <a:t/>
            </a:r>
            <a:br>
              <a:rPr lang="en-US" sz="2400" b="1" dirty="0"/>
            </a:br>
            <a:endParaRPr lang="en-US" altLang="en-US" sz="2400" dirty="0">
              <a:latin typeface="Agency FB" panose="020B0503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762001"/>
            <a:ext cx="5668166" cy="4696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52401"/>
            <a:ext cx="3429000" cy="609600"/>
          </a:xfrm>
        </p:spPr>
        <p:txBody>
          <a:bodyPr/>
          <a:lstStyle/>
          <a:p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smtClean="0"/>
              <a:t>Serialization Example </a:t>
            </a:r>
            <a:r>
              <a:rPr lang="en-US" sz="2400" b="1" dirty="0"/>
              <a:t/>
            </a:r>
            <a:br>
              <a:rPr lang="en-US" sz="2400" b="1" dirty="0"/>
            </a:br>
            <a:endParaRPr lang="en-US" altLang="en-US" sz="2400" dirty="0">
              <a:latin typeface="Agency FB" panose="020B0503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548" y="995023"/>
            <a:ext cx="6658904" cy="48679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52401"/>
            <a:ext cx="3429000" cy="609600"/>
          </a:xfrm>
        </p:spPr>
        <p:txBody>
          <a:bodyPr/>
          <a:lstStyle/>
          <a:p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smtClean="0"/>
              <a:t>Serialization Example </a:t>
            </a:r>
            <a:r>
              <a:rPr lang="en-US" sz="2400" b="1" dirty="0"/>
              <a:t/>
            </a:r>
            <a:br>
              <a:rPr lang="en-US" sz="2400" b="1" dirty="0"/>
            </a:br>
            <a:endParaRPr lang="en-US" altLang="en-US" sz="2400" dirty="0">
              <a:latin typeface="Agency FB" panose="020B0503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7969" y="1004549"/>
            <a:ext cx="6716062" cy="48489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52401"/>
            <a:ext cx="3429000" cy="609600"/>
          </a:xfrm>
        </p:spPr>
        <p:txBody>
          <a:bodyPr/>
          <a:lstStyle/>
          <a:p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smtClean="0"/>
              <a:t>Exercise</a:t>
            </a:r>
            <a:r>
              <a:rPr lang="en-US" sz="2400" b="1" dirty="0"/>
              <a:t/>
            </a:r>
            <a:br>
              <a:rPr lang="en-US" sz="2400" b="1" dirty="0"/>
            </a:br>
            <a:endParaRPr lang="en-US" altLang="en-US" sz="2400" dirty="0">
              <a:latin typeface="Agency FB" panose="020B0503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676400"/>
            <a:ext cx="8384558" cy="20337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6477000" cy="762000"/>
          </a:xfrm>
          <a:solidFill>
            <a:schemeClr val="bg1"/>
          </a:solidFill>
          <a:ln w="9525">
            <a:solidFill>
              <a:schemeClr val="accent1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6800" rIns="90000" bIns="46800" numCol="1" anchor="ctr" anchorCtr="0" compatLnSpc="1"/>
          <a:lstStyle/>
          <a:p>
            <a:pPr defTabSz="457200" eaLnBrk="0" hangingPunct="0">
              <a:buClr>
                <a:srgbClr val="000000"/>
              </a:buCl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Observer and Observable Interface</a:t>
            </a:r>
            <a:endParaRPr lang="en-US" sz="3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11430000" cy="4572000"/>
          </a:xfrm>
        </p:spPr>
        <p:txBody>
          <a:bodyPr rtlCol="0">
            <a:normAutofit fontScale="97500" lnSpcReduction="10000"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3200" dirty="0"/>
              <a:t>Observer and Observable are deprecated from Java 9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dirty="0"/>
              <a:t>The Java language supports the MVC architecture with two classes</a:t>
            </a:r>
            <a:r>
              <a:rPr lang="en-US" sz="3200" dirty="0" smtClean="0"/>
              <a:t>:</a:t>
            </a:r>
          </a:p>
          <a:p>
            <a:pPr lvl="1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40" dirty="0" smtClean="0"/>
              <a:t>Observer : Any </a:t>
            </a:r>
            <a:r>
              <a:rPr lang="en-US" sz="2740" dirty="0"/>
              <a:t>object that wishes to be notified when the state of another object </a:t>
            </a:r>
            <a:r>
              <a:rPr lang="en-US" sz="2740" dirty="0" smtClean="0"/>
              <a:t>changes</a:t>
            </a:r>
          </a:p>
          <a:p>
            <a:pPr lvl="1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4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Observable : </a:t>
            </a:r>
            <a:r>
              <a:rPr lang="en-US" sz="2740" dirty="0"/>
              <a:t>Any object whose state may be of interest, and in whom another object may register an interest.</a:t>
            </a:r>
          </a:p>
          <a:p>
            <a:pPr lvl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Notification Process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t>64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28600"/>
            <a:ext cx="10515600" cy="4351338"/>
          </a:xfrm>
        </p:spPr>
        <p:txBody>
          <a:bodyPr/>
          <a:lstStyle/>
          <a:p>
            <a:r>
              <a:rPr lang="en-US" altLang="en-US" sz="3600"/>
              <a:t>Observable is a class, not an interface</a:t>
            </a:r>
          </a:p>
          <a:p>
            <a:r>
              <a:rPr lang="en-US" altLang="en-US" sz="3600"/>
              <a:t>Observer is an interface</a:t>
            </a:r>
          </a:p>
          <a:p>
            <a:endParaRPr lang="en-US" altLang="en-US" sz="3600"/>
          </a:p>
          <a:p>
            <a:r>
              <a:rPr lang="en-US" altLang="en-US" sz="3600"/>
              <a:t>Observable		-	Maintains observers</a:t>
            </a:r>
          </a:p>
          <a:p>
            <a:r>
              <a:rPr lang="en-US" altLang="en-US" sz="3600"/>
              <a:t>Observer		-	Gets updates</a:t>
            </a:r>
          </a:p>
          <a:p>
            <a:r>
              <a:rPr lang="en-US" altLang="en-US" sz="3600"/>
              <a:t>addObserver()	-	Register observer</a:t>
            </a:r>
          </a:p>
          <a:p>
            <a:r>
              <a:rPr lang="en-US" altLang="en-US" sz="3600"/>
              <a:t>setChanged()		-	Marks change</a:t>
            </a:r>
          </a:p>
          <a:p>
            <a:r>
              <a:rPr lang="en-US" altLang="en-US" sz="3600"/>
              <a:t>notifyObservers()	-	Notifies all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/>
              <a:t>65</a:t>
            </a:fld>
            <a:endParaRPr lang="en-US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/>
              <a:t>66</a:t>
            </a:fld>
            <a:endParaRPr lang="en-US" altLang="en-US"/>
          </a:p>
        </p:txBody>
      </p:sp>
      <p:graphicFrame>
        <p:nvGraphicFramePr>
          <p:cNvPr id="6" name="Object 5"/>
          <p:cNvGraphicFramePr/>
          <p:nvPr/>
        </p:nvGraphicFramePr>
        <p:xfrm>
          <a:off x="914400" y="457200"/>
          <a:ext cx="10504805" cy="4696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r:id="rId3" imgW="10496550" imgH="4692650" progId="Paint.Picture">
                  <p:embed/>
                </p:oleObj>
              </mc:Choice>
              <mc:Fallback>
                <p:oleObj r:id="rId3" imgW="10496550" imgH="4692650" progId="Paint.Picture">
                  <p:embed/>
                  <p:pic>
                    <p:nvPicPr>
                      <p:cNvPr id="0" name="Picture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457200"/>
                        <a:ext cx="10504805" cy="46964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Mr. R C Ravindranath, Asst. Prof, SOE-CSE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/>
              <a:t>67</a:t>
            </a:fld>
            <a:endParaRPr lang="en-US" altLang="en-US"/>
          </a:p>
        </p:txBody>
      </p:sp>
      <p:graphicFrame>
        <p:nvGraphicFramePr>
          <p:cNvPr id="6" name="Object 5"/>
          <p:cNvGraphicFramePr/>
          <p:nvPr/>
        </p:nvGraphicFramePr>
        <p:xfrm>
          <a:off x="1429385" y="66675"/>
          <a:ext cx="9229725" cy="5758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r:id="rId3" imgW="5867400" imgH="3752850" progId="Paint.Picture">
                  <p:embed/>
                </p:oleObj>
              </mc:Choice>
              <mc:Fallback>
                <p:oleObj r:id="rId3" imgW="5867400" imgH="3752850" progId="Paint.Picture">
                  <p:embed/>
                  <p:pic>
                    <p:nvPicPr>
                      <p:cNvPr id="0" name="Picture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29385" y="66675"/>
                        <a:ext cx="9229725" cy="57588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CA5F2-CD08-4EF5-BAD9-872B7BB27165}" type="slidenum">
              <a:rPr lang="en-US" altLang="en-US" smtClean="0"/>
              <a:t>68</a:t>
            </a:fld>
            <a:endParaRPr lang="en-US" altLang="en-US"/>
          </a:p>
        </p:txBody>
      </p:sp>
      <p:sp>
        <p:nvSpPr>
          <p:cNvPr id="6" name="Text Box 1"/>
          <p:cNvSpPr txBox="1">
            <a:spLocks noChangeArrowheads="1"/>
          </p:cNvSpPr>
          <p:nvPr/>
        </p:nvSpPr>
        <p:spPr bwMode="auto">
          <a:xfrm>
            <a:off x="4133849" y="2590800"/>
            <a:ext cx="3924301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6800" rIns="90000" bIns="46800" numCol="1" anchor="ctr" anchorCtr="0" compatLnSpc="1"/>
          <a:lstStyle>
            <a:defPPr>
              <a:defRPr lang="en-US"/>
            </a:defPPr>
            <a:lvl1pPr defTabSz="457200">
              <a:lnSpc>
                <a:spcPct val="90000"/>
              </a:lnSpc>
              <a:buClr>
                <a:srgbClr val="000000"/>
              </a:buCl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 b="1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2pPr>
            <a:lvl3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3pPr>
            <a:lvl4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4pPr>
            <a:lvl5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5pPr>
            <a:lvl6pPr marL="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6pPr>
            <a:lvl7pPr marL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7pPr>
            <a:lvl8pPr marL="1371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8pPr>
            <a:lvl9pPr marL="1828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IN" dirty="0" smtClean="0"/>
              <a:t>Module – 2 Completed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23*370"/>
  <p:tag name="TABLE_ENDDRAG_RECT" val="108*18*723*370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4234</TotalTime>
  <Words>2820</Words>
  <Application>Microsoft Office PowerPoint</Application>
  <PresentationFormat>Widescreen</PresentationFormat>
  <Paragraphs>438</Paragraphs>
  <Slides>68</Slides>
  <Notes>40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68</vt:i4>
      </vt:variant>
    </vt:vector>
  </HeadingPairs>
  <TitlesOfParts>
    <vt:vector size="79" baseType="lpstr">
      <vt:lpstr>Agency FB</vt:lpstr>
      <vt:lpstr>Apple Chancery</vt:lpstr>
      <vt:lpstr>Arial</vt:lpstr>
      <vt:lpstr>Ariel</vt:lpstr>
      <vt:lpstr>Calibri</vt:lpstr>
      <vt:lpstr>Calibri Light</vt:lpstr>
      <vt:lpstr>Courier New</vt:lpstr>
      <vt:lpstr>Times New Roman</vt:lpstr>
      <vt:lpstr>Office Theme</vt:lpstr>
      <vt:lpstr>Bitmap Image</vt:lpstr>
      <vt:lpstr>Package</vt:lpstr>
      <vt:lpstr>PowerPoint Presentation</vt:lpstr>
      <vt:lpstr>Syllabus</vt:lpstr>
      <vt:lpstr>Contents</vt:lpstr>
      <vt:lpstr>                             Introduction </vt:lpstr>
      <vt:lpstr>I/O Introduction</vt:lpstr>
      <vt:lpstr>Binary Versus Text Files</vt:lpstr>
      <vt:lpstr>Text file: an example   </vt:lpstr>
      <vt:lpstr>Binary file: an example [a .class file]</vt:lpstr>
      <vt:lpstr>    Files &amp; Directories</vt:lpstr>
      <vt:lpstr>File Class</vt:lpstr>
      <vt:lpstr>File Class</vt:lpstr>
      <vt:lpstr>File Class, methods</vt:lpstr>
      <vt:lpstr>Exercise 1 : Demonstrating File  (Class, COnstructors &amp; Methods)</vt:lpstr>
      <vt:lpstr>Output</vt:lpstr>
      <vt:lpstr>File class , for a folder/directory</vt:lpstr>
      <vt:lpstr>PowerPoint Presentation</vt:lpstr>
      <vt:lpstr>Output</vt:lpstr>
      <vt:lpstr>Reading and Writing Files</vt:lpstr>
      <vt:lpstr>PrintWriter Class</vt:lpstr>
      <vt:lpstr>PowerPoint Presentation</vt:lpstr>
      <vt:lpstr>Scanner Class</vt:lpstr>
      <vt:lpstr>PowerPoint Presentation</vt:lpstr>
      <vt:lpstr>Output</vt:lpstr>
      <vt:lpstr>                                                     I/O Streams</vt:lpstr>
      <vt:lpstr>Streams</vt:lpstr>
      <vt:lpstr>Streams Types </vt:lpstr>
      <vt:lpstr>Byte Streams</vt:lpstr>
      <vt:lpstr>Byte Stream classes</vt:lpstr>
      <vt:lpstr>Byte Stream : InputStream and OutputStream classes</vt:lpstr>
      <vt:lpstr>Byte Stream : InputStream Methods</vt:lpstr>
      <vt:lpstr>Byte Stream : OutputStream Methods</vt:lpstr>
      <vt:lpstr>Byte Stream : File operation</vt:lpstr>
      <vt:lpstr>Byte Stream : File operation</vt:lpstr>
      <vt:lpstr>FileinputStream / FileOutputStream Demo Program </vt:lpstr>
      <vt:lpstr>Output</vt:lpstr>
      <vt:lpstr>BufferedInputStream / BufferedOutputStream Demo Program </vt:lpstr>
      <vt:lpstr>Output</vt:lpstr>
      <vt:lpstr>File Streams vs Buffered Streams</vt:lpstr>
      <vt:lpstr>Character Streams</vt:lpstr>
      <vt:lpstr>Character Streams</vt:lpstr>
      <vt:lpstr>Character Streams : Reader Class</vt:lpstr>
      <vt:lpstr>Character Streams : Reader Methods</vt:lpstr>
      <vt:lpstr>Character Streams : Writer Class</vt:lpstr>
      <vt:lpstr>Character Streams : Writer Methods</vt:lpstr>
      <vt:lpstr>FileReader / FileWriter Demo</vt:lpstr>
      <vt:lpstr>BufferedReader / BufferedWriter Demo</vt:lpstr>
      <vt:lpstr>StringReader / StringWriter Demo</vt:lpstr>
      <vt:lpstr>PipedReader / PipedWriter </vt:lpstr>
      <vt:lpstr>PowerPoint Presentation</vt:lpstr>
      <vt:lpstr>                                             Channel &amp; Buffer </vt:lpstr>
      <vt:lpstr> NIO api : introduced channel and Buffer</vt:lpstr>
      <vt:lpstr> Channel</vt:lpstr>
      <vt:lpstr> Channel : FileChannel</vt:lpstr>
      <vt:lpstr> Buffer</vt:lpstr>
      <vt:lpstr> Buffer</vt:lpstr>
      <vt:lpstr> Exercise : Writing content to a file using Buffers and Channels </vt:lpstr>
      <vt:lpstr>                                                  Serialization</vt:lpstr>
      <vt:lpstr> Serialization  </vt:lpstr>
      <vt:lpstr> Serializable Interface  </vt:lpstr>
      <vt:lpstr> Serialization Example  </vt:lpstr>
      <vt:lpstr> Serialization Example  </vt:lpstr>
      <vt:lpstr> Serialization Example  </vt:lpstr>
      <vt:lpstr> Exercise </vt:lpstr>
      <vt:lpstr>Observer and Observable Interface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Solving Techniques</dc:title>
  <dc:creator>admin</dc:creator>
  <cp:lastModifiedBy>HP</cp:lastModifiedBy>
  <cp:revision>507</cp:revision>
  <dcterms:created xsi:type="dcterms:W3CDTF">2007-08-28T09:12:00Z</dcterms:created>
  <dcterms:modified xsi:type="dcterms:W3CDTF">2026-02-09T10:07:37Z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224711033CB8419E8F10D135631F0DD6_13</vt:lpwstr>
  </property>
  <property fmtid="{D5CDD505-2E9C-101B-9397-08002B2CF9AE}" pid="3" name="KSOProductBuildVer">
    <vt:lpwstr>1033-12.2.0.23196</vt:lpwstr>
  </property>
</Properties>
</file>