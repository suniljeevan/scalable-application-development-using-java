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99"/>
  </p:notesMasterIdLst>
  <p:handoutMasterIdLst>
    <p:handoutMasterId r:id="rId100"/>
  </p:handoutMasterIdLst>
  <p:sldIdLst>
    <p:sldId id="520" r:id="rId2"/>
    <p:sldId id="509" r:id="rId3"/>
    <p:sldId id="610" r:id="rId4"/>
    <p:sldId id="601" r:id="rId5"/>
    <p:sldId id="605" r:id="rId6"/>
    <p:sldId id="602" r:id="rId7"/>
    <p:sldId id="609" r:id="rId8"/>
    <p:sldId id="604" r:id="rId9"/>
    <p:sldId id="606" r:id="rId10"/>
    <p:sldId id="614" r:id="rId11"/>
    <p:sldId id="613" r:id="rId12"/>
    <p:sldId id="612" r:id="rId13"/>
    <p:sldId id="615" r:id="rId14"/>
    <p:sldId id="608" r:id="rId15"/>
    <p:sldId id="616" r:id="rId16"/>
    <p:sldId id="571" r:id="rId17"/>
    <p:sldId id="572" r:id="rId18"/>
    <p:sldId id="573" r:id="rId19"/>
    <p:sldId id="574" r:id="rId20"/>
    <p:sldId id="576" r:id="rId21"/>
    <p:sldId id="577" r:id="rId22"/>
    <p:sldId id="578" r:id="rId23"/>
    <p:sldId id="579" r:id="rId24"/>
    <p:sldId id="580" r:id="rId25"/>
    <p:sldId id="581" r:id="rId26"/>
    <p:sldId id="617" r:id="rId27"/>
    <p:sldId id="582" r:id="rId28"/>
    <p:sldId id="583" r:id="rId29"/>
    <p:sldId id="584" r:id="rId30"/>
    <p:sldId id="585" r:id="rId31"/>
    <p:sldId id="586" r:id="rId32"/>
    <p:sldId id="619" r:id="rId33"/>
    <p:sldId id="621" r:id="rId34"/>
    <p:sldId id="622" r:id="rId35"/>
    <p:sldId id="623" r:id="rId36"/>
    <p:sldId id="618" r:id="rId37"/>
    <p:sldId id="624" r:id="rId38"/>
    <p:sldId id="587" r:id="rId39"/>
    <p:sldId id="628" r:id="rId40"/>
    <p:sldId id="625" r:id="rId41"/>
    <p:sldId id="626" r:id="rId42"/>
    <p:sldId id="627" r:id="rId43"/>
    <p:sldId id="629" r:id="rId44"/>
    <p:sldId id="630" r:id="rId45"/>
    <p:sldId id="631" r:id="rId46"/>
    <p:sldId id="632" r:id="rId47"/>
    <p:sldId id="672" r:id="rId48"/>
    <p:sldId id="673" r:id="rId49"/>
    <p:sldId id="674" r:id="rId50"/>
    <p:sldId id="633" r:id="rId51"/>
    <p:sldId id="634" r:id="rId52"/>
    <p:sldId id="635" r:id="rId53"/>
    <p:sldId id="636" r:id="rId54"/>
    <p:sldId id="637" r:id="rId55"/>
    <p:sldId id="638" r:id="rId56"/>
    <p:sldId id="639" r:id="rId57"/>
    <p:sldId id="640" r:id="rId58"/>
    <p:sldId id="641" r:id="rId59"/>
    <p:sldId id="642" r:id="rId60"/>
    <p:sldId id="643" r:id="rId61"/>
    <p:sldId id="644" r:id="rId62"/>
    <p:sldId id="645" r:id="rId63"/>
    <p:sldId id="670" r:id="rId64"/>
    <p:sldId id="646" r:id="rId65"/>
    <p:sldId id="676" r:id="rId66"/>
    <p:sldId id="677" r:id="rId67"/>
    <p:sldId id="678" r:id="rId68"/>
    <p:sldId id="647" r:id="rId69"/>
    <p:sldId id="648" r:id="rId70"/>
    <p:sldId id="649" r:id="rId71"/>
    <p:sldId id="650" r:id="rId72"/>
    <p:sldId id="651" r:id="rId73"/>
    <p:sldId id="652" r:id="rId74"/>
    <p:sldId id="653" r:id="rId75"/>
    <p:sldId id="654" r:id="rId76"/>
    <p:sldId id="655" r:id="rId77"/>
    <p:sldId id="656" r:id="rId78"/>
    <p:sldId id="657" r:id="rId79"/>
    <p:sldId id="658" r:id="rId80"/>
    <p:sldId id="659" r:id="rId81"/>
    <p:sldId id="660" r:id="rId82"/>
    <p:sldId id="671" r:id="rId83"/>
    <p:sldId id="661" r:id="rId84"/>
    <p:sldId id="662" r:id="rId85"/>
    <p:sldId id="663" r:id="rId86"/>
    <p:sldId id="664" r:id="rId87"/>
    <p:sldId id="665" r:id="rId88"/>
    <p:sldId id="666" r:id="rId89"/>
    <p:sldId id="667" r:id="rId90"/>
    <p:sldId id="668" r:id="rId91"/>
    <p:sldId id="669" r:id="rId92"/>
    <p:sldId id="679" r:id="rId93"/>
    <p:sldId id="505" r:id="rId94"/>
    <p:sldId id="594" r:id="rId95"/>
    <p:sldId id="595" r:id="rId96"/>
    <p:sldId id="596" r:id="rId97"/>
    <p:sldId id="675" r:id="rId9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B29A"/>
    <a:srgbClr val="000F2E"/>
    <a:srgbClr val="00194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2" autoAdjust="0"/>
    <p:restoredTop sz="94434" autoAdjust="0"/>
  </p:normalViewPr>
  <p:slideViewPr>
    <p:cSldViewPr>
      <p:cViewPr varScale="1">
        <p:scale>
          <a:sx n="84" d="100"/>
          <a:sy n="84" d="100"/>
        </p:scale>
        <p:origin x="-102" y="-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163DD-12C9-4B8E-91F3-BECE4B548A1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Mr. R C Ravindranath, Asst. Prof.,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84565-77A9-41BC-A3D1-C71554A7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1510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35E0ABE-3FD2-4491-A84F-F5DF78F574D2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r>
              <a:rPr lang="en-US" smtClean="0"/>
              <a:t>Mr. R C Ravindranath, Asst. Prof., SOE-CSE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DD763F7-5C11-4DBC-83B1-39D83E1FBE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198571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D763F7-5C11-4DBC-83B1-39D83E1FBE10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Prof., SOE-CSE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37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8DF3D-30B5-4203-9F61-4DF4C93549F9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8AC2-F0C4-4335-A6D7-C22D8A2224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6596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5B14D7-8BA9-4EE1-835E-4199F7C88E61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CA5F2-CD08-4EF5-BAD9-872B7BB271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367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ACBE5-8387-44C2-8244-3C027748E0C1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43365-358E-4EFB-9D2F-D6778ADA2A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156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33E74-61D9-4270-845E-08C577B4746D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1B66A-860D-4F77-A12A-57453AAB16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598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D354B-A90F-4649-BCD0-7311B9A1E519}" type="datetime1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E9FAA-A59B-4AE0-A044-7FE2AB03AB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07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BB299-A05B-4721-910A-149978AA2F99}" type="datetime1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55CBD-5A35-43A0-8B72-DFEEFFF782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13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5C664-8172-4B0B-91AD-99832E49CA68}" type="datetime1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AE260-203A-48BA-B1E0-2820BBC6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1905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9FEB66-1999-4885-9013-09B59463BA52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3378E-E05F-4D65-B4F7-A87FC02763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891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8574B-A9ED-4C5D-BC0D-2EE4E2CF73B9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A09E5-A14B-4738-A48E-EF064E4532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938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852DC-FA04-43A8-808A-7B02012B408F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10372-953E-4601-976C-D82CD9FCE0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491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1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85DBF-07E6-4C04-8128-7BB2323544A4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CDF80F-6F68-4B94-9701-0F2026993C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401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290EFBF-FDBC-4E11-8D09-14402F29F22D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391736-D1CD-4256-BC31-406FE5C1CD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7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14600" y="1905000"/>
            <a:ext cx="71628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– 1 </a:t>
            </a:r>
          </a:p>
          <a:p>
            <a:pPr algn="ctr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 in 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cs typeface="Arial" panose="020B0604020202020204" pitchFamily="34" charset="0"/>
              </a:rPr>
              <a:pPr>
                <a:defRPr/>
              </a:pPr>
              <a:t>1</a:t>
            </a:fld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19101" y="990600"/>
            <a:ext cx="10248901" cy="4114800"/>
          </a:xfrm>
        </p:spPr>
        <p:txBody>
          <a:bodyPr rtlCol="0">
            <a:noAutofit/>
          </a:bodyPr>
          <a:lstStyle/>
          <a:p>
            <a:pPr marL="0" indent="0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sz="2400" b="1" dirty="0" smtClean="0"/>
              <a:t>Module1: Multi-Threading </a:t>
            </a:r>
            <a:r>
              <a:rPr lang="en-US" sz="2400" b="1" dirty="0"/>
              <a:t>in Java:</a:t>
            </a:r>
            <a:r>
              <a:rPr lang="en-US" sz="2400" dirty="0"/>
              <a:t> </a:t>
            </a:r>
            <a:endParaRPr lang="en-US" sz="2400" dirty="0" smtClean="0"/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Understanding </a:t>
            </a:r>
            <a:r>
              <a:rPr lang="en-US" sz="2400" dirty="0"/>
              <a:t>Threads , Needs of Multi-Threaded Programming </a:t>
            </a:r>
            <a:endParaRPr lang="en-US" sz="2400" dirty="0" smtClean="0"/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Creating </a:t>
            </a:r>
            <a:r>
              <a:rPr lang="en-US" sz="2400" dirty="0"/>
              <a:t>a </a:t>
            </a:r>
            <a:r>
              <a:rPr lang="en-US" sz="2400" dirty="0" smtClean="0"/>
              <a:t>Thread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Thread Life-Cycle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 </a:t>
            </a:r>
            <a:r>
              <a:rPr lang="en-US" sz="2400" dirty="0"/>
              <a:t>Thread </a:t>
            </a:r>
            <a:r>
              <a:rPr lang="en-US" sz="2400" dirty="0" smtClean="0"/>
              <a:t>Priorities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Synchronizing Threads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Inter </a:t>
            </a:r>
            <a:r>
              <a:rPr lang="en-US" sz="2400" dirty="0"/>
              <a:t>Communication of Threads </a:t>
            </a:r>
            <a:endParaRPr lang="en-US" sz="2400" dirty="0" smtClean="0"/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Deadlock and Concurrency Framework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19099" y="154723"/>
            <a:ext cx="2247901" cy="454878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Contents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0"/>
            <a:ext cx="10515600" cy="2133600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1:  Understanding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Threads , Needs of Multi-Threaded Programming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601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2"/>
            <a:ext cx="10972800" cy="5872163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Introduction </a:t>
            </a:r>
            <a:r>
              <a:rPr lang="en-US" b="1" dirty="0"/>
              <a:t>to Multithreading 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endParaRPr lang="en-US" b="1" dirty="0"/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 enables a Java program to execute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tasks concurrently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dividing the program into smaller units called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thread runs independently but shares the same memory space.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multithreading it improves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responsiveness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on multi-core systems.</a:t>
            </a:r>
          </a:p>
          <a:p>
            <a:pPr marL="0" indent="0" algn="just">
              <a:buNone/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(Single task vs Multithreaded task)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downloading a file and playing music sequentially, a multithreaded program can perform both operations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separate threads.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5770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2"/>
            <a:ext cx="11734800" cy="61007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vs Process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program in execution.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lightweight sub-process.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threads can exist within the same process.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Threads share: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thread has its own: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counter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841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6096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Multithreading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04802" y="838202"/>
            <a:ext cx="11506200" cy="4348163"/>
          </a:xfrm>
        </p:spPr>
        <p:txBody>
          <a:bodyPr/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 enables better utilization of CPU resources by allowing multiple tasks to execute concurrently, reducing idle time of the processor.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Application Performance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can complete tasks faster as multiple threads perform different parts of a task simultaneously, especially on multi-core systems.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Responsiveness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remain responsive because time-consuming tasks can run in background threads without blocking the main thread.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Sharing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Threads share the same memory space and resources, which reduces memory overhead and allows faster communication between threads.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Context Switching Cost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switching between threads is faster and less expensive compared to switching between processes.</a:t>
            </a:r>
          </a:p>
          <a:p>
            <a:pPr marL="0" indent="0" eaLnBrk="1" hangingPunct="1">
              <a:buNone/>
            </a:pPr>
            <a:endParaRPr lang="en-US" altLang="en-US" dirty="0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5175B60-2B07-47D3-9755-CBB7255FD581}" type="slidenum">
              <a:rPr lang="en-US" altLang="en-US" sz="1800">
                <a:solidFill>
                  <a:srgbClr val="FFFFFF"/>
                </a:solidFill>
                <a:latin typeface="Times New Roman" pitchFamily="18" charset="0"/>
                <a:cs typeface="Arial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800">
              <a:solidFill>
                <a:srgbClr val="FFFFFF"/>
              </a:solidFill>
              <a:latin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8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533402"/>
            <a:ext cx="11658600" cy="5643563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Multithreaded applications can easily scale to utilize multiple processors or cores, improving throughput.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Throughput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threads can handle multiple requests concurrently, making multithreading ideal for server and network applications.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Program Structure for Concurrent Tasks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tasks can be logically divided into smaller, manageable threads, improving program design and maintainability.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Use in Real-Time Applications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 supports real-time and interactive applications where tasks must be performed within strict time constraints.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Task Handling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operations such as file I/O, network communication, and database access can run in background threads without affecting foreground tasks.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762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10363200" cy="142875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Threads Concept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B9F5B3E-2EE0-4649-9EE4-70B2DDAF0FA3}" type="slidenum">
              <a:rPr lang="en-US" altLang="en-US" sz="1800">
                <a:solidFill>
                  <a:srgbClr val="FFFFFF"/>
                </a:solidFill>
                <a:latin typeface="Times New Roman" pitchFamily="18" charset="0"/>
                <a:cs typeface="Arial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800">
              <a:solidFill>
                <a:srgbClr val="FFFFFF"/>
              </a:solidFill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1320800" y="1371602"/>
            <a:ext cx="2235200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600" dirty="0">
                <a:latin typeface="Times New Roman" pitchFamily="18" charset="0"/>
                <a:cs typeface="Arial" pitchFamily="34" charset="0"/>
              </a:rPr>
              <a:t>Multiple threads on multiple CPUs</a:t>
            </a:r>
          </a:p>
        </p:txBody>
      </p:sp>
      <p:sp>
        <p:nvSpPr>
          <p:cNvPr id="11269" name="Text Box 6"/>
          <p:cNvSpPr txBox="1">
            <a:spLocks noChangeArrowheads="1"/>
          </p:cNvSpPr>
          <p:nvPr/>
        </p:nvSpPr>
        <p:spPr bwMode="auto">
          <a:xfrm>
            <a:off x="1219200" y="3429002"/>
            <a:ext cx="2540000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Cambria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600">
                <a:latin typeface="Times New Roman" pitchFamily="18" charset="0"/>
                <a:cs typeface="Arial" pitchFamily="34" charset="0"/>
              </a:rPr>
              <a:t>Multiple threads sharing a single CPU</a:t>
            </a:r>
          </a:p>
        </p:txBody>
      </p:sp>
      <p:graphicFrame>
        <p:nvGraphicFramePr>
          <p:cNvPr id="11270" name="Object 7"/>
          <p:cNvGraphicFramePr>
            <a:graphicFrameLocks noChangeAspect="1"/>
          </p:cNvGraphicFramePr>
          <p:nvPr/>
        </p:nvGraphicFramePr>
        <p:xfrm>
          <a:off x="3551767" y="1376366"/>
          <a:ext cx="8030633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Picture" r:id="rId3" imgW="6858000" imgH="6400800" progId="Word.Picture.8">
                  <p:embed/>
                </p:oleObj>
              </mc:Choice>
              <mc:Fallback>
                <p:oleObj name="Picture" r:id="rId3" imgW="6858000" imgH="64008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067" t="19858" r="42267" b="61858"/>
                      <a:stretch>
                        <a:fillRect/>
                      </a:stretch>
                    </p:blipFill>
                    <p:spPr bwMode="auto">
                      <a:xfrm>
                        <a:off x="3551767" y="1376366"/>
                        <a:ext cx="8030633" cy="1749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9"/>
          <p:cNvGraphicFramePr>
            <a:graphicFrameLocks noChangeAspect="1"/>
          </p:cNvGraphicFramePr>
          <p:nvPr/>
        </p:nvGraphicFramePr>
        <p:xfrm>
          <a:off x="3653368" y="3433766"/>
          <a:ext cx="8030633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Picture" r:id="rId5" imgW="6858000" imgH="6400800" progId="Word.Picture.8">
                  <p:embed/>
                </p:oleObj>
              </mc:Choice>
              <mc:Fallback>
                <p:oleObj name="Picture" r:id="rId5" imgW="6858000" imgH="64008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067" t="19858" r="42267" b="61858"/>
                      <a:stretch>
                        <a:fillRect/>
                      </a:stretch>
                    </p:blipFill>
                    <p:spPr bwMode="auto">
                      <a:xfrm>
                        <a:off x="3653368" y="3433766"/>
                        <a:ext cx="8030633" cy="1749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920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228602"/>
            <a:ext cx="11049000" cy="4876801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Thread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follows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thread-based multitasking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process-based multitasking. In this model, multiple threads run concurrently within the same program.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preemptive, priority-based scheduling mechanism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higher-priority threads are generally executed before lower-priority ones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actual scheduling behavior depends 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 and underlying operating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Java threads are implemented using native OS threads, ensuring better performance and portability across platforms.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253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3"/>
            <a:ext cx="10515600" cy="685799"/>
          </a:xfrm>
        </p:spPr>
        <p:txBody>
          <a:bodyPr/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main Thread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515600" cy="4267200"/>
          </a:xfrm>
        </p:spPr>
        <p:txBody>
          <a:bodyPr/>
          <a:lstStyle/>
          <a:p>
            <a:pPr marL="0" indent="0">
              <a:buNone/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Main Thread?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Java program starts,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Virtual Machine (JVM)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creates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thread is called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executes the main() method.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begin execution.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other threads are created from the main thread.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life cycle of the program is controlled by the main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thread(also called as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Parent thread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280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381001"/>
            <a:ext cx="11049000" cy="4724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(Example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MainThreadDemo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Thread t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Thread.currentThread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("Current thread: " + t);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Thread[main,5,main]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754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2"/>
            <a:ext cx="10972800" cy="58721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Meaning of the output: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thread.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name given by JVM to the main thread.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priority.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priority is NORM_PRIORITY = 5.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group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the main thread belongs to the "main" thread group.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450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8602"/>
            <a:ext cx="10820400" cy="5029199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 the Main Thread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Thread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MainThreadModify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void main(String[]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Thread.currentThread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t.setName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MyMainThread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("After change: " +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change: Thread[MyMainThread,5,main]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130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2"/>
            <a:ext cx="10972800" cy="6024563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Priorities: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Java thread is assigned a priority that influences the order of execution. Priorities range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(minimum)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(maximum)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as normal priority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threads are given preference by the scheduler, but priority does not guarantee execution order.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priority behavior is platform-dependent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should not be relied upon for program correctness.</a:t>
            </a:r>
          </a:p>
          <a:p>
            <a:pPr marL="0" indent="0" algn="just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is used to prevent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interference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multiple threads access shared resources.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synchronized keyword to enforce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that only one thread accesses a critical section at a time.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applied to methods or specific code blocks. While synchronization ensures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 and excessive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can reduce performance due to thread blocking.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790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43202"/>
            <a:ext cx="11049000" cy="1325563"/>
          </a:xfrm>
        </p:spPr>
        <p:txBody>
          <a:bodyPr/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2: Creating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Thread and Thread Life Cycle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86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6784" y="2394738"/>
            <a:ext cx="6089522" cy="35674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8403" y="177088"/>
            <a:ext cx="2684781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Multithreading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35357" y="698119"/>
            <a:ext cx="11261725" cy="169661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5240" marR="4729480">
              <a:lnSpc>
                <a:spcPct val="147600"/>
              </a:lnSpc>
            </a:pPr>
            <a:r>
              <a:rPr sz="2400" b="1" dirty="0" smtClean="0">
                <a:latin typeface="Times New Roman"/>
                <a:cs typeface="Times New Roman"/>
              </a:rPr>
              <a:t>Threads</a:t>
            </a:r>
            <a:r>
              <a:rPr sz="2400" b="1" spc="-35" dirty="0" smtClean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created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using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two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mechanisms</a:t>
            </a:r>
            <a:r>
              <a:rPr sz="2400" spc="-10" dirty="0">
                <a:latin typeface="Times New Roman"/>
                <a:cs typeface="Times New Roman"/>
              </a:rPr>
              <a:t>: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Method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Extending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Thread</a:t>
            </a:r>
            <a:r>
              <a:rPr sz="24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endParaRPr sz="24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Method</a:t>
            </a:r>
            <a:r>
              <a:rPr sz="2400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Implementing</a:t>
            </a:r>
            <a:r>
              <a:rPr sz="24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Runnable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479" y="2911488"/>
            <a:ext cx="5553456" cy="182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8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7962" y="1924648"/>
            <a:ext cx="6732651" cy="47256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8403" y="177088"/>
            <a:ext cx="2684781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Multithreading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35355" y="737743"/>
            <a:ext cx="11561445" cy="39279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240" marR="5080">
              <a:lnSpc>
                <a:spcPct val="99600"/>
              </a:lnSpc>
              <a:spcBef>
                <a:spcPts val="110"/>
              </a:spcBef>
            </a:pP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known as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created,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code </a:t>
            </a:r>
            <a:r>
              <a:rPr sz="2400" dirty="0">
                <a:latin typeface="Times New Roman"/>
                <a:cs typeface="Times New Roman"/>
              </a:rPr>
              <a:t>written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inside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 you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those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started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written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run()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method.</a:t>
            </a:r>
            <a:endParaRPr sz="24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1755"/>
              </a:spcBef>
            </a:pP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kinds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issues: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/>
                <a:cs typeface="Times New Roman"/>
              </a:rPr>
              <a:t>Issues,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always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comes</a:t>
            </a:r>
            <a:endParaRPr sz="2400">
              <a:latin typeface="Times New Roman"/>
              <a:cs typeface="Times New Roman"/>
            </a:endParaRPr>
          </a:p>
          <a:p>
            <a:pPr marL="356870" marR="6158865" indent="-342265">
              <a:lnSpc>
                <a:spcPct val="150100"/>
              </a:lnSpc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/>
                <a:cs typeface="Times New Roman"/>
              </a:rPr>
              <a:t>Issues, which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sometimes,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but </a:t>
            </a:r>
            <a:r>
              <a:rPr sz="2400" dirty="0">
                <a:latin typeface="Times New Roman"/>
                <a:cs typeface="Times New Roman"/>
              </a:rPr>
              <a:t>consistent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input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/>
                <a:cs typeface="Times New Roman"/>
              </a:rPr>
              <a:t>Issues,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truly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random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581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87477" y="1020446"/>
            <a:ext cx="2901950" cy="436017"/>
          </a:xfrm>
          <a:prstGeom prst="rect">
            <a:avLst/>
          </a:prstGeom>
          <a:ln w="38100">
            <a:solidFill>
              <a:srgbClr val="C55A11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542290">
              <a:lnSpc>
                <a:spcPct val="100000"/>
              </a:lnSpc>
              <a:spcBef>
                <a:spcPts val="40"/>
              </a:spcBef>
            </a:pPr>
            <a:r>
              <a:rPr sz="2800" b="1" dirty="0">
                <a:latin typeface="Arial"/>
                <a:cs typeface="Arial"/>
              </a:rPr>
              <a:t>Thread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98287" y="1020446"/>
            <a:ext cx="4627245" cy="397545"/>
          </a:xfrm>
          <a:prstGeom prst="rect">
            <a:avLst/>
          </a:prstGeom>
          <a:ln w="38100">
            <a:solidFill>
              <a:srgbClr val="C55A1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3090"/>
              </a:lnSpc>
            </a:pPr>
            <a:r>
              <a:rPr sz="2800" b="1" spc="-10" dirty="0">
                <a:latin typeface="Arial"/>
                <a:cs typeface="Arial"/>
              </a:rPr>
              <a:t>Runnable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45871" y="2021206"/>
            <a:ext cx="3187065" cy="474345"/>
          </a:xfrm>
          <a:custGeom>
            <a:avLst/>
            <a:gdLst/>
            <a:ahLst/>
            <a:cxnLst/>
            <a:rect l="l" t="t" r="r" b="b"/>
            <a:pathLst>
              <a:path w="3187065" h="474344">
                <a:moveTo>
                  <a:pt x="0" y="474345"/>
                </a:moveTo>
                <a:lnTo>
                  <a:pt x="3187064" y="474345"/>
                </a:lnTo>
                <a:lnTo>
                  <a:pt x="3187064" y="0"/>
                </a:lnTo>
                <a:lnTo>
                  <a:pt x="0" y="0"/>
                </a:lnTo>
                <a:lnTo>
                  <a:pt x="0" y="474345"/>
                </a:lnTo>
                <a:close/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71219" y="2015186"/>
            <a:ext cx="234251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Arial"/>
                <a:cs typeface="Arial"/>
              </a:rPr>
              <a:t>Sample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27901" y="1964691"/>
            <a:ext cx="3200400" cy="530860"/>
          </a:xfrm>
          <a:custGeom>
            <a:avLst/>
            <a:gdLst/>
            <a:ahLst/>
            <a:cxnLst/>
            <a:rect l="l" t="t" r="r" b="b"/>
            <a:pathLst>
              <a:path w="3200400" h="530860">
                <a:moveTo>
                  <a:pt x="0" y="530860"/>
                </a:moveTo>
                <a:lnTo>
                  <a:pt x="3200400" y="530860"/>
                </a:lnTo>
                <a:lnTo>
                  <a:pt x="3200400" y="0"/>
                </a:lnTo>
                <a:lnTo>
                  <a:pt x="0" y="0"/>
                </a:lnTo>
                <a:lnTo>
                  <a:pt x="0" y="530860"/>
                </a:lnTo>
                <a:close/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62647" y="1984706"/>
            <a:ext cx="234251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Arial"/>
                <a:cs typeface="Arial"/>
              </a:rPr>
              <a:t>Sample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4774" y="342575"/>
            <a:ext cx="332282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sz="2400" b="1" spc="-4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4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sz="2400" b="1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400" b="1" spc="-1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lass</a:t>
            </a:r>
            <a:endParaRPr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09920" y="344170"/>
            <a:ext cx="39528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Method</a:t>
            </a:r>
            <a:r>
              <a:rPr sz="24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Runnable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692" y="2819401"/>
            <a:ext cx="11699875" cy="226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735" algn="ctr">
              <a:lnSpc>
                <a:spcPct val="100000"/>
              </a:lnSpc>
              <a:spcBef>
                <a:spcPts val="100"/>
              </a:spcBef>
            </a:pPr>
            <a:r>
              <a:rPr sz="24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Thread</a:t>
            </a:r>
            <a:r>
              <a:rPr sz="2400" b="1" spc="-5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400" b="1" spc="-5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vs</a:t>
            </a:r>
            <a:r>
              <a:rPr sz="2400" b="1" spc="-5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Runnable</a:t>
            </a:r>
            <a:r>
              <a:rPr sz="2400" b="1" spc="-6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endParaRPr sz="2400" dirty="0" smtClean="0">
              <a:latin typeface="Times New Roman"/>
              <a:cs typeface="Times New Roman"/>
            </a:endParaRPr>
          </a:p>
          <a:p>
            <a:pPr marL="419100" marR="297815" indent="-342265">
              <a:lnSpc>
                <a:spcPct val="150100"/>
              </a:lnSpc>
              <a:spcBef>
                <a:spcPts val="275"/>
              </a:spcBef>
              <a:buAutoNum type="arabicPeriod"/>
              <a:tabLst>
                <a:tab pos="419100" algn="l"/>
                <a:tab pos="419734" algn="l"/>
              </a:tabLst>
            </a:pPr>
            <a:r>
              <a:rPr sz="2000" dirty="0" smtClean="0">
                <a:latin typeface="Times New Roman"/>
                <a:cs typeface="Times New Roman"/>
              </a:rPr>
              <a:t>If</a:t>
            </a:r>
            <a:r>
              <a:rPr sz="2000" spc="-4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we</a:t>
            </a:r>
            <a:r>
              <a:rPr sz="2000" spc="-3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extend</a:t>
            </a:r>
            <a:r>
              <a:rPr sz="2000" spc="-3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the</a:t>
            </a:r>
            <a:r>
              <a:rPr sz="2000" spc="-4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Thread</a:t>
            </a:r>
            <a:r>
              <a:rPr sz="2000" spc="-3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class,</a:t>
            </a:r>
            <a:r>
              <a:rPr sz="2000" spc="-3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our</a:t>
            </a:r>
            <a:r>
              <a:rPr sz="2000" spc="-4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class</a:t>
            </a:r>
            <a:r>
              <a:rPr sz="2000" spc="-5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cannot</a:t>
            </a:r>
            <a:r>
              <a:rPr sz="2000" spc="-4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extend</a:t>
            </a:r>
            <a:r>
              <a:rPr sz="2000" spc="-3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any</a:t>
            </a:r>
            <a:r>
              <a:rPr sz="2000" spc="-5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other</a:t>
            </a:r>
            <a:r>
              <a:rPr sz="2000" spc="-3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class</a:t>
            </a:r>
            <a:r>
              <a:rPr sz="2000" spc="-5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because</a:t>
            </a:r>
            <a:r>
              <a:rPr sz="2000" spc="-3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Java</a:t>
            </a:r>
            <a:r>
              <a:rPr sz="2000" spc="-4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doesn’t</a:t>
            </a:r>
            <a:r>
              <a:rPr sz="2000" spc="-2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support</a:t>
            </a:r>
            <a:r>
              <a:rPr sz="2000" spc="-45" dirty="0" smtClean="0">
                <a:latin typeface="Times New Roman"/>
                <a:cs typeface="Times New Roman"/>
              </a:rPr>
              <a:t> </a:t>
            </a:r>
            <a:r>
              <a:rPr sz="2000" spc="-10" dirty="0" smtClean="0">
                <a:latin typeface="Times New Roman"/>
                <a:cs typeface="Times New Roman"/>
              </a:rPr>
              <a:t>multiple </a:t>
            </a:r>
            <a:r>
              <a:rPr sz="2000" dirty="0" smtClean="0">
                <a:latin typeface="Times New Roman"/>
                <a:cs typeface="Times New Roman"/>
              </a:rPr>
              <a:t>inheritance.</a:t>
            </a:r>
            <a:r>
              <a:rPr sz="2000" spc="-7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But,</a:t>
            </a:r>
            <a:r>
              <a:rPr sz="2000" spc="-3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if</a:t>
            </a:r>
            <a:r>
              <a:rPr sz="2000" spc="-3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we</a:t>
            </a:r>
            <a:r>
              <a:rPr sz="2000" spc="-3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implement</a:t>
            </a:r>
            <a:r>
              <a:rPr sz="2000" spc="-5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the</a:t>
            </a:r>
            <a:r>
              <a:rPr sz="2000" spc="-1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Runnable</a:t>
            </a:r>
            <a:r>
              <a:rPr sz="2000" spc="-4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interface,</a:t>
            </a:r>
            <a:r>
              <a:rPr sz="2000" spc="-3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our</a:t>
            </a:r>
            <a:r>
              <a:rPr sz="2000" spc="-3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class</a:t>
            </a:r>
            <a:r>
              <a:rPr sz="2000" spc="-5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can</a:t>
            </a:r>
            <a:r>
              <a:rPr sz="2000" spc="-5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still</a:t>
            </a:r>
            <a:r>
              <a:rPr sz="2000" spc="-4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extend</a:t>
            </a:r>
            <a:r>
              <a:rPr sz="2000" spc="-3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other</a:t>
            </a:r>
            <a:r>
              <a:rPr sz="2000" spc="-30" dirty="0" smtClean="0">
                <a:latin typeface="Times New Roman"/>
                <a:cs typeface="Times New Roman"/>
              </a:rPr>
              <a:t> </a:t>
            </a:r>
            <a:r>
              <a:rPr sz="2000" spc="-10" dirty="0" smtClean="0">
                <a:latin typeface="Times New Roman"/>
                <a:cs typeface="Times New Roman"/>
              </a:rPr>
              <a:t>base</a:t>
            </a:r>
            <a:r>
              <a:rPr sz="2000" spc="-145" dirty="0" smtClean="0">
                <a:latin typeface="Times New Roman"/>
                <a:cs typeface="Times New Roman"/>
              </a:rPr>
              <a:t> </a:t>
            </a:r>
            <a:r>
              <a:rPr sz="2000" spc="-10" dirty="0" smtClean="0">
                <a:latin typeface="Times New Roman"/>
                <a:cs typeface="Times New Roman"/>
              </a:rPr>
              <a:t>classes.</a:t>
            </a:r>
            <a:endParaRPr sz="2000" dirty="0" smtClean="0">
              <a:latin typeface="Times New Roman"/>
              <a:cs typeface="Times New Roman"/>
            </a:endParaRPr>
          </a:p>
          <a:p>
            <a:pPr marL="419100" marR="80645" indent="-344805">
              <a:lnSpc>
                <a:spcPct val="148000"/>
              </a:lnSpc>
              <a:spcBef>
                <a:spcPts val="50"/>
              </a:spcBef>
              <a:buAutoNum type="arabicPeriod"/>
              <a:tabLst>
                <a:tab pos="419100" algn="l"/>
                <a:tab pos="419734" algn="l"/>
              </a:tabLst>
            </a:pPr>
            <a:r>
              <a:rPr sz="2000" dirty="0" smtClean="0">
                <a:latin typeface="Times New Roman"/>
                <a:cs typeface="Times New Roman"/>
              </a:rPr>
              <a:t>We</a:t>
            </a:r>
            <a:r>
              <a:rPr sz="2000" spc="11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can</a:t>
            </a:r>
            <a:r>
              <a:rPr sz="2000" spc="18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achieve</a:t>
            </a:r>
            <a:r>
              <a:rPr sz="2000" spc="18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basic</a:t>
            </a:r>
            <a:r>
              <a:rPr sz="2000" spc="17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functionality</a:t>
            </a:r>
            <a:r>
              <a:rPr sz="2000" spc="17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of</a:t>
            </a:r>
            <a:r>
              <a:rPr sz="2000" spc="18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a</a:t>
            </a:r>
            <a:r>
              <a:rPr sz="2000" spc="17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thread</a:t>
            </a:r>
            <a:r>
              <a:rPr sz="2000" spc="19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by</a:t>
            </a:r>
            <a:r>
              <a:rPr sz="2000" spc="14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extending</a:t>
            </a:r>
            <a:r>
              <a:rPr sz="2000" spc="19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Thread</a:t>
            </a:r>
            <a:r>
              <a:rPr sz="2000" spc="19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class</a:t>
            </a:r>
            <a:r>
              <a:rPr sz="2000" spc="16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because</a:t>
            </a:r>
            <a:r>
              <a:rPr sz="2000" spc="204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it</a:t>
            </a:r>
            <a:r>
              <a:rPr sz="2000" spc="17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provides</a:t>
            </a:r>
            <a:r>
              <a:rPr sz="2000" spc="18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some</a:t>
            </a:r>
            <a:r>
              <a:rPr sz="2000" spc="200" dirty="0" smtClean="0">
                <a:latin typeface="Times New Roman"/>
                <a:cs typeface="Times New Roman"/>
              </a:rPr>
              <a:t> </a:t>
            </a:r>
            <a:r>
              <a:rPr sz="2000" spc="-10" dirty="0" smtClean="0">
                <a:latin typeface="Times New Roman"/>
                <a:cs typeface="Times New Roman"/>
              </a:rPr>
              <a:t>inbuilt </a:t>
            </a:r>
            <a:r>
              <a:rPr sz="2000" dirty="0" smtClean="0">
                <a:latin typeface="Times New Roman"/>
                <a:cs typeface="Times New Roman"/>
              </a:rPr>
              <a:t>methods</a:t>
            </a:r>
            <a:r>
              <a:rPr sz="2000" spc="-5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like</a:t>
            </a:r>
            <a:r>
              <a:rPr sz="2000" spc="-1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yield(),</a:t>
            </a:r>
            <a:r>
              <a:rPr sz="2000" spc="-4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interrupt()</a:t>
            </a:r>
            <a:r>
              <a:rPr sz="2000" spc="-4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etc.</a:t>
            </a:r>
            <a:r>
              <a:rPr sz="2000" spc="-3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that</a:t>
            </a:r>
            <a:r>
              <a:rPr sz="2000" spc="-4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are</a:t>
            </a:r>
            <a:r>
              <a:rPr sz="2000" spc="-4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not</a:t>
            </a:r>
            <a:r>
              <a:rPr sz="2000" spc="-5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available</a:t>
            </a:r>
            <a:r>
              <a:rPr sz="2000" spc="-45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in</a:t>
            </a:r>
            <a:r>
              <a:rPr sz="2000" spc="-40" dirty="0" smtClean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Runnable</a:t>
            </a:r>
            <a:r>
              <a:rPr sz="2000" spc="-45" dirty="0" smtClean="0">
                <a:latin typeface="Times New Roman"/>
                <a:cs typeface="Times New Roman"/>
              </a:rPr>
              <a:t> </a:t>
            </a:r>
            <a:r>
              <a:rPr sz="2000" spc="-10" dirty="0" smtClean="0">
                <a:latin typeface="Times New Roman"/>
                <a:cs typeface="Times New Roman"/>
              </a:rPr>
              <a:t>interface.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81299" y="1501775"/>
            <a:ext cx="114301" cy="556260"/>
          </a:xfrm>
          <a:custGeom>
            <a:avLst/>
            <a:gdLst/>
            <a:ahLst/>
            <a:cxnLst/>
            <a:rect l="l" t="t" r="r" b="b"/>
            <a:pathLst>
              <a:path w="114300" h="556260">
                <a:moveTo>
                  <a:pt x="76200" y="95250"/>
                </a:moveTo>
                <a:lnTo>
                  <a:pt x="38100" y="95250"/>
                </a:lnTo>
                <a:lnTo>
                  <a:pt x="38100" y="556260"/>
                </a:lnTo>
                <a:lnTo>
                  <a:pt x="76200" y="556260"/>
                </a:lnTo>
                <a:lnTo>
                  <a:pt x="76200" y="95250"/>
                </a:lnTo>
                <a:close/>
              </a:path>
              <a:path w="114300" h="55626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5626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58251" y="1435100"/>
            <a:ext cx="114301" cy="567690"/>
          </a:xfrm>
          <a:custGeom>
            <a:avLst/>
            <a:gdLst/>
            <a:ahLst/>
            <a:cxnLst/>
            <a:rect l="l" t="t" r="r" b="b"/>
            <a:pathLst>
              <a:path w="114300" h="567689">
                <a:moveTo>
                  <a:pt x="76200" y="113664"/>
                </a:moveTo>
                <a:lnTo>
                  <a:pt x="38100" y="114300"/>
                </a:lnTo>
                <a:lnTo>
                  <a:pt x="52070" y="567689"/>
                </a:lnTo>
                <a:lnTo>
                  <a:pt x="90170" y="566420"/>
                </a:lnTo>
                <a:lnTo>
                  <a:pt x="76200" y="113664"/>
                </a:lnTo>
                <a:close/>
              </a:path>
              <a:path w="114300" h="567689">
                <a:moveTo>
                  <a:pt x="53340" y="0"/>
                </a:moveTo>
                <a:lnTo>
                  <a:pt x="0" y="115570"/>
                </a:lnTo>
                <a:lnTo>
                  <a:pt x="38100" y="114300"/>
                </a:lnTo>
                <a:lnTo>
                  <a:pt x="37465" y="95250"/>
                </a:lnTo>
                <a:lnTo>
                  <a:pt x="75565" y="94614"/>
                </a:lnTo>
                <a:lnTo>
                  <a:pt x="104140" y="94614"/>
                </a:lnTo>
                <a:lnTo>
                  <a:pt x="53340" y="0"/>
                </a:lnTo>
                <a:close/>
              </a:path>
              <a:path w="114300" h="567689">
                <a:moveTo>
                  <a:pt x="75565" y="94614"/>
                </a:moveTo>
                <a:lnTo>
                  <a:pt x="37465" y="95250"/>
                </a:lnTo>
                <a:lnTo>
                  <a:pt x="38100" y="114300"/>
                </a:lnTo>
                <a:lnTo>
                  <a:pt x="76200" y="113664"/>
                </a:lnTo>
                <a:lnTo>
                  <a:pt x="75565" y="94614"/>
                </a:lnTo>
                <a:close/>
              </a:path>
              <a:path w="114300" h="567689">
                <a:moveTo>
                  <a:pt x="104140" y="94614"/>
                </a:moveTo>
                <a:lnTo>
                  <a:pt x="75565" y="94614"/>
                </a:lnTo>
                <a:lnTo>
                  <a:pt x="76200" y="113664"/>
                </a:lnTo>
                <a:lnTo>
                  <a:pt x="114300" y="112395"/>
                </a:lnTo>
                <a:lnTo>
                  <a:pt x="104140" y="94614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732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4591" y="1609978"/>
            <a:ext cx="9319133" cy="481139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0209" y="6101715"/>
            <a:ext cx="2094230" cy="350096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30"/>
              </a:spcBef>
            </a:pPr>
            <a:r>
              <a:rPr sz="2000" b="1" spc="-10" dirty="0">
                <a:latin typeface="Times New Roman"/>
                <a:cs typeface="Times New Roman"/>
              </a:rPr>
              <a:t>threadStates.java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174" y="192328"/>
            <a:ext cx="661415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Life</a:t>
            </a:r>
            <a:r>
              <a:rPr sz="3200" spc="-75" dirty="0"/>
              <a:t> </a:t>
            </a:r>
            <a:r>
              <a:rPr sz="3200" dirty="0"/>
              <a:t>cycle</a:t>
            </a:r>
            <a:r>
              <a:rPr sz="3200" spc="-65" dirty="0"/>
              <a:t> </a:t>
            </a:r>
            <a:r>
              <a:rPr sz="3200" dirty="0"/>
              <a:t>of</a:t>
            </a:r>
            <a:r>
              <a:rPr sz="3200" spc="-40" dirty="0"/>
              <a:t> </a:t>
            </a:r>
            <a:r>
              <a:rPr sz="3200" dirty="0"/>
              <a:t>a</a:t>
            </a:r>
            <a:r>
              <a:rPr sz="3200" spc="-65" dirty="0"/>
              <a:t> </a:t>
            </a:r>
            <a:r>
              <a:rPr sz="3200" dirty="0"/>
              <a:t>Thread</a:t>
            </a:r>
            <a:r>
              <a:rPr sz="3200" spc="-65" dirty="0"/>
              <a:t> </a:t>
            </a:r>
            <a:r>
              <a:rPr sz="3200" dirty="0"/>
              <a:t>(Thread</a:t>
            </a:r>
            <a:r>
              <a:rPr sz="3200" spc="-50" dirty="0"/>
              <a:t> </a:t>
            </a:r>
            <a:r>
              <a:rPr sz="3200" spc="-10" dirty="0"/>
              <a:t>States)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487172" y="719150"/>
            <a:ext cx="9877425" cy="22967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According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sun,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states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thread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life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cycle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</a:t>
            </a:r>
            <a:r>
              <a:rPr sz="2800" b="1" spc="-12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java</a:t>
            </a:r>
            <a:endParaRPr sz="2800">
              <a:latin typeface="Times New Roman"/>
              <a:cs typeface="Times New Roman"/>
            </a:endParaRPr>
          </a:p>
          <a:p>
            <a:pPr marL="814069" lvl="1" indent="-34480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814069" algn="l"/>
                <a:tab pos="814705" algn="l"/>
              </a:tabLst>
            </a:pP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New,</a:t>
            </a:r>
            <a:endParaRPr sz="2400">
              <a:latin typeface="Times New Roman"/>
              <a:cs typeface="Times New Roman"/>
            </a:endParaRPr>
          </a:p>
          <a:p>
            <a:pPr marL="814069" lvl="1" indent="-34480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814069" algn="l"/>
                <a:tab pos="814705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Runnable,</a:t>
            </a:r>
            <a:endParaRPr sz="2400">
              <a:latin typeface="Times New Roman"/>
              <a:cs typeface="Times New Roman"/>
            </a:endParaRPr>
          </a:p>
          <a:p>
            <a:pPr marL="814069" lvl="1" indent="-344805">
              <a:lnSpc>
                <a:spcPct val="100000"/>
              </a:lnSpc>
              <a:buFont typeface="Arial"/>
              <a:buChar char="•"/>
              <a:tabLst>
                <a:tab pos="814069" algn="l"/>
                <a:tab pos="814705" algn="l"/>
              </a:tabLst>
            </a:pP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Not-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runnable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814069" lvl="1" indent="-344805">
              <a:lnSpc>
                <a:spcPts val="2870"/>
              </a:lnSpc>
              <a:spcBef>
                <a:spcPts val="5"/>
              </a:spcBef>
              <a:buFont typeface="Arial"/>
              <a:buChar char="•"/>
              <a:tabLst>
                <a:tab pos="814069" algn="l"/>
                <a:tab pos="814705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Terminated.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ts val="2870"/>
              </a:lnSpc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running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state.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5720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6405" y="2023231"/>
            <a:ext cx="11400790" cy="3998595"/>
            <a:chOff x="446405" y="2023229"/>
            <a:chExt cx="11400790" cy="3998595"/>
          </a:xfrm>
        </p:grpSpPr>
        <p:sp>
          <p:nvSpPr>
            <p:cNvPr id="3" name="object 3"/>
            <p:cNvSpPr/>
            <p:nvPr/>
          </p:nvSpPr>
          <p:spPr>
            <a:xfrm>
              <a:off x="1734185" y="2891155"/>
              <a:ext cx="1223645" cy="401955"/>
            </a:xfrm>
            <a:custGeom>
              <a:avLst/>
              <a:gdLst/>
              <a:ahLst/>
              <a:cxnLst/>
              <a:rect l="l" t="t" r="r" b="b"/>
              <a:pathLst>
                <a:path w="1223645" h="401954">
                  <a:moveTo>
                    <a:pt x="67944" y="0"/>
                  </a:moveTo>
                  <a:lnTo>
                    <a:pt x="54609" y="0"/>
                  </a:lnTo>
                  <a:lnTo>
                    <a:pt x="40639" y="6350"/>
                  </a:lnTo>
                  <a:lnTo>
                    <a:pt x="27304" y="13335"/>
                  </a:lnTo>
                  <a:lnTo>
                    <a:pt x="20319" y="19685"/>
                  </a:lnTo>
                  <a:lnTo>
                    <a:pt x="6984" y="26670"/>
                  </a:lnTo>
                  <a:lnTo>
                    <a:pt x="6984" y="40005"/>
                  </a:lnTo>
                  <a:lnTo>
                    <a:pt x="0" y="53340"/>
                  </a:lnTo>
                  <a:lnTo>
                    <a:pt x="0" y="66675"/>
                  </a:lnTo>
                  <a:lnTo>
                    <a:pt x="0" y="334645"/>
                  </a:lnTo>
                  <a:lnTo>
                    <a:pt x="0" y="347980"/>
                  </a:lnTo>
                  <a:lnTo>
                    <a:pt x="6984" y="361950"/>
                  </a:lnTo>
                  <a:lnTo>
                    <a:pt x="6984" y="368300"/>
                  </a:lnTo>
                  <a:lnTo>
                    <a:pt x="20319" y="381635"/>
                  </a:lnTo>
                  <a:lnTo>
                    <a:pt x="27304" y="388620"/>
                  </a:lnTo>
                  <a:lnTo>
                    <a:pt x="40639" y="394970"/>
                  </a:lnTo>
                  <a:lnTo>
                    <a:pt x="54609" y="401955"/>
                  </a:lnTo>
                  <a:lnTo>
                    <a:pt x="67944" y="401955"/>
                  </a:lnTo>
                  <a:lnTo>
                    <a:pt x="1155700" y="401955"/>
                  </a:lnTo>
                  <a:lnTo>
                    <a:pt x="1169670" y="401955"/>
                  </a:lnTo>
                  <a:lnTo>
                    <a:pt x="1183004" y="394970"/>
                  </a:lnTo>
                  <a:lnTo>
                    <a:pt x="1189989" y="388620"/>
                  </a:lnTo>
                  <a:lnTo>
                    <a:pt x="1203325" y="381635"/>
                  </a:lnTo>
                  <a:lnTo>
                    <a:pt x="1210309" y="368300"/>
                  </a:lnTo>
                  <a:lnTo>
                    <a:pt x="1216659" y="361950"/>
                  </a:lnTo>
                  <a:lnTo>
                    <a:pt x="1223645" y="347980"/>
                  </a:lnTo>
                  <a:lnTo>
                    <a:pt x="1223645" y="334645"/>
                  </a:lnTo>
                  <a:lnTo>
                    <a:pt x="1223645" y="66675"/>
                  </a:lnTo>
                  <a:lnTo>
                    <a:pt x="1223645" y="53340"/>
                  </a:lnTo>
                  <a:lnTo>
                    <a:pt x="1216659" y="40005"/>
                  </a:lnTo>
                  <a:lnTo>
                    <a:pt x="1210309" y="26670"/>
                  </a:lnTo>
                  <a:lnTo>
                    <a:pt x="1203325" y="19685"/>
                  </a:lnTo>
                  <a:lnTo>
                    <a:pt x="1189989" y="13335"/>
                  </a:lnTo>
                  <a:lnTo>
                    <a:pt x="1183004" y="6350"/>
                  </a:lnTo>
                  <a:lnTo>
                    <a:pt x="1169670" y="0"/>
                  </a:lnTo>
                  <a:lnTo>
                    <a:pt x="1155700" y="0"/>
                  </a:lnTo>
                  <a:lnTo>
                    <a:pt x="67944" y="0"/>
                  </a:lnTo>
                </a:path>
              </a:pathLst>
            </a:custGeom>
            <a:ln w="200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405" y="2981960"/>
              <a:ext cx="224154" cy="22161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3575" y="3028315"/>
              <a:ext cx="1073785" cy="167640"/>
            </a:xfrm>
            <a:custGeom>
              <a:avLst/>
              <a:gdLst/>
              <a:ahLst/>
              <a:cxnLst/>
              <a:rect l="l" t="t" r="r" b="b"/>
              <a:pathLst>
                <a:path w="1073785" h="167639">
                  <a:moveTo>
                    <a:pt x="903605" y="0"/>
                  </a:moveTo>
                  <a:lnTo>
                    <a:pt x="948754" y="66675"/>
                  </a:lnTo>
                  <a:lnTo>
                    <a:pt x="958215" y="66675"/>
                  </a:lnTo>
                  <a:lnTo>
                    <a:pt x="958215" y="93980"/>
                  </a:lnTo>
                  <a:lnTo>
                    <a:pt x="949844" y="93980"/>
                  </a:lnTo>
                  <a:lnTo>
                    <a:pt x="903605" y="167639"/>
                  </a:lnTo>
                  <a:lnTo>
                    <a:pt x="1073785" y="80645"/>
                  </a:lnTo>
                  <a:lnTo>
                    <a:pt x="1045210" y="66675"/>
                  </a:lnTo>
                  <a:lnTo>
                    <a:pt x="903605" y="0"/>
                  </a:lnTo>
                  <a:close/>
                </a:path>
                <a:path w="1073785" h="167639">
                  <a:moveTo>
                    <a:pt x="948754" y="66675"/>
                  </a:moveTo>
                  <a:lnTo>
                    <a:pt x="0" y="66675"/>
                  </a:lnTo>
                  <a:lnTo>
                    <a:pt x="0" y="93980"/>
                  </a:lnTo>
                  <a:lnTo>
                    <a:pt x="949844" y="93980"/>
                  </a:lnTo>
                  <a:lnTo>
                    <a:pt x="958215" y="80645"/>
                  </a:lnTo>
                  <a:lnTo>
                    <a:pt x="948754" y="66675"/>
                  </a:lnTo>
                  <a:close/>
                </a:path>
                <a:path w="1073785" h="167639">
                  <a:moveTo>
                    <a:pt x="958215" y="80645"/>
                  </a:moveTo>
                  <a:lnTo>
                    <a:pt x="949960" y="93980"/>
                  </a:lnTo>
                  <a:lnTo>
                    <a:pt x="958215" y="93980"/>
                  </a:lnTo>
                  <a:lnTo>
                    <a:pt x="958215" y="80645"/>
                  </a:lnTo>
                  <a:close/>
                </a:path>
                <a:path w="1073785" h="167639">
                  <a:moveTo>
                    <a:pt x="958215" y="66675"/>
                  </a:moveTo>
                  <a:lnTo>
                    <a:pt x="949325" y="66675"/>
                  </a:lnTo>
                  <a:lnTo>
                    <a:pt x="958215" y="80645"/>
                  </a:lnTo>
                  <a:lnTo>
                    <a:pt x="958215" y="666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3575" y="3028315"/>
              <a:ext cx="1073785" cy="167640"/>
            </a:xfrm>
            <a:custGeom>
              <a:avLst/>
              <a:gdLst/>
              <a:ahLst/>
              <a:cxnLst/>
              <a:rect l="l" t="t" r="r" b="b"/>
              <a:pathLst>
                <a:path w="1073785" h="167639">
                  <a:moveTo>
                    <a:pt x="958215" y="93980"/>
                  </a:moveTo>
                  <a:lnTo>
                    <a:pt x="0" y="93980"/>
                  </a:lnTo>
                  <a:lnTo>
                    <a:pt x="0" y="66675"/>
                  </a:lnTo>
                  <a:lnTo>
                    <a:pt x="958215" y="66675"/>
                  </a:lnTo>
                  <a:lnTo>
                    <a:pt x="958215" y="93980"/>
                  </a:lnTo>
                  <a:close/>
                </a:path>
                <a:path w="1073785" h="167639">
                  <a:moveTo>
                    <a:pt x="958215" y="80645"/>
                  </a:moveTo>
                  <a:lnTo>
                    <a:pt x="903605" y="0"/>
                  </a:lnTo>
                  <a:lnTo>
                    <a:pt x="1073785" y="80645"/>
                  </a:lnTo>
                  <a:lnTo>
                    <a:pt x="903605" y="167639"/>
                  </a:lnTo>
                  <a:lnTo>
                    <a:pt x="958215" y="80645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68625" y="3042285"/>
              <a:ext cx="1223645" cy="167640"/>
            </a:xfrm>
            <a:custGeom>
              <a:avLst/>
              <a:gdLst/>
              <a:ahLst/>
              <a:cxnLst/>
              <a:rect l="l" t="t" r="r" b="b"/>
              <a:pathLst>
                <a:path w="1223645" h="167639">
                  <a:moveTo>
                    <a:pt x="1054100" y="0"/>
                  </a:moveTo>
                  <a:lnTo>
                    <a:pt x="1099801" y="73660"/>
                  </a:lnTo>
                  <a:lnTo>
                    <a:pt x="1108075" y="73660"/>
                  </a:lnTo>
                  <a:lnTo>
                    <a:pt x="1108075" y="100964"/>
                  </a:lnTo>
                  <a:lnTo>
                    <a:pt x="1098725" y="100964"/>
                  </a:lnTo>
                  <a:lnTo>
                    <a:pt x="1054100" y="167639"/>
                  </a:lnTo>
                  <a:lnTo>
                    <a:pt x="1195070" y="100964"/>
                  </a:lnTo>
                  <a:lnTo>
                    <a:pt x="1223645" y="86994"/>
                  </a:lnTo>
                  <a:lnTo>
                    <a:pt x="1054100" y="0"/>
                  </a:lnTo>
                  <a:close/>
                </a:path>
                <a:path w="1223645" h="167639">
                  <a:moveTo>
                    <a:pt x="1099801" y="73660"/>
                  </a:moveTo>
                  <a:lnTo>
                    <a:pt x="0" y="73660"/>
                  </a:lnTo>
                  <a:lnTo>
                    <a:pt x="0" y="100964"/>
                  </a:lnTo>
                  <a:lnTo>
                    <a:pt x="1098725" y="100964"/>
                  </a:lnTo>
                  <a:lnTo>
                    <a:pt x="1108075" y="86994"/>
                  </a:lnTo>
                  <a:lnTo>
                    <a:pt x="1099801" y="73660"/>
                  </a:lnTo>
                  <a:close/>
                </a:path>
                <a:path w="1223645" h="167639">
                  <a:moveTo>
                    <a:pt x="1108075" y="86994"/>
                  </a:moveTo>
                  <a:lnTo>
                    <a:pt x="1099185" y="100964"/>
                  </a:lnTo>
                  <a:lnTo>
                    <a:pt x="1108075" y="100964"/>
                  </a:lnTo>
                  <a:lnTo>
                    <a:pt x="1108075" y="86994"/>
                  </a:lnTo>
                  <a:close/>
                </a:path>
                <a:path w="1223645" h="167639">
                  <a:moveTo>
                    <a:pt x="1108075" y="73660"/>
                  </a:moveTo>
                  <a:lnTo>
                    <a:pt x="1099820" y="73660"/>
                  </a:lnTo>
                  <a:lnTo>
                    <a:pt x="1108075" y="86994"/>
                  </a:lnTo>
                  <a:lnTo>
                    <a:pt x="1108075" y="736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68625" y="3042285"/>
              <a:ext cx="1223645" cy="167640"/>
            </a:xfrm>
            <a:custGeom>
              <a:avLst/>
              <a:gdLst/>
              <a:ahLst/>
              <a:cxnLst/>
              <a:rect l="l" t="t" r="r" b="b"/>
              <a:pathLst>
                <a:path w="1223645" h="167639">
                  <a:moveTo>
                    <a:pt x="0" y="73660"/>
                  </a:moveTo>
                  <a:lnTo>
                    <a:pt x="1108075" y="73660"/>
                  </a:lnTo>
                  <a:lnTo>
                    <a:pt x="1108075" y="100964"/>
                  </a:lnTo>
                  <a:lnTo>
                    <a:pt x="0" y="100964"/>
                  </a:lnTo>
                  <a:lnTo>
                    <a:pt x="0" y="73660"/>
                  </a:lnTo>
                  <a:close/>
                </a:path>
                <a:path w="1223645" h="167639">
                  <a:moveTo>
                    <a:pt x="1108075" y="86994"/>
                  </a:moveTo>
                  <a:lnTo>
                    <a:pt x="1054100" y="0"/>
                  </a:lnTo>
                  <a:lnTo>
                    <a:pt x="1223645" y="86994"/>
                  </a:lnTo>
                  <a:lnTo>
                    <a:pt x="1054100" y="167639"/>
                  </a:lnTo>
                  <a:lnTo>
                    <a:pt x="1108075" y="86994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09414" y="2087245"/>
              <a:ext cx="4853940" cy="1246505"/>
            </a:xfrm>
            <a:custGeom>
              <a:avLst/>
              <a:gdLst/>
              <a:ahLst/>
              <a:cxnLst/>
              <a:rect l="l" t="t" r="r" b="b"/>
              <a:pathLst>
                <a:path w="4853940" h="1246504">
                  <a:moveTo>
                    <a:pt x="67945" y="844550"/>
                  </a:moveTo>
                  <a:lnTo>
                    <a:pt x="54610" y="844550"/>
                  </a:lnTo>
                  <a:lnTo>
                    <a:pt x="40639" y="844550"/>
                  </a:lnTo>
                  <a:lnTo>
                    <a:pt x="34289" y="851534"/>
                  </a:lnTo>
                  <a:lnTo>
                    <a:pt x="20320" y="864234"/>
                  </a:lnTo>
                  <a:lnTo>
                    <a:pt x="13335" y="871219"/>
                  </a:lnTo>
                  <a:lnTo>
                    <a:pt x="6985" y="884554"/>
                  </a:lnTo>
                  <a:lnTo>
                    <a:pt x="6985" y="897889"/>
                  </a:lnTo>
                  <a:lnTo>
                    <a:pt x="0" y="911859"/>
                  </a:lnTo>
                  <a:lnTo>
                    <a:pt x="0" y="1179829"/>
                  </a:lnTo>
                  <a:lnTo>
                    <a:pt x="6985" y="1193164"/>
                  </a:lnTo>
                  <a:lnTo>
                    <a:pt x="6985" y="1206500"/>
                  </a:lnTo>
                  <a:lnTo>
                    <a:pt x="13335" y="1212850"/>
                  </a:lnTo>
                  <a:lnTo>
                    <a:pt x="20320" y="1226184"/>
                  </a:lnTo>
                  <a:lnTo>
                    <a:pt x="34289" y="1233169"/>
                  </a:lnTo>
                  <a:lnTo>
                    <a:pt x="40639" y="1240154"/>
                  </a:lnTo>
                  <a:lnTo>
                    <a:pt x="54610" y="1240154"/>
                  </a:lnTo>
                  <a:lnTo>
                    <a:pt x="67945" y="1246504"/>
                  </a:lnTo>
                  <a:lnTo>
                    <a:pt x="1155700" y="1246504"/>
                  </a:lnTo>
                  <a:lnTo>
                    <a:pt x="1169670" y="1240154"/>
                  </a:lnTo>
                  <a:lnTo>
                    <a:pt x="1183005" y="1240154"/>
                  </a:lnTo>
                  <a:lnTo>
                    <a:pt x="1196339" y="1233169"/>
                  </a:lnTo>
                  <a:lnTo>
                    <a:pt x="1203325" y="1226184"/>
                  </a:lnTo>
                  <a:lnTo>
                    <a:pt x="1216660" y="1212850"/>
                  </a:lnTo>
                  <a:lnTo>
                    <a:pt x="1223645" y="1206500"/>
                  </a:lnTo>
                  <a:lnTo>
                    <a:pt x="1223645" y="1193164"/>
                  </a:lnTo>
                  <a:lnTo>
                    <a:pt x="1223645" y="1179829"/>
                  </a:lnTo>
                  <a:lnTo>
                    <a:pt x="1223645" y="911859"/>
                  </a:lnTo>
                  <a:lnTo>
                    <a:pt x="1223645" y="897889"/>
                  </a:lnTo>
                  <a:lnTo>
                    <a:pt x="1223645" y="884554"/>
                  </a:lnTo>
                  <a:lnTo>
                    <a:pt x="1216660" y="871219"/>
                  </a:lnTo>
                  <a:lnTo>
                    <a:pt x="1203325" y="864234"/>
                  </a:lnTo>
                  <a:lnTo>
                    <a:pt x="1196339" y="851534"/>
                  </a:lnTo>
                  <a:lnTo>
                    <a:pt x="1183005" y="844550"/>
                  </a:lnTo>
                  <a:lnTo>
                    <a:pt x="1169670" y="844550"/>
                  </a:lnTo>
                  <a:lnTo>
                    <a:pt x="1155700" y="844550"/>
                  </a:lnTo>
                  <a:lnTo>
                    <a:pt x="67945" y="844550"/>
                  </a:lnTo>
                </a:path>
                <a:path w="4853940" h="1246504">
                  <a:moveTo>
                    <a:pt x="3698240" y="0"/>
                  </a:moveTo>
                  <a:lnTo>
                    <a:pt x="3684905" y="0"/>
                  </a:lnTo>
                  <a:lnTo>
                    <a:pt x="3670935" y="6984"/>
                  </a:lnTo>
                  <a:lnTo>
                    <a:pt x="3664585" y="13334"/>
                  </a:lnTo>
                  <a:lnTo>
                    <a:pt x="3651250" y="20319"/>
                  </a:lnTo>
                  <a:lnTo>
                    <a:pt x="3644265" y="33654"/>
                  </a:lnTo>
                  <a:lnTo>
                    <a:pt x="3637280" y="40004"/>
                  </a:lnTo>
                  <a:lnTo>
                    <a:pt x="3630930" y="53339"/>
                  </a:lnTo>
                  <a:lnTo>
                    <a:pt x="3630930" y="67309"/>
                  </a:lnTo>
                  <a:lnTo>
                    <a:pt x="3630930" y="335279"/>
                  </a:lnTo>
                  <a:lnTo>
                    <a:pt x="3630930" y="348614"/>
                  </a:lnTo>
                  <a:lnTo>
                    <a:pt x="3637280" y="361950"/>
                  </a:lnTo>
                  <a:lnTo>
                    <a:pt x="3644265" y="375284"/>
                  </a:lnTo>
                  <a:lnTo>
                    <a:pt x="3651250" y="382269"/>
                  </a:lnTo>
                  <a:lnTo>
                    <a:pt x="3664585" y="395604"/>
                  </a:lnTo>
                  <a:lnTo>
                    <a:pt x="3670935" y="395604"/>
                  </a:lnTo>
                  <a:lnTo>
                    <a:pt x="3684905" y="401954"/>
                  </a:lnTo>
                  <a:lnTo>
                    <a:pt x="3698240" y="401954"/>
                  </a:lnTo>
                  <a:lnTo>
                    <a:pt x="4785995" y="401954"/>
                  </a:lnTo>
                  <a:lnTo>
                    <a:pt x="4799965" y="401954"/>
                  </a:lnTo>
                  <a:lnTo>
                    <a:pt x="4813300" y="395604"/>
                  </a:lnTo>
                  <a:lnTo>
                    <a:pt x="4827270" y="395604"/>
                  </a:lnTo>
                  <a:lnTo>
                    <a:pt x="4833620" y="382269"/>
                  </a:lnTo>
                  <a:lnTo>
                    <a:pt x="4840605" y="375284"/>
                  </a:lnTo>
                  <a:lnTo>
                    <a:pt x="4847590" y="361950"/>
                  </a:lnTo>
                  <a:lnTo>
                    <a:pt x="4853940" y="348614"/>
                  </a:lnTo>
                  <a:lnTo>
                    <a:pt x="4853940" y="335279"/>
                  </a:lnTo>
                  <a:lnTo>
                    <a:pt x="4853940" y="67309"/>
                  </a:lnTo>
                  <a:lnTo>
                    <a:pt x="4853940" y="53339"/>
                  </a:lnTo>
                  <a:lnTo>
                    <a:pt x="4847590" y="40004"/>
                  </a:lnTo>
                  <a:lnTo>
                    <a:pt x="4840605" y="33654"/>
                  </a:lnTo>
                  <a:lnTo>
                    <a:pt x="4833620" y="20319"/>
                  </a:lnTo>
                  <a:lnTo>
                    <a:pt x="4827270" y="13334"/>
                  </a:lnTo>
                  <a:lnTo>
                    <a:pt x="4813300" y="6984"/>
                  </a:lnTo>
                  <a:lnTo>
                    <a:pt x="4799965" y="0"/>
                  </a:lnTo>
                  <a:lnTo>
                    <a:pt x="4785995" y="0"/>
                  </a:lnTo>
                  <a:lnTo>
                    <a:pt x="3698240" y="0"/>
                  </a:lnTo>
                </a:path>
              </a:pathLst>
            </a:custGeom>
            <a:ln w="20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3220" y="2385060"/>
              <a:ext cx="2379345" cy="656590"/>
            </a:xfrm>
            <a:custGeom>
              <a:avLst/>
              <a:gdLst/>
              <a:ahLst/>
              <a:cxnLst/>
              <a:rect l="l" t="t" r="r" b="b"/>
              <a:pathLst>
                <a:path w="2379345" h="656589">
                  <a:moveTo>
                    <a:pt x="2259329" y="56514"/>
                  </a:moveTo>
                  <a:lnTo>
                    <a:pt x="0" y="629919"/>
                  </a:lnTo>
                  <a:lnTo>
                    <a:pt x="6984" y="656589"/>
                  </a:lnTo>
                  <a:lnTo>
                    <a:pt x="2265045" y="83185"/>
                  </a:lnTo>
                  <a:lnTo>
                    <a:pt x="2270759" y="66675"/>
                  </a:lnTo>
                  <a:lnTo>
                    <a:pt x="2259329" y="56514"/>
                  </a:lnTo>
                  <a:close/>
                </a:path>
                <a:path w="2379345" h="656589">
                  <a:moveTo>
                    <a:pt x="2364104" y="53339"/>
                  </a:moveTo>
                  <a:lnTo>
                    <a:pt x="2270759" y="53339"/>
                  </a:lnTo>
                  <a:lnTo>
                    <a:pt x="2277745" y="80010"/>
                  </a:lnTo>
                  <a:lnTo>
                    <a:pt x="2265045" y="83185"/>
                  </a:lnTo>
                  <a:lnTo>
                    <a:pt x="2237104" y="160654"/>
                  </a:lnTo>
                  <a:lnTo>
                    <a:pt x="2364104" y="53339"/>
                  </a:lnTo>
                  <a:close/>
                </a:path>
                <a:path w="2379345" h="656589">
                  <a:moveTo>
                    <a:pt x="2270759" y="53339"/>
                  </a:moveTo>
                  <a:lnTo>
                    <a:pt x="2259329" y="56514"/>
                  </a:lnTo>
                  <a:lnTo>
                    <a:pt x="2270759" y="66675"/>
                  </a:lnTo>
                  <a:lnTo>
                    <a:pt x="2265045" y="83185"/>
                  </a:lnTo>
                  <a:lnTo>
                    <a:pt x="2277745" y="80010"/>
                  </a:lnTo>
                  <a:lnTo>
                    <a:pt x="2270759" y="53339"/>
                  </a:lnTo>
                  <a:close/>
                </a:path>
                <a:path w="2379345" h="656589">
                  <a:moveTo>
                    <a:pt x="2196464" y="0"/>
                  </a:moveTo>
                  <a:lnTo>
                    <a:pt x="2259329" y="56514"/>
                  </a:lnTo>
                  <a:lnTo>
                    <a:pt x="2270759" y="53339"/>
                  </a:lnTo>
                  <a:lnTo>
                    <a:pt x="2364104" y="53339"/>
                  </a:lnTo>
                  <a:lnTo>
                    <a:pt x="2379345" y="40004"/>
                  </a:lnTo>
                  <a:lnTo>
                    <a:pt x="2196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3220" y="2385060"/>
              <a:ext cx="2379345" cy="656590"/>
            </a:xfrm>
            <a:custGeom>
              <a:avLst/>
              <a:gdLst/>
              <a:ahLst/>
              <a:cxnLst/>
              <a:rect l="l" t="t" r="r" b="b"/>
              <a:pathLst>
                <a:path w="2379345" h="656589">
                  <a:moveTo>
                    <a:pt x="0" y="629919"/>
                  </a:moveTo>
                  <a:lnTo>
                    <a:pt x="2270759" y="53339"/>
                  </a:lnTo>
                  <a:lnTo>
                    <a:pt x="2277745" y="80010"/>
                  </a:lnTo>
                  <a:lnTo>
                    <a:pt x="6984" y="656589"/>
                  </a:lnTo>
                  <a:lnTo>
                    <a:pt x="0" y="629919"/>
                  </a:lnTo>
                  <a:close/>
                </a:path>
                <a:path w="2379345" h="656589">
                  <a:moveTo>
                    <a:pt x="2270759" y="66675"/>
                  </a:moveTo>
                  <a:lnTo>
                    <a:pt x="2196464" y="0"/>
                  </a:lnTo>
                  <a:lnTo>
                    <a:pt x="2379345" y="40004"/>
                  </a:lnTo>
                  <a:lnTo>
                    <a:pt x="2237104" y="160654"/>
                  </a:lnTo>
                  <a:lnTo>
                    <a:pt x="2270759" y="66675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74105" y="2870835"/>
              <a:ext cx="476250" cy="295275"/>
            </a:xfrm>
            <a:custGeom>
              <a:avLst/>
              <a:gdLst/>
              <a:ahLst/>
              <a:cxnLst/>
              <a:rect l="l" t="t" r="r" b="b"/>
              <a:pathLst>
                <a:path w="476250" h="295275">
                  <a:moveTo>
                    <a:pt x="47625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476250" y="295275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74105" y="2870835"/>
              <a:ext cx="476250" cy="295275"/>
            </a:xfrm>
            <a:custGeom>
              <a:avLst/>
              <a:gdLst/>
              <a:ahLst/>
              <a:cxnLst/>
              <a:rect l="l" t="t" r="r" b="b"/>
              <a:pathLst>
                <a:path w="476250" h="295275">
                  <a:moveTo>
                    <a:pt x="0" y="295275"/>
                  </a:moveTo>
                  <a:lnTo>
                    <a:pt x="476250" y="295275"/>
                  </a:lnTo>
                  <a:lnTo>
                    <a:pt x="47625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2013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2189" y="4452620"/>
              <a:ext cx="1509395" cy="589280"/>
            </a:xfrm>
            <a:custGeom>
              <a:avLst/>
              <a:gdLst/>
              <a:ahLst/>
              <a:cxnLst/>
              <a:rect l="l" t="t" r="r" b="b"/>
              <a:pathLst>
                <a:path w="1509395" h="589279">
                  <a:moveTo>
                    <a:pt x="101600" y="0"/>
                  </a:moveTo>
                  <a:lnTo>
                    <a:pt x="81280" y="0"/>
                  </a:lnTo>
                  <a:lnTo>
                    <a:pt x="60960" y="6349"/>
                  </a:lnTo>
                  <a:lnTo>
                    <a:pt x="47625" y="19684"/>
                  </a:lnTo>
                  <a:lnTo>
                    <a:pt x="33655" y="26669"/>
                  </a:lnTo>
                  <a:lnTo>
                    <a:pt x="20320" y="46354"/>
                  </a:lnTo>
                  <a:lnTo>
                    <a:pt x="13335" y="60324"/>
                  </a:lnTo>
                  <a:lnTo>
                    <a:pt x="6350" y="80009"/>
                  </a:lnTo>
                  <a:lnTo>
                    <a:pt x="0" y="100329"/>
                  </a:lnTo>
                  <a:lnTo>
                    <a:pt x="0" y="488949"/>
                  </a:lnTo>
                  <a:lnTo>
                    <a:pt x="13335" y="528954"/>
                  </a:lnTo>
                  <a:lnTo>
                    <a:pt x="47625" y="569594"/>
                  </a:lnTo>
                  <a:lnTo>
                    <a:pt x="60960" y="582929"/>
                  </a:lnTo>
                  <a:lnTo>
                    <a:pt x="81280" y="582929"/>
                  </a:lnTo>
                  <a:lnTo>
                    <a:pt x="101600" y="589279"/>
                  </a:lnTo>
                  <a:lnTo>
                    <a:pt x="1414144" y="589279"/>
                  </a:lnTo>
                  <a:lnTo>
                    <a:pt x="1427480" y="582929"/>
                  </a:lnTo>
                  <a:lnTo>
                    <a:pt x="1447800" y="582929"/>
                  </a:lnTo>
                  <a:lnTo>
                    <a:pt x="1482089" y="556259"/>
                  </a:lnTo>
                  <a:lnTo>
                    <a:pt x="1509394" y="509269"/>
                  </a:lnTo>
                  <a:lnTo>
                    <a:pt x="1509394" y="488949"/>
                  </a:lnTo>
                  <a:lnTo>
                    <a:pt x="1509394" y="100329"/>
                  </a:lnTo>
                  <a:lnTo>
                    <a:pt x="1502410" y="60324"/>
                  </a:lnTo>
                  <a:lnTo>
                    <a:pt x="1482089" y="26669"/>
                  </a:lnTo>
                  <a:lnTo>
                    <a:pt x="1468119" y="19684"/>
                  </a:lnTo>
                  <a:lnTo>
                    <a:pt x="1447800" y="6349"/>
                  </a:lnTo>
                  <a:lnTo>
                    <a:pt x="1427480" y="0"/>
                  </a:lnTo>
                  <a:lnTo>
                    <a:pt x="1414144" y="0"/>
                  </a:lnTo>
                  <a:lnTo>
                    <a:pt x="101600" y="0"/>
                  </a:lnTo>
                </a:path>
              </a:pathLst>
            </a:custGeom>
            <a:ln w="20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87009" y="3303270"/>
              <a:ext cx="1176020" cy="1125855"/>
            </a:xfrm>
            <a:custGeom>
              <a:avLst/>
              <a:gdLst/>
              <a:ahLst/>
              <a:cxnLst/>
              <a:rect l="l" t="t" r="r" b="b"/>
              <a:pathLst>
                <a:path w="1176020" h="1125854">
                  <a:moveTo>
                    <a:pt x="97789" y="75564"/>
                  </a:moveTo>
                  <a:lnTo>
                    <a:pt x="81914" y="80009"/>
                  </a:lnTo>
                  <a:lnTo>
                    <a:pt x="78104" y="96519"/>
                  </a:lnTo>
                  <a:lnTo>
                    <a:pt x="1155700" y="1125854"/>
                  </a:lnTo>
                  <a:lnTo>
                    <a:pt x="1176019" y="1105534"/>
                  </a:lnTo>
                  <a:lnTo>
                    <a:pt x="97789" y="75564"/>
                  </a:lnTo>
                  <a:close/>
                </a:path>
                <a:path w="1176020" h="1125854">
                  <a:moveTo>
                    <a:pt x="0" y="0"/>
                  </a:moveTo>
                  <a:lnTo>
                    <a:pt x="61594" y="173989"/>
                  </a:lnTo>
                  <a:lnTo>
                    <a:pt x="78104" y="96519"/>
                  </a:lnTo>
                  <a:lnTo>
                    <a:pt x="67944" y="86994"/>
                  </a:lnTo>
                  <a:lnTo>
                    <a:pt x="88264" y="66675"/>
                  </a:lnTo>
                  <a:lnTo>
                    <a:pt x="132079" y="66675"/>
                  </a:lnTo>
                  <a:lnTo>
                    <a:pt x="183514" y="53339"/>
                  </a:lnTo>
                  <a:lnTo>
                    <a:pt x="0" y="0"/>
                  </a:lnTo>
                  <a:close/>
                </a:path>
                <a:path w="1176020" h="1125854">
                  <a:moveTo>
                    <a:pt x="88264" y="66675"/>
                  </a:moveTo>
                  <a:lnTo>
                    <a:pt x="67944" y="86994"/>
                  </a:lnTo>
                  <a:lnTo>
                    <a:pt x="78104" y="96519"/>
                  </a:lnTo>
                  <a:lnTo>
                    <a:pt x="81914" y="80009"/>
                  </a:lnTo>
                  <a:lnTo>
                    <a:pt x="97789" y="75564"/>
                  </a:lnTo>
                  <a:lnTo>
                    <a:pt x="88264" y="66675"/>
                  </a:lnTo>
                  <a:close/>
                </a:path>
                <a:path w="1176020" h="1125854">
                  <a:moveTo>
                    <a:pt x="132079" y="66675"/>
                  </a:moveTo>
                  <a:lnTo>
                    <a:pt x="88264" y="66675"/>
                  </a:lnTo>
                  <a:lnTo>
                    <a:pt x="97789" y="75564"/>
                  </a:lnTo>
                  <a:lnTo>
                    <a:pt x="132079" y="666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87009" y="3303270"/>
              <a:ext cx="1176020" cy="1125855"/>
            </a:xfrm>
            <a:custGeom>
              <a:avLst/>
              <a:gdLst/>
              <a:ahLst/>
              <a:cxnLst/>
              <a:rect l="l" t="t" r="r" b="b"/>
              <a:pathLst>
                <a:path w="1176020" h="1125854">
                  <a:moveTo>
                    <a:pt x="1155700" y="1125854"/>
                  </a:moveTo>
                  <a:lnTo>
                    <a:pt x="67944" y="86994"/>
                  </a:lnTo>
                  <a:lnTo>
                    <a:pt x="88264" y="66675"/>
                  </a:lnTo>
                  <a:lnTo>
                    <a:pt x="1176019" y="1105534"/>
                  </a:lnTo>
                  <a:lnTo>
                    <a:pt x="1155700" y="1125854"/>
                  </a:lnTo>
                  <a:close/>
                </a:path>
                <a:path w="1176020" h="1125854">
                  <a:moveTo>
                    <a:pt x="81914" y="80009"/>
                  </a:moveTo>
                  <a:lnTo>
                    <a:pt x="61594" y="173989"/>
                  </a:lnTo>
                  <a:lnTo>
                    <a:pt x="0" y="0"/>
                  </a:lnTo>
                  <a:lnTo>
                    <a:pt x="183514" y="53339"/>
                  </a:lnTo>
                  <a:lnTo>
                    <a:pt x="81914" y="80009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11339" y="2472055"/>
              <a:ext cx="1318895" cy="1963420"/>
            </a:xfrm>
            <a:custGeom>
              <a:avLst/>
              <a:gdLst/>
              <a:ahLst/>
              <a:cxnLst/>
              <a:rect l="l" t="t" r="r" b="b"/>
              <a:pathLst>
                <a:path w="1318895" h="1963420">
                  <a:moveTo>
                    <a:pt x="20319" y="1782445"/>
                  </a:moveTo>
                  <a:lnTo>
                    <a:pt x="0" y="1963420"/>
                  </a:lnTo>
                  <a:lnTo>
                    <a:pt x="139700" y="1882775"/>
                  </a:lnTo>
                  <a:lnTo>
                    <a:pt x="74929" y="1882775"/>
                  </a:lnTo>
                  <a:lnTo>
                    <a:pt x="47625" y="1863090"/>
                  </a:lnTo>
                  <a:lnTo>
                    <a:pt x="53975" y="1854200"/>
                  </a:lnTo>
                  <a:lnTo>
                    <a:pt x="20319" y="1782445"/>
                  </a:lnTo>
                  <a:close/>
                </a:path>
                <a:path w="1318895" h="1963420">
                  <a:moveTo>
                    <a:pt x="53975" y="1854200"/>
                  </a:moveTo>
                  <a:lnTo>
                    <a:pt x="47625" y="1863090"/>
                  </a:lnTo>
                  <a:lnTo>
                    <a:pt x="74929" y="1882775"/>
                  </a:lnTo>
                  <a:lnTo>
                    <a:pt x="83819" y="1869440"/>
                  </a:lnTo>
                  <a:lnTo>
                    <a:pt x="60959" y="1869440"/>
                  </a:lnTo>
                  <a:lnTo>
                    <a:pt x="53975" y="1854200"/>
                  </a:lnTo>
                  <a:close/>
                </a:path>
                <a:path w="1318895" h="1963420">
                  <a:moveTo>
                    <a:pt x="163194" y="1869440"/>
                  </a:moveTo>
                  <a:lnTo>
                    <a:pt x="83819" y="1869440"/>
                  </a:lnTo>
                  <a:lnTo>
                    <a:pt x="74929" y="1882775"/>
                  </a:lnTo>
                  <a:lnTo>
                    <a:pt x="139700" y="1882775"/>
                  </a:lnTo>
                  <a:lnTo>
                    <a:pt x="163194" y="1869440"/>
                  </a:lnTo>
                  <a:close/>
                </a:path>
                <a:path w="1318895" h="1963420">
                  <a:moveTo>
                    <a:pt x="1298575" y="0"/>
                  </a:moveTo>
                  <a:lnTo>
                    <a:pt x="53975" y="1854200"/>
                  </a:lnTo>
                  <a:lnTo>
                    <a:pt x="60959" y="1869440"/>
                  </a:lnTo>
                  <a:lnTo>
                    <a:pt x="83819" y="1869440"/>
                  </a:lnTo>
                  <a:lnTo>
                    <a:pt x="1318894" y="20320"/>
                  </a:lnTo>
                  <a:lnTo>
                    <a:pt x="1298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11339" y="2472055"/>
              <a:ext cx="1318895" cy="1963420"/>
            </a:xfrm>
            <a:custGeom>
              <a:avLst/>
              <a:gdLst/>
              <a:ahLst/>
              <a:cxnLst/>
              <a:rect l="l" t="t" r="r" b="b"/>
              <a:pathLst>
                <a:path w="1318895" h="1963420">
                  <a:moveTo>
                    <a:pt x="1318894" y="20320"/>
                  </a:moveTo>
                  <a:lnTo>
                    <a:pt x="74929" y="1882775"/>
                  </a:lnTo>
                  <a:lnTo>
                    <a:pt x="47625" y="1863090"/>
                  </a:lnTo>
                  <a:lnTo>
                    <a:pt x="1298575" y="0"/>
                  </a:lnTo>
                  <a:lnTo>
                    <a:pt x="1318894" y="20320"/>
                  </a:lnTo>
                  <a:close/>
                </a:path>
                <a:path w="1318895" h="1963420">
                  <a:moveTo>
                    <a:pt x="60959" y="1869440"/>
                  </a:moveTo>
                  <a:lnTo>
                    <a:pt x="163194" y="1869440"/>
                  </a:lnTo>
                  <a:lnTo>
                    <a:pt x="0" y="1963420"/>
                  </a:lnTo>
                  <a:lnTo>
                    <a:pt x="20319" y="1782445"/>
                  </a:lnTo>
                  <a:lnTo>
                    <a:pt x="60959" y="1869440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613389" y="2931795"/>
              <a:ext cx="1223645" cy="401955"/>
            </a:xfrm>
            <a:custGeom>
              <a:avLst/>
              <a:gdLst/>
              <a:ahLst/>
              <a:cxnLst/>
              <a:rect l="l" t="t" r="r" b="b"/>
              <a:pathLst>
                <a:path w="1223645" h="401954">
                  <a:moveTo>
                    <a:pt x="67944" y="0"/>
                  </a:moveTo>
                  <a:lnTo>
                    <a:pt x="53975" y="0"/>
                  </a:lnTo>
                  <a:lnTo>
                    <a:pt x="46989" y="0"/>
                  </a:lnTo>
                  <a:lnTo>
                    <a:pt x="33654" y="6984"/>
                  </a:lnTo>
                  <a:lnTo>
                    <a:pt x="20319" y="19684"/>
                  </a:lnTo>
                  <a:lnTo>
                    <a:pt x="13334" y="26669"/>
                  </a:lnTo>
                  <a:lnTo>
                    <a:pt x="6350" y="40004"/>
                  </a:lnTo>
                  <a:lnTo>
                    <a:pt x="6350" y="53339"/>
                  </a:lnTo>
                  <a:lnTo>
                    <a:pt x="0" y="67309"/>
                  </a:lnTo>
                  <a:lnTo>
                    <a:pt x="0" y="335279"/>
                  </a:lnTo>
                  <a:lnTo>
                    <a:pt x="6350" y="348614"/>
                  </a:lnTo>
                  <a:lnTo>
                    <a:pt x="6350" y="361950"/>
                  </a:lnTo>
                  <a:lnTo>
                    <a:pt x="13334" y="368300"/>
                  </a:lnTo>
                  <a:lnTo>
                    <a:pt x="20319" y="381634"/>
                  </a:lnTo>
                  <a:lnTo>
                    <a:pt x="33654" y="388619"/>
                  </a:lnTo>
                  <a:lnTo>
                    <a:pt x="46989" y="395604"/>
                  </a:lnTo>
                  <a:lnTo>
                    <a:pt x="53975" y="395604"/>
                  </a:lnTo>
                  <a:lnTo>
                    <a:pt x="67944" y="401954"/>
                  </a:lnTo>
                  <a:lnTo>
                    <a:pt x="1155064" y="401954"/>
                  </a:lnTo>
                  <a:lnTo>
                    <a:pt x="1169034" y="395604"/>
                  </a:lnTo>
                  <a:lnTo>
                    <a:pt x="1183004" y="395604"/>
                  </a:lnTo>
                  <a:lnTo>
                    <a:pt x="1196339" y="388619"/>
                  </a:lnTo>
                  <a:lnTo>
                    <a:pt x="1203325" y="381634"/>
                  </a:lnTo>
                  <a:lnTo>
                    <a:pt x="1216659" y="368300"/>
                  </a:lnTo>
                  <a:lnTo>
                    <a:pt x="1223644" y="361950"/>
                  </a:lnTo>
                  <a:lnTo>
                    <a:pt x="1223644" y="40004"/>
                  </a:lnTo>
                  <a:lnTo>
                    <a:pt x="1216659" y="26669"/>
                  </a:lnTo>
                  <a:lnTo>
                    <a:pt x="1203325" y="19684"/>
                  </a:lnTo>
                  <a:lnTo>
                    <a:pt x="1196339" y="6984"/>
                  </a:lnTo>
                  <a:lnTo>
                    <a:pt x="1183004" y="0"/>
                  </a:lnTo>
                  <a:lnTo>
                    <a:pt x="1169034" y="0"/>
                  </a:lnTo>
                  <a:lnTo>
                    <a:pt x="1155064" y="0"/>
                  </a:lnTo>
                  <a:lnTo>
                    <a:pt x="67944" y="0"/>
                  </a:lnTo>
                </a:path>
              </a:pathLst>
            </a:custGeom>
            <a:ln w="200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86849" y="2371725"/>
              <a:ext cx="1516380" cy="703580"/>
            </a:xfrm>
            <a:custGeom>
              <a:avLst/>
              <a:gdLst/>
              <a:ahLst/>
              <a:cxnLst/>
              <a:rect l="l" t="t" r="r" b="b"/>
              <a:pathLst>
                <a:path w="1516379" h="703580">
                  <a:moveTo>
                    <a:pt x="1395095" y="657860"/>
                  </a:moveTo>
                  <a:lnTo>
                    <a:pt x="1325879" y="703579"/>
                  </a:lnTo>
                  <a:lnTo>
                    <a:pt x="1516379" y="697229"/>
                  </a:lnTo>
                  <a:lnTo>
                    <a:pt x="1488440" y="663575"/>
                  </a:lnTo>
                  <a:lnTo>
                    <a:pt x="1407159" y="663575"/>
                  </a:lnTo>
                  <a:lnTo>
                    <a:pt x="1395095" y="657860"/>
                  </a:lnTo>
                  <a:close/>
                </a:path>
                <a:path w="1516379" h="703580">
                  <a:moveTo>
                    <a:pt x="1404620" y="632460"/>
                  </a:moveTo>
                  <a:lnTo>
                    <a:pt x="1407159" y="649604"/>
                  </a:lnTo>
                  <a:lnTo>
                    <a:pt x="1395095" y="657860"/>
                  </a:lnTo>
                  <a:lnTo>
                    <a:pt x="1407159" y="663575"/>
                  </a:lnTo>
                  <a:lnTo>
                    <a:pt x="1414145" y="636270"/>
                  </a:lnTo>
                  <a:lnTo>
                    <a:pt x="1404620" y="632460"/>
                  </a:lnTo>
                  <a:close/>
                </a:path>
                <a:path w="1516379" h="703580">
                  <a:moveTo>
                    <a:pt x="1393825" y="549275"/>
                  </a:moveTo>
                  <a:lnTo>
                    <a:pt x="1404620" y="632460"/>
                  </a:lnTo>
                  <a:lnTo>
                    <a:pt x="1414145" y="636270"/>
                  </a:lnTo>
                  <a:lnTo>
                    <a:pt x="1407159" y="663575"/>
                  </a:lnTo>
                  <a:lnTo>
                    <a:pt x="1488440" y="663575"/>
                  </a:lnTo>
                  <a:lnTo>
                    <a:pt x="1393825" y="549275"/>
                  </a:lnTo>
                  <a:close/>
                </a:path>
                <a:path w="1516379" h="703580">
                  <a:moveTo>
                    <a:pt x="13334" y="0"/>
                  </a:moveTo>
                  <a:lnTo>
                    <a:pt x="0" y="26670"/>
                  </a:lnTo>
                  <a:lnTo>
                    <a:pt x="1395095" y="657860"/>
                  </a:lnTo>
                  <a:lnTo>
                    <a:pt x="1407159" y="649604"/>
                  </a:lnTo>
                  <a:lnTo>
                    <a:pt x="1404620" y="632460"/>
                  </a:lnTo>
                  <a:lnTo>
                    <a:pt x="133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86849" y="2371725"/>
              <a:ext cx="1516380" cy="703580"/>
            </a:xfrm>
            <a:custGeom>
              <a:avLst/>
              <a:gdLst/>
              <a:ahLst/>
              <a:cxnLst/>
              <a:rect l="l" t="t" r="r" b="b"/>
              <a:pathLst>
                <a:path w="1516379" h="703580">
                  <a:moveTo>
                    <a:pt x="13334" y="0"/>
                  </a:moveTo>
                  <a:lnTo>
                    <a:pt x="1414145" y="636270"/>
                  </a:lnTo>
                  <a:lnTo>
                    <a:pt x="1407159" y="663575"/>
                  </a:lnTo>
                  <a:lnTo>
                    <a:pt x="0" y="26670"/>
                  </a:lnTo>
                  <a:lnTo>
                    <a:pt x="13334" y="0"/>
                  </a:lnTo>
                  <a:close/>
                </a:path>
                <a:path w="1516379" h="703580">
                  <a:moveTo>
                    <a:pt x="1407159" y="649604"/>
                  </a:moveTo>
                  <a:lnTo>
                    <a:pt x="1393825" y="549275"/>
                  </a:lnTo>
                  <a:lnTo>
                    <a:pt x="1516379" y="697229"/>
                  </a:lnTo>
                  <a:lnTo>
                    <a:pt x="1325879" y="703579"/>
                  </a:lnTo>
                  <a:lnTo>
                    <a:pt x="1407159" y="649604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804399" y="2341880"/>
              <a:ext cx="1169670" cy="314960"/>
            </a:xfrm>
            <a:custGeom>
              <a:avLst/>
              <a:gdLst/>
              <a:ahLst/>
              <a:cxnLst/>
              <a:rect l="l" t="t" r="r" b="b"/>
              <a:pathLst>
                <a:path w="1169670" h="314960">
                  <a:moveTo>
                    <a:pt x="1169670" y="0"/>
                  </a:moveTo>
                  <a:lnTo>
                    <a:pt x="0" y="0"/>
                  </a:lnTo>
                  <a:lnTo>
                    <a:pt x="0" y="314960"/>
                  </a:lnTo>
                  <a:lnTo>
                    <a:pt x="1169670" y="314960"/>
                  </a:lnTo>
                  <a:lnTo>
                    <a:pt x="11696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804399" y="2341880"/>
              <a:ext cx="1169670" cy="314960"/>
            </a:xfrm>
            <a:custGeom>
              <a:avLst/>
              <a:gdLst/>
              <a:ahLst/>
              <a:cxnLst/>
              <a:rect l="l" t="t" r="r" b="b"/>
              <a:pathLst>
                <a:path w="1169670" h="314960">
                  <a:moveTo>
                    <a:pt x="0" y="314960"/>
                  </a:moveTo>
                  <a:lnTo>
                    <a:pt x="1169670" y="314960"/>
                  </a:lnTo>
                  <a:lnTo>
                    <a:pt x="1169670" y="0"/>
                  </a:lnTo>
                  <a:lnTo>
                    <a:pt x="0" y="0"/>
                  </a:lnTo>
                  <a:lnTo>
                    <a:pt x="0" y="314960"/>
                  </a:lnTo>
                  <a:close/>
                </a:path>
              </a:pathLst>
            </a:custGeom>
            <a:ln w="2006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77534" y="2033270"/>
              <a:ext cx="1604645" cy="542925"/>
            </a:xfrm>
            <a:custGeom>
              <a:avLst/>
              <a:gdLst/>
              <a:ahLst/>
              <a:cxnLst/>
              <a:rect l="l" t="t" r="r" b="b"/>
              <a:pathLst>
                <a:path w="1604645" h="542925">
                  <a:moveTo>
                    <a:pt x="1604644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1604644" y="542925"/>
                  </a:lnTo>
                  <a:lnTo>
                    <a:pt x="16046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77534" y="2033270"/>
              <a:ext cx="1604645" cy="542925"/>
            </a:xfrm>
            <a:custGeom>
              <a:avLst/>
              <a:gdLst/>
              <a:ahLst/>
              <a:cxnLst/>
              <a:rect l="l" t="t" r="r" b="b"/>
              <a:pathLst>
                <a:path w="1604645" h="542925">
                  <a:moveTo>
                    <a:pt x="0" y="542925"/>
                  </a:moveTo>
                  <a:lnTo>
                    <a:pt x="1604644" y="542925"/>
                  </a:lnTo>
                  <a:lnTo>
                    <a:pt x="1604644" y="0"/>
                  </a:lnTo>
                  <a:lnTo>
                    <a:pt x="0" y="0"/>
                  </a:lnTo>
                  <a:lnTo>
                    <a:pt x="0" y="542925"/>
                  </a:lnTo>
                  <a:close/>
                </a:path>
              </a:pathLst>
            </a:custGeom>
            <a:ln w="200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08245" y="2137410"/>
              <a:ext cx="2821305" cy="831215"/>
            </a:xfrm>
            <a:custGeom>
              <a:avLst/>
              <a:gdLst/>
              <a:ahLst/>
              <a:cxnLst/>
              <a:rect l="l" t="t" r="r" b="b"/>
              <a:pathLst>
                <a:path w="2821304" h="831214">
                  <a:moveTo>
                    <a:pt x="142875" y="670560"/>
                  </a:moveTo>
                  <a:lnTo>
                    <a:pt x="0" y="797560"/>
                  </a:lnTo>
                  <a:lnTo>
                    <a:pt x="183514" y="831214"/>
                  </a:lnTo>
                  <a:lnTo>
                    <a:pt x="123825" y="777239"/>
                  </a:lnTo>
                  <a:lnTo>
                    <a:pt x="115569" y="777239"/>
                  </a:lnTo>
                  <a:lnTo>
                    <a:pt x="108584" y="763904"/>
                  </a:lnTo>
                  <a:lnTo>
                    <a:pt x="102234" y="750569"/>
                  </a:lnTo>
                  <a:lnTo>
                    <a:pt x="114934" y="747394"/>
                  </a:lnTo>
                  <a:lnTo>
                    <a:pt x="142875" y="670560"/>
                  </a:lnTo>
                  <a:close/>
                </a:path>
                <a:path w="2821304" h="831214">
                  <a:moveTo>
                    <a:pt x="109164" y="764429"/>
                  </a:moveTo>
                  <a:lnTo>
                    <a:pt x="115569" y="777239"/>
                  </a:lnTo>
                  <a:lnTo>
                    <a:pt x="121919" y="775969"/>
                  </a:lnTo>
                  <a:lnTo>
                    <a:pt x="109164" y="764429"/>
                  </a:lnTo>
                  <a:close/>
                </a:path>
                <a:path w="2821304" h="831214">
                  <a:moveTo>
                    <a:pt x="121919" y="775969"/>
                  </a:moveTo>
                  <a:lnTo>
                    <a:pt x="115569" y="777239"/>
                  </a:lnTo>
                  <a:lnTo>
                    <a:pt x="123825" y="777239"/>
                  </a:lnTo>
                  <a:lnTo>
                    <a:pt x="121919" y="775969"/>
                  </a:lnTo>
                  <a:close/>
                </a:path>
                <a:path w="2821304" h="831214">
                  <a:moveTo>
                    <a:pt x="2814320" y="0"/>
                  </a:moveTo>
                  <a:lnTo>
                    <a:pt x="114934" y="747394"/>
                  </a:lnTo>
                  <a:lnTo>
                    <a:pt x="108723" y="763546"/>
                  </a:lnTo>
                  <a:lnTo>
                    <a:pt x="109164" y="764429"/>
                  </a:lnTo>
                  <a:lnTo>
                    <a:pt x="121919" y="775969"/>
                  </a:lnTo>
                  <a:lnTo>
                    <a:pt x="2821304" y="26669"/>
                  </a:lnTo>
                  <a:lnTo>
                    <a:pt x="2814320" y="0"/>
                  </a:lnTo>
                  <a:close/>
                </a:path>
                <a:path w="2821304" h="831214">
                  <a:moveTo>
                    <a:pt x="114934" y="747394"/>
                  </a:moveTo>
                  <a:lnTo>
                    <a:pt x="102234" y="750569"/>
                  </a:lnTo>
                  <a:lnTo>
                    <a:pt x="108723" y="763546"/>
                  </a:lnTo>
                  <a:lnTo>
                    <a:pt x="114934" y="7473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08245" y="2137410"/>
              <a:ext cx="2821305" cy="831215"/>
            </a:xfrm>
            <a:custGeom>
              <a:avLst/>
              <a:gdLst/>
              <a:ahLst/>
              <a:cxnLst/>
              <a:rect l="l" t="t" r="r" b="b"/>
              <a:pathLst>
                <a:path w="2821304" h="831214">
                  <a:moveTo>
                    <a:pt x="2821304" y="26669"/>
                  </a:moveTo>
                  <a:lnTo>
                    <a:pt x="115569" y="777239"/>
                  </a:lnTo>
                  <a:lnTo>
                    <a:pt x="102234" y="750569"/>
                  </a:lnTo>
                  <a:lnTo>
                    <a:pt x="2814320" y="0"/>
                  </a:lnTo>
                  <a:lnTo>
                    <a:pt x="2821304" y="26669"/>
                  </a:lnTo>
                  <a:close/>
                </a:path>
                <a:path w="2821304" h="831214">
                  <a:moveTo>
                    <a:pt x="108584" y="763904"/>
                  </a:moveTo>
                  <a:lnTo>
                    <a:pt x="183514" y="831214"/>
                  </a:lnTo>
                  <a:lnTo>
                    <a:pt x="0" y="797560"/>
                  </a:lnTo>
                  <a:lnTo>
                    <a:pt x="142875" y="670560"/>
                  </a:lnTo>
                  <a:lnTo>
                    <a:pt x="108584" y="763904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56555" y="3236595"/>
              <a:ext cx="1352550" cy="1199515"/>
            </a:xfrm>
            <a:custGeom>
              <a:avLst/>
              <a:gdLst/>
              <a:ahLst/>
              <a:cxnLst/>
              <a:rect l="l" t="t" r="r" b="b"/>
              <a:pathLst>
                <a:path w="1352550" h="1199514">
                  <a:moveTo>
                    <a:pt x="1254125" y="1130299"/>
                  </a:moveTo>
                  <a:lnTo>
                    <a:pt x="1169035" y="1152524"/>
                  </a:lnTo>
                  <a:lnTo>
                    <a:pt x="1352550" y="1199514"/>
                  </a:lnTo>
                  <a:lnTo>
                    <a:pt x="1329054" y="1139189"/>
                  </a:lnTo>
                  <a:lnTo>
                    <a:pt x="1264285" y="1139189"/>
                  </a:lnTo>
                  <a:lnTo>
                    <a:pt x="1254125" y="1130299"/>
                  </a:lnTo>
                  <a:close/>
                </a:path>
                <a:path w="1352550" h="1199514">
                  <a:moveTo>
                    <a:pt x="1272540" y="1114424"/>
                  </a:moveTo>
                  <a:lnTo>
                    <a:pt x="1271270" y="1125854"/>
                  </a:lnTo>
                  <a:lnTo>
                    <a:pt x="1254125" y="1130299"/>
                  </a:lnTo>
                  <a:lnTo>
                    <a:pt x="1264285" y="1139189"/>
                  </a:lnTo>
                  <a:lnTo>
                    <a:pt x="1278254" y="1118869"/>
                  </a:lnTo>
                  <a:lnTo>
                    <a:pt x="1272540" y="1114424"/>
                  </a:lnTo>
                  <a:close/>
                </a:path>
                <a:path w="1352550" h="1199514">
                  <a:moveTo>
                    <a:pt x="1284604" y="1025524"/>
                  </a:moveTo>
                  <a:lnTo>
                    <a:pt x="1272540" y="1114424"/>
                  </a:lnTo>
                  <a:lnTo>
                    <a:pt x="1278254" y="1118869"/>
                  </a:lnTo>
                  <a:lnTo>
                    <a:pt x="1264285" y="1139189"/>
                  </a:lnTo>
                  <a:lnTo>
                    <a:pt x="1329054" y="1139189"/>
                  </a:lnTo>
                  <a:lnTo>
                    <a:pt x="1284604" y="1025524"/>
                  </a:lnTo>
                  <a:close/>
                </a:path>
                <a:path w="1352550" h="1199514">
                  <a:moveTo>
                    <a:pt x="13335" y="0"/>
                  </a:moveTo>
                  <a:lnTo>
                    <a:pt x="0" y="20319"/>
                  </a:lnTo>
                  <a:lnTo>
                    <a:pt x="1254125" y="1130299"/>
                  </a:lnTo>
                  <a:lnTo>
                    <a:pt x="1271270" y="1125854"/>
                  </a:lnTo>
                  <a:lnTo>
                    <a:pt x="1272540" y="1114424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56555" y="3236595"/>
              <a:ext cx="1352550" cy="1199515"/>
            </a:xfrm>
            <a:custGeom>
              <a:avLst/>
              <a:gdLst/>
              <a:ahLst/>
              <a:cxnLst/>
              <a:rect l="l" t="t" r="r" b="b"/>
              <a:pathLst>
                <a:path w="1352550" h="1199514">
                  <a:moveTo>
                    <a:pt x="13335" y="0"/>
                  </a:moveTo>
                  <a:lnTo>
                    <a:pt x="1278254" y="1118869"/>
                  </a:lnTo>
                  <a:lnTo>
                    <a:pt x="1264285" y="1139189"/>
                  </a:lnTo>
                  <a:lnTo>
                    <a:pt x="0" y="20319"/>
                  </a:lnTo>
                  <a:lnTo>
                    <a:pt x="13335" y="0"/>
                  </a:lnTo>
                  <a:close/>
                </a:path>
                <a:path w="1352550" h="1199514">
                  <a:moveTo>
                    <a:pt x="1271270" y="1125854"/>
                  </a:moveTo>
                  <a:lnTo>
                    <a:pt x="1284604" y="1025524"/>
                  </a:lnTo>
                  <a:lnTo>
                    <a:pt x="1352550" y="1199514"/>
                  </a:lnTo>
                  <a:lnTo>
                    <a:pt x="1169035" y="1152524"/>
                  </a:lnTo>
                  <a:lnTo>
                    <a:pt x="1271270" y="1125854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32830" y="3514725"/>
              <a:ext cx="972819" cy="274955"/>
            </a:xfrm>
            <a:custGeom>
              <a:avLst/>
              <a:gdLst/>
              <a:ahLst/>
              <a:cxnLst/>
              <a:rect l="l" t="t" r="r" b="b"/>
              <a:pathLst>
                <a:path w="972820" h="274954">
                  <a:moveTo>
                    <a:pt x="972820" y="0"/>
                  </a:moveTo>
                  <a:lnTo>
                    <a:pt x="0" y="0"/>
                  </a:lnTo>
                  <a:lnTo>
                    <a:pt x="0" y="274955"/>
                  </a:lnTo>
                  <a:lnTo>
                    <a:pt x="972820" y="274955"/>
                  </a:lnTo>
                  <a:lnTo>
                    <a:pt x="972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32830" y="3514725"/>
              <a:ext cx="972819" cy="274955"/>
            </a:xfrm>
            <a:custGeom>
              <a:avLst/>
              <a:gdLst/>
              <a:ahLst/>
              <a:cxnLst/>
              <a:rect l="l" t="t" r="r" b="b"/>
              <a:pathLst>
                <a:path w="972820" h="274954">
                  <a:moveTo>
                    <a:pt x="0" y="274955"/>
                  </a:moveTo>
                  <a:lnTo>
                    <a:pt x="972820" y="274955"/>
                  </a:lnTo>
                  <a:lnTo>
                    <a:pt x="972820" y="0"/>
                  </a:lnTo>
                  <a:lnTo>
                    <a:pt x="0" y="0"/>
                  </a:lnTo>
                  <a:lnTo>
                    <a:pt x="0" y="274955"/>
                  </a:lnTo>
                  <a:close/>
                </a:path>
              </a:pathLst>
            </a:custGeom>
            <a:ln w="200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78114" y="4432935"/>
              <a:ext cx="3215640" cy="609600"/>
            </a:xfrm>
            <a:custGeom>
              <a:avLst/>
              <a:gdLst/>
              <a:ahLst/>
              <a:cxnLst/>
              <a:rect l="l" t="t" r="r" b="b"/>
              <a:pathLst>
                <a:path w="3215640" h="609600">
                  <a:moveTo>
                    <a:pt x="101600" y="20319"/>
                  </a:moveTo>
                  <a:lnTo>
                    <a:pt x="81914" y="20319"/>
                  </a:lnTo>
                  <a:lnTo>
                    <a:pt x="61594" y="26669"/>
                  </a:lnTo>
                  <a:lnTo>
                    <a:pt x="47625" y="40004"/>
                  </a:lnTo>
                  <a:lnTo>
                    <a:pt x="33654" y="46989"/>
                  </a:lnTo>
                  <a:lnTo>
                    <a:pt x="20319" y="66675"/>
                  </a:lnTo>
                  <a:lnTo>
                    <a:pt x="13334" y="80644"/>
                  </a:lnTo>
                  <a:lnTo>
                    <a:pt x="6984" y="100329"/>
                  </a:lnTo>
                  <a:lnTo>
                    <a:pt x="0" y="120650"/>
                  </a:lnTo>
                  <a:lnTo>
                    <a:pt x="0" y="509269"/>
                  </a:lnTo>
                  <a:lnTo>
                    <a:pt x="6984" y="529589"/>
                  </a:lnTo>
                  <a:lnTo>
                    <a:pt x="13334" y="549275"/>
                  </a:lnTo>
                  <a:lnTo>
                    <a:pt x="20319" y="563244"/>
                  </a:lnTo>
                  <a:lnTo>
                    <a:pt x="33654" y="576579"/>
                  </a:lnTo>
                  <a:lnTo>
                    <a:pt x="47625" y="589914"/>
                  </a:lnTo>
                  <a:lnTo>
                    <a:pt x="61594" y="603250"/>
                  </a:lnTo>
                  <a:lnTo>
                    <a:pt x="81914" y="603250"/>
                  </a:lnTo>
                  <a:lnTo>
                    <a:pt x="101600" y="609600"/>
                  </a:lnTo>
                  <a:lnTo>
                    <a:pt x="1407159" y="609600"/>
                  </a:lnTo>
                  <a:lnTo>
                    <a:pt x="1427479" y="603250"/>
                  </a:lnTo>
                  <a:lnTo>
                    <a:pt x="1448434" y="603250"/>
                  </a:lnTo>
                  <a:lnTo>
                    <a:pt x="1468754" y="589914"/>
                  </a:lnTo>
                  <a:lnTo>
                    <a:pt x="1482089" y="576579"/>
                  </a:lnTo>
                  <a:lnTo>
                    <a:pt x="1495425" y="563244"/>
                  </a:lnTo>
                  <a:lnTo>
                    <a:pt x="1502409" y="549275"/>
                  </a:lnTo>
                  <a:lnTo>
                    <a:pt x="1509394" y="529589"/>
                  </a:lnTo>
                  <a:lnTo>
                    <a:pt x="1509394" y="509269"/>
                  </a:lnTo>
                  <a:lnTo>
                    <a:pt x="1509394" y="120650"/>
                  </a:lnTo>
                  <a:lnTo>
                    <a:pt x="1509394" y="100329"/>
                  </a:lnTo>
                  <a:lnTo>
                    <a:pt x="1502409" y="80644"/>
                  </a:lnTo>
                  <a:lnTo>
                    <a:pt x="1495425" y="66675"/>
                  </a:lnTo>
                  <a:lnTo>
                    <a:pt x="1482089" y="46989"/>
                  </a:lnTo>
                  <a:lnTo>
                    <a:pt x="1468754" y="40004"/>
                  </a:lnTo>
                  <a:lnTo>
                    <a:pt x="1448434" y="26669"/>
                  </a:lnTo>
                  <a:lnTo>
                    <a:pt x="1427479" y="20319"/>
                  </a:lnTo>
                  <a:lnTo>
                    <a:pt x="1407159" y="20319"/>
                  </a:lnTo>
                  <a:lnTo>
                    <a:pt x="101600" y="20319"/>
                  </a:lnTo>
                </a:path>
                <a:path w="3215640" h="609600">
                  <a:moveTo>
                    <a:pt x="1808479" y="0"/>
                  </a:moveTo>
                  <a:lnTo>
                    <a:pt x="1788159" y="6984"/>
                  </a:lnTo>
                  <a:lnTo>
                    <a:pt x="1767839" y="6984"/>
                  </a:lnTo>
                  <a:lnTo>
                    <a:pt x="1753869" y="20319"/>
                  </a:lnTo>
                  <a:lnTo>
                    <a:pt x="1733550" y="33654"/>
                  </a:lnTo>
                  <a:lnTo>
                    <a:pt x="1726564" y="46989"/>
                  </a:lnTo>
                  <a:lnTo>
                    <a:pt x="1713229" y="60325"/>
                  </a:lnTo>
                  <a:lnTo>
                    <a:pt x="1706244" y="80644"/>
                  </a:lnTo>
                  <a:lnTo>
                    <a:pt x="1706244" y="100329"/>
                  </a:lnTo>
                  <a:lnTo>
                    <a:pt x="1706244" y="489584"/>
                  </a:lnTo>
                  <a:lnTo>
                    <a:pt x="1706244" y="509269"/>
                  </a:lnTo>
                  <a:lnTo>
                    <a:pt x="1713229" y="529589"/>
                  </a:lnTo>
                  <a:lnTo>
                    <a:pt x="1726564" y="542925"/>
                  </a:lnTo>
                  <a:lnTo>
                    <a:pt x="1733550" y="556259"/>
                  </a:lnTo>
                  <a:lnTo>
                    <a:pt x="1753869" y="569594"/>
                  </a:lnTo>
                  <a:lnTo>
                    <a:pt x="1767839" y="582929"/>
                  </a:lnTo>
                  <a:lnTo>
                    <a:pt x="1788159" y="582929"/>
                  </a:lnTo>
                  <a:lnTo>
                    <a:pt x="1808479" y="589914"/>
                  </a:lnTo>
                  <a:lnTo>
                    <a:pt x="3113404" y="589914"/>
                  </a:lnTo>
                  <a:lnTo>
                    <a:pt x="3134359" y="582929"/>
                  </a:lnTo>
                  <a:lnTo>
                    <a:pt x="3154679" y="582929"/>
                  </a:lnTo>
                  <a:lnTo>
                    <a:pt x="3168014" y="569594"/>
                  </a:lnTo>
                  <a:lnTo>
                    <a:pt x="3188334" y="556259"/>
                  </a:lnTo>
                  <a:lnTo>
                    <a:pt x="3195319" y="542925"/>
                  </a:lnTo>
                  <a:lnTo>
                    <a:pt x="3208654" y="529589"/>
                  </a:lnTo>
                  <a:lnTo>
                    <a:pt x="3215639" y="509269"/>
                  </a:lnTo>
                  <a:lnTo>
                    <a:pt x="3215639" y="489584"/>
                  </a:lnTo>
                  <a:lnTo>
                    <a:pt x="3215639" y="100329"/>
                  </a:lnTo>
                  <a:lnTo>
                    <a:pt x="3215639" y="80644"/>
                  </a:lnTo>
                  <a:lnTo>
                    <a:pt x="3208654" y="60325"/>
                  </a:lnTo>
                  <a:lnTo>
                    <a:pt x="3195319" y="46989"/>
                  </a:lnTo>
                  <a:lnTo>
                    <a:pt x="3188334" y="33654"/>
                  </a:lnTo>
                  <a:lnTo>
                    <a:pt x="3168014" y="20319"/>
                  </a:lnTo>
                  <a:lnTo>
                    <a:pt x="3154679" y="6984"/>
                  </a:lnTo>
                  <a:lnTo>
                    <a:pt x="3134359" y="6984"/>
                  </a:lnTo>
                  <a:lnTo>
                    <a:pt x="3113404" y="0"/>
                  </a:lnTo>
                  <a:lnTo>
                    <a:pt x="1808479" y="0"/>
                  </a:lnTo>
                </a:path>
              </a:pathLst>
            </a:custGeom>
            <a:ln w="20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434705" y="2505710"/>
              <a:ext cx="170180" cy="1929764"/>
            </a:xfrm>
            <a:custGeom>
              <a:avLst/>
              <a:gdLst/>
              <a:ahLst/>
              <a:cxnLst/>
              <a:rect l="l" t="t" r="r" b="b"/>
              <a:pathLst>
                <a:path w="170179" h="1929764">
                  <a:moveTo>
                    <a:pt x="0" y="1762125"/>
                  </a:moveTo>
                  <a:lnTo>
                    <a:pt x="81279" y="1929764"/>
                  </a:lnTo>
                  <a:lnTo>
                    <a:pt x="137795" y="1822450"/>
                  </a:lnTo>
                  <a:lnTo>
                    <a:pt x="67945" y="1822450"/>
                  </a:lnTo>
                  <a:lnTo>
                    <a:pt x="67945" y="1812925"/>
                  </a:lnTo>
                  <a:lnTo>
                    <a:pt x="0" y="1762125"/>
                  </a:lnTo>
                  <a:close/>
                </a:path>
                <a:path w="170179" h="1929764">
                  <a:moveTo>
                    <a:pt x="67945" y="1812925"/>
                  </a:moveTo>
                  <a:lnTo>
                    <a:pt x="67945" y="1822450"/>
                  </a:lnTo>
                  <a:lnTo>
                    <a:pt x="81279" y="1822450"/>
                  </a:lnTo>
                  <a:lnTo>
                    <a:pt x="67945" y="1812925"/>
                  </a:lnTo>
                  <a:close/>
                </a:path>
                <a:path w="170179" h="1929764">
                  <a:moveTo>
                    <a:pt x="95250" y="0"/>
                  </a:moveTo>
                  <a:lnTo>
                    <a:pt x="67945" y="0"/>
                  </a:lnTo>
                  <a:lnTo>
                    <a:pt x="67945" y="1812925"/>
                  </a:lnTo>
                  <a:lnTo>
                    <a:pt x="81279" y="1822450"/>
                  </a:lnTo>
                  <a:lnTo>
                    <a:pt x="95250" y="1813559"/>
                  </a:lnTo>
                  <a:lnTo>
                    <a:pt x="95250" y="0"/>
                  </a:lnTo>
                  <a:close/>
                </a:path>
                <a:path w="170179" h="1929764">
                  <a:moveTo>
                    <a:pt x="95250" y="1813559"/>
                  </a:moveTo>
                  <a:lnTo>
                    <a:pt x="81279" y="1822450"/>
                  </a:lnTo>
                  <a:lnTo>
                    <a:pt x="95250" y="1822450"/>
                  </a:lnTo>
                  <a:lnTo>
                    <a:pt x="95250" y="1813559"/>
                  </a:lnTo>
                  <a:close/>
                </a:path>
                <a:path w="170179" h="1929764">
                  <a:moveTo>
                    <a:pt x="170179" y="1762125"/>
                  </a:moveTo>
                  <a:lnTo>
                    <a:pt x="95250" y="1813559"/>
                  </a:lnTo>
                  <a:lnTo>
                    <a:pt x="95250" y="1822450"/>
                  </a:lnTo>
                  <a:lnTo>
                    <a:pt x="137795" y="1822450"/>
                  </a:lnTo>
                  <a:lnTo>
                    <a:pt x="170179" y="1762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434705" y="2505710"/>
              <a:ext cx="170180" cy="1929764"/>
            </a:xfrm>
            <a:custGeom>
              <a:avLst/>
              <a:gdLst/>
              <a:ahLst/>
              <a:cxnLst/>
              <a:rect l="l" t="t" r="r" b="b"/>
              <a:pathLst>
                <a:path w="170179" h="1929764">
                  <a:moveTo>
                    <a:pt x="95250" y="0"/>
                  </a:moveTo>
                  <a:lnTo>
                    <a:pt x="95250" y="1822450"/>
                  </a:lnTo>
                  <a:lnTo>
                    <a:pt x="67945" y="1822450"/>
                  </a:lnTo>
                  <a:lnTo>
                    <a:pt x="67945" y="0"/>
                  </a:lnTo>
                  <a:lnTo>
                    <a:pt x="95250" y="0"/>
                  </a:lnTo>
                  <a:close/>
                </a:path>
                <a:path w="170179" h="1929764">
                  <a:moveTo>
                    <a:pt x="81279" y="1822450"/>
                  </a:moveTo>
                  <a:lnTo>
                    <a:pt x="170179" y="1762125"/>
                  </a:lnTo>
                  <a:lnTo>
                    <a:pt x="81279" y="1929764"/>
                  </a:lnTo>
                  <a:lnTo>
                    <a:pt x="0" y="1762125"/>
                  </a:lnTo>
                  <a:lnTo>
                    <a:pt x="81279" y="1822450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819389" y="3400425"/>
              <a:ext cx="652780" cy="328930"/>
            </a:xfrm>
            <a:custGeom>
              <a:avLst/>
              <a:gdLst/>
              <a:ahLst/>
              <a:cxnLst/>
              <a:rect l="l" t="t" r="r" b="b"/>
              <a:pathLst>
                <a:path w="652779" h="328929">
                  <a:moveTo>
                    <a:pt x="652779" y="0"/>
                  </a:moveTo>
                  <a:lnTo>
                    <a:pt x="0" y="0"/>
                  </a:lnTo>
                  <a:lnTo>
                    <a:pt x="0" y="328930"/>
                  </a:lnTo>
                  <a:lnTo>
                    <a:pt x="652779" y="328930"/>
                  </a:lnTo>
                  <a:lnTo>
                    <a:pt x="6527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819389" y="3400425"/>
              <a:ext cx="652780" cy="328930"/>
            </a:xfrm>
            <a:custGeom>
              <a:avLst/>
              <a:gdLst/>
              <a:ahLst/>
              <a:cxnLst/>
              <a:rect l="l" t="t" r="r" b="b"/>
              <a:pathLst>
                <a:path w="652779" h="328929">
                  <a:moveTo>
                    <a:pt x="0" y="328930"/>
                  </a:moveTo>
                  <a:lnTo>
                    <a:pt x="652779" y="328930"/>
                  </a:lnTo>
                  <a:lnTo>
                    <a:pt x="652779" y="0"/>
                  </a:lnTo>
                  <a:lnTo>
                    <a:pt x="0" y="0"/>
                  </a:lnTo>
                  <a:lnTo>
                    <a:pt x="0" y="328930"/>
                  </a:lnTo>
                  <a:close/>
                </a:path>
              </a:pathLst>
            </a:custGeom>
            <a:ln w="2011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822055" y="2492375"/>
              <a:ext cx="1400175" cy="1923414"/>
            </a:xfrm>
            <a:custGeom>
              <a:avLst/>
              <a:gdLst/>
              <a:ahLst/>
              <a:cxnLst/>
              <a:rect l="l" t="t" r="r" b="b"/>
              <a:pathLst>
                <a:path w="1400175" h="1923414">
                  <a:moveTo>
                    <a:pt x="1320167" y="1835785"/>
                  </a:moveTo>
                  <a:lnTo>
                    <a:pt x="1229995" y="1835785"/>
                  </a:lnTo>
                  <a:lnTo>
                    <a:pt x="1400175" y="1923414"/>
                  </a:lnTo>
                  <a:lnTo>
                    <a:pt x="1388110" y="1842770"/>
                  </a:lnTo>
                  <a:lnTo>
                    <a:pt x="1325244" y="1842769"/>
                  </a:lnTo>
                  <a:lnTo>
                    <a:pt x="1320167" y="1835785"/>
                  </a:lnTo>
                  <a:close/>
                </a:path>
                <a:path w="1400175" h="1923414">
                  <a:moveTo>
                    <a:pt x="1372870" y="1742439"/>
                  </a:moveTo>
                  <a:lnTo>
                    <a:pt x="1339215" y="1819910"/>
                  </a:lnTo>
                  <a:lnTo>
                    <a:pt x="1345565" y="1829435"/>
                  </a:lnTo>
                  <a:lnTo>
                    <a:pt x="1325245" y="1842769"/>
                  </a:lnTo>
                  <a:lnTo>
                    <a:pt x="1388110" y="1842770"/>
                  </a:lnTo>
                  <a:lnTo>
                    <a:pt x="1372870" y="1742439"/>
                  </a:lnTo>
                  <a:close/>
                </a:path>
                <a:path w="1400175" h="1923414">
                  <a:moveTo>
                    <a:pt x="1339215" y="1819910"/>
                  </a:moveTo>
                  <a:lnTo>
                    <a:pt x="1332229" y="1835785"/>
                  </a:lnTo>
                  <a:lnTo>
                    <a:pt x="1320800" y="1835785"/>
                  </a:lnTo>
                  <a:lnTo>
                    <a:pt x="1325244" y="1842769"/>
                  </a:lnTo>
                  <a:lnTo>
                    <a:pt x="1335404" y="1835785"/>
                  </a:lnTo>
                  <a:lnTo>
                    <a:pt x="1345565" y="1829435"/>
                  </a:lnTo>
                  <a:lnTo>
                    <a:pt x="1339215" y="1819910"/>
                  </a:lnTo>
                  <a:close/>
                </a:path>
                <a:path w="1400175" h="1923414">
                  <a:moveTo>
                    <a:pt x="26670" y="0"/>
                  </a:moveTo>
                  <a:lnTo>
                    <a:pt x="0" y="19685"/>
                  </a:lnTo>
                  <a:lnTo>
                    <a:pt x="1320167" y="1835785"/>
                  </a:lnTo>
                  <a:lnTo>
                    <a:pt x="1332229" y="1835785"/>
                  </a:lnTo>
                  <a:lnTo>
                    <a:pt x="1339215" y="1819910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822055" y="2492375"/>
              <a:ext cx="1400175" cy="1923414"/>
            </a:xfrm>
            <a:custGeom>
              <a:avLst/>
              <a:gdLst/>
              <a:ahLst/>
              <a:cxnLst/>
              <a:rect l="l" t="t" r="r" b="b"/>
              <a:pathLst>
                <a:path w="1400175" h="1923414">
                  <a:moveTo>
                    <a:pt x="26670" y="0"/>
                  </a:moveTo>
                  <a:lnTo>
                    <a:pt x="1345565" y="1829435"/>
                  </a:lnTo>
                  <a:lnTo>
                    <a:pt x="1325245" y="1842770"/>
                  </a:lnTo>
                  <a:lnTo>
                    <a:pt x="0" y="19685"/>
                  </a:lnTo>
                  <a:lnTo>
                    <a:pt x="26670" y="0"/>
                  </a:lnTo>
                  <a:close/>
                </a:path>
                <a:path w="1400175" h="1923414">
                  <a:moveTo>
                    <a:pt x="1332229" y="1835785"/>
                  </a:moveTo>
                  <a:lnTo>
                    <a:pt x="1372870" y="1742439"/>
                  </a:lnTo>
                  <a:lnTo>
                    <a:pt x="1400175" y="1923414"/>
                  </a:lnTo>
                  <a:lnTo>
                    <a:pt x="1229995" y="1835785"/>
                  </a:lnTo>
                  <a:lnTo>
                    <a:pt x="1332229" y="1835785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66030" y="3675380"/>
              <a:ext cx="775335" cy="563245"/>
            </a:xfrm>
            <a:custGeom>
              <a:avLst/>
              <a:gdLst/>
              <a:ahLst/>
              <a:cxnLst/>
              <a:rect l="l" t="t" r="r" b="b"/>
              <a:pathLst>
                <a:path w="775335" h="563245">
                  <a:moveTo>
                    <a:pt x="775335" y="0"/>
                  </a:moveTo>
                  <a:lnTo>
                    <a:pt x="0" y="0"/>
                  </a:lnTo>
                  <a:lnTo>
                    <a:pt x="0" y="563245"/>
                  </a:lnTo>
                  <a:lnTo>
                    <a:pt x="775335" y="563245"/>
                  </a:lnTo>
                  <a:lnTo>
                    <a:pt x="7753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66030" y="3675380"/>
              <a:ext cx="775335" cy="563245"/>
            </a:xfrm>
            <a:custGeom>
              <a:avLst/>
              <a:gdLst/>
              <a:ahLst/>
              <a:cxnLst/>
              <a:rect l="l" t="t" r="r" b="b"/>
              <a:pathLst>
                <a:path w="775335" h="563245">
                  <a:moveTo>
                    <a:pt x="0" y="563245"/>
                  </a:moveTo>
                  <a:lnTo>
                    <a:pt x="775335" y="563245"/>
                  </a:lnTo>
                  <a:lnTo>
                    <a:pt x="775335" y="0"/>
                  </a:lnTo>
                  <a:lnTo>
                    <a:pt x="0" y="0"/>
                  </a:lnTo>
                  <a:lnTo>
                    <a:pt x="0" y="563245"/>
                  </a:lnTo>
                  <a:close/>
                </a:path>
              </a:pathLst>
            </a:custGeom>
            <a:ln w="2015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533130" y="5042535"/>
              <a:ext cx="0" cy="214629"/>
            </a:xfrm>
            <a:custGeom>
              <a:avLst/>
              <a:gdLst/>
              <a:ahLst/>
              <a:cxnLst/>
              <a:rect l="l" t="t" r="r" b="b"/>
              <a:pathLst>
                <a:path h="214629">
                  <a:moveTo>
                    <a:pt x="0" y="0"/>
                  </a:moveTo>
                  <a:lnTo>
                    <a:pt x="0" y="214629"/>
                  </a:lnTo>
                </a:path>
              </a:pathLst>
            </a:custGeom>
            <a:ln w="203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03775" y="3303270"/>
              <a:ext cx="170180" cy="1956435"/>
            </a:xfrm>
            <a:custGeom>
              <a:avLst/>
              <a:gdLst/>
              <a:ahLst/>
              <a:cxnLst/>
              <a:rect l="l" t="t" r="r" b="b"/>
              <a:pathLst>
                <a:path w="170179" h="1956435">
                  <a:moveTo>
                    <a:pt x="88264" y="113664"/>
                  </a:moveTo>
                  <a:lnTo>
                    <a:pt x="67945" y="125729"/>
                  </a:lnTo>
                  <a:lnTo>
                    <a:pt x="67945" y="1956434"/>
                  </a:lnTo>
                  <a:lnTo>
                    <a:pt x="102235" y="1956434"/>
                  </a:lnTo>
                  <a:lnTo>
                    <a:pt x="102235" y="122554"/>
                  </a:lnTo>
                  <a:lnTo>
                    <a:pt x="88264" y="113664"/>
                  </a:lnTo>
                  <a:close/>
                </a:path>
                <a:path w="170179" h="1956435">
                  <a:moveTo>
                    <a:pt x="88264" y="0"/>
                  </a:moveTo>
                  <a:lnTo>
                    <a:pt x="0" y="167004"/>
                  </a:lnTo>
                  <a:lnTo>
                    <a:pt x="67945" y="125729"/>
                  </a:lnTo>
                  <a:lnTo>
                    <a:pt x="67945" y="113664"/>
                  </a:lnTo>
                  <a:lnTo>
                    <a:pt x="144145" y="113664"/>
                  </a:lnTo>
                  <a:lnTo>
                    <a:pt x="88264" y="0"/>
                  </a:lnTo>
                  <a:close/>
                </a:path>
                <a:path w="170179" h="1956435">
                  <a:moveTo>
                    <a:pt x="144145" y="113664"/>
                  </a:moveTo>
                  <a:lnTo>
                    <a:pt x="102235" y="113664"/>
                  </a:lnTo>
                  <a:lnTo>
                    <a:pt x="102235" y="122554"/>
                  </a:lnTo>
                  <a:lnTo>
                    <a:pt x="170179" y="167004"/>
                  </a:lnTo>
                  <a:lnTo>
                    <a:pt x="144145" y="113664"/>
                  </a:lnTo>
                  <a:close/>
                </a:path>
                <a:path w="170179" h="1956435">
                  <a:moveTo>
                    <a:pt x="88264" y="113664"/>
                  </a:moveTo>
                  <a:lnTo>
                    <a:pt x="67945" y="113664"/>
                  </a:lnTo>
                  <a:lnTo>
                    <a:pt x="67945" y="125729"/>
                  </a:lnTo>
                  <a:lnTo>
                    <a:pt x="88264" y="113664"/>
                  </a:lnTo>
                  <a:close/>
                </a:path>
                <a:path w="170179" h="1956435">
                  <a:moveTo>
                    <a:pt x="102235" y="113664"/>
                  </a:moveTo>
                  <a:lnTo>
                    <a:pt x="88264" y="113664"/>
                  </a:lnTo>
                  <a:lnTo>
                    <a:pt x="102235" y="122554"/>
                  </a:lnTo>
                  <a:lnTo>
                    <a:pt x="102235" y="113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803775" y="3303270"/>
              <a:ext cx="170180" cy="1956435"/>
            </a:xfrm>
            <a:custGeom>
              <a:avLst/>
              <a:gdLst/>
              <a:ahLst/>
              <a:cxnLst/>
              <a:rect l="l" t="t" r="r" b="b"/>
              <a:pathLst>
                <a:path w="170179" h="1956435">
                  <a:moveTo>
                    <a:pt x="67945" y="1956434"/>
                  </a:moveTo>
                  <a:lnTo>
                    <a:pt x="67945" y="113664"/>
                  </a:lnTo>
                  <a:lnTo>
                    <a:pt x="102235" y="113664"/>
                  </a:lnTo>
                  <a:lnTo>
                    <a:pt x="102235" y="1956434"/>
                  </a:lnTo>
                  <a:lnTo>
                    <a:pt x="67945" y="1956434"/>
                  </a:lnTo>
                  <a:close/>
                </a:path>
                <a:path w="170179" h="1956435">
                  <a:moveTo>
                    <a:pt x="88264" y="113664"/>
                  </a:moveTo>
                  <a:lnTo>
                    <a:pt x="0" y="167004"/>
                  </a:lnTo>
                  <a:lnTo>
                    <a:pt x="88264" y="0"/>
                  </a:lnTo>
                  <a:lnTo>
                    <a:pt x="170179" y="167004"/>
                  </a:lnTo>
                  <a:lnTo>
                    <a:pt x="88264" y="113664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869180" y="5257164"/>
              <a:ext cx="3684904" cy="0"/>
            </a:xfrm>
            <a:custGeom>
              <a:avLst/>
              <a:gdLst/>
              <a:ahLst/>
              <a:cxnLst/>
              <a:rect l="l" t="t" r="r" b="b"/>
              <a:pathLst>
                <a:path w="3684904">
                  <a:moveTo>
                    <a:pt x="0" y="0"/>
                  </a:moveTo>
                  <a:lnTo>
                    <a:pt x="3684904" y="0"/>
                  </a:lnTo>
                </a:path>
              </a:pathLst>
            </a:custGeom>
            <a:ln w="20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64050" y="3303270"/>
              <a:ext cx="169545" cy="2191385"/>
            </a:xfrm>
            <a:custGeom>
              <a:avLst/>
              <a:gdLst/>
              <a:ahLst/>
              <a:cxnLst/>
              <a:rect l="l" t="t" r="r" b="b"/>
              <a:pathLst>
                <a:path w="169545" h="2191385">
                  <a:moveTo>
                    <a:pt x="88264" y="113664"/>
                  </a:moveTo>
                  <a:lnTo>
                    <a:pt x="74295" y="121919"/>
                  </a:lnTo>
                  <a:lnTo>
                    <a:pt x="74295" y="2191385"/>
                  </a:lnTo>
                  <a:lnTo>
                    <a:pt x="101600" y="2191385"/>
                  </a:lnTo>
                  <a:lnTo>
                    <a:pt x="101600" y="122554"/>
                  </a:lnTo>
                  <a:lnTo>
                    <a:pt x="88264" y="113664"/>
                  </a:lnTo>
                  <a:close/>
                </a:path>
                <a:path w="169545" h="2191385">
                  <a:moveTo>
                    <a:pt x="88264" y="0"/>
                  </a:moveTo>
                  <a:lnTo>
                    <a:pt x="0" y="167004"/>
                  </a:lnTo>
                  <a:lnTo>
                    <a:pt x="74295" y="121919"/>
                  </a:lnTo>
                  <a:lnTo>
                    <a:pt x="74295" y="113664"/>
                  </a:lnTo>
                  <a:lnTo>
                    <a:pt x="143510" y="113664"/>
                  </a:lnTo>
                  <a:lnTo>
                    <a:pt x="88264" y="0"/>
                  </a:lnTo>
                  <a:close/>
                </a:path>
                <a:path w="169545" h="2191385">
                  <a:moveTo>
                    <a:pt x="143510" y="113664"/>
                  </a:moveTo>
                  <a:lnTo>
                    <a:pt x="101600" y="113664"/>
                  </a:lnTo>
                  <a:lnTo>
                    <a:pt x="101600" y="122554"/>
                  </a:lnTo>
                  <a:lnTo>
                    <a:pt x="169545" y="167004"/>
                  </a:lnTo>
                  <a:lnTo>
                    <a:pt x="143510" y="113664"/>
                  </a:lnTo>
                  <a:close/>
                </a:path>
                <a:path w="169545" h="2191385">
                  <a:moveTo>
                    <a:pt x="101600" y="113664"/>
                  </a:moveTo>
                  <a:lnTo>
                    <a:pt x="88264" y="113664"/>
                  </a:lnTo>
                  <a:lnTo>
                    <a:pt x="101600" y="122554"/>
                  </a:lnTo>
                  <a:lnTo>
                    <a:pt x="101600" y="113664"/>
                  </a:lnTo>
                  <a:close/>
                </a:path>
                <a:path w="169545" h="2191385">
                  <a:moveTo>
                    <a:pt x="88264" y="113664"/>
                  </a:moveTo>
                  <a:lnTo>
                    <a:pt x="74295" y="113664"/>
                  </a:lnTo>
                  <a:lnTo>
                    <a:pt x="74295" y="121919"/>
                  </a:lnTo>
                  <a:lnTo>
                    <a:pt x="88264" y="113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64050" y="3303270"/>
              <a:ext cx="169545" cy="2191385"/>
            </a:xfrm>
            <a:custGeom>
              <a:avLst/>
              <a:gdLst/>
              <a:ahLst/>
              <a:cxnLst/>
              <a:rect l="l" t="t" r="r" b="b"/>
              <a:pathLst>
                <a:path w="169545" h="2191385">
                  <a:moveTo>
                    <a:pt x="74295" y="2191385"/>
                  </a:moveTo>
                  <a:lnTo>
                    <a:pt x="74295" y="113664"/>
                  </a:lnTo>
                  <a:lnTo>
                    <a:pt x="101600" y="113664"/>
                  </a:lnTo>
                  <a:lnTo>
                    <a:pt x="101600" y="2191385"/>
                  </a:lnTo>
                  <a:lnTo>
                    <a:pt x="74295" y="2191385"/>
                  </a:lnTo>
                  <a:close/>
                </a:path>
                <a:path w="169545" h="2191385">
                  <a:moveTo>
                    <a:pt x="88264" y="113664"/>
                  </a:moveTo>
                  <a:lnTo>
                    <a:pt x="0" y="167004"/>
                  </a:lnTo>
                  <a:lnTo>
                    <a:pt x="88264" y="0"/>
                  </a:lnTo>
                  <a:lnTo>
                    <a:pt x="169545" y="167004"/>
                  </a:lnTo>
                  <a:lnTo>
                    <a:pt x="88264" y="113664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549139" y="4197985"/>
              <a:ext cx="6981825" cy="1823720"/>
            </a:xfrm>
            <a:custGeom>
              <a:avLst/>
              <a:gdLst/>
              <a:ahLst/>
              <a:cxnLst/>
              <a:rect l="l" t="t" r="r" b="b"/>
              <a:pathLst>
                <a:path w="6981825" h="1823720">
                  <a:moveTo>
                    <a:pt x="0" y="1293495"/>
                  </a:moveTo>
                  <a:lnTo>
                    <a:pt x="5710555" y="1293495"/>
                  </a:lnTo>
                </a:path>
                <a:path w="6981825" h="1823720">
                  <a:moveTo>
                    <a:pt x="5710555" y="824864"/>
                  </a:moveTo>
                  <a:lnTo>
                    <a:pt x="5710555" y="1293495"/>
                  </a:lnTo>
                </a:path>
                <a:path w="6981825" h="1823720">
                  <a:moveTo>
                    <a:pt x="1386205" y="20319"/>
                  </a:moveTo>
                  <a:lnTo>
                    <a:pt x="6961505" y="20319"/>
                  </a:lnTo>
                </a:path>
                <a:path w="6981825" h="1823720">
                  <a:moveTo>
                    <a:pt x="1365885" y="20319"/>
                  </a:moveTo>
                  <a:lnTo>
                    <a:pt x="1365885" y="1823720"/>
                  </a:lnTo>
                </a:path>
                <a:path w="6981825" h="1823720">
                  <a:moveTo>
                    <a:pt x="6981825" y="0"/>
                  </a:moveTo>
                  <a:lnTo>
                    <a:pt x="6981825" y="1803400"/>
                  </a:lnTo>
                </a:path>
                <a:path w="6981825" h="1823720">
                  <a:moveTo>
                    <a:pt x="1386205" y="1803400"/>
                  </a:moveTo>
                  <a:lnTo>
                    <a:pt x="6961505" y="1803400"/>
                  </a:lnTo>
                </a:path>
              </a:pathLst>
            </a:custGeom>
            <a:ln w="20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92270" y="3323590"/>
              <a:ext cx="170180" cy="2580005"/>
            </a:xfrm>
            <a:custGeom>
              <a:avLst/>
              <a:gdLst/>
              <a:ahLst/>
              <a:cxnLst/>
              <a:rect l="l" t="t" r="r" b="b"/>
              <a:pathLst>
                <a:path w="170179" h="2580004">
                  <a:moveTo>
                    <a:pt x="81914" y="114300"/>
                  </a:moveTo>
                  <a:lnTo>
                    <a:pt x="68579" y="123189"/>
                  </a:lnTo>
                  <a:lnTo>
                    <a:pt x="68579" y="2580005"/>
                  </a:lnTo>
                  <a:lnTo>
                    <a:pt x="95250" y="2580005"/>
                  </a:lnTo>
                  <a:lnTo>
                    <a:pt x="95250" y="122555"/>
                  </a:lnTo>
                  <a:lnTo>
                    <a:pt x="81914" y="114300"/>
                  </a:lnTo>
                  <a:close/>
                </a:path>
                <a:path w="170179" h="2580004">
                  <a:moveTo>
                    <a:pt x="81914" y="0"/>
                  </a:moveTo>
                  <a:lnTo>
                    <a:pt x="0" y="167639"/>
                  </a:lnTo>
                  <a:lnTo>
                    <a:pt x="68579" y="123189"/>
                  </a:lnTo>
                  <a:lnTo>
                    <a:pt x="68579" y="114300"/>
                  </a:lnTo>
                  <a:lnTo>
                    <a:pt x="142239" y="114300"/>
                  </a:lnTo>
                  <a:lnTo>
                    <a:pt x="81914" y="0"/>
                  </a:lnTo>
                  <a:close/>
                </a:path>
                <a:path w="170179" h="2580004">
                  <a:moveTo>
                    <a:pt x="142239" y="114300"/>
                  </a:moveTo>
                  <a:lnTo>
                    <a:pt x="95250" y="114300"/>
                  </a:lnTo>
                  <a:lnTo>
                    <a:pt x="95250" y="122555"/>
                  </a:lnTo>
                  <a:lnTo>
                    <a:pt x="170179" y="167639"/>
                  </a:lnTo>
                  <a:lnTo>
                    <a:pt x="142239" y="114300"/>
                  </a:lnTo>
                  <a:close/>
                </a:path>
                <a:path w="170179" h="2580004">
                  <a:moveTo>
                    <a:pt x="81914" y="114300"/>
                  </a:moveTo>
                  <a:lnTo>
                    <a:pt x="68579" y="114300"/>
                  </a:lnTo>
                  <a:lnTo>
                    <a:pt x="68579" y="123189"/>
                  </a:lnTo>
                  <a:lnTo>
                    <a:pt x="81914" y="114300"/>
                  </a:lnTo>
                  <a:close/>
                </a:path>
                <a:path w="170179" h="2580004">
                  <a:moveTo>
                    <a:pt x="95250" y="114300"/>
                  </a:moveTo>
                  <a:lnTo>
                    <a:pt x="81914" y="114300"/>
                  </a:lnTo>
                  <a:lnTo>
                    <a:pt x="95250" y="122555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192270" y="3323590"/>
              <a:ext cx="170180" cy="2580005"/>
            </a:xfrm>
            <a:custGeom>
              <a:avLst/>
              <a:gdLst/>
              <a:ahLst/>
              <a:cxnLst/>
              <a:rect l="l" t="t" r="r" b="b"/>
              <a:pathLst>
                <a:path w="170179" h="2580004">
                  <a:moveTo>
                    <a:pt x="68579" y="2580005"/>
                  </a:moveTo>
                  <a:lnTo>
                    <a:pt x="68579" y="114300"/>
                  </a:lnTo>
                  <a:lnTo>
                    <a:pt x="95250" y="114300"/>
                  </a:lnTo>
                  <a:lnTo>
                    <a:pt x="95250" y="2580005"/>
                  </a:lnTo>
                  <a:lnTo>
                    <a:pt x="68579" y="2580005"/>
                  </a:lnTo>
                  <a:close/>
                </a:path>
                <a:path w="170179" h="2580004">
                  <a:moveTo>
                    <a:pt x="81914" y="114300"/>
                  </a:moveTo>
                  <a:lnTo>
                    <a:pt x="0" y="167639"/>
                  </a:lnTo>
                  <a:lnTo>
                    <a:pt x="81914" y="0"/>
                  </a:lnTo>
                  <a:lnTo>
                    <a:pt x="170179" y="167639"/>
                  </a:lnTo>
                  <a:lnTo>
                    <a:pt x="81914" y="114300"/>
                  </a:lnTo>
                  <a:close/>
                </a:path>
              </a:pathLst>
            </a:custGeom>
            <a:ln w="6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290695" y="3635375"/>
              <a:ext cx="1624330" cy="2265045"/>
            </a:xfrm>
            <a:custGeom>
              <a:avLst/>
              <a:gdLst/>
              <a:ahLst/>
              <a:cxnLst/>
              <a:rect l="l" t="t" r="r" b="b"/>
              <a:pathLst>
                <a:path w="1624329" h="2265045">
                  <a:moveTo>
                    <a:pt x="0" y="2265045"/>
                  </a:moveTo>
                  <a:lnTo>
                    <a:pt x="1624329" y="2265045"/>
                  </a:lnTo>
                </a:path>
                <a:path w="1624329" h="2265045">
                  <a:moveTo>
                    <a:pt x="1325244" y="0"/>
                  </a:moveTo>
                  <a:lnTo>
                    <a:pt x="1563369" y="214630"/>
                  </a:lnTo>
                </a:path>
              </a:pathLst>
            </a:custGeom>
            <a:ln w="20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487172" y="436488"/>
            <a:ext cx="1095184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 smtClean="0"/>
              <a:t>Life</a:t>
            </a:r>
            <a:r>
              <a:rPr sz="3200" spc="-75" dirty="0" smtClean="0"/>
              <a:t> </a:t>
            </a:r>
            <a:r>
              <a:rPr sz="3200" dirty="0"/>
              <a:t>cycle</a:t>
            </a:r>
            <a:r>
              <a:rPr sz="3200" spc="-65" dirty="0"/>
              <a:t> </a:t>
            </a:r>
            <a:r>
              <a:rPr sz="3200" dirty="0"/>
              <a:t>of</a:t>
            </a:r>
            <a:r>
              <a:rPr sz="3200" spc="-40" dirty="0"/>
              <a:t> </a:t>
            </a:r>
            <a:r>
              <a:rPr sz="3200" dirty="0"/>
              <a:t>a</a:t>
            </a:r>
            <a:r>
              <a:rPr sz="3200" spc="-65" dirty="0"/>
              <a:t> </a:t>
            </a:r>
            <a:r>
              <a:rPr sz="3200" dirty="0"/>
              <a:t>Thread</a:t>
            </a:r>
            <a:r>
              <a:rPr sz="3200" spc="-65" dirty="0"/>
              <a:t> </a:t>
            </a:r>
            <a:r>
              <a:rPr sz="3200" dirty="0"/>
              <a:t>(Thread</a:t>
            </a:r>
            <a:r>
              <a:rPr sz="3200" spc="-45" dirty="0"/>
              <a:t> </a:t>
            </a:r>
            <a:r>
              <a:rPr sz="3200" dirty="0"/>
              <a:t>States):</a:t>
            </a:r>
            <a:r>
              <a:rPr sz="3200" spc="-55" dirty="0"/>
              <a:t> </a:t>
            </a:r>
            <a:r>
              <a:rPr sz="2400" dirty="0">
                <a:solidFill>
                  <a:srgbClr val="000000"/>
                </a:solidFill>
              </a:rPr>
              <a:t>The</a:t>
            </a:r>
            <a:r>
              <a:rPr sz="2400" spc="-5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Thread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Class</a:t>
            </a:r>
            <a:r>
              <a:rPr sz="2400" spc="-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and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Methods</a:t>
            </a:r>
            <a:endParaRPr sz="2400" dirty="0"/>
          </a:p>
        </p:txBody>
      </p:sp>
      <p:sp>
        <p:nvSpPr>
          <p:cNvPr id="52" name="object 52"/>
          <p:cNvSpPr txBox="1"/>
          <p:nvPr/>
        </p:nvSpPr>
        <p:spPr>
          <a:xfrm>
            <a:off x="307342" y="2539746"/>
            <a:ext cx="1345565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Times New Roman"/>
                <a:cs typeface="Times New Roman"/>
              </a:rPr>
              <a:t>Thread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created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206878" y="2625091"/>
            <a:ext cx="553720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Times New Roman"/>
                <a:cs typeface="Times New Roman"/>
              </a:rPr>
              <a:t>start()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127630" y="2884426"/>
            <a:ext cx="441959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Times New Roman"/>
                <a:cs typeface="Times New Roman"/>
              </a:rPr>
              <a:t>New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527041" y="2924050"/>
            <a:ext cx="590550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Times New Roman"/>
                <a:cs typeface="Times New Roman"/>
              </a:rPr>
              <a:t>Ready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679440" y="2002917"/>
            <a:ext cx="913130" cy="543097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67310" marR="5080" indent="-55244">
              <a:lnSpc>
                <a:spcPts val="2020"/>
              </a:lnSpc>
              <a:spcBef>
                <a:spcPts val="235"/>
              </a:spcBef>
            </a:pPr>
            <a:r>
              <a:rPr sz="1750" dirty="0">
                <a:latin typeface="Times New Roman"/>
                <a:cs typeface="Times New Roman"/>
              </a:rPr>
              <a:t>yield(),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or </a:t>
            </a:r>
            <a:r>
              <a:rPr sz="1750" dirty="0">
                <a:latin typeface="Times New Roman"/>
                <a:cs typeface="Times New Roman"/>
              </a:rPr>
              <a:t>time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out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176266" y="2850897"/>
            <a:ext cx="471170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Times New Roman"/>
                <a:cs typeface="Times New Roman"/>
              </a:rPr>
              <a:t>run()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136641" y="3488184"/>
            <a:ext cx="937261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Times New Roman"/>
                <a:cs typeface="Times New Roman"/>
              </a:rPr>
              <a:t>interrupt()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161530" y="2954731"/>
            <a:ext cx="506730" cy="2564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5"/>
              </a:lnSpc>
            </a:pPr>
            <a:r>
              <a:rPr sz="1750" spc="-10" dirty="0">
                <a:latin typeface="Times New Roman"/>
                <a:cs typeface="Times New Roman"/>
              </a:rPr>
              <a:t>join()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054085" y="2079500"/>
            <a:ext cx="794385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Times New Roman"/>
                <a:cs typeface="Times New Roman"/>
              </a:rPr>
              <a:t>Running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822441" y="3375154"/>
            <a:ext cx="626745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Times New Roman"/>
                <a:cs typeface="Times New Roman"/>
              </a:rPr>
              <a:t>sleep()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807320" y="2305051"/>
            <a:ext cx="1141730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Times New Roman"/>
                <a:cs typeface="Times New Roman"/>
              </a:rPr>
              <a:t>run()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returns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0691622" y="2924050"/>
            <a:ext cx="1043941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Times New Roman"/>
                <a:cs typeface="Times New Roman"/>
              </a:rPr>
              <a:t>Terminated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072636" y="3646678"/>
            <a:ext cx="737235" cy="543097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35"/>
              </a:spcBef>
            </a:pPr>
            <a:r>
              <a:rPr sz="1750" spc="-10" dirty="0">
                <a:latin typeface="Times New Roman"/>
                <a:cs typeface="Times New Roman"/>
              </a:rPr>
              <a:t>Target finished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389503" y="5954981"/>
            <a:ext cx="1156335" cy="684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Times New Roman"/>
                <a:cs typeface="Times New Roman"/>
              </a:rPr>
              <a:t>Interrupted()</a:t>
            </a:r>
            <a:endParaRPr sz="1750" dirty="0">
              <a:latin typeface="Times New Roman"/>
              <a:cs typeface="Times New Roman"/>
            </a:endParaRPr>
          </a:p>
          <a:p>
            <a:pPr marR="221615" algn="r">
              <a:lnSpc>
                <a:spcPct val="100000"/>
              </a:lnSpc>
              <a:spcBef>
                <a:spcPts val="1695"/>
              </a:spcBef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176264" y="4451730"/>
            <a:ext cx="1330325" cy="563616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04800" marR="5080" indent="-292735">
              <a:lnSpc>
                <a:spcPts val="2070"/>
              </a:lnSpc>
              <a:spcBef>
                <a:spcPts val="195"/>
              </a:spcBef>
            </a:pPr>
            <a:r>
              <a:rPr sz="1750" dirty="0">
                <a:latin typeface="Times New Roman"/>
                <a:cs typeface="Times New Roman"/>
              </a:rPr>
              <a:t>Wait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target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finish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99480" y="5570933"/>
            <a:ext cx="761365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Times New Roman"/>
                <a:cs typeface="Times New Roman"/>
              </a:rPr>
              <a:t>Blocked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916926" y="4451731"/>
            <a:ext cx="1534795" cy="8970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481965" marR="318135" indent="-469900">
              <a:lnSpc>
                <a:spcPts val="2070"/>
              </a:lnSpc>
              <a:spcBef>
                <a:spcPts val="195"/>
              </a:spcBef>
            </a:pPr>
            <a:r>
              <a:rPr sz="1750" dirty="0">
                <a:latin typeface="Times New Roman"/>
                <a:cs typeface="Times New Roman"/>
              </a:rPr>
              <a:t>Wait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time </a:t>
            </a:r>
            <a:r>
              <a:rPr sz="1750" spc="-25" dirty="0">
                <a:latin typeface="Times New Roman"/>
                <a:cs typeface="Times New Roman"/>
              </a:rPr>
              <a:t>out</a:t>
            </a:r>
            <a:endParaRPr sz="1750">
              <a:latin typeface="Times New Roman"/>
              <a:cs typeface="Times New Roman"/>
            </a:endParaRPr>
          </a:p>
          <a:p>
            <a:pPr marL="713740">
              <a:lnSpc>
                <a:spcPct val="100000"/>
              </a:lnSpc>
              <a:spcBef>
                <a:spcPts val="520"/>
              </a:spcBef>
            </a:pPr>
            <a:r>
              <a:rPr sz="1750" dirty="0">
                <a:latin typeface="Times New Roman"/>
                <a:cs typeface="Times New Roman"/>
              </a:rPr>
              <a:t>Time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out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758555" y="4439539"/>
            <a:ext cx="953135" cy="543097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8270" marR="5080" indent="-116205">
              <a:lnSpc>
                <a:spcPts val="2020"/>
              </a:lnSpc>
              <a:spcBef>
                <a:spcPts val="235"/>
              </a:spcBef>
            </a:pPr>
            <a:r>
              <a:rPr sz="1750" dirty="0">
                <a:latin typeface="Times New Roman"/>
                <a:cs typeface="Times New Roman"/>
              </a:rPr>
              <a:t>Wait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be </a:t>
            </a:r>
            <a:r>
              <a:rPr sz="1750" spc="-10" dirty="0">
                <a:latin typeface="Times New Roman"/>
                <a:cs typeface="Times New Roman"/>
              </a:rPr>
              <a:t>notified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365107" y="5128640"/>
            <a:ext cx="986155" cy="543097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35"/>
              </a:spcBef>
            </a:pPr>
            <a:r>
              <a:rPr sz="1750" dirty="0">
                <a:latin typeface="Times New Roman"/>
                <a:cs typeface="Times New Roman"/>
              </a:rPr>
              <a:t>notify()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or </a:t>
            </a:r>
            <a:r>
              <a:rPr sz="1750" spc="-10" dirty="0">
                <a:latin typeface="Times New Roman"/>
                <a:cs typeface="Times New Roman"/>
              </a:rPr>
              <a:t>notifyAll()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080499" y="3665855"/>
            <a:ext cx="591821" cy="2750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7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5"/>
              </a:spcBef>
            </a:pPr>
            <a:r>
              <a:rPr sz="1750" spc="-10" dirty="0">
                <a:latin typeface="Times New Roman"/>
                <a:cs typeface="Times New Roman"/>
              </a:rPr>
              <a:t>wait()</a:t>
            </a:r>
            <a:endParaRPr sz="17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9728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5746" y="1114427"/>
            <a:ext cx="2219325" cy="423193"/>
          </a:xfrm>
          <a:prstGeom prst="rect">
            <a:avLst/>
          </a:prstGeom>
          <a:ln w="38100">
            <a:solidFill>
              <a:srgbClr val="C55A1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9385">
              <a:lnSpc>
                <a:spcPts val="3260"/>
              </a:lnSpc>
            </a:pPr>
            <a:r>
              <a:rPr sz="2800" b="1" spc="-10" dirty="0">
                <a:latin typeface="Arial"/>
                <a:cs typeface="Arial"/>
              </a:rPr>
              <a:t>Sample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921629" y="1721613"/>
            <a:ext cx="4976495" cy="4194175"/>
            <a:chOff x="6921627" y="1721611"/>
            <a:chExt cx="4976495" cy="4194175"/>
          </a:xfrm>
        </p:grpSpPr>
        <p:sp>
          <p:nvSpPr>
            <p:cNvPr id="4" name="object 4"/>
            <p:cNvSpPr/>
            <p:nvPr/>
          </p:nvSpPr>
          <p:spPr>
            <a:xfrm>
              <a:off x="6951345" y="1736089"/>
              <a:ext cx="1932939" cy="402590"/>
            </a:xfrm>
            <a:custGeom>
              <a:avLst/>
              <a:gdLst/>
              <a:ahLst/>
              <a:cxnLst/>
              <a:rect l="l" t="t" r="r" b="b"/>
              <a:pathLst>
                <a:path w="1932940" h="402589">
                  <a:moveTo>
                    <a:pt x="0" y="402589"/>
                  </a:moveTo>
                  <a:lnTo>
                    <a:pt x="1932939" y="402589"/>
                  </a:lnTo>
                  <a:lnTo>
                    <a:pt x="1932939" y="0"/>
                  </a:lnTo>
                  <a:lnTo>
                    <a:pt x="0" y="0"/>
                  </a:lnTo>
                  <a:lnTo>
                    <a:pt x="0" y="402589"/>
                  </a:lnTo>
                  <a:close/>
                </a:path>
              </a:pathLst>
            </a:custGeom>
            <a:ln w="2895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0710" y="2160269"/>
              <a:ext cx="4918075" cy="37261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36105" y="2145664"/>
              <a:ext cx="4947285" cy="3755390"/>
            </a:xfrm>
            <a:custGeom>
              <a:avLst/>
              <a:gdLst/>
              <a:ahLst/>
              <a:cxnLst/>
              <a:rect l="l" t="t" r="r" b="b"/>
              <a:pathLst>
                <a:path w="4947284" h="3755390">
                  <a:moveTo>
                    <a:pt x="0" y="3755389"/>
                  </a:moveTo>
                  <a:lnTo>
                    <a:pt x="4947285" y="3755389"/>
                  </a:lnTo>
                  <a:lnTo>
                    <a:pt x="4947285" y="0"/>
                  </a:lnTo>
                  <a:lnTo>
                    <a:pt x="0" y="0"/>
                  </a:lnTo>
                  <a:lnTo>
                    <a:pt x="0" y="3755389"/>
                  </a:lnTo>
                  <a:close/>
                </a:path>
              </a:pathLst>
            </a:custGeom>
            <a:ln w="2895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50583" y="1676475"/>
            <a:ext cx="191960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10"/>
              </a:spcBef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07194" y="691643"/>
            <a:ext cx="84074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extends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7763" y="362711"/>
            <a:ext cx="6701790" cy="5726430"/>
            <a:chOff x="127762" y="362711"/>
            <a:chExt cx="6701790" cy="5726430"/>
          </a:xfrm>
        </p:grpSpPr>
        <p:sp>
          <p:nvSpPr>
            <p:cNvPr id="10" name="object 10"/>
            <p:cNvSpPr/>
            <p:nvPr/>
          </p:nvSpPr>
          <p:spPr>
            <a:xfrm>
              <a:off x="157480" y="377189"/>
              <a:ext cx="3197860" cy="521334"/>
            </a:xfrm>
            <a:custGeom>
              <a:avLst/>
              <a:gdLst/>
              <a:ahLst/>
              <a:cxnLst/>
              <a:rect l="l" t="t" r="r" b="b"/>
              <a:pathLst>
                <a:path w="3197860" h="521334">
                  <a:moveTo>
                    <a:pt x="0" y="521335"/>
                  </a:moveTo>
                  <a:lnTo>
                    <a:pt x="3197860" y="521335"/>
                  </a:lnTo>
                  <a:lnTo>
                    <a:pt x="3197860" y="0"/>
                  </a:lnTo>
                  <a:lnTo>
                    <a:pt x="0" y="0"/>
                  </a:lnTo>
                  <a:lnTo>
                    <a:pt x="0" y="521335"/>
                  </a:lnTo>
                  <a:close/>
                </a:path>
              </a:pathLst>
            </a:custGeom>
            <a:ln w="2895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845" y="894079"/>
              <a:ext cx="6643370" cy="516509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2240" y="880110"/>
              <a:ext cx="6672580" cy="5194300"/>
            </a:xfrm>
            <a:custGeom>
              <a:avLst/>
              <a:gdLst/>
              <a:ahLst/>
              <a:cxnLst/>
              <a:rect l="l" t="t" r="r" b="b"/>
              <a:pathLst>
                <a:path w="6672580" h="5194300">
                  <a:moveTo>
                    <a:pt x="0" y="5194300"/>
                  </a:moveTo>
                  <a:lnTo>
                    <a:pt x="6672580" y="5194300"/>
                  </a:lnTo>
                  <a:lnTo>
                    <a:pt x="6672580" y="0"/>
                  </a:lnTo>
                  <a:lnTo>
                    <a:pt x="0" y="0"/>
                  </a:lnTo>
                  <a:lnTo>
                    <a:pt x="0" y="5194300"/>
                  </a:lnTo>
                  <a:close/>
                </a:path>
              </a:pathLst>
            </a:custGeom>
            <a:ln w="2895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6721" y="401778"/>
            <a:ext cx="318452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Method</a:t>
            </a:r>
            <a:r>
              <a:rPr sz="28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1.</a:t>
            </a:r>
            <a:r>
              <a:rPr sz="2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Syntax: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187939" y="603884"/>
            <a:ext cx="114301" cy="511175"/>
          </a:xfrm>
          <a:custGeom>
            <a:avLst/>
            <a:gdLst/>
            <a:ahLst/>
            <a:cxnLst/>
            <a:rect l="l" t="t" r="r" b="b"/>
            <a:pathLst>
              <a:path w="114300" h="511175">
                <a:moveTo>
                  <a:pt x="76200" y="95250"/>
                </a:moveTo>
                <a:lnTo>
                  <a:pt x="38100" y="95250"/>
                </a:lnTo>
                <a:lnTo>
                  <a:pt x="38100" y="511175"/>
                </a:lnTo>
                <a:lnTo>
                  <a:pt x="76200" y="511175"/>
                </a:lnTo>
                <a:lnTo>
                  <a:pt x="76200" y="95250"/>
                </a:lnTo>
                <a:close/>
              </a:path>
              <a:path w="114300" h="5111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111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9234806" y="223629"/>
            <a:ext cx="2019301" cy="371897"/>
          </a:xfrm>
          <a:prstGeom prst="rect">
            <a:avLst/>
          </a:prstGeom>
          <a:ln w="38100">
            <a:solidFill>
              <a:srgbClr val="C55A1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045">
              <a:lnSpc>
                <a:spcPts val="2925"/>
              </a:lnSpc>
            </a:pPr>
            <a:r>
              <a:rPr sz="2800" spc="-10" dirty="0">
                <a:solidFill>
                  <a:srgbClr val="000000"/>
                </a:solidFill>
                <a:latin typeface="Arial"/>
                <a:cs typeface="Arial"/>
              </a:rPr>
              <a:t>Thread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2638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77962" y="1188087"/>
            <a:ext cx="2219325" cy="432811"/>
          </a:xfrm>
          <a:prstGeom prst="rect">
            <a:avLst/>
          </a:prstGeom>
          <a:ln w="38100">
            <a:solidFill>
              <a:srgbClr val="C55A11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5"/>
              </a:spcBef>
            </a:pPr>
            <a:r>
              <a:rPr sz="2800" b="1" spc="-10" dirty="0">
                <a:latin typeface="Arial"/>
                <a:cs typeface="Arial"/>
              </a:rPr>
              <a:t>OtherClas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115302" y="1938147"/>
            <a:ext cx="4918710" cy="3409950"/>
            <a:chOff x="7115302" y="1938147"/>
            <a:chExt cx="4918710" cy="3409950"/>
          </a:xfrm>
        </p:grpSpPr>
        <p:sp>
          <p:nvSpPr>
            <p:cNvPr id="4" name="object 4"/>
            <p:cNvSpPr/>
            <p:nvPr/>
          </p:nvSpPr>
          <p:spPr>
            <a:xfrm>
              <a:off x="7131050" y="1952625"/>
              <a:ext cx="1932939" cy="498475"/>
            </a:xfrm>
            <a:custGeom>
              <a:avLst/>
              <a:gdLst/>
              <a:ahLst/>
              <a:cxnLst/>
              <a:rect l="l" t="t" r="r" b="b"/>
              <a:pathLst>
                <a:path w="1932940" h="498475">
                  <a:moveTo>
                    <a:pt x="0" y="498475"/>
                  </a:moveTo>
                  <a:lnTo>
                    <a:pt x="1932940" y="498475"/>
                  </a:lnTo>
                  <a:lnTo>
                    <a:pt x="1932940" y="0"/>
                  </a:lnTo>
                  <a:lnTo>
                    <a:pt x="0" y="0"/>
                  </a:lnTo>
                  <a:lnTo>
                    <a:pt x="0" y="498475"/>
                  </a:lnTo>
                  <a:close/>
                </a:path>
              </a:pathLst>
            </a:custGeom>
            <a:ln w="2895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4385" y="2480945"/>
              <a:ext cx="4836795" cy="28378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129780" y="2466340"/>
              <a:ext cx="4889500" cy="2867025"/>
            </a:xfrm>
            <a:custGeom>
              <a:avLst/>
              <a:gdLst/>
              <a:ahLst/>
              <a:cxnLst/>
              <a:rect l="l" t="t" r="r" b="b"/>
              <a:pathLst>
                <a:path w="4889500" h="2867025">
                  <a:moveTo>
                    <a:pt x="0" y="2867025"/>
                  </a:moveTo>
                  <a:lnTo>
                    <a:pt x="4889500" y="2867025"/>
                  </a:lnTo>
                  <a:lnTo>
                    <a:pt x="4889500" y="0"/>
                  </a:lnTo>
                  <a:lnTo>
                    <a:pt x="0" y="0"/>
                  </a:lnTo>
                  <a:lnTo>
                    <a:pt x="0" y="2867025"/>
                  </a:lnTo>
                  <a:close/>
                </a:path>
              </a:pathLst>
            </a:custGeom>
            <a:ln w="2895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44259" y="1945082"/>
            <a:ext cx="190563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110"/>
              </a:spcBef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04146" y="719076"/>
            <a:ext cx="127762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implements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20630" y="657225"/>
            <a:ext cx="114301" cy="530860"/>
          </a:xfrm>
          <a:custGeom>
            <a:avLst/>
            <a:gdLst/>
            <a:ahLst/>
            <a:cxnLst/>
            <a:rect l="l" t="t" r="r" b="b"/>
            <a:pathLst>
              <a:path w="114300" h="530860">
                <a:moveTo>
                  <a:pt x="76200" y="113664"/>
                </a:moveTo>
                <a:lnTo>
                  <a:pt x="38100" y="114935"/>
                </a:lnTo>
                <a:lnTo>
                  <a:pt x="47625" y="530860"/>
                </a:lnTo>
                <a:lnTo>
                  <a:pt x="85725" y="529589"/>
                </a:lnTo>
                <a:lnTo>
                  <a:pt x="76200" y="113664"/>
                </a:lnTo>
                <a:close/>
              </a:path>
              <a:path w="114300" h="530860">
                <a:moveTo>
                  <a:pt x="54610" y="0"/>
                </a:moveTo>
                <a:lnTo>
                  <a:pt x="0" y="115570"/>
                </a:lnTo>
                <a:lnTo>
                  <a:pt x="38100" y="114935"/>
                </a:lnTo>
                <a:lnTo>
                  <a:pt x="37465" y="95885"/>
                </a:lnTo>
                <a:lnTo>
                  <a:pt x="75565" y="94614"/>
                </a:lnTo>
                <a:lnTo>
                  <a:pt x="104775" y="94614"/>
                </a:lnTo>
                <a:lnTo>
                  <a:pt x="54610" y="0"/>
                </a:lnTo>
                <a:close/>
              </a:path>
              <a:path w="114300" h="530860">
                <a:moveTo>
                  <a:pt x="75565" y="94614"/>
                </a:moveTo>
                <a:lnTo>
                  <a:pt x="37465" y="95885"/>
                </a:lnTo>
                <a:lnTo>
                  <a:pt x="38100" y="114935"/>
                </a:lnTo>
                <a:lnTo>
                  <a:pt x="76200" y="113664"/>
                </a:lnTo>
                <a:lnTo>
                  <a:pt x="75565" y="94614"/>
                </a:lnTo>
                <a:close/>
              </a:path>
              <a:path w="114300" h="530860">
                <a:moveTo>
                  <a:pt x="104775" y="94614"/>
                </a:moveTo>
                <a:lnTo>
                  <a:pt x="75565" y="94614"/>
                </a:lnTo>
                <a:lnTo>
                  <a:pt x="76200" y="113664"/>
                </a:lnTo>
                <a:lnTo>
                  <a:pt x="114300" y="113029"/>
                </a:lnTo>
                <a:lnTo>
                  <a:pt x="104775" y="94614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1946" y="320676"/>
            <a:ext cx="6713221" cy="590296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46431" y="954151"/>
            <a:ext cx="37636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Arial"/>
                <a:cs typeface="Arial"/>
              </a:rPr>
              <a:t>Class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Class_Name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Implements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571866" y="278238"/>
            <a:ext cx="3206750" cy="371897"/>
          </a:xfrm>
          <a:prstGeom prst="rect">
            <a:avLst/>
          </a:prstGeom>
          <a:ln w="38100">
            <a:solidFill>
              <a:srgbClr val="C55A1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104">
              <a:lnSpc>
                <a:spcPts val="2895"/>
              </a:lnSpc>
            </a:pPr>
            <a:r>
              <a:rPr sz="2800" spc="-10" dirty="0">
                <a:solidFill>
                  <a:srgbClr val="000000"/>
                </a:solidFill>
                <a:latin typeface="Arial"/>
                <a:cs typeface="Arial"/>
              </a:rPr>
              <a:t>Runnable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2330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7929" y="188723"/>
            <a:ext cx="11933555" cy="6376670"/>
            <a:chOff x="177927" y="188721"/>
            <a:chExt cx="11933555" cy="6376670"/>
          </a:xfrm>
        </p:grpSpPr>
        <p:sp>
          <p:nvSpPr>
            <p:cNvPr id="3" name="object 3"/>
            <p:cNvSpPr/>
            <p:nvPr/>
          </p:nvSpPr>
          <p:spPr>
            <a:xfrm>
              <a:off x="192405" y="203199"/>
              <a:ext cx="7519034" cy="6347460"/>
            </a:xfrm>
            <a:custGeom>
              <a:avLst/>
              <a:gdLst/>
              <a:ahLst/>
              <a:cxnLst/>
              <a:rect l="l" t="t" r="r" b="b"/>
              <a:pathLst>
                <a:path w="7519034" h="6347459">
                  <a:moveTo>
                    <a:pt x="0" y="402589"/>
                  </a:moveTo>
                  <a:lnTo>
                    <a:pt x="3861435" y="402589"/>
                  </a:lnTo>
                  <a:lnTo>
                    <a:pt x="3861435" y="0"/>
                  </a:lnTo>
                  <a:lnTo>
                    <a:pt x="0" y="0"/>
                  </a:lnTo>
                  <a:lnTo>
                    <a:pt x="0" y="402589"/>
                  </a:lnTo>
                  <a:close/>
                </a:path>
                <a:path w="7519034" h="6347459">
                  <a:moveTo>
                    <a:pt x="0" y="6347460"/>
                  </a:moveTo>
                  <a:lnTo>
                    <a:pt x="7519035" y="6347460"/>
                  </a:lnTo>
                  <a:lnTo>
                    <a:pt x="7519035" y="407035"/>
                  </a:lnTo>
                  <a:lnTo>
                    <a:pt x="0" y="407035"/>
                  </a:lnTo>
                  <a:lnTo>
                    <a:pt x="0" y="6347460"/>
                  </a:lnTo>
                  <a:close/>
                </a:path>
              </a:pathLst>
            </a:custGeom>
            <a:ln w="2895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4299" y="1818004"/>
              <a:ext cx="5617845" cy="24815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50330" y="1803399"/>
              <a:ext cx="5646420" cy="2510155"/>
            </a:xfrm>
            <a:custGeom>
              <a:avLst/>
              <a:gdLst/>
              <a:ahLst/>
              <a:cxnLst/>
              <a:rect l="l" t="t" r="r" b="b"/>
              <a:pathLst>
                <a:path w="5646420" h="2510154">
                  <a:moveTo>
                    <a:pt x="0" y="2510155"/>
                  </a:moveTo>
                  <a:lnTo>
                    <a:pt x="5646420" y="2510155"/>
                  </a:lnTo>
                  <a:lnTo>
                    <a:pt x="5646420" y="0"/>
                  </a:lnTo>
                  <a:lnTo>
                    <a:pt x="0" y="0"/>
                  </a:lnTo>
                  <a:lnTo>
                    <a:pt x="0" y="2510155"/>
                  </a:lnTo>
                  <a:close/>
                </a:path>
              </a:pathLst>
            </a:custGeom>
            <a:ln w="2895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39984" y="686434"/>
              <a:ext cx="114300" cy="504190"/>
            </a:xfrm>
            <a:custGeom>
              <a:avLst/>
              <a:gdLst/>
              <a:ahLst/>
              <a:cxnLst/>
              <a:rect l="l" t="t" r="r" b="b"/>
              <a:pathLst>
                <a:path w="114300" h="50419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504189"/>
                  </a:lnTo>
                  <a:lnTo>
                    <a:pt x="76200" y="504189"/>
                  </a:lnTo>
                  <a:lnTo>
                    <a:pt x="76200" y="95250"/>
                  </a:lnTo>
                  <a:close/>
                </a:path>
                <a:path w="114300" h="50419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50419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14309" y="4749164"/>
              <a:ext cx="1811020" cy="439420"/>
            </a:xfrm>
            <a:custGeom>
              <a:avLst/>
              <a:gdLst/>
              <a:ahLst/>
              <a:cxnLst/>
              <a:rect l="l" t="t" r="r" b="b"/>
              <a:pathLst>
                <a:path w="1811020" h="439420">
                  <a:moveTo>
                    <a:pt x="1811020" y="0"/>
                  </a:moveTo>
                  <a:lnTo>
                    <a:pt x="0" y="0"/>
                  </a:lnTo>
                  <a:lnTo>
                    <a:pt x="0" y="439419"/>
                  </a:lnTo>
                  <a:lnTo>
                    <a:pt x="1811020" y="439419"/>
                  </a:lnTo>
                  <a:lnTo>
                    <a:pt x="1811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14309" y="4749164"/>
              <a:ext cx="1811020" cy="439420"/>
            </a:xfrm>
            <a:custGeom>
              <a:avLst/>
              <a:gdLst/>
              <a:ahLst/>
              <a:cxnLst/>
              <a:rect l="l" t="t" r="r" b="b"/>
              <a:pathLst>
                <a:path w="1811020" h="439420">
                  <a:moveTo>
                    <a:pt x="0" y="439419"/>
                  </a:moveTo>
                  <a:lnTo>
                    <a:pt x="1811020" y="439419"/>
                  </a:lnTo>
                  <a:lnTo>
                    <a:pt x="1811020" y="0"/>
                  </a:lnTo>
                  <a:lnTo>
                    <a:pt x="0" y="0"/>
                  </a:lnTo>
                  <a:lnTo>
                    <a:pt x="0" y="439419"/>
                  </a:lnTo>
                  <a:close/>
                </a:path>
              </a:pathLst>
            </a:custGeom>
            <a:ln w="38100">
              <a:solidFill>
                <a:srgbClr val="6E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39024" y="5362575"/>
              <a:ext cx="532130" cy="335280"/>
            </a:xfrm>
            <a:custGeom>
              <a:avLst/>
              <a:gdLst/>
              <a:ahLst/>
              <a:cxnLst/>
              <a:rect l="l" t="t" r="r" b="b"/>
              <a:pathLst>
                <a:path w="532129" h="335279">
                  <a:moveTo>
                    <a:pt x="247015" y="297180"/>
                  </a:moveTo>
                  <a:lnTo>
                    <a:pt x="0" y="297180"/>
                  </a:lnTo>
                  <a:lnTo>
                    <a:pt x="0" y="335280"/>
                  </a:lnTo>
                  <a:lnTo>
                    <a:pt x="285115" y="335280"/>
                  </a:lnTo>
                  <a:lnTo>
                    <a:pt x="285115" y="316230"/>
                  </a:lnTo>
                  <a:lnTo>
                    <a:pt x="247015" y="316230"/>
                  </a:lnTo>
                  <a:lnTo>
                    <a:pt x="247015" y="297180"/>
                  </a:lnTo>
                  <a:close/>
                </a:path>
                <a:path w="532129" h="335279">
                  <a:moveTo>
                    <a:pt x="417829" y="38100"/>
                  </a:moveTo>
                  <a:lnTo>
                    <a:pt x="247015" y="38100"/>
                  </a:lnTo>
                  <a:lnTo>
                    <a:pt x="247015" y="316230"/>
                  </a:lnTo>
                  <a:lnTo>
                    <a:pt x="266065" y="297180"/>
                  </a:lnTo>
                  <a:lnTo>
                    <a:pt x="285115" y="297180"/>
                  </a:lnTo>
                  <a:lnTo>
                    <a:pt x="285115" y="76200"/>
                  </a:lnTo>
                  <a:lnTo>
                    <a:pt x="266065" y="76200"/>
                  </a:lnTo>
                  <a:lnTo>
                    <a:pt x="285115" y="57150"/>
                  </a:lnTo>
                  <a:lnTo>
                    <a:pt x="417829" y="57150"/>
                  </a:lnTo>
                  <a:lnTo>
                    <a:pt x="417829" y="38100"/>
                  </a:lnTo>
                  <a:close/>
                </a:path>
                <a:path w="532129" h="335279">
                  <a:moveTo>
                    <a:pt x="285115" y="297180"/>
                  </a:moveTo>
                  <a:lnTo>
                    <a:pt x="266065" y="297180"/>
                  </a:lnTo>
                  <a:lnTo>
                    <a:pt x="247015" y="316230"/>
                  </a:lnTo>
                  <a:lnTo>
                    <a:pt x="285115" y="316230"/>
                  </a:lnTo>
                  <a:lnTo>
                    <a:pt x="285115" y="297180"/>
                  </a:lnTo>
                  <a:close/>
                </a:path>
                <a:path w="532129" h="335279">
                  <a:moveTo>
                    <a:pt x="417829" y="0"/>
                  </a:moveTo>
                  <a:lnTo>
                    <a:pt x="417829" y="114300"/>
                  </a:lnTo>
                  <a:lnTo>
                    <a:pt x="494029" y="76200"/>
                  </a:lnTo>
                  <a:lnTo>
                    <a:pt x="436879" y="76200"/>
                  </a:lnTo>
                  <a:lnTo>
                    <a:pt x="436879" y="38100"/>
                  </a:lnTo>
                  <a:lnTo>
                    <a:pt x="494029" y="38100"/>
                  </a:lnTo>
                  <a:lnTo>
                    <a:pt x="417829" y="0"/>
                  </a:lnTo>
                  <a:close/>
                </a:path>
                <a:path w="532129" h="335279">
                  <a:moveTo>
                    <a:pt x="285115" y="57150"/>
                  </a:moveTo>
                  <a:lnTo>
                    <a:pt x="266065" y="76200"/>
                  </a:lnTo>
                  <a:lnTo>
                    <a:pt x="285115" y="76200"/>
                  </a:lnTo>
                  <a:lnTo>
                    <a:pt x="285115" y="57150"/>
                  </a:lnTo>
                  <a:close/>
                </a:path>
                <a:path w="532129" h="335279">
                  <a:moveTo>
                    <a:pt x="417829" y="57150"/>
                  </a:moveTo>
                  <a:lnTo>
                    <a:pt x="285115" y="57150"/>
                  </a:lnTo>
                  <a:lnTo>
                    <a:pt x="285115" y="76200"/>
                  </a:lnTo>
                  <a:lnTo>
                    <a:pt x="417829" y="76200"/>
                  </a:lnTo>
                  <a:lnTo>
                    <a:pt x="417829" y="57150"/>
                  </a:lnTo>
                  <a:close/>
                </a:path>
                <a:path w="532129" h="335279">
                  <a:moveTo>
                    <a:pt x="494029" y="38100"/>
                  </a:moveTo>
                  <a:lnTo>
                    <a:pt x="436879" y="38100"/>
                  </a:lnTo>
                  <a:lnTo>
                    <a:pt x="436879" y="76200"/>
                  </a:lnTo>
                  <a:lnTo>
                    <a:pt x="494029" y="76200"/>
                  </a:lnTo>
                  <a:lnTo>
                    <a:pt x="532129" y="57150"/>
                  </a:lnTo>
                  <a:lnTo>
                    <a:pt x="494029" y="381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26965" y="3051174"/>
              <a:ext cx="3016885" cy="2783205"/>
            </a:xfrm>
            <a:custGeom>
              <a:avLst/>
              <a:gdLst/>
              <a:ahLst/>
              <a:cxnLst/>
              <a:rect l="l" t="t" r="r" b="b"/>
              <a:pathLst>
                <a:path w="3016884" h="2783204">
                  <a:moveTo>
                    <a:pt x="2919730" y="2719705"/>
                  </a:moveTo>
                  <a:lnTo>
                    <a:pt x="2893694" y="2747645"/>
                  </a:lnTo>
                  <a:lnTo>
                    <a:pt x="3016885" y="2783205"/>
                  </a:lnTo>
                  <a:lnTo>
                    <a:pt x="2997200" y="2732405"/>
                  </a:lnTo>
                  <a:lnTo>
                    <a:pt x="2933700" y="2732405"/>
                  </a:lnTo>
                  <a:lnTo>
                    <a:pt x="2919730" y="2719705"/>
                  </a:lnTo>
                  <a:close/>
                </a:path>
                <a:path w="3016884" h="2783204">
                  <a:moveTo>
                    <a:pt x="2945765" y="2691765"/>
                  </a:moveTo>
                  <a:lnTo>
                    <a:pt x="2919730" y="2719705"/>
                  </a:lnTo>
                  <a:lnTo>
                    <a:pt x="2933700" y="2732405"/>
                  </a:lnTo>
                  <a:lnTo>
                    <a:pt x="2959735" y="2704465"/>
                  </a:lnTo>
                  <a:lnTo>
                    <a:pt x="2945765" y="2691765"/>
                  </a:lnTo>
                  <a:close/>
                </a:path>
                <a:path w="3016884" h="2783204">
                  <a:moveTo>
                    <a:pt x="2971165" y="2663825"/>
                  </a:moveTo>
                  <a:lnTo>
                    <a:pt x="2945765" y="2691765"/>
                  </a:lnTo>
                  <a:lnTo>
                    <a:pt x="2959735" y="2704465"/>
                  </a:lnTo>
                  <a:lnTo>
                    <a:pt x="2933700" y="2732405"/>
                  </a:lnTo>
                  <a:lnTo>
                    <a:pt x="2997200" y="2732405"/>
                  </a:lnTo>
                  <a:lnTo>
                    <a:pt x="2971165" y="2663825"/>
                  </a:lnTo>
                  <a:close/>
                </a:path>
                <a:path w="3016884" h="2783204">
                  <a:moveTo>
                    <a:pt x="26035" y="0"/>
                  </a:moveTo>
                  <a:lnTo>
                    <a:pt x="0" y="27939"/>
                  </a:lnTo>
                  <a:lnTo>
                    <a:pt x="2919730" y="2719704"/>
                  </a:lnTo>
                  <a:lnTo>
                    <a:pt x="2945765" y="2691765"/>
                  </a:lnTo>
                  <a:lnTo>
                    <a:pt x="2603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0764" y="144167"/>
            <a:ext cx="3500754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/>
              <a:t>Example:</a:t>
            </a:r>
            <a:r>
              <a:rPr sz="2800" spc="-60" dirty="0"/>
              <a:t> </a:t>
            </a:r>
            <a:r>
              <a:rPr sz="2800" spc="-10" dirty="0"/>
              <a:t>thread1.java</a:t>
            </a:r>
            <a:endParaRPr sz="2800"/>
          </a:p>
        </p:txBody>
      </p:sp>
      <p:sp>
        <p:nvSpPr>
          <p:cNvPr id="12" name="object 12"/>
          <p:cNvSpPr txBox="1"/>
          <p:nvPr/>
        </p:nvSpPr>
        <p:spPr>
          <a:xfrm>
            <a:off x="270762" y="627633"/>
            <a:ext cx="5946141" cy="1254831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185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//Program</a:t>
            </a:r>
            <a:r>
              <a:rPr sz="2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extends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write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single-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thread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program. </a:t>
            </a:r>
            <a:r>
              <a:rPr sz="2000" dirty="0">
                <a:latin typeface="Times New Roman"/>
                <a:cs typeface="Times New Roman"/>
              </a:rPr>
              <a:t>import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java.lang.*;</a:t>
            </a:r>
            <a:endParaRPr sz="2000">
              <a:latin typeface="Times New Roman"/>
              <a:cs typeface="Times New Roman"/>
            </a:endParaRPr>
          </a:p>
          <a:p>
            <a:pPr marL="585470" marR="1330960" indent="-573405">
              <a:lnSpc>
                <a:spcPts val="2380"/>
              </a:lnSpc>
              <a:spcBef>
                <a:spcPts val="45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ThreadExample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extends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Thread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 </a:t>
            </a: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ThreadExample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(String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name)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79179" y="768225"/>
            <a:ext cx="84074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extends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0762" y="1844420"/>
            <a:ext cx="6007101" cy="2766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55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Times New Roman"/>
                <a:cs typeface="Times New Roman"/>
              </a:rPr>
              <a:t>super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(name);</a:t>
            </a:r>
            <a:endParaRPr sz="2000">
              <a:latin typeface="Times New Roman"/>
              <a:cs typeface="Times New Roman"/>
            </a:endParaRPr>
          </a:p>
          <a:p>
            <a:pPr marL="585470">
              <a:lnSpc>
                <a:spcPts val="2390"/>
              </a:lnSpc>
              <a:spcBef>
                <a:spcPts val="30"/>
              </a:spcBef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585470">
              <a:lnSpc>
                <a:spcPts val="2390"/>
              </a:lnSpc>
              <a:tabLst>
                <a:tab pos="2555240" algn="l"/>
              </a:tabLst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void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()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091565" marR="5080">
              <a:lnSpc>
                <a:spcPts val="238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System.out.println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</a:t>
            </a:r>
            <a:r>
              <a:rPr sz="20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Thread.currentThread</a:t>
            </a:r>
            <a:r>
              <a:rPr sz="2000" b="1" spc="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()</a:t>
            </a:r>
            <a:r>
              <a:rPr sz="2000" spc="-20" dirty="0">
                <a:latin typeface="Times New Roman"/>
                <a:cs typeface="Times New Roman"/>
              </a:rPr>
              <a:t>);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(int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i=0;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i&lt;=5;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i++)</a:t>
            </a:r>
            <a:endParaRPr sz="2000">
              <a:latin typeface="Times New Roman"/>
              <a:cs typeface="Times New Roman"/>
            </a:endParaRPr>
          </a:p>
          <a:p>
            <a:pPr marL="1472565">
              <a:lnSpc>
                <a:spcPts val="2345"/>
              </a:lnSpc>
            </a:pPr>
            <a:r>
              <a:rPr sz="2000" spc="-10" dirty="0">
                <a:latin typeface="Times New Roman"/>
                <a:cs typeface="Times New Roman"/>
              </a:rPr>
              <a:t>System.out.println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(i);</a:t>
            </a:r>
            <a:endParaRPr sz="2000">
              <a:latin typeface="Times New Roman"/>
              <a:cs typeface="Times New Roman"/>
            </a:endParaRPr>
          </a:p>
          <a:p>
            <a:pPr marL="58547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public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thread1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4092" y="4585842"/>
            <a:ext cx="672465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1484" marR="917575" indent="-439420">
              <a:lnSpc>
                <a:spcPct val="99500"/>
              </a:lnSpc>
              <a:spcBef>
                <a:spcPts val="105"/>
              </a:spcBef>
              <a:tabLst>
                <a:tab pos="4082415" algn="l"/>
              </a:tabLst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void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(String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args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</a:t>
            </a:r>
            <a:r>
              <a:rPr sz="2000" spc="-25" dirty="0">
                <a:latin typeface="Times New Roman"/>
                <a:cs typeface="Times New Roman"/>
              </a:rPr>
              <a:t> ])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{ </a:t>
            </a:r>
            <a:r>
              <a:rPr sz="2000" spc="-10" dirty="0">
                <a:latin typeface="Times New Roman"/>
                <a:cs typeface="Times New Roman"/>
              </a:rPr>
              <a:t>ThreadExample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ThreadExample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("First"); </a:t>
            </a:r>
            <a:r>
              <a:rPr sz="2000" dirty="0">
                <a:latin typeface="Times New Roman"/>
                <a:cs typeface="Times New Roman"/>
              </a:rPr>
              <a:t>obj.start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);</a:t>
            </a:r>
            <a:endParaRPr sz="20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25"/>
              </a:spcBef>
            </a:pPr>
            <a:r>
              <a:rPr sz="2000" spc="-10" dirty="0">
                <a:latin typeface="Times New Roman"/>
                <a:cs typeface="Times New Roman"/>
              </a:rPr>
              <a:t>System.out.println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''This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is:"</a:t>
            </a:r>
            <a:r>
              <a:rPr sz="20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+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Thread.currentThread </a:t>
            </a:r>
            <a:r>
              <a:rPr sz="20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()</a:t>
            </a:r>
            <a:r>
              <a:rPr sz="2000" spc="-20" dirty="0">
                <a:latin typeface="Times New Roman"/>
                <a:cs typeface="Times New Roman"/>
              </a:rPr>
              <a:t>);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41894" y="4756784"/>
            <a:ext cx="135763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OUTPUT</a:t>
            </a:r>
            <a:r>
              <a:rPr sz="1800" spc="-1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6078" y="5805627"/>
            <a:ext cx="147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0763" y="6113780"/>
            <a:ext cx="147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12152" y="1179197"/>
            <a:ext cx="3569335" cy="371897"/>
          </a:xfrm>
          <a:prstGeom prst="rect">
            <a:avLst/>
          </a:prstGeom>
          <a:ln w="38100">
            <a:solidFill>
              <a:srgbClr val="C55A1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3045">
              <a:lnSpc>
                <a:spcPts val="2920"/>
              </a:lnSpc>
            </a:pPr>
            <a:r>
              <a:rPr sz="2800" b="1" spc="-10" dirty="0">
                <a:latin typeface="Arial"/>
                <a:cs typeface="Arial"/>
              </a:rPr>
              <a:t>ThreadExample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86217" y="297182"/>
            <a:ext cx="2021205" cy="371897"/>
          </a:xfrm>
          <a:prstGeom prst="rect">
            <a:avLst/>
          </a:prstGeom>
          <a:ln w="38100">
            <a:solidFill>
              <a:srgbClr val="C55A1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5410">
              <a:lnSpc>
                <a:spcPts val="2925"/>
              </a:lnSpc>
            </a:pPr>
            <a:r>
              <a:rPr sz="2800" b="1" spc="-10" dirty="0">
                <a:latin typeface="Arial"/>
                <a:cs typeface="Arial"/>
              </a:rPr>
              <a:t>Thread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14309" y="5187950"/>
            <a:ext cx="4269105" cy="829072"/>
          </a:xfrm>
          <a:prstGeom prst="rect">
            <a:avLst/>
          </a:prstGeom>
          <a:ln w="38100">
            <a:solidFill>
              <a:srgbClr val="00AE5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204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This</a:t>
            </a:r>
            <a:r>
              <a:rPr sz="24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is: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Thread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[main,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5,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main]</a:t>
            </a:r>
            <a:endParaRPr sz="2400">
              <a:latin typeface="Times New Roman"/>
              <a:cs typeface="Times New Roman"/>
            </a:endParaRPr>
          </a:p>
          <a:p>
            <a:pPr marL="93980">
              <a:lnSpc>
                <a:spcPct val="100000"/>
              </a:lnSpc>
              <a:spcBef>
                <a:spcPts val="484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Thread</a:t>
            </a:r>
            <a:r>
              <a:rPr sz="24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[First,</a:t>
            </a:r>
            <a:r>
              <a:rPr sz="24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5,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main]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7583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8574" y="214756"/>
            <a:ext cx="11811635" cy="6376670"/>
            <a:chOff x="258572" y="214756"/>
            <a:chExt cx="11811635" cy="6376670"/>
          </a:xfrm>
        </p:grpSpPr>
        <p:sp>
          <p:nvSpPr>
            <p:cNvPr id="3" name="object 3"/>
            <p:cNvSpPr/>
            <p:nvPr/>
          </p:nvSpPr>
          <p:spPr>
            <a:xfrm>
              <a:off x="273050" y="229234"/>
              <a:ext cx="7383780" cy="6347460"/>
            </a:xfrm>
            <a:custGeom>
              <a:avLst/>
              <a:gdLst/>
              <a:ahLst/>
              <a:cxnLst/>
              <a:rect l="l" t="t" r="r" b="b"/>
              <a:pathLst>
                <a:path w="7383780" h="6347459">
                  <a:moveTo>
                    <a:pt x="0" y="402590"/>
                  </a:moveTo>
                  <a:lnTo>
                    <a:pt x="4095115" y="402590"/>
                  </a:lnTo>
                  <a:lnTo>
                    <a:pt x="4095115" y="0"/>
                  </a:lnTo>
                  <a:lnTo>
                    <a:pt x="0" y="0"/>
                  </a:lnTo>
                  <a:lnTo>
                    <a:pt x="0" y="402590"/>
                  </a:lnTo>
                  <a:close/>
                </a:path>
                <a:path w="7383780" h="6347459">
                  <a:moveTo>
                    <a:pt x="0" y="6347460"/>
                  </a:moveTo>
                  <a:lnTo>
                    <a:pt x="7383780" y="6347460"/>
                  </a:lnTo>
                  <a:lnTo>
                    <a:pt x="7383780" y="407035"/>
                  </a:lnTo>
                  <a:lnTo>
                    <a:pt x="0" y="407035"/>
                  </a:lnTo>
                  <a:lnTo>
                    <a:pt x="0" y="6347460"/>
                  </a:lnTo>
                  <a:close/>
                </a:path>
              </a:pathLst>
            </a:custGeom>
            <a:ln w="2895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3660" y="1828799"/>
              <a:ext cx="5617845" cy="24815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9055" y="1814195"/>
              <a:ext cx="5646420" cy="2510155"/>
            </a:xfrm>
            <a:custGeom>
              <a:avLst/>
              <a:gdLst/>
              <a:ahLst/>
              <a:cxnLst/>
              <a:rect l="l" t="t" r="r" b="b"/>
              <a:pathLst>
                <a:path w="5646420" h="2510154">
                  <a:moveTo>
                    <a:pt x="0" y="2510154"/>
                  </a:moveTo>
                  <a:lnTo>
                    <a:pt x="5646420" y="2510154"/>
                  </a:lnTo>
                  <a:lnTo>
                    <a:pt x="5646420" y="0"/>
                  </a:lnTo>
                  <a:lnTo>
                    <a:pt x="0" y="0"/>
                  </a:lnTo>
                  <a:lnTo>
                    <a:pt x="0" y="2510154"/>
                  </a:lnTo>
                  <a:close/>
                </a:path>
              </a:pathLst>
            </a:custGeom>
            <a:ln w="2895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73640" y="599440"/>
              <a:ext cx="114300" cy="502284"/>
            </a:xfrm>
            <a:custGeom>
              <a:avLst/>
              <a:gdLst/>
              <a:ahLst/>
              <a:cxnLst/>
              <a:rect l="l" t="t" r="r" b="b"/>
              <a:pathLst>
                <a:path w="114300" h="502284">
                  <a:moveTo>
                    <a:pt x="76200" y="95250"/>
                  </a:moveTo>
                  <a:lnTo>
                    <a:pt x="38100" y="95250"/>
                  </a:lnTo>
                  <a:lnTo>
                    <a:pt x="38100" y="502285"/>
                  </a:lnTo>
                  <a:lnTo>
                    <a:pt x="76200" y="502285"/>
                  </a:lnTo>
                  <a:lnTo>
                    <a:pt x="76200" y="95250"/>
                  </a:lnTo>
                  <a:close/>
                </a:path>
                <a:path w="114300" h="502284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502284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14310" y="4749165"/>
              <a:ext cx="1811020" cy="439420"/>
            </a:xfrm>
            <a:custGeom>
              <a:avLst/>
              <a:gdLst/>
              <a:ahLst/>
              <a:cxnLst/>
              <a:rect l="l" t="t" r="r" b="b"/>
              <a:pathLst>
                <a:path w="1811020" h="439420">
                  <a:moveTo>
                    <a:pt x="1811020" y="0"/>
                  </a:moveTo>
                  <a:lnTo>
                    <a:pt x="0" y="0"/>
                  </a:lnTo>
                  <a:lnTo>
                    <a:pt x="0" y="439419"/>
                  </a:lnTo>
                  <a:lnTo>
                    <a:pt x="1811020" y="439419"/>
                  </a:lnTo>
                  <a:lnTo>
                    <a:pt x="1811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14310" y="4749165"/>
              <a:ext cx="1811020" cy="439420"/>
            </a:xfrm>
            <a:custGeom>
              <a:avLst/>
              <a:gdLst/>
              <a:ahLst/>
              <a:cxnLst/>
              <a:rect l="l" t="t" r="r" b="b"/>
              <a:pathLst>
                <a:path w="1811020" h="439420">
                  <a:moveTo>
                    <a:pt x="0" y="439419"/>
                  </a:moveTo>
                  <a:lnTo>
                    <a:pt x="1811020" y="439419"/>
                  </a:lnTo>
                  <a:lnTo>
                    <a:pt x="1811020" y="0"/>
                  </a:lnTo>
                  <a:lnTo>
                    <a:pt x="0" y="0"/>
                  </a:lnTo>
                  <a:lnTo>
                    <a:pt x="0" y="439419"/>
                  </a:lnTo>
                  <a:close/>
                </a:path>
              </a:pathLst>
            </a:custGeom>
            <a:ln w="38100">
              <a:solidFill>
                <a:srgbClr val="6E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26964" y="3051174"/>
              <a:ext cx="3016885" cy="2783205"/>
            </a:xfrm>
            <a:custGeom>
              <a:avLst/>
              <a:gdLst/>
              <a:ahLst/>
              <a:cxnLst/>
              <a:rect l="l" t="t" r="r" b="b"/>
              <a:pathLst>
                <a:path w="3016884" h="2783204">
                  <a:moveTo>
                    <a:pt x="2919730" y="2719705"/>
                  </a:moveTo>
                  <a:lnTo>
                    <a:pt x="2893694" y="2747645"/>
                  </a:lnTo>
                  <a:lnTo>
                    <a:pt x="3016885" y="2783205"/>
                  </a:lnTo>
                  <a:lnTo>
                    <a:pt x="2997200" y="2732405"/>
                  </a:lnTo>
                  <a:lnTo>
                    <a:pt x="2933700" y="2732405"/>
                  </a:lnTo>
                  <a:lnTo>
                    <a:pt x="2919730" y="2719705"/>
                  </a:lnTo>
                  <a:close/>
                </a:path>
                <a:path w="3016884" h="2783204">
                  <a:moveTo>
                    <a:pt x="2945765" y="2691765"/>
                  </a:moveTo>
                  <a:lnTo>
                    <a:pt x="2919730" y="2719705"/>
                  </a:lnTo>
                  <a:lnTo>
                    <a:pt x="2933700" y="2732405"/>
                  </a:lnTo>
                  <a:lnTo>
                    <a:pt x="2959735" y="2704465"/>
                  </a:lnTo>
                  <a:lnTo>
                    <a:pt x="2945765" y="2691765"/>
                  </a:lnTo>
                  <a:close/>
                </a:path>
                <a:path w="3016884" h="2783204">
                  <a:moveTo>
                    <a:pt x="2971165" y="2663825"/>
                  </a:moveTo>
                  <a:lnTo>
                    <a:pt x="2945765" y="2691765"/>
                  </a:lnTo>
                  <a:lnTo>
                    <a:pt x="2959735" y="2704465"/>
                  </a:lnTo>
                  <a:lnTo>
                    <a:pt x="2933700" y="2732405"/>
                  </a:lnTo>
                  <a:lnTo>
                    <a:pt x="2997200" y="2732405"/>
                  </a:lnTo>
                  <a:lnTo>
                    <a:pt x="2971165" y="2663825"/>
                  </a:lnTo>
                  <a:close/>
                </a:path>
                <a:path w="3016884" h="2783204">
                  <a:moveTo>
                    <a:pt x="26035" y="0"/>
                  </a:moveTo>
                  <a:lnTo>
                    <a:pt x="0" y="27939"/>
                  </a:lnTo>
                  <a:lnTo>
                    <a:pt x="2919730" y="2719704"/>
                  </a:lnTo>
                  <a:lnTo>
                    <a:pt x="2945765" y="2691765"/>
                  </a:lnTo>
                  <a:lnTo>
                    <a:pt x="2603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25690" y="5362574"/>
              <a:ext cx="546100" cy="306705"/>
            </a:xfrm>
            <a:custGeom>
              <a:avLst/>
              <a:gdLst/>
              <a:ahLst/>
              <a:cxnLst/>
              <a:rect l="l" t="t" r="r" b="b"/>
              <a:pathLst>
                <a:path w="546100" h="306704">
                  <a:moveTo>
                    <a:pt x="254000" y="268605"/>
                  </a:moveTo>
                  <a:lnTo>
                    <a:pt x="0" y="268605"/>
                  </a:lnTo>
                  <a:lnTo>
                    <a:pt x="0" y="306705"/>
                  </a:lnTo>
                  <a:lnTo>
                    <a:pt x="292100" y="306705"/>
                  </a:lnTo>
                  <a:lnTo>
                    <a:pt x="292100" y="287655"/>
                  </a:lnTo>
                  <a:lnTo>
                    <a:pt x="254000" y="287655"/>
                  </a:lnTo>
                  <a:lnTo>
                    <a:pt x="254000" y="268605"/>
                  </a:lnTo>
                  <a:close/>
                </a:path>
                <a:path w="546100" h="306704">
                  <a:moveTo>
                    <a:pt x="431800" y="38100"/>
                  </a:moveTo>
                  <a:lnTo>
                    <a:pt x="254000" y="38100"/>
                  </a:lnTo>
                  <a:lnTo>
                    <a:pt x="254000" y="287655"/>
                  </a:lnTo>
                  <a:lnTo>
                    <a:pt x="273050" y="268605"/>
                  </a:lnTo>
                  <a:lnTo>
                    <a:pt x="292100" y="268605"/>
                  </a:lnTo>
                  <a:lnTo>
                    <a:pt x="292100" y="76200"/>
                  </a:lnTo>
                  <a:lnTo>
                    <a:pt x="273050" y="76200"/>
                  </a:lnTo>
                  <a:lnTo>
                    <a:pt x="292100" y="57150"/>
                  </a:lnTo>
                  <a:lnTo>
                    <a:pt x="431800" y="57150"/>
                  </a:lnTo>
                  <a:lnTo>
                    <a:pt x="431800" y="38100"/>
                  </a:lnTo>
                  <a:close/>
                </a:path>
                <a:path w="546100" h="306704">
                  <a:moveTo>
                    <a:pt x="292100" y="268605"/>
                  </a:moveTo>
                  <a:lnTo>
                    <a:pt x="273050" y="268605"/>
                  </a:lnTo>
                  <a:lnTo>
                    <a:pt x="254000" y="287655"/>
                  </a:lnTo>
                  <a:lnTo>
                    <a:pt x="292100" y="287655"/>
                  </a:lnTo>
                  <a:lnTo>
                    <a:pt x="292100" y="268605"/>
                  </a:lnTo>
                  <a:close/>
                </a:path>
                <a:path w="546100" h="306704">
                  <a:moveTo>
                    <a:pt x="431800" y="0"/>
                  </a:moveTo>
                  <a:lnTo>
                    <a:pt x="431800" y="114300"/>
                  </a:lnTo>
                  <a:lnTo>
                    <a:pt x="508000" y="76200"/>
                  </a:lnTo>
                  <a:lnTo>
                    <a:pt x="450850" y="76200"/>
                  </a:lnTo>
                  <a:lnTo>
                    <a:pt x="450850" y="38100"/>
                  </a:lnTo>
                  <a:lnTo>
                    <a:pt x="508000" y="38100"/>
                  </a:lnTo>
                  <a:lnTo>
                    <a:pt x="431800" y="0"/>
                  </a:lnTo>
                  <a:close/>
                </a:path>
                <a:path w="546100" h="306704">
                  <a:moveTo>
                    <a:pt x="292100" y="57150"/>
                  </a:moveTo>
                  <a:lnTo>
                    <a:pt x="273050" y="76200"/>
                  </a:lnTo>
                  <a:lnTo>
                    <a:pt x="292100" y="76200"/>
                  </a:lnTo>
                  <a:lnTo>
                    <a:pt x="292100" y="57150"/>
                  </a:lnTo>
                  <a:close/>
                </a:path>
                <a:path w="546100" h="306704">
                  <a:moveTo>
                    <a:pt x="431800" y="57150"/>
                  </a:moveTo>
                  <a:lnTo>
                    <a:pt x="292100" y="57150"/>
                  </a:lnTo>
                  <a:lnTo>
                    <a:pt x="292100" y="76200"/>
                  </a:lnTo>
                  <a:lnTo>
                    <a:pt x="431800" y="76200"/>
                  </a:lnTo>
                  <a:lnTo>
                    <a:pt x="431800" y="57150"/>
                  </a:lnTo>
                  <a:close/>
                </a:path>
                <a:path w="546100" h="306704">
                  <a:moveTo>
                    <a:pt x="508000" y="38100"/>
                  </a:moveTo>
                  <a:lnTo>
                    <a:pt x="450850" y="38100"/>
                  </a:lnTo>
                  <a:lnTo>
                    <a:pt x="450850" y="76200"/>
                  </a:lnTo>
                  <a:lnTo>
                    <a:pt x="508000" y="76200"/>
                  </a:lnTo>
                  <a:lnTo>
                    <a:pt x="546100" y="57150"/>
                  </a:lnTo>
                  <a:lnTo>
                    <a:pt x="508000" y="381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3059" y="168549"/>
            <a:ext cx="3500754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/>
              <a:t>Example:</a:t>
            </a:r>
            <a:r>
              <a:rPr sz="2800" spc="-60" dirty="0"/>
              <a:t> </a:t>
            </a:r>
            <a:r>
              <a:rPr sz="2800" spc="-10" dirty="0"/>
              <a:t>thread2.java</a:t>
            </a:r>
            <a:endParaRPr sz="2800"/>
          </a:p>
        </p:txBody>
      </p:sp>
      <p:sp>
        <p:nvSpPr>
          <p:cNvPr id="12" name="object 12"/>
          <p:cNvSpPr txBox="1"/>
          <p:nvPr/>
        </p:nvSpPr>
        <p:spPr>
          <a:xfrm>
            <a:off x="353060" y="655067"/>
            <a:ext cx="7072630" cy="947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9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//Program</a:t>
            </a:r>
            <a:r>
              <a:rPr sz="2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illustrates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creation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threads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Runnable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interface.</a:t>
            </a:r>
            <a:endParaRPr sz="2000">
              <a:latin typeface="Times New Roman"/>
              <a:cs typeface="Times New Roman"/>
            </a:endParaRPr>
          </a:p>
          <a:p>
            <a:pPr marL="323850" marR="2091689" indent="-311785">
              <a:lnSpc>
                <a:spcPts val="2400"/>
              </a:lnSpc>
              <a:spcBef>
                <a:spcPts val="70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ThreadExample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implements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Runnable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 </a:t>
            </a:r>
            <a:r>
              <a:rPr sz="2000" dirty="0">
                <a:latin typeface="Times New Roman"/>
                <a:cs typeface="Times New Roman"/>
              </a:rPr>
              <a:t>Thread</a:t>
            </a:r>
            <a:r>
              <a:rPr sz="2000" spc="-25" dirty="0">
                <a:latin typeface="Times New Roman"/>
                <a:cs typeface="Times New Roman"/>
              </a:rPr>
              <a:t> t;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12706" y="673356"/>
            <a:ext cx="127762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implements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3058" y="1567053"/>
            <a:ext cx="6007101" cy="27815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27430" marR="868044" indent="-63754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ThreadExample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(String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ThreadName)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 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(this,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ThreadName);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454659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void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()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027430" marR="5080">
              <a:lnSpc>
                <a:spcPts val="238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System.out.println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</a:t>
            </a:r>
            <a:r>
              <a:rPr sz="20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Thread.currentThread</a:t>
            </a:r>
            <a:r>
              <a:rPr sz="2000" b="1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5F"/>
                </a:solidFill>
                <a:latin typeface="Times New Roman"/>
                <a:cs typeface="Times New Roman"/>
              </a:rPr>
              <a:t>()</a:t>
            </a:r>
            <a:r>
              <a:rPr sz="2000" b="1" spc="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);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(int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=0;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&lt;=5;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i++)</a:t>
            </a:r>
            <a:endParaRPr sz="2000">
              <a:latin typeface="Times New Roman"/>
              <a:cs typeface="Times New Roman"/>
            </a:endParaRPr>
          </a:p>
          <a:p>
            <a:pPr marL="1027430">
              <a:lnSpc>
                <a:spcPts val="2335"/>
              </a:lnSpc>
            </a:pPr>
            <a:r>
              <a:rPr sz="2000" spc="-10" dirty="0">
                <a:latin typeface="Times New Roman"/>
                <a:cs typeface="Times New Roman"/>
              </a:rPr>
              <a:t>System.out.println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(i);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ts val="2390"/>
              </a:lnSpc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44944" y="4759832"/>
            <a:ext cx="135763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OUTPUT</a:t>
            </a:r>
            <a:r>
              <a:rPr sz="1800" spc="-1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3060" y="4311522"/>
            <a:ext cx="7231381" cy="21827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public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thread2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957580" marR="955040" indent="-50292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static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void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(String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args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])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r>
              <a:rPr sz="2000" spc="50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ThreadExample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ThreadExample(“First”); </a:t>
            </a:r>
            <a:r>
              <a:rPr sz="2000" dirty="0">
                <a:latin typeface="Times New Roman"/>
                <a:cs typeface="Times New Roman"/>
              </a:rPr>
              <a:t>obj.t.start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);</a:t>
            </a:r>
            <a:endParaRPr sz="2000">
              <a:latin typeface="Times New Roman"/>
              <a:cs typeface="Times New Roman"/>
            </a:endParaRPr>
          </a:p>
          <a:p>
            <a:pPr marL="96393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System.out.println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"This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is:"</a:t>
            </a:r>
            <a:r>
              <a:rPr sz="200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+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Thread.currentThread</a:t>
            </a:r>
            <a:r>
              <a:rPr sz="2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()</a:t>
            </a:r>
            <a:r>
              <a:rPr sz="2000" spc="-20" dirty="0">
                <a:latin typeface="Times New Roman"/>
                <a:cs typeface="Times New Roman"/>
              </a:rPr>
              <a:t>);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ts val="2390"/>
              </a:lnSpc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14309" y="5187950"/>
            <a:ext cx="4269105" cy="832278"/>
          </a:xfrm>
          <a:prstGeom prst="rect">
            <a:avLst/>
          </a:prstGeom>
          <a:ln w="38100">
            <a:solidFill>
              <a:srgbClr val="00AE5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229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This</a:t>
            </a:r>
            <a:r>
              <a:rPr sz="24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is: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Thread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[main,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5,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main]</a:t>
            </a:r>
            <a:endParaRPr sz="2400">
              <a:latin typeface="Times New Roman"/>
              <a:cs typeface="Times New Roman"/>
            </a:endParaRPr>
          </a:p>
          <a:p>
            <a:pPr marL="93980">
              <a:lnSpc>
                <a:spcPct val="100000"/>
              </a:lnSpc>
              <a:spcBef>
                <a:spcPts val="484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Thread</a:t>
            </a:r>
            <a:r>
              <a:rPr sz="24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[First,</a:t>
            </a:r>
            <a:r>
              <a:rPr sz="24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5,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main]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14080" y="212726"/>
            <a:ext cx="3232785" cy="371897"/>
          </a:xfrm>
          <a:prstGeom prst="rect">
            <a:avLst/>
          </a:prstGeom>
          <a:ln w="38100">
            <a:solidFill>
              <a:srgbClr val="C55A1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0345">
              <a:lnSpc>
                <a:spcPts val="2895"/>
              </a:lnSpc>
            </a:pPr>
            <a:r>
              <a:rPr sz="2800" b="1" spc="-10" dirty="0">
                <a:latin typeface="Arial"/>
                <a:cs typeface="Arial"/>
              </a:rPr>
              <a:t>Runnable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19465" y="1101089"/>
            <a:ext cx="3423285" cy="431528"/>
          </a:xfrm>
          <a:prstGeom prst="rect">
            <a:avLst/>
          </a:prstGeom>
          <a:ln w="38100">
            <a:solidFill>
              <a:srgbClr val="C55A11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5"/>
              </a:spcBef>
            </a:pPr>
            <a:r>
              <a:rPr sz="2800" b="1" spc="-10" dirty="0">
                <a:latin typeface="Arial"/>
                <a:cs typeface="Arial"/>
              </a:rPr>
              <a:t>ThreadExample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1400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67811" y="2218689"/>
            <a:ext cx="7548245" cy="445134"/>
            <a:chOff x="4067809" y="2218689"/>
            <a:chExt cx="7548245" cy="445134"/>
          </a:xfrm>
        </p:grpSpPr>
        <p:sp>
          <p:nvSpPr>
            <p:cNvPr id="3" name="object 3"/>
            <p:cNvSpPr/>
            <p:nvPr/>
          </p:nvSpPr>
          <p:spPr>
            <a:xfrm>
              <a:off x="4067809" y="2345054"/>
              <a:ext cx="7548245" cy="100965"/>
            </a:xfrm>
            <a:custGeom>
              <a:avLst/>
              <a:gdLst/>
              <a:ahLst/>
              <a:cxnLst/>
              <a:rect l="l" t="t" r="r" b="b"/>
              <a:pathLst>
                <a:path w="7548245" h="100964">
                  <a:moveTo>
                    <a:pt x="86994" y="13970"/>
                  </a:moveTo>
                  <a:lnTo>
                    <a:pt x="0" y="57150"/>
                  </a:lnTo>
                  <a:lnTo>
                    <a:pt x="86994" y="100965"/>
                  </a:lnTo>
                  <a:lnTo>
                    <a:pt x="86994" y="71755"/>
                  </a:lnTo>
                  <a:lnTo>
                    <a:pt x="2142490" y="71755"/>
                  </a:lnTo>
                  <a:lnTo>
                    <a:pt x="2142490" y="42545"/>
                  </a:lnTo>
                  <a:lnTo>
                    <a:pt x="86994" y="42545"/>
                  </a:lnTo>
                  <a:lnTo>
                    <a:pt x="86994" y="13970"/>
                  </a:lnTo>
                  <a:close/>
                </a:path>
                <a:path w="7548245" h="100964">
                  <a:moveTo>
                    <a:pt x="7461250" y="0"/>
                  </a:moveTo>
                  <a:lnTo>
                    <a:pt x="7461250" y="29210"/>
                  </a:lnTo>
                  <a:lnTo>
                    <a:pt x="5405755" y="29210"/>
                  </a:lnTo>
                  <a:lnTo>
                    <a:pt x="5405755" y="57785"/>
                  </a:lnTo>
                  <a:lnTo>
                    <a:pt x="7461250" y="57785"/>
                  </a:lnTo>
                  <a:lnTo>
                    <a:pt x="7461250" y="86995"/>
                  </a:lnTo>
                  <a:lnTo>
                    <a:pt x="7519034" y="57785"/>
                  </a:lnTo>
                  <a:lnTo>
                    <a:pt x="7548244" y="43815"/>
                  </a:lnTo>
                  <a:lnTo>
                    <a:pt x="74612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210299" y="2218689"/>
              <a:ext cx="3289300" cy="445134"/>
            </a:xfrm>
            <a:custGeom>
              <a:avLst/>
              <a:gdLst/>
              <a:ahLst/>
              <a:cxnLst/>
              <a:rect l="l" t="t" r="r" b="b"/>
              <a:pathLst>
                <a:path w="3289300" h="445135">
                  <a:moveTo>
                    <a:pt x="3289300" y="0"/>
                  </a:moveTo>
                  <a:lnTo>
                    <a:pt x="0" y="0"/>
                  </a:lnTo>
                  <a:lnTo>
                    <a:pt x="0" y="445135"/>
                  </a:lnTo>
                  <a:lnTo>
                    <a:pt x="3289300" y="445135"/>
                  </a:lnTo>
                  <a:lnTo>
                    <a:pt x="3289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6485" y="162454"/>
            <a:ext cx="4925061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/>
              <a:t>The</a:t>
            </a:r>
            <a:r>
              <a:rPr sz="2800" spc="-45" dirty="0"/>
              <a:t> </a:t>
            </a:r>
            <a:r>
              <a:rPr sz="2800" dirty="0"/>
              <a:t>Thread</a:t>
            </a:r>
            <a:r>
              <a:rPr sz="2800" spc="-30" dirty="0"/>
              <a:t> </a:t>
            </a:r>
            <a:r>
              <a:rPr sz="2800" dirty="0"/>
              <a:t>Class</a:t>
            </a:r>
            <a:r>
              <a:rPr sz="2800" spc="-35" dirty="0"/>
              <a:t> </a:t>
            </a:r>
            <a:r>
              <a:rPr sz="2800" dirty="0"/>
              <a:t>and</a:t>
            </a:r>
            <a:r>
              <a:rPr sz="2800" spc="-30" dirty="0"/>
              <a:t> </a:t>
            </a:r>
            <a:r>
              <a:rPr sz="2800" spc="-10" dirty="0"/>
              <a:t>Methods: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4145662" y="688596"/>
            <a:ext cx="72434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Following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methods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invoked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particular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Thread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object.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0512" y="1810893"/>
            <a:ext cx="294386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Some</a:t>
            </a:r>
            <a:r>
              <a:rPr sz="18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methods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1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available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38223" y="1844931"/>
            <a:ext cx="0" cy="347980"/>
          </a:xfrm>
          <a:custGeom>
            <a:avLst/>
            <a:gdLst/>
            <a:ahLst/>
            <a:cxnLst/>
            <a:rect l="l" t="t" r="r" b="b"/>
            <a:pathLst>
              <a:path h="347980">
                <a:moveTo>
                  <a:pt x="0" y="45720"/>
                </a:moveTo>
                <a:lnTo>
                  <a:pt x="0" y="0"/>
                </a:lnTo>
              </a:path>
              <a:path h="347980">
                <a:moveTo>
                  <a:pt x="0" y="91440"/>
                </a:moveTo>
                <a:lnTo>
                  <a:pt x="0" y="45720"/>
                </a:lnTo>
              </a:path>
              <a:path h="347980">
                <a:moveTo>
                  <a:pt x="0" y="137160"/>
                </a:moveTo>
                <a:lnTo>
                  <a:pt x="0" y="91439"/>
                </a:lnTo>
              </a:path>
              <a:path h="347980">
                <a:moveTo>
                  <a:pt x="0" y="182880"/>
                </a:moveTo>
                <a:lnTo>
                  <a:pt x="0" y="137160"/>
                </a:lnTo>
              </a:path>
              <a:path h="347980">
                <a:moveTo>
                  <a:pt x="0" y="228600"/>
                </a:moveTo>
                <a:lnTo>
                  <a:pt x="0" y="182879"/>
                </a:lnTo>
              </a:path>
              <a:path h="347980">
                <a:moveTo>
                  <a:pt x="0" y="274320"/>
                </a:moveTo>
                <a:lnTo>
                  <a:pt x="0" y="228600"/>
                </a:lnTo>
              </a:path>
              <a:path h="347980">
                <a:moveTo>
                  <a:pt x="0" y="320040"/>
                </a:moveTo>
                <a:lnTo>
                  <a:pt x="0" y="274320"/>
                </a:lnTo>
              </a:path>
              <a:path h="347980">
                <a:moveTo>
                  <a:pt x="0" y="347472"/>
                </a:moveTo>
                <a:lnTo>
                  <a:pt x="0" y="320039"/>
                </a:lnTo>
              </a:path>
            </a:pathLst>
          </a:custGeom>
          <a:ln w="9143">
            <a:solidFill>
              <a:srgbClr val="FE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90729" y="2180208"/>
          <a:ext cx="11285219" cy="4844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770"/>
                <a:gridCol w="2612389"/>
                <a:gridCol w="3289301"/>
                <a:gridCol w="2270759"/>
              </a:tblGrid>
              <a:tr h="690955">
                <a:tc>
                  <a:txBody>
                    <a:bodyPr/>
                    <a:lstStyle/>
                    <a:p>
                      <a:pPr marL="551815">
                        <a:lnSpc>
                          <a:spcPts val="2785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java.lang.Thread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06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0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53348">
                <a:tc>
                  <a:txBody>
                    <a:bodyPr/>
                    <a:lstStyle/>
                    <a:p>
                      <a:pPr marL="29845">
                        <a:lnSpc>
                          <a:spcPts val="1945"/>
                        </a:lnSpc>
                      </a:pPr>
                      <a:r>
                        <a:rPr sz="1800" spc="-1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+Thread()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+Thread(task:</a:t>
                      </a:r>
                      <a:r>
                        <a:rPr sz="1800" spc="-8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Runnable)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8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+start():</a:t>
                      </a:r>
                      <a:r>
                        <a:rPr sz="1800" spc="-7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void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+isAlive():</a:t>
                      </a:r>
                      <a:r>
                        <a:rPr sz="1800" spc="-7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boolean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800" spc="-1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+setPriority(p:</a:t>
                      </a:r>
                      <a:r>
                        <a:rPr sz="180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 int):</a:t>
                      </a:r>
                      <a:r>
                        <a:rPr sz="1800" spc="-2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 void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+join():</a:t>
                      </a:r>
                      <a:r>
                        <a:rPr sz="1800" spc="-1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void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+sleep(millis:</a:t>
                      </a:r>
                      <a:r>
                        <a:rPr sz="1800" spc="-25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long):</a:t>
                      </a:r>
                      <a:r>
                        <a:rPr sz="1800" spc="-2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void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+yield():</a:t>
                      </a:r>
                      <a:r>
                        <a:rPr sz="1800" spc="-1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void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+interrupt():</a:t>
                      </a:r>
                      <a:r>
                        <a:rPr sz="1800" spc="-1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void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469265">
                        <a:lnSpc>
                          <a:spcPts val="2320"/>
                        </a:lnSpc>
                      </a:pPr>
                      <a:r>
                        <a:rPr sz="200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Creates</a:t>
                      </a:r>
                      <a:r>
                        <a:rPr sz="2000" spc="-45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35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default</a:t>
                      </a:r>
                      <a:r>
                        <a:rPr sz="2000" spc="-45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thread.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6926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Creates</a:t>
                      </a:r>
                      <a:r>
                        <a:rPr sz="2000" spc="-45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35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2000" spc="-3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spc="-35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3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specified</a:t>
                      </a:r>
                      <a:r>
                        <a:rPr sz="2000" spc="-3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task.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69265" marR="344805">
                        <a:lnSpc>
                          <a:spcPts val="3220"/>
                        </a:lnSpc>
                        <a:spcBef>
                          <a:spcPts val="219"/>
                        </a:spcBef>
                      </a:pP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Starts</a:t>
                      </a:r>
                      <a:r>
                        <a:rPr sz="2000" spc="-5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2000" spc="-3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2000" spc="-3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causes</a:t>
                      </a:r>
                      <a:r>
                        <a:rPr sz="2000" spc="-4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run()</a:t>
                      </a:r>
                      <a:r>
                        <a:rPr sz="2000" spc="-1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2000" spc="-3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3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000" spc="-3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invoked</a:t>
                      </a:r>
                      <a:r>
                        <a:rPr sz="2000" spc="-2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2000" spc="-7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JVM. </a:t>
                      </a:r>
                      <a:r>
                        <a:rPr sz="200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Tests</a:t>
                      </a:r>
                      <a:r>
                        <a:rPr sz="2000" spc="-35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whether</a:t>
                      </a:r>
                      <a:r>
                        <a:rPr sz="2000" spc="-35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4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2000" spc="-35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55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currently</a:t>
                      </a:r>
                      <a:r>
                        <a:rPr sz="2000" spc="-75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running.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692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00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Sets</a:t>
                      </a:r>
                      <a:r>
                        <a:rPr sz="2000" spc="-4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priority</a:t>
                      </a:r>
                      <a:r>
                        <a:rPr sz="2000" spc="-6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spc="-2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(ranging</a:t>
                      </a:r>
                      <a:r>
                        <a:rPr sz="2000" spc="-15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2000" spc="-65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00" spc="5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2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10)</a:t>
                      </a:r>
                      <a:r>
                        <a:rPr sz="2000" spc="-4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spc="-25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2000" spc="-35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6E2E9F"/>
                          </a:solidFill>
                          <a:latin typeface="Times New Roman"/>
                          <a:cs typeface="Times New Roman"/>
                        </a:rPr>
                        <a:t>thread.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6926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200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Waits</a:t>
                      </a:r>
                      <a:r>
                        <a:rPr sz="2000" spc="-4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spc="-3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2000" spc="-35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2000" spc="-25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2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EB7B2F"/>
                          </a:solidFill>
                          <a:latin typeface="Times New Roman"/>
                          <a:cs typeface="Times New Roman"/>
                        </a:rPr>
                        <a:t>finish.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69265" marR="107314">
                        <a:lnSpc>
                          <a:spcPct val="1326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Puts</a:t>
                      </a:r>
                      <a:r>
                        <a:rPr sz="2000" spc="-45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runnable</a:t>
                      </a:r>
                      <a:r>
                        <a:rPr sz="2000" spc="-35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2000" spc="-4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45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sleep</a:t>
                      </a:r>
                      <a:r>
                        <a:rPr sz="2000" spc="-2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spc="-3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3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specified</a:t>
                      </a:r>
                      <a:r>
                        <a:rPr sz="2000" spc="-25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2000" spc="-25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000" spc="-25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5B9BD3"/>
                          </a:solidFill>
                          <a:latin typeface="Times New Roman"/>
                          <a:cs typeface="Times New Roman"/>
                        </a:rPr>
                        <a:t>milliseconds.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Causes</a:t>
                      </a:r>
                      <a:r>
                        <a:rPr sz="2000" spc="-4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2000" spc="-4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2000" spc="-2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2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temporarily</a:t>
                      </a:r>
                      <a:r>
                        <a:rPr sz="2000" spc="-7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pause</a:t>
                      </a:r>
                      <a:r>
                        <a:rPr sz="2000" spc="-3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3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allow</a:t>
                      </a:r>
                      <a:r>
                        <a:rPr sz="2000" spc="-7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2000" spc="-3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threads</a:t>
                      </a:r>
                      <a:r>
                        <a:rPr sz="2000" spc="-4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25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BD9000"/>
                          </a:solidFill>
                          <a:latin typeface="Times New Roman"/>
                          <a:cs typeface="Times New Roman"/>
                        </a:rPr>
                        <a:t>execute. </a:t>
                      </a:r>
                      <a:r>
                        <a:rPr sz="200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Interrupts</a:t>
                      </a:r>
                      <a:r>
                        <a:rPr sz="2000" spc="-65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2000" spc="-65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00AE50"/>
                          </a:solidFill>
                          <a:latin typeface="Times New Roman"/>
                          <a:cs typeface="Times New Roman"/>
                        </a:rPr>
                        <a:t>thread.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1824357" y="1703704"/>
            <a:ext cx="370205" cy="140335"/>
          </a:xfrm>
          <a:custGeom>
            <a:avLst/>
            <a:gdLst/>
            <a:ahLst/>
            <a:cxnLst/>
            <a:rect l="l" t="t" r="r" b="b"/>
            <a:pathLst>
              <a:path w="370205" h="140335">
                <a:moveTo>
                  <a:pt x="0" y="140335"/>
                </a:moveTo>
                <a:lnTo>
                  <a:pt x="184784" y="0"/>
                </a:lnTo>
                <a:lnTo>
                  <a:pt x="370205" y="140335"/>
                </a:lnTo>
                <a:lnTo>
                  <a:pt x="0" y="140335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3082" y="948689"/>
            <a:ext cx="3084830" cy="730969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760"/>
              </a:lnSpc>
            </a:pPr>
            <a:r>
              <a:rPr sz="2400" spc="-10" dirty="0">
                <a:latin typeface="Times New Roman"/>
                <a:cs typeface="Times New Roman"/>
              </a:rPr>
              <a:t>«interface»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2855"/>
              </a:lnSpc>
            </a:pPr>
            <a:r>
              <a:rPr sz="2400" i="1" spc="-10" dirty="0">
                <a:latin typeface="Times New Roman"/>
                <a:cs typeface="Times New Roman"/>
              </a:rPr>
              <a:t>java.lang.Runnable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422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667002"/>
            <a:ext cx="10515600" cy="1325563"/>
          </a:xfrm>
        </p:spPr>
        <p:txBody>
          <a:bodyPr/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Session 3: Creating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Threads, using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IsAlive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Join methods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0428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6" y="161954"/>
            <a:ext cx="7243445" cy="74507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340"/>
              </a:lnSpc>
              <a:spcBef>
                <a:spcPts val="110"/>
              </a:spcBef>
            </a:pPr>
            <a:r>
              <a:rPr sz="2800" dirty="0"/>
              <a:t>The</a:t>
            </a:r>
            <a:r>
              <a:rPr sz="2800" spc="-45" dirty="0"/>
              <a:t> </a:t>
            </a:r>
            <a:r>
              <a:rPr sz="2800" dirty="0"/>
              <a:t>Thread</a:t>
            </a:r>
            <a:r>
              <a:rPr sz="2800" spc="-30" dirty="0"/>
              <a:t> </a:t>
            </a:r>
            <a:r>
              <a:rPr sz="2800" dirty="0"/>
              <a:t>Class</a:t>
            </a:r>
            <a:r>
              <a:rPr sz="2800" spc="-35" dirty="0"/>
              <a:t> </a:t>
            </a:r>
            <a:r>
              <a:rPr sz="2800" dirty="0"/>
              <a:t>and</a:t>
            </a:r>
            <a:r>
              <a:rPr sz="2800" spc="-30" dirty="0"/>
              <a:t> </a:t>
            </a:r>
            <a:r>
              <a:rPr sz="2800" spc="-10" dirty="0"/>
              <a:t>Methods:</a:t>
            </a:r>
            <a:endParaRPr sz="2800"/>
          </a:p>
          <a:p>
            <a:pPr marL="12700">
              <a:lnSpc>
                <a:spcPts val="2380"/>
              </a:lnSpc>
            </a:pPr>
            <a:r>
              <a:rPr sz="2000" dirty="0">
                <a:solidFill>
                  <a:srgbClr val="000000"/>
                </a:solidFill>
              </a:rPr>
              <a:t>The</a:t>
            </a:r>
            <a:r>
              <a:rPr sz="2000" spc="-5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Following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methods</a:t>
            </a:r>
            <a:r>
              <a:rPr sz="2000" spc="-5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are</a:t>
            </a:r>
            <a:r>
              <a:rPr sz="2000" spc="-4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invoked</a:t>
            </a:r>
            <a:r>
              <a:rPr sz="2000" spc="-4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on</a:t>
            </a:r>
            <a:r>
              <a:rPr sz="2000" spc="-5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a</a:t>
            </a:r>
            <a:r>
              <a:rPr sz="2000" spc="-4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particular</a:t>
            </a:r>
            <a:r>
              <a:rPr sz="2000" spc="-4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Thread</a:t>
            </a:r>
            <a:r>
              <a:rPr sz="2000" spc="-50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object.</a:t>
            </a:r>
            <a:endParaRPr sz="2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1647" y="997332"/>
          <a:ext cx="11764645" cy="61275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760"/>
                <a:gridCol w="11017885"/>
              </a:tblGrid>
              <a:tr h="470647">
                <a:tc>
                  <a:txBody>
                    <a:bodyPr/>
                    <a:lstStyle/>
                    <a:p>
                      <a:pPr marL="31750">
                        <a:lnSpc>
                          <a:spcPts val="21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Sr.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15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</a:tr>
              <a:tr h="705971">
                <a:tc>
                  <a:txBody>
                    <a:bodyPr/>
                    <a:lstStyle/>
                    <a:p>
                      <a:pPr marL="31750">
                        <a:lnSpc>
                          <a:spcPts val="21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start()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ts val="213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Starts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separate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execution,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invokes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run()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Thread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object.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871855">
                <a:tc>
                  <a:txBody>
                    <a:bodyPr/>
                    <a:lstStyle/>
                    <a:p>
                      <a:pPr marL="31750">
                        <a:lnSpc>
                          <a:spcPts val="21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run()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8575" marR="307340">
                        <a:lnSpc>
                          <a:spcPts val="2160"/>
                        </a:lnSpc>
                        <a:spcBef>
                          <a:spcPts val="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instantiated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separate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Runnable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target,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run()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invoked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Runnable object.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05971">
                <a:tc>
                  <a:txBody>
                    <a:bodyPr/>
                    <a:lstStyle/>
                    <a:p>
                      <a:pPr marL="31750">
                        <a:lnSpc>
                          <a:spcPts val="21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18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setName(String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name)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ts val="213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Thread object.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There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getName()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retrieving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name.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31750">
                        <a:lnSpc>
                          <a:spcPts val="21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213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setPriority(int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priority)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ts val="215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Sets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priority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object.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possible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10.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97535">
                <a:tc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214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8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setDaemon(boolean</a:t>
                      </a:r>
                      <a:r>
                        <a:rPr sz="18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on)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ts val="214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parameter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true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denotes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Thread as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daemon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thread.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986118">
                <a:tc>
                  <a:txBody>
                    <a:bodyPr/>
                    <a:lstStyle/>
                    <a:p>
                      <a:pPr marL="31750">
                        <a:lnSpc>
                          <a:spcPts val="21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213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join(long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millisec)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28575" marR="225425">
                        <a:lnSpc>
                          <a:spcPts val="216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invokes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thread,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causing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block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until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thread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terminates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specified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milliseconds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passes.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97535">
                <a:tc>
                  <a:txBody>
                    <a:bodyPr/>
                    <a:lstStyle/>
                    <a:p>
                      <a:pPr marL="31750">
                        <a:lnSpc>
                          <a:spcPts val="210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interrupt()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ts val="213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Interrupts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thread,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causing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continue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execution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blocked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reason.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97535">
                <a:tc>
                  <a:txBody>
                    <a:bodyPr/>
                    <a:lstStyle/>
                    <a:p>
                      <a:pPr marL="31750">
                        <a:lnSpc>
                          <a:spcPts val="21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211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boolean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isAlive()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ts val="212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true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alive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8226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5" y="162454"/>
            <a:ext cx="4925061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/>
              <a:t>The</a:t>
            </a:r>
            <a:r>
              <a:rPr sz="2800" b="1" spc="-45" dirty="0"/>
              <a:t> </a:t>
            </a:r>
            <a:r>
              <a:rPr sz="2800" b="1" dirty="0"/>
              <a:t>Thread</a:t>
            </a:r>
            <a:r>
              <a:rPr sz="2800" b="1" spc="-30" dirty="0"/>
              <a:t> </a:t>
            </a:r>
            <a:r>
              <a:rPr sz="2800" b="1" dirty="0"/>
              <a:t>Class</a:t>
            </a:r>
            <a:r>
              <a:rPr sz="2800" b="1" spc="-35" dirty="0"/>
              <a:t> </a:t>
            </a:r>
            <a:r>
              <a:rPr sz="2800" b="1" dirty="0"/>
              <a:t>and</a:t>
            </a:r>
            <a:r>
              <a:rPr sz="2800" b="1" spc="-30" dirty="0"/>
              <a:t> </a:t>
            </a:r>
            <a:r>
              <a:rPr sz="2800" b="1" spc="-10" dirty="0"/>
              <a:t>Methods:</a:t>
            </a:r>
            <a:endParaRPr sz="28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316484" y="679830"/>
            <a:ext cx="1078103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static.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Invoking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methods </a:t>
            </a:r>
            <a:r>
              <a:rPr sz="2400" dirty="0">
                <a:latin typeface="Times New Roman"/>
                <a:cs typeface="Times New Roman"/>
              </a:rPr>
              <a:t>performs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 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currently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running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thread.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782943"/>
              </p:ext>
            </p:extLst>
          </p:nvPr>
        </p:nvGraphicFramePr>
        <p:xfrm>
          <a:off x="316487" y="1489531"/>
          <a:ext cx="11548745" cy="50271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6950"/>
                <a:gridCol w="10551795"/>
              </a:tblGrid>
              <a:tr h="727411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Sr.</a:t>
                      </a:r>
                      <a:r>
                        <a:rPr sz="2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2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2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2375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yield()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3815" marR="285115">
                        <a:lnSpc>
                          <a:spcPts val="2420"/>
                        </a:lnSpc>
                        <a:spcBef>
                          <a:spcPts val="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Causes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currently</a:t>
                      </a:r>
                      <a:r>
                        <a:rPr sz="20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running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yield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threads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same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priority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waiting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scheduled.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816349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2365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2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sleep(long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millisec)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ts val="236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Causes</a:t>
                      </a:r>
                      <a:r>
                        <a:rPr sz="20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currently</a:t>
                      </a:r>
                      <a:r>
                        <a:rPr sz="20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running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block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least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specified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milliseconds.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2375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boolean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holdsLock(Object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x)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ts val="23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true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holds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lock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given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Object.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816349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2365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sz="20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20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currentThread()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ts val="236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sz="20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reference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currently</a:t>
                      </a:r>
                      <a:r>
                        <a:rPr sz="20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running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thread,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thread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invokes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200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method.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2375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dumpStack()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43815" marR="78105">
                        <a:lnSpc>
                          <a:spcPts val="243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Prints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stack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trace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currently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running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thread,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useful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debugging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multithreaded application.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34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627" y="2391410"/>
            <a:ext cx="3133725" cy="922655"/>
          </a:xfrm>
          <a:custGeom>
            <a:avLst/>
            <a:gdLst/>
            <a:ahLst/>
            <a:cxnLst/>
            <a:rect l="l" t="t" r="r" b="b"/>
            <a:pathLst>
              <a:path w="3133725" h="922654">
                <a:moveTo>
                  <a:pt x="0" y="922654"/>
                </a:moveTo>
                <a:lnTo>
                  <a:pt x="3133725" y="922654"/>
                </a:lnTo>
                <a:lnTo>
                  <a:pt x="3133725" y="460375"/>
                </a:lnTo>
                <a:lnTo>
                  <a:pt x="0" y="460375"/>
                </a:lnTo>
                <a:lnTo>
                  <a:pt x="0" y="922654"/>
                </a:lnTo>
                <a:close/>
              </a:path>
              <a:path w="3133725" h="922654">
                <a:moveTo>
                  <a:pt x="0" y="443864"/>
                </a:moveTo>
                <a:lnTo>
                  <a:pt x="1237614" y="443864"/>
                </a:lnTo>
                <a:lnTo>
                  <a:pt x="1237614" y="0"/>
                </a:lnTo>
                <a:lnTo>
                  <a:pt x="0" y="0"/>
                </a:lnTo>
                <a:lnTo>
                  <a:pt x="0" y="443864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8530" y="636780"/>
            <a:ext cx="11019790" cy="267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180" indent="-34544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24180" algn="l"/>
                <a:tab pos="42481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alive.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alive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died.</a:t>
            </a:r>
            <a:endParaRPr sz="2400">
              <a:latin typeface="Times New Roman"/>
              <a:cs typeface="Times New Roman"/>
            </a:endParaRPr>
          </a:p>
          <a:p>
            <a:pPr marL="424180" indent="-345440">
              <a:lnSpc>
                <a:spcPct val="100000"/>
              </a:lnSpc>
              <a:buFont typeface="Arial"/>
              <a:buChar char="•"/>
              <a:tabLst>
                <a:tab pos="424180" algn="l"/>
                <a:tab pos="424815" algn="l"/>
              </a:tabLst>
            </a:pP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thread.</a:t>
            </a:r>
            <a:endParaRPr sz="2400">
              <a:latin typeface="Times New Roman"/>
              <a:cs typeface="Times New Roman"/>
            </a:endParaRPr>
          </a:p>
          <a:p>
            <a:pPr marL="957580" lvl="1" indent="-42164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957580" algn="l"/>
                <a:tab pos="958215" algn="l"/>
              </a:tabLst>
            </a:pPr>
            <a:r>
              <a:rPr sz="2400" dirty="0">
                <a:latin typeface="Times New Roman"/>
                <a:cs typeface="Times New Roman"/>
              </a:rPr>
              <a:t>returns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true: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Ready,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Blocked,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Running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</a:t>
            </a:r>
            <a:endParaRPr sz="2400">
              <a:latin typeface="Times New Roman"/>
              <a:cs typeface="Times New Roman"/>
            </a:endParaRPr>
          </a:p>
          <a:p>
            <a:pPr marL="957580" lvl="1" indent="-421640">
              <a:lnSpc>
                <a:spcPct val="100000"/>
              </a:lnSpc>
              <a:buFont typeface="Arial"/>
              <a:buChar char="•"/>
              <a:tabLst>
                <a:tab pos="957580" algn="l"/>
                <a:tab pos="958215" algn="l"/>
              </a:tabLst>
            </a:pPr>
            <a:r>
              <a:rPr sz="2400" dirty="0">
                <a:latin typeface="Times New Roman"/>
                <a:cs typeface="Times New Roman"/>
              </a:rPr>
              <a:t>returns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false: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finished.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50">
              <a:latin typeface="Times New Roman"/>
              <a:cs typeface="Times New Roman"/>
            </a:endParaRPr>
          </a:p>
          <a:p>
            <a:pPr marL="115570">
              <a:lnSpc>
                <a:spcPct val="100000"/>
              </a:lnSpc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Syntax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  <a:spcBef>
                <a:spcPts val="819"/>
              </a:spcBef>
            </a:pPr>
            <a:r>
              <a:rPr sz="2400" b="1" dirty="0">
                <a:latin typeface="Times New Roman"/>
                <a:cs typeface="Times New Roman"/>
              </a:rPr>
              <a:t>final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boolean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isAlive(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5836" y="199100"/>
            <a:ext cx="5890895" cy="43024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dirty="0"/>
              <a:t>Thread</a:t>
            </a:r>
            <a:r>
              <a:rPr sz="2700" spc="-70" dirty="0"/>
              <a:t> </a:t>
            </a:r>
            <a:r>
              <a:rPr sz="2700" dirty="0"/>
              <a:t>Methods:</a:t>
            </a:r>
            <a:r>
              <a:rPr sz="2700" spc="-50" dirty="0"/>
              <a:t> </a:t>
            </a:r>
            <a:r>
              <a:rPr sz="2700" dirty="0">
                <a:solidFill>
                  <a:srgbClr val="006EC0"/>
                </a:solidFill>
              </a:rPr>
              <a:t>The</a:t>
            </a:r>
            <a:r>
              <a:rPr sz="2700" spc="-70" dirty="0">
                <a:solidFill>
                  <a:srgbClr val="006EC0"/>
                </a:solidFill>
              </a:rPr>
              <a:t> </a:t>
            </a:r>
            <a:r>
              <a:rPr sz="2700" dirty="0">
                <a:solidFill>
                  <a:srgbClr val="006EC0"/>
                </a:solidFill>
              </a:rPr>
              <a:t>isAlive()</a:t>
            </a:r>
            <a:r>
              <a:rPr sz="2700" spc="-70" dirty="0">
                <a:solidFill>
                  <a:srgbClr val="006EC0"/>
                </a:solidFill>
              </a:rPr>
              <a:t> </a:t>
            </a:r>
            <a:r>
              <a:rPr sz="2700" spc="-10" dirty="0">
                <a:solidFill>
                  <a:srgbClr val="006EC0"/>
                </a:solidFill>
              </a:rPr>
              <a:t>Method:</a:t>
            </a:r>
            <a:endParaRPr sz="2700"/>
          </a:p>
        </p:txBody>
      </p:sp>
      <p:sp>
        <p:nvSpPr>
          <p:cNvPr id="5" name="object 5"/>
          <p:cNvSpPr txBox="1"/>
          <p:nvPr/>
        </p:nvSpPr>
        <p:spPr>
          <a:xfrm>
            <a:off x="465837" y="3433014"/>
            <a:ext cx="6686550" cy="4597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Thread</a:t>
            </a:r>
            <a:r>
              <a:rPr sz="29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Methods:</a:t>
            </a:r>
            <a:r>
              <a:rPr sz="29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00" b="1" dirty="0">
                <a:solidFill>
                  <a:srgbClr val="006EC0"/>
                </a:solidFill>
                <a:latin typeface="Times New Roman"/>
                <a:cs typeface="Times New Roman"/>
              </a:rPr>
              <a:t>The</a:t>
            </a:r>
            <a:r>
              <a:rPr sz="2900" b="1" spc="-10" dirty="0">
                <a:solidFill>
                  <a:srgbClr val="006EC0"/>
                </a:solidFill>
                <a:latin typeface="Times New Roman"/>
                <a:cs typeface="Times New Roman"/>
              </a:rPr>
              <a:t> </a:t>
            </a:r>
            <a:r>
              <a:rPr sz="2900" b="1" dirty="0">
                <a:solidFill>
                  <a:srgbClr val="006EC0"/>
                </a:solidFill>
                <a:latin typeface="Times New Roman"/>
                <a:cs typeface="Times New Roman"/>
              </a:rPr>
              <a:t>interrupt</a:t>
            </a:r>
            <a:r>
              <a:rPr sz="2900" b="1" spc="-25" dirty="0">
                <a:solidFill>
                  <a:srgbClr val="006EC0"/>
                </a:solidFill>
                <a:latin typeface="Times New Roman"/>
                <a:cs typeface="Times New Roman"/>
              </a:rPr>
              <a:t> </a:t>
            </a:r>
            <a:r>
              <a:rPr sz="2900" b="1" dirty="0">
                <a:solidFill>
                  <a:srgbClr val="006EC0"/>
                </a:solidFill>
                <a:latin typeface="Times New Roman"/>
                <a:cs typeface="Times New Roman"/>
              </a:rPr>
              <a:t>()</a:t>
            </a:r>
            <a:r>
              <a:rPr sz="2900" b="1" spc="-20" dirty="0">
                <a:solidFill>
                  <a:srgbClr val="006EC0"/>
                </a:solidFill>
                <a:latin typeface="Times New Roman"/>
                <a:cs typeface="Times New Roman"/>
              </a:rPr>
              <a:t> </a:t>
            </a:r>
            <a:r>
              <a:rPr sz="2900" b="1" spc="-10" dirty="0">
                <a:solidFill>
                  <a:srgbClr val="006EC0"/>
                </a:solidFill>
                <a:latin typeface="Times New Roman"/>
                <a:cs typeface="Times New Roman"/>
              </a:rPr>
              <a:t>Method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838" y="4125597"/>
            <a:ext cx="11110595" cy="222022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4330" marR="7620" indent="-342265" algn="just">
              <a:lnSpc>
                <a:spcPct val="99200"/>
              </a:lnSpc>
              <a:spcBef>
                <a:spcPts val="12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sleeping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waiting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(i.e.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sleep()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wait()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invoked),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calling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interrupt()</a:t>
            </a:r>
            <a:r>
              <a:rPr sz="2400" spc="45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4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4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5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thread,</a:t>
            </a:r>
            <a:r>
              <a:rPr sz="2400" spc="4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breaks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4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5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sleeping</a:t>
            </a:r>
            <a:r>
              <a:rPr sz="2400" spc="4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48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waiting</a:t>
            </a:r>
            <a:r>
              <a:rPr sz="2400" spc="4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4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throwing InterruptedException.</a:t>
            </a:r>
            <a:endParaRPr sz="2400">
              <a:latin typeface="Times New Roman"/>
              <a:cs typeface="Times New Roman"/>
            </a:endParaRPr>
          </a:p>
          <a:p>
            <a:pPr marL="354330" marR="5080" indent="-342265" algn="just">
              <a:lnSpc>
                <a:spcPct val="99700"/>
              </a:lnSpc>
              <a:spcBef>
                <a:spcPts val="3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5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5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sleeping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5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waiting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state,</a:t>
            </a:r>
            <a:r>
              <a:rPr sz="2400" spc="5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calling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interrupt()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 </a:t>
            </a:r>
            <a:r>
              <a:rPr sz="2400" dirty="0">
                <a:latin typeface="Times New Roman"/>
                <a:cs typeface="Times New Roman"/>
              </a:rPr>
              <a:t>performs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normal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behavior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doesn't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interrupt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sets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interrupt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flag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true.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92342" y="3430271"/>
            <a:ext cx="2478405" cy="34689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305"/>
              </a:spcBef>
            </a:pPr>
            <a:r>
              <a:rPr sz="2000" b="1" spc="-10" dirty="0">
                <a:latin typeface="Times New Roman"/>
                <a:cs typeface="Times New Roman"/>
              </a:rPr>
              <a:t>threadInterrupt.java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9695" y="187325"/>
            <a:ext cx="2179320" cy="345607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95"/>
              </a:spcBef>
            </a:pPr>
            <a:r>
              <a:rPr sz="2000" b="1" spc="-10" dirty="0">
                <a:latin typeface="Times New Roman"/>
                <a:cs typeface="Times New Roman"/>
              </a:rPr>
              <a:t>threadisAlive.java</a:t>
            </a:r>
            <a:endParaRPr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35288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2872" y="2407920"/>
            <a:ext cx="11751310" cy="4145915"/>
            <a:chOff x="372872" y="2407920"/>
            <a:chExt cx="11751310" cy="4145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3825" y="2407920"/>
              <a:ext cx="6920230" cy="41459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7350" y="3094990"/>
              <a:ext cx="5210810" cy="401320"/>
            </a:xfrm>
            <a:custGeom>
              <a:avLst/>
              <a:gdLst/>
              <a:ahLst/>
              <a:cxnLst/>
              <a:rect l="l" t="t" r="r" b="b"/>
              <a:pathLst>
                <a:path w="5210810" h="401320">
                  <a:moveTo>
                    <a:pt x="0" y="401320"/>
                  </a:moveTo>
                  <a:lnTo>
                    <a:pt x="5210810" y="401320"/>
                  </a:lnTo>
                  <a:lnTo>
                    <a:pt x="5210810" y="0"/>
                  </a:lnTo>
                  <a:lnTo>
                    <a:pt x="0" y="0"/>
                  </a:lnTo>
                  <a:lnTo>
                    <a:pt x="0" y="401320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7350" y="2635885"/>
              <a:ext cx="3289300" cy="445134"/>
            </a:xfrm>
            <a:custGeom>
              <a:avLst/>
              <a:gdLst/>
              <a:ahLst/>
              <a:cxnLst/>
              <a:rect l="l" t="t" r="r" b="b"/>
              <a:pathLst>
                <a:path w="3289300" h="445135">
                  <a:moveTo>
                    <a:pt x="0" y="445135"/>
                  </a:moveTo>
                  <a:lnTo>
                    <a:pt x="3289300" y="445135"/>
                  </a:lnTo>
                  <a:lnTo>
                    <a:pt x="3289300" y="0"/>
                  </a:lnTo>
                  <a:lnTo>
                    <a:pt x="0" y="0"/>
                  </a:lnTo>
                  <a:lnTo>
                    <a:pt x="0" y="445135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4534" y="5161281"/>
            <a:ext cx="3138170" cy="655949"/>
          </a:xfrm>
          <a:prstGeom prst="rect">
            <a:avLst/>
          </a:prstGeom>
          <a:ln w="19811">
            <a:solidFill>
              <a:srgbClr val="FF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433705" indent="-34480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33705" algn="l"/>
                <a:tab pos="43434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Threadwithoutjoin.java</a:t>
            </a:r>
            <a:endParaRPr sz="2000">
              <a:latin typeface="Times New Roman"/>
              <a:cs typeface="Times New Roman"/>
            </a:endParaRPr>
          </a:p>
          <a:p>
            <a:pPr marL="433705" indent="-344805">
              <a:lnSpc>
                <a:spcPct val="100000"/>
              </a:lnSpc>
              <a:buAutoNum type="arabicPeriod"/>
              <a:tabLst>
                <a:tab pos="433705" algn="l"/>
                <a:tab pos="43434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Threadjoin.java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7257" y="664210"/>
            <a:ext cx="11463021" cy="2852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2909" marR="5080" indent="-342265" algn="just">
              <a:lnSpc>
                <a:spcPct val="99700"/>
              </a:lnSpc>
              <a:spcBef>
                <a:spcPts val="105"/>
              </a:spcBef>
              <a:buFont typeface="Arial"/>
              <a:buChar char="•"/>
              <a:tabLst>
                <a:tab pos="423545" algn="l"/>
              </a:tabLst>
            </a:pPr>
            <a:r>
              <a:rPr sz="2400" dirty="0">
                <a:latin typeface="Times New Roman"/>
                <a:cs typeface="Times New Roman"/>
              </a:rPr>
              <a:t>join()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waiting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execution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until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join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completed.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Remember,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wait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execution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wait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until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completed.</a:t>
            </a:r>
            <a:endParaRPr sz="2400">
              <a:latin typeface="Times New Roman"/>
              <a:cs typeface="Times New Roman"/>
            </a:endParaRPr>
          </a:p>
          <a:p>
            <a:pPr marL="422909" indent="-342900" algn="just">
              <a:lnSpc>
                <a:spcPct val="100000"/>
              </a:lnSpc>
              <a:buFont typeface="Arial"/>
              <a:buChar char="•"/>
              <a:tabLst>
                <a:tab pos="423545" algn="l"/>
              </a:tabLst>
            </a:pPr>
            <a:r>
              <a:rPr sz="2400" spc="-75" dirty="0">
                <a:latin typeface="Times New Roman"/>
                <a:cs typeface="Times New Roman"/>
              </a:rPr>
              <a:t>You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join()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 thread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wait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another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finish.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50">
              <a:latin typeface="Times New Roman"/>
              <a:cs typeface="Times New Roman"/>
            </a:endParaRPr>
          </a:p>
          <a:p>
            <a:pPr marL="1141730">
              <a:lnSpc>
                <a:spcPct val="100000"/>
              </a:lnSpc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Syntax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  <a:spcBef>
                <a:spcPts val="640"/>
              </a:spcBef>
            </a:pPr>
            <a:r>
              <a:rPr sz="2000" b="1" dirty="0">
                <a:latin typeface="Times New Roman"/>
                <a:cs typeface="Times New Roman"/>
              </a:rPr>
              <a:t>final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void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join(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)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throws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InterruptedException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65837" y="122759"/>
            <a:ext cx="5756910" cy="4597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/>
              <a:t>Thread</a:t>
            </a:r>
            <a:r>
              <a:rPr sz="2900" spc="-25" dirty="0"/>
              <a:t> </a:t>
            </a:r>
            <a:r>
              <a:rPr sz="2900" dirty="0"/>
              <a:t>Methods:</a:t>
            </a:r>
            <a:r>
              <a:rPr sz="2900" spc="-20" dirty="0"/>
              <a:t> </a:t>
            </a:r>
            <a:r>
              <a:rPr sz="2900" dirty="0">
                <a:solidFill>
                  <a:srgbClr val="006EC0"/>
                </a:solidFill>
              </a:rPr>
              <a:t>The</a:t>
            </a:r>
            <a:r>
              <a:rPr sz="2900" spc="-10" dirty="0">
                <a:solidFill>
                  <a:srgbClr val="006EC0"/>
                </a:solidFill>
              </a:rPr>
              <a:t> </a:t>
            </a:r>
            <a:r>
              <a:rPr sz="2900" dirty="0">
                <a:solidFill>
                  <a:srgbClr val="006EC0"/>
                </a:solidFill>
              </a:rPr>
              <a:t>join()</a:t>
            </a:r>
            <a:r>
              <a:rPr sz="2900" spc="-20" dirty="0">
                <a:solidFill>
                  <a:srgbClr val="006EC0"/>
                </a:solidFill>
              </a:rPr>
              <a:t> </a:t>
            </a:r>
            <a:r>
              <a:rPr sz="2900" spc="-10" dirty="0">
                <a:solidFill>
                  <a:srgbClr val="006EC0"/>
                </a:solidFill>
              </a:rPr>
              <a:t>Method</a:t>
            </a:r>
            <a:endParaRPr sz="2900"/>
          </a:p>
        </p:txBody>
      </p:sp>
    </p:spTree>
    <p:extLst>
      <p:ext uri="{BB962C8B-B14F-4D97-AF65-F5344CB8AC3E}">
        <p14:creationId xmlns:p14="http://schemas.microsoft.com/office/powerpoint/2010/main" val="641698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1" y="2424430"/>
            <a:ext cx="2687320" cy="399415"/>
          </a:xfrm>
          <a:custGeom>
            <a:avLst/>
            <a:gdLst/>
            <a:ahLst/>
            <a:cxnLst/>
            <a:rect l="l" t="t" r="r" b="b"/>
            <a:pathLst>
              <a:path w="2687320" h="399414">
                <a:moveTo>
                  <a:pt x="0" y="399414"/>
                </a:moveTo>
                <a:lnTo>
                  <a:pt x="2687320" y="399414"/>
                </a:lnTo>
                <a:lnTo>
                  <a:pt x="2687320" y="0"/>
                </a:lnTo>
                <a:lnTo>
                  <a:pt x="0" y="0"/>
                </a:lnTo>
                <a:lnTo>
                  <a:pt x="0" y="399414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6769" y="1980565"/>
            <a:ext cx="1237615" cy="407804"/>
          </a:xfrm>
          <a:prstGeom prst="rect">
            <a:avLst/>
          </a:prstGeom>
          <a:ln w="19812">
            <a:solidFill>
              <a:srgbClr val="FF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300"/>
              </a:spcBef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Syntax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838" y="2387405"/>
            <a:ext cx="11191875" cy="114813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620"/>
              </a:spcBef>
            </a:pPr>
            <a:r>
              <a:rPr sz="2000" b="1" dirty="0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2000" b="1" spc="-4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699"/>
                </a:solidFill>
                <a:latin typeface="Times New Roman"/>
                <a:cs typeface="Times New Roman"/>
              </a:rPr>
              <a:t>final</a:t>
            </a:r>
            <a:r>
              <a:rPr sz="2000" b="1" spc="-4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699"/>
                </a:solidFill>
                <a:latin typeface="Times New Roman"/>
                <a:cs typeface="Times New Roman"/>
              </a:rPr>
              <a:t>void</a:t>
            </a:r>
            <a:r>
              <a:rPr sz="2000" b="1" spc="-3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stop()</a:t>
            </a:r>
            <a:endParaRPr sz="2000">
              <a:latin typeface="Times New Roman"/>
              <a:cs typeface="Times New Roman"/>
            </a:endParaRPr>
          </a:p>
          <a:p>
            <a:pPr marL="353695" marR="5080" indent="-341630">
              <a:lnSpc>
                <a:spcPct val="101400"/>
              </a:lnSpc>
              <a:spcBef>
                <a:spcPts val="590"/>
              </a:spcBef>
              <a:buFont typeface="Arial"/>
              <a:buChar char="•"/>
              <a:tabLst>
                <a:tab pos="353695" algn="l"/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suspend()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running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waiting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if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start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again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certain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occurs.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5501" y="4060191"/>
            <a:ext cx="3086101" cy="401320"/>
          </a:xfrm>
          <a:custGeom>
            <a:avLst/>
            <a:gdLst/>
            <a:ahLst/>
            <a:cxnLst/>
            <a:rect l="l" t="t" r="r" b="b"/>
            <a:pathLst>
              <a:path w="3086100" h="401320">
                <a:moveTo>
                  <a:pt x="0" y="401319"/>
                </a:moveTo>
                <a:lnTo>
                  <a:pt x="3086100" y="401319"/>
                </a:lnTo>
                <a:lnTo>
                  <a:pt x="3086100" y="0"/>
                </a:lnTo>
                <a:lnTo>
                  <a:pt x="0" y="0"/>
                </a:lnTo>
                <a:lnTo>
                  <a:pt x="0" y="401319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26769" y="3617596"/>
            <a:ext cx="1237615" cy="405239"/>
          </a:xfrm>
          <a:prstGeom prst="rect">
            <a:avLst/>
          </a:prstGeom>
          <a:ln w="19812">
            <a:solidFill>
              <a:srgbClr val="FF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280"/>
              </a:spcBef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Syntax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836" y="3953687"/>
            <a:ext cx="11387455" cy="1520288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451484" algn="just">
              <a:lnSpc>
                <a:spcPct val="100000"/>
              </a:lnSpc>
              <a:spcBef>
                <a:spcPts val="1155"/>
              </a:spcBef>
            </a:pPr>
            <a:r>
              <a:rPr sz="2000" b="1" dirty="0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2000" b="1" spc="-4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699"/>
                </a:solidFill>
                <a:latin typeface="Times New Roman"/>
                <a:cs typeface="Times New Roman"/>
              </a:rPr>
              <a:t>final</a:t>
            </a:r>
            <a:r>
              <a:rPr sz="2000" b="1" spc="-4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699"/>
                </a:solidFill>
                <a:latin typeface="Times New Roman"/>
                <a:cs typeface="Times New Roman"/>
              </a:rPr>
              <a:t>void</a:t>
            </a:r>
            <a:r>
              <a:rPr sz="2000" b="1" spc="-3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suspend()</a:t>
            </a:r>
            <a:endParaRPr sz="20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00000"/>
              </a:lnSpc>
              <a:spcBef>
                <a:spcPts val="1055"/>
              </a:spcBef>
              <a:buFont typeface="Arial"/>
              <a:buChar char="•"/>
              <a:tabLst>
                <a:tab pos="29972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resume()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thread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suspend()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method.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resume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thread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suspended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suspend()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method.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suspended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thread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start again.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65836" y="122759"/>
            <a:ext cx="11146155" cy="4597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/>
              <a:t>Thread</a:t>
            </a:r>
            <a:r>
              <a:rPr sz="2900" spc="-35" dirty="0"/>
              <a:t> </a:t>
            </a:r>
            <a:r>
              <a:rPr sz="2900" dirty="0"/>
              <a:t>Methods:</a:t>
            </a:r>
            <a:r>
              <a:rPr sz="2900" spc="-35" dirty="0"/>
              <a:t> </a:t>
            </a:r>
            <a:r>
              <a:rPr sz="2900" dirty="0"/>
              <a:t>deprecated:</a:t>
            </a:r>
            <a:r>
              <a:rPr sz="2900" spc="-15" dirty="0"/>
              <a:t> </a:t>
            </a:r>
            <a:r>
              <a:rPr sz="2900" dirty="0">
                <a:solidFill>
                  <a:srgbClr val="006EC0"/>
                </a:solidFill>
              </a:rPr>
              <a:t>stop(),</a:t>
            </a:r>
            <a:r>
              <a:rPr sz="2900" spc="-35" dirty="0">
                <a:solidFill>
                  <a:srgbClr val="006EC0"/>
                </a:solidFill>
              </a:rPr>
              <a:t> </a:t>
            </a:r>
            <a:r>
              <a:rPr sz="2900" dirty="0">
                <a:solidFill>
                  <a:srgbClr val="006EC0"/>
                </a:solidFill>
              </a:rPr>
              <a:t>suspend(),</a:t>
            </a:r>
            <a:r>
              <a:rPr sz="2900" spc="-30" dirty="0">
                <a:solidFill>
                  <a:srgbClr val="006EC0"/>
                </a:solidFill>
              </a:rPr>
              <a:t> </a:t>
            </a:r>
            <a:r>
              <a:rPr sz="2900" dirty="0">
                <a:solidFill>
                  <a:srgbClr val="006EC0"/>
                </a:solidFill>
              </a:rPr>
              <a:t>and</a:t>
            </a:r>
            <a:r>
              <a:rPr sz="2900" spc="-30" dirty="0">
                <a:solidFill>
                  <a:srgbClr val="006EC0"/>
                </a:solidFill>
              </a:rPr>
              <a:t> </a:t>
            </a:r>
            <a:r>
              <a:rPr sz="2900" dirty="0">
                <a:solidFill>
                  <a:srgbClr val="006EC0"/>
                </a:solidFill>
              </a:rPr>
              <a:t>resume()</a:t>
            </a:r>
            <a:r>
              <a:rPr sz="2900" spc="-30" dirty="0">
                <a:solidFill>
                  <a:srgbClr val="006EC0"/>
                </a:solidFill>
              </a:rPr>
              <a:t> </a:t>
            </a:r>
            <a:r>
              <a:rPr sz="2900" spc="-10" dirty="0">
                <a:solidFill>
                  <a:srgbClr val="006EC0"/>
                </a:solidFill>
              </a:rPr>
              <a:t>Methods</a:t>
            </a:r>
            <a:endParaRPr sz="2900"/>
          </a:p>
        </p:txBody>
      </p:sp>
      <p:sp>
        <p:nvSpPr>
          <p:cNvPr id="9" name="object 9"/>
          <p:cNvSpPr txBox="1"/>
          <p:nvPr/>
        </p:nvSpPr>
        <p:spPr>
          <a:xfrm>
            <a:off x="465835" y="658114"/>
            <a:ext cx="11402061" cy="1232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2265" algn="just">
              <a:lnSpc>
                <a:spcPct val="994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Whenever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want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thread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running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calling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stop()</a:t>
            </a:r>
            <a:r>
              <a:rPr sz="2000" b="1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Thread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Java.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execution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running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thread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removes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waiting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threads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pool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garbage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collected.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thread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move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dead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automatically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reaches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its </a:t>
            </a:r>
            <a:r>
              <a:rPr sz="2000" dirty="0">
                <a:latin typeface="Times New Roman"/>
                <a:cs typeface="Times New Roman"/>
              </a:rPr>
              <a:t>method.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stop()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b="1" dirty="0">
                <a:latin typeface="Times New Roman"/>
                <a:cs typeface="Times New Roman"/>
              </a:rPr>
              <a:t>deprecated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Java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thread-safety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issues.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5499" y="6156959"/>
            <a:ext cx="2999741" cy="401320"/>
          </a:xfrm>
          <a:custGeom>
            <a:avLst/>
            <a:gdLst/>
            <a:ahLst/>
            <a:cxnLst/>
            <a:rect l="l" t="t" r="r" b="b"/>
            <a:pathLst>
              <a:path w="2999740" h="401320">
                <a:moveTo>
                  <a:pt x="0" y="401319"/>
                </a:moveTo>
                <a:lnTo>
                  <a:pt x="2999740" y="401319"/>
                </a:lnTo>
                <a:lnTo>
                  <a:pt x="2999740" y="0"/>
                </a:lnTo>
                <a:lnTo>
                  <a:pt x="0" y="0"/>
                </a:lnTo>
                <a:lnTo>
                  <a:pt x="0" y="401319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31340" y="6186933"/>
            <a:ext cx="298958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2000" b="1" spc="-4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699"/>
                </a:solidFill>
                <a:latin typeface="Times New Roman"/>
                <a:cs typeface="Times New Roman"/>
              </a:rPr>
              <a:t>final</a:t>
            </a:r>
            <a:r>
              <a:rPr sz="2000" b="1" spc="-4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699"/>
                </a:solidFill>
                <a:latin typeface="Times New Roman"/>
                <a:cs typeface="Times New Roman"/>
              </a:rPr>
              <a:t>void</a:t>
            </a:r>
            <a:r>
              <a:rPr sz="2000" b="1" spc="-3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resume()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6769" y="5713731"/>
            <a:ext cx="1237615" cy="407163"/>
          </a:xfrm>
          <a:prstGeom prst="rect">
            <a:avLst/>
          </a:prstGeom>
          <a:ln w="19812">
            <a:solidFill>
              <a:srgbClr val="FF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295"/>
              </a:spcBef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Syntax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5991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2" y="228602"/>
            <a:ext cx="11658600" cy="5948363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 Develop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Java program 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create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concurrent tasks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“One”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“Two”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.Each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should execute in its own thread, display a countdown from 5 to 1 with a one-second delay between each value, and then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terminate.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thread should continue execution independently and display a message before exiting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Runnable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      // name of thread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Thread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 = new Thread(this, name);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("New thread: " + t);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t.start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// Start the thread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 algn="just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037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152402"/>
            <a:ext cx="11049000" cy="60245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Entry point for the thread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run()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try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 + ": "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Thread.sleep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(1000);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catch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InterruptedException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 + " interrupted.");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 + " exiting.");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8555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76202"/>
            <a:ext cx="11049000" cy="61007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MultiThreadDemo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("One");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("Two");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("Three");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Thread.sleep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(10000);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catch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InterruptedException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("Main thread interrupted.");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("Main thread exiting.");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6000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2"/>
            <a:ext cx="10972800" cy="602456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 smtClean="0"/>
              <a:t>Output:</a:t>
            </a:r>
          </a:p>
          <a:p>
            <a:pPr marL="0" indent="0">
              <a:buNone/>
            </a:pPr>
            <a:r>
              <a:rPr lang="en-US" sz="1600" dirty="0" smtClean="0"/>
              <a:t>New </a:t>
            </a:r>
            <a:r>
              <a:rPr lang="en-US" sz="1600" dirty="0"/>
              <a:t>thread: Thread[One,5,main]</a:t>
            </a:r>
          </a:p>
          <a:p>
            <a:pPr marL="0" indent="0">
              <a:buNone/>
            </a:pPr>
            <a:r>
              <a:rPr lang="en-US" sz="1600" dirty="0"/>
              <a:t>New thread: Thread[Two,5,main]</a:t>
            </a:r>
          </a:p>
          <a:p>
            <a:pPr marL="0" indent="0">
              <a:buNone/>
            </a:pPr>
            <a:r>
              <a:rPr lang="en-US" sz="1600" dirty="0"/>
              <a:t>New thread: Thread[Three,5,main]</a:t>
            </a:r>
          </a:p>
          <a:p>
            <a:pPr marL="0" indent="0">
              <a:buNone/>
            </a:pPr>
            <a:r>
              <a:rPr lang="en-US" sz="1600" dirty="0"/>
              <a:t>One: 5</a:t>
            </a:r>
          </a:p>
          <a:p>
            <a:pPr marL="0" indent="0">
              <a:buNone/>
            </a:pPr>
            <a:r>
              <a:rPr lang="en-US" sz="1600" dirty="0"/>
              <a:t>Two: 5</a:t>
            </a:r>
          </a:p>
          <a:p>
            <a:pPr marL="0" indent="0">
              <a:buNone/>
            </a:pPr>
            <a:r>
              <a:rPr lang="en-US" sz="1600" dirty="0"/>
              <a:t>Three: 5</a:t>
            </a:r>
          </a:p>
          <a:p>
            <a:pPr marL="0" indent="0">
              <a:buNone/>
            </a:pPr>
            <a:r>
              <a:rPr lang="en-US" sz="1600" dirty="0"/>
              <a:t>One: 4</a:t>
            </a:r>
          </a:p>
          <a:p>
            <a:pPr marL="0" indent="0">
              <a:buNone/>
            </a:pPr>
            <a:r>
              <a:rPr lang="en-US" sz="1600" dirty="0"/>
              <a:t>Three: 4</a:t>
            </a:r>
          </a:p>
          <a:p>
            <a:pPr marL="0" indent="0">
              <a:buNone/>
            </a:pPr>
            <a:r>
              <a:rPr lang="en-US" sz="1600" dirty="0"/>
              <a:t>Two: 4</a:t>
            </a:r>
          </a:p>
          <a:p>
            <a:pPr marL="0" indent="0">
              <a:buNone/>
            </a:pPr>
            <a:r>
              <a:rPr lang="en-US" sz="1600" dirty="0"/>
              <a:t>...</a:t>
            </a:r>
          </a:p>
          <a:p>
            <a:pPr marL="0" indent="0">
              <a:buNone/>
            </a:pPr>
            <a:r>
              <a:rPr lang="en-US" sz="1600" dirty="0"/>
              <a:t>One exiting.</a:t>
            </a:r>
          </a:p>
          <a:p>
            <a:pPr marL="0" indent="0">
              <a:buNone/>
            </a:pPr>
            <a:r>
              <a:rPr lang="en-US" sz="1600" dirty="0"/>
              <a:t>Two exiting.</a:t>
            </a:r>
          </a:p>
          <a:p>
            <a:pPr marL="0" indent="0">
              <a:buNone/>
            </a:pPr>
            <a:r>
              <a:rPr lang="en-US" sz="1600" dirty="0"/>
              <a:t>Three exiting.</a:t>
            </a:r>
          </a:p>
          <a:p>
            <a:pPr marL="0" indent="0">
              <a:buNone/>
            </a:pPr>
            <a:r>
              <a:rPr lang="en-US" sz="1600" dirty="0"/>
              <a:t>Main thread exiting.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1512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133602"/>
            <a:ext cx="10515600" cy="1325563"/>
          </a:xfrm>
        </p:spPr>
        <p:txBody>
          <a:bodyPr/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Session 4: Thread Priorities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7028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228600"/>
            <a:ext cx="11658600" cy="4732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Thread Priorities: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in Java is a mechanism used by the JVM to decide the order in which multiple threads are scheduled for execution.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is assigned a priority value that indicates its relative importance compared to other threads.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priority-based, preemptive scheduling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priority value ranges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to 10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a higher number represents a higher priority.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default, every thread is assigned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priority (5)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important to note that thread priority acts only as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 to the JVM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actual execution order depends on the underlying operating system and JVM implementation.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25978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8602" y="76201"/>
            <a:ext cx="11296396" cy="4815798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47980" indent="-335915">
              <a:lnSpc>
                <a:spcPct val="100000"/>
              </a:lnSpc>
              <a:spcBef>
                <a:spcPts val="1540"/>
              </a:spcBef>
              <a:buFont typeface="Georgia"/>
              <a:buChar char="•"/>
              <a:tabLst>
                <a:tab pos="347980" algn="l"/>
                <a:tab pos="34861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default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Thread.NORM_PRIORITY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(constant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4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spc="-2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980" indent="-335915">
              <a:lnSpc>
                <a:spcPct val="100000"/>
              </a:lnSpc>
              <a:spcBef>
                <a:spcPts val="1540"/>
              </a:spcBef>
              <a:buFont typeface="Georgia"/>
              <a:buChar char="•"/>
              <a:tabLst>
                <a:tab pos="347980" algn="l"/>
                <a:tab pos="34861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predefined constants in the Thread class to manage thread priorities: MIN_PRIORITY (1), NORM_PRIORITY (5), and MAX_PRIORITY (10).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 smtClean="0"/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MIN_PRIORITY (1) → Least important task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NORM_PRIORITY (5) → Default importance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MAX_PRIORITY (10) → Most important task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980" indent="-335915">
              <a:lnSpc>
                <a:spcPct val="100000"/>
              </a:lnSpc>
              <a:spcBef>
                <a:spcPts val="1445"/>
              </a:spcBef>
              <a:buFont typeface="Georgia"/>
              <a:buChar char="•"/>
              <a:tabLst>
                <a:tab pos="347980" algn="l"/>
                <a:tab pos="348615" algn="l"/>
              </a:tabLs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of a thread can be set using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setPriority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and retrieved using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getPriority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method.</a:t>
            </a:r>
            <a:endParaRPr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indent="-287020">
              <a:lnSpc>
                <a:spcPct val="100000"/>
              </a:lnSpc>
              <a:spcBef>
                <a:spcPts val="13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sz="24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sz="2400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integral</a:t>
            </a: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</a:t>
            </a: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priorities</a:t>
            </a: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included</a:t>
            </a: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sz="2400" spc="-19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99085" indent="-287020">
              <a:lnSpc>
                <a:spcPct val="100000"/>
              </a:lnSpc>
              <a:spcBef>
                <a:spcPts val="13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MIN_PRIORITY+1, MAX_PRIORITY-5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" y="4795441"/>
            <a:ext cx="88427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915">
              <a:lnSpc>
                <a:spcPct val="100000"/>
              </a:lnSpc>
              <a:spcBef>
                <a:spcPts val="100"/>
              </a:spcBef>
              <a:buFont typeface="Georgia"/>
              <a:buChar char="•"/>
              <a:tabLst>
                <a:tab pos="347980" algn="l"/>
                <a:tab pos="348615" algn="l"/>
              </a:tabLst>
            </a:pP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default,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priority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thread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created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it.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35825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28602"/>
            <a:ext cx="10972800" cy="59483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threadObject.setPriority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Thread.MAX_PRIORITY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threadObject.getPriority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 Java program to demonstrate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 using thread priorities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Create multiple threads representing different system tasks and assign them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minimum, normal, and maximum priorities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constants of the Thread class. The program should use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isAlive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check whether each thread is still executing and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join() method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the main thread wait until all child threads complete execution. The output should clearly illustrate concurrent execution, priority-based scheduling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39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1774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"/>
            <a:ext cx="10972800" cy="57229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Runnable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Thread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 = new Thread(this, name);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t.setPriority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(priority);   // Set thread priority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("New thread created: " + t);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t.start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           // Start thread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  //End of Constructor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/>
              <a:t>    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5091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2"/>
            <a:ext cx="10972800" cy="6100763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Entry point for thread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run() {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try {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--) {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 + ": " +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Thread.sleep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(1000);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catch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InterruptedException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 {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 + " interrupted.");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 + " exiting.");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96772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152402"/>
            <a:ext cx="11506200" cy="60245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MultiThreadDemo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Creating threads with different priorities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t1 = new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("One",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Thread.MIN_PRIORITY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t2 = new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("Two",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Thread.NORM_PRIORITY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t3 = new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NewThread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("Three",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Thread.MAX_PRIORITY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Checking whether threads are alive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("Thread One alive: " + t1.t.isAlive());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("Thread Two alive: " + t2.t.isAlive());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("Thread Three alive: " + t3.t.isAlive());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30730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2"/>
            <a:ext cx="11582400" cy="60245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t1.t.join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Main thread waits for child threads to finish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t2.t.join();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t3.t.join();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catch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InterruptedException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("Main thread interrupted.");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("Thread One alive: " + t1.t.isAlive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());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Checking thread status after completion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("Thread Two alive: " + t2.t.isAlive());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("Thread Three alive: " + t3.t.isAlive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("Main thread exiting.");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58073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228602"/>
            <a:ext cx="11049000" cy="59483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Expected Output: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2" y="685801"/>
            <a:ext cx="10287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57216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9080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5: Synchronization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0649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6127" y="307274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sz="3600" u="heavy" spc="-10" dirty="0" smtClean="0">
                <a:uFill>
                  <a:solidFill>
                    <a:srgbClr val="D64A2A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</a:t>
            </a:r>
            <a:r>
              <a:rPr lang="en-US" u="heavy" dirty="0">
                <a:uFill>
                  <a:solidFill>
                    <a:srgbClr val="D64A2A"/>
                  </a:solidFill>
                </a:uFill>
                <a:latin typeface="Arial MT"/>
                <a:cs typeface="Times New Roman" panose="02020603050405020304" pitchFamily="18" charset="0"/>
              </a:rPr>
              <a:t>:</a:t>
            </a:r>
            <a:endParaRPr u="heavy" dirty="0">
              <a:uFill>
                <a:solidFill>
                  <a:srgbClr val="D64A2A"/>
                </a:solidFill>
              </a:u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5044" y="1143000"/>
            <a:ext cx="11429999" cy="38491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When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several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need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access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shared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resource,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they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need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some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way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ensure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resource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will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used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by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only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time.</a:t>
            </a:r>
            <a:endParaRPr sz="2000" dirty="0">
              <a:latin typeface="Arial MT"/>
              <a:cs typeface="Arial MT"/>
            </a:endParaRPr>
          </a:p>
          <a:p>
            <a:pPr marL="13970" marR="3117850" indent="-635">
              <a:lnSpc>
                <a:spcPct val="239500"/>
              </a:lnSpc>
              <a:spcBef>
                <a:spcPts val="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This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way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called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D64C29"/>
                </a:solidFill>
                <a:latin typeface="Arial MT"/>
                <a:cs typeface="Arial MT"/>
              </a:rPr>
              <a:t>synchronization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.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Synchronization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uses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concept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D64C29"/>
                </a:solidFill>
                <a:latin typeface="Arial MT"/>
                <a:cs typeface="Arial MT"/>
              </a:rPr>
              <a:t>monitors</a:t>
            </a:r>
            <a:r>
              <a:rPr sz="2000" spc="-10" dirty="0" smtClean="0">
                <a:solidFill>
                  <a:srgbClr val="363639"/>
                </a:solidFill>
                <a:latin typeface="Arial MT"/>
                <a:cs typeface="Arial MT"/>
              </a:rPr>
              <a:t>:</a:t>
            </a:r>
            <a:endParaRPr sz="2000" dirty="0">
              <a:latin typeface="Arial MT"/>
              <a:cs typeface="Arial MT"/>
            </a:endParaRPr>
          </a:p>
          <a:p>
            <a:pPr marL="365760" indent="-353060">
              <a:lnSpc>
                <a:spcPct val="100000"/>
              </a:lnSpc>
              <a:buAutoNum type="arabicParenR"/>
              <a:tabLst>
                <a:tab pos="365760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only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enter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monitor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any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time</a:t>
            </a:r>
            <a:endParaRPr sz="2000" dirty="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475"/>
              </a:spcBef>
              <a:buAutoNum type="arabicParenR"/>
              <a:tabLst>
                <a:tab pos="379095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other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have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wait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until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exits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monitor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000" dirty="0">
              <a:latin typeface="Arial MT"/>
              <a:cs typeface="Arial MT"/>
            </a:endParaRPr>
          </a:p>
          <a:p>
            <a:pPr marL="12700" marR="196215" indent="127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Java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implements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synchronization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two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ways: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through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D64C29"/>
                </a:solidFill>
                <a:latin typeface="Arial MT"/>
                <a:cs typeface="Arial MT"/>
              </a:rPr>
              <a:t>synchronized </a:t>
            </a:r>
            <a:r>
              <a:rPr sz="2000" dirty="0">
                <a:solidFill>
                  <a:srgbClr val="D64C29"/>
                </a:solidFill>
                <a:latin typeface="Arial MT"/>
                <a:cs typeface="Arial MT"/>
              </a:rPr>
              <a:t>methods</a:t>
            </a:r>
            <a:r>
              <a:rPr sz="2000" spc="-25" dirty="0">
                <a:solidFill>
                  <a:srgbClr val="D64C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through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64C29"/>
                </a:solidFill>
                <a:latin typeface="Arial MT"/>
                <a:cs typeface="Arial MT"/>
              </a:rPr>
              <a:t>synchronized</a:t>
            </a:r>
            <a:r>
              <a:rPr sz="2000" spc="-25" dirty="0">
                <a:solidFill>
                  <a:srgbClr val="D64C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D64C29"/>
                </a:solidFill>
                <a:latin typeface="Arial MT"/>
                <a:cs typeface="Arial MT"/>
              </a:rPr>
              <a:t>statement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929885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91657" y="1799084"/>
            <a:ext cx="6177280" cy="5008245"/>
            <a:chOff x="5891657" y="1799082"/>
            <a:chExt cx="6177280" cy="50082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2660" y="1828163"/>
              <a:ext cx="5996940" cy="49504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06135" y="1813560"/>
              <a:ext cx="6148070" cy="4979035"/>
            </a:xfrm>
            <a:custGeom>
              <a:avLst/>
              <a:gdLst/>
              <a:ahLst/>
              <a:cxnLst/>
              <a:rect l="l" t="t" r="r" b="b"/>
              <a:pathLst>
                <a:path w="6148070" h="4979034">
                  <a:moveTo>
                    <a:pt x="0" y="4979035"/>
                  </a:moveTo>
                  <a:lnTo>
                    <a:pt x="6148070" y="4979035"/>
                  </a:lnTo>
                  <a:lnTo>
                    <a:pt x="6148070" y="0"/>
                  </a:lnTo>
                  <a:lnTo>
                    <a:pt x="0" y="0"/>
                  </a:lnTo>
                  <a:lnTo>
                    <a:pt x="0" y="4979035"/>
                  </a:lnTo>
                  <a:close/>
                </a:path>
              </a:pathLst>
            </a:custGeom>
            <a:ln w="28956">
              <a:solidFill>
                <a:srgbClr val="006E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25299" y="4970653"/>
            <a:ext cx="5687061" cy="1530985"/>
            <a:chOff x="225297" y="4970653"/>
            <a:chExt cx="5687060" cy="153098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314" y="4979670"/>
              <a:ext cx="4316095" cy="15119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9869" y="4975225"/>
              <a:ext cx="4325620" cy="1521460"/>
            </a:xfrm>
            <a:custGeom>
              <a:avLst/>
              <a:gdLst/>
              <a:ahLst/>
              <a:cxnLst/>
              <a:rect l="l" t="t" r="r" b="b"/>
              <a:pathLst>
                <a:path w="4325620" h="1521460">
                  <a:moveTo>
                    <a:pt x="0" y="1521460"/>
                  </a:moveTo>
                  <a:lnTo>
                    <a:pt x="4325620" y="1521460"/>
                  </a:lnTo>
                  <a:lnTo>
                    <a:pt x="4325620" y="0"/>
                  </a:lnTo>
                  <a:lnTo>
                    <a:pt x="0" y="0"/>
                  </a:lnTo>
                  <a:lnTo>
                    <a:pt x="0" y="1521460"/>
                  </a:lnTo>
                  <a:close/>
                </a:path>
              </a:pathLst>
            </a:custGeom>
            <a:ln w="9144">
              <a:solidFill>
                <a:srgbClr val="006E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36439" y="5676265"/>
              <a:ext cx="1369695" cy="314325"/>
            </a:xfrm>
            <a:custGeom>
              <a:avLst/>
              <a:gdLst/>
              <a:ahLst/>
              <a:cxnLst/>
              <a:rect l="l" t="t" r="r" b="b"/>
              <a:pathLst>
                <a:path w="1369695" h="314325">
                  <a:moveTo>
                    <a:pt x="156845" y="0"/>
                  </a:moveTo>
                  <a:lnTo>
                    <a:pt x="0" y="157480"/>
                  </a:lnTo>
                  <a:lnTo>
                    <a:pt x="156845" y="314325"/>
                  </a:lnTo>
                  <a:lnTo>
                    <a:pt x="156845" y="235585"/>
                  </a:lnTo>
                  <a:lnTo>
                    <a:pt x="1369695" y="235585"/>
                  </a:lnTo>
                  <a:lnTo>
                    <a:pt x="1369695" y="78740"/>
                  </a:lnTo>
                  <a:lnTo>
                    <a:pt x="156845" y="78740"/>
                  </a:lnTo>
                  <a:lnTo>
                    <a:pt x="156845" y="0"/>
                  </a:lnTo>
                  <a:close/>
                </a:path>
              </a:pathLst>
            </a:custGeom>
            <a:solidFill>
              <a:srgbClr val="5B9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36439" y="5676265"/>
              <a:ext cx="1369695" cy="314325"/>
            </a:xfrm>
            <a:custGeom>
              <a:avLst/>
              <a:gdLst/>
              <a:ahLst/>
              <a:cxnLst/>
              <a:rect l="l" t="t" r="r" b="b"/>
              <a:pathLst>
                <a:path w="1369695" h="314325">
                  <a:moveTo>
                    <a:pt x="0" y="157480"/>
                  </a:moveTo>
                  <a:lnTo>
                    <a:pt x="156845" y="0"/>
                  </a:lnTo>
                  <a:lnTo>
                    <a:pt x="156845" y="78740"/>
                  </a:lnTo>
                  <a:lnTo>
                    <a:pt x="1369695" y="78740"/>
                  </a:lnTo>
                  <a:lnTo>
                    <a:pt x="1369695" y="235585"/>
                  </a:lnTo>
                  <a:lnTo>
                    <a:pt x="156845" y="235585"/>
                  </a:lnTo>
                  <a:lnTo>
                    <a:pt x="156845" y="314325"/>
                  </a:lnTo>
                  <a:lnTo>
                    <a:pt x="0" y="157480"/>
                  </a:lnTo>
                  <a:close/>
                </a:path>
              </a:pathLst>
            </a:custGeom>
            <a:ln w="12192">
              <a:solidFill>
                <a:srgbClr val="416F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13437" y="293508"/>
            <a:ext cx="345186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dirty="0"/>
              <a:t>Thread</a:t>
            </a:r>
            <a:r>
              <a:rPr sz="2400" b="1" spc="-165" dirty="0"/>
              <a:t> </a:t>
            </a:r>
            <a:r>
              <a:rPr sz="2400" b="1" spc="-10" dirty="0"/>
              <a:t>Synchronization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3436" y="826137"/>
            <a:ext cx="11459845" cy="239458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53695" marR="5080" indent="-341630">
              <a:lnSpc>
                <a:spcPts val="2380"/>
              </a:lnSpc>
              <a:spcBef>
                <a:spcPts val="185"/>
              </a:spcBef>
              <a:buFont typeface="Arial"/>
              <a:buChar char="•"/>
              <a:tabLst>
                <a:tab pos="353695" algn="l"/>
                <a:tab pos="354965" algn="l"/>
                <a:tab pos="728980" algn="l"/>
                <a:tab pos="1405255" algn="l"/>
                <a:tab pos="1878330" algn="l"/>
                <a:tab pos="2774315" algn="l"/>
                <a:tab pos="3247390" algn="l"/>
                <a:tab pos="4311015" algn="l"/>
                <a:tab pos="5911850" algn="l"/>
                <a:tab pos="6271260" algn="l"/>
                <a:tab pos="6896734" algn="l"/>
                <a:tab pos="7633970" algn="l"/>
                <a:tab pos="8402320" algn="l"/>
                <a:tab pos="9097645" algn="l"/>
                <a:tab pos="9472930" algn="l"/>
                <a:tab pos="10368915" algn="l"/>
                <a:tab pos="10841355" algn="l"/>
              </a:tabLst>
            </a:pPr>
            <a:r>
              <a:rPr sz="2000" spc="-25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Java,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threads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executed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independently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33333"/>
                </a:solidFill>
                <a:latin typeface="Times New Roman"/>
                <a:cs typeface="Times New Roman"/>
              </a:rPr>
              <a:t>each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other.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These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types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threads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called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200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asynchronous</a:t>
            </a:r>
            <a:r>
              <a:rPr sz="2000" b="1" spc="-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threads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r>
              <a:rPr sz="20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But</a:t>
            </a:r>
            <a:r>
              <a:rPr sz="200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there</a:t>
            </a:r>
            <a:r>
              <a:rPr sz="20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20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two</a:t>
            </a:r>
            <a:r>
              <a:rPr sz="20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problems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may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be</a:t>
            </a:r>
            <a:r>
              <a:rPr sz="20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occur</a:t>
            </a:r>
            <a:r>
              <a:rPr sz="20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with</a:t>
            </a:r>
            <a:r>
              <a:rPr sz="200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asynchronous</a:t>
            </a:r>
            <a:r>
              <a:rPr sz="200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threads.</a:t>
            </a:r>
            <a:endParaRPr sz="2000" dirty="0">
              <a:latin typeface="Times New Roman"/>
              <a:cs typeface="Times New Roman"/>
            </a:endParaRPr>
          </a:p>
          <a:p>
            <a:pPr marL="353695" marR="21590" indent="-341630">
              <a:lnSpc>
                <a:spcPts val="2400"/>
              </a:lnSpc>
              <a:spcBef>
                <a:spcPts val="5"/>
              </a:spcBef>
              <a:buFont typeface="Arial"/>
              <a:buChar char="•"/>
              <a:tabLst>
                <a:tab pos="353695" algn="l"/>
                <a:tab pos="354965" algn="l"/>
              </a:tabLst>
            </a:pP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Two</a:t>
            </a:r>
            <a:r>
              <a:rPr sz="20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or</a:t>
            </a:r>
            <a:r>
              <a:rPr sz="20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more</a:t>
            </a:r>
            <a:r>
              <a:rPr sz="2000" spc="1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threads</a:t>
            </a:r>
            <a:r>
              <a:rPr sz="2000" spc="1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share</a:t>
            </a:r>
            <a:r>
              <a:rPr sz="2000" spc="1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000" spc="1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same</a:t>
            </a:r>
            <a:r>
              <a:rPr sz="2000" spc="1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resource</a:t>
            </a:r>
            <a:r>
              <a:rPr sz="20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(variable</a:t>
            </a:r>
            <a:r>
              <a:rPr sz="2000" spc="1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or</a:t>
            </a:r>
            <a:r>
              <a:rPr sz="20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method)</a:t>
            </a:r>
            <a:r>
              <a:rPr sz="2000" spc="1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while</a:t>
            </a:r>
            <a:r>
              <a:rPr sz="2000" spc="1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only</a:t>
            </a:r>
            <a:r>
              <a:rPr sz="200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one</a:t>
            </a:r>
            <a:r>
              <a:rPr sz="20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2000" spc="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them</a:t>
            </a:r>
            <a:r>
              <a:rPr sz="2000" spc="1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can</a:t>
            </a:r>
            <a:r>
              <a:rPr sz="20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access</a:t>
            </a:r>
            <a:r>
              <a:rPr sz="2000" spc="1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33333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resource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at</a:t>
            </a:r>
            <a:r>
              <a:rPr sz="20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one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33333"/>
                </a:solidFill>
                <a:latin typeface="Times New Roman"/>
                <a:cs typeface="Times New Roman"/>
              </a:rPr>
              <a:t>time.</a:t>
            </a:r>
            <a:endParaRPr sz="2000" dirty="0">
              <a:latin typeface="Times New Roman"/>
              <a:cs typeface="Times New Roman"/>
            </a:endParaRPr>
          </a:p>
          <a:p>
            <a:pPr marL="353695" indent="-341630">
              <a:lnSpc>
                <a:spcPct val="100000"/>
              </a:lnSpc>
              <a:spcBef>
                <a:spcPts val="1800"/>
              </a:spcBef>
              <a:buFont typeface="Arial"/>
              <a:buChar char="•"/>
              <a:tabLst>
                <a:tab pos="353695" algn="l"/>
                <a:tab pos="354965" algn="l"/>
              </a:tabLst>
            </a:pPr>
            <a:r>
              <a:rPr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Race</a:t>
            </a:r>
            <a:r>
              <a:rPr sz="2400" b="1" spc="-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Condition</a:t>
            </a:r>
            <a:endParaRPr sz="2400" dirty="0">
              <a:latin typeface="Times New Roman"/>
              <a:cs typeface="Times New Roman"/>
            </a:endParaRPr>
          </a:p>
          <a:p>
            <a:pPr marL="353695" indent="-341630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353695" algn="l"/>
                <a:tab pos="354965" algn="l"/>
              </a:tabLst>
            </a:pPr>
            <a:r>
              <a:rPr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Resource</a:t>
            </a:r>
            <a:r>
              <a:rPr sz="2400" b="1" spc="-10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Conflict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2573" y="284480"/>
            <a:ext cx="2402205" cy="345607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295"/>
              </a:spcBef>
            </a:pPr>
            <a:r>
              <a:rPr sz="2000" b="1" spc="-10" dirty="0">
                <a:latin typeface="Times New Roman"/>
                <a:cs typeface="Times New Roman"/>
              </a:rPr>
              <a:t>threadnonsync.java</a:t>
            </a:r>
            <a:endParaRPr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99301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066" y="4891533"/>
            <a:ext cx="11788141" cy="1831975"/>
            <a:chOff x="155067" y="4891532"/>
            <a:chExt cx="11788140" cy="1831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1545" y="4959350"/>
              <a:ext cx="8397875" cy="17094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9545" y="4906010"/>
              <a:ext cx="11758930" cy="1802764"/>
            </a:xfrm>
            <a:custGeom>
              <a:avLst/>
              <a:gdLst/>
              <a:ahLst/>
              <a:cxnLst/>
              <a:rect l="l" t="t" r="r" b="b"/>
              <a:pathLst>
                <a:path w="11758930" h="1802765">
                  <a:moveTo>
                    <a:pt x="3197225" y="1802764"/>
                  </a:moveTo>
                  <a:lnTo>
                    <a:pt x="11758930" y="1802764"/>
                  </a:lnTo>
                  <a:lnTo>
                    <a:pt x="11758930" y="0"/>
                  </a:lnTo>
                  <a:lnTo>
                    <a:pt x="3197225" y="0"/>
                  </a:lnTo>
                  <a:lnTo>
                    <a:pt x="3197225" y="1802764"/>
                  </a:lnTo>
                  <a:close/>
                </a:path>
                <a:path w="11758930" h="1802765">
                  <a:moveTo>
                    <a:pt x="0" y="1113789"/>
                  </a:moveTo>
                  <a:lnTo>
                    <a:pt x="3212465" y="1113789"/>
                  </a:lnTo>
                  <a:lnTo>
                    <a:pt x="3212465" y="671829"/>
                  </a:lnTo>
                  <a:lnTo>
                    <a:pt x="0" y="671829"/>
                  </a:lnTo>
                  <a:lnTo>
                    <a:pt x="0" y="1113789"/>
                  </a:lnTo>
                  <a:close/>
                </a:path>
              </a:pathLst>
            </a:custGeom>
            <a:ln w="28956">
              <a:solidFill>
                <a:srgbClr val="00AE5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4022" y="5607507"/>
            <a:ext cx="31610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>
              <a:spcBef>
                <a:spcPts val="100"/>
              </a:spcBef>
            </a:pPr>
            <a:r>
              <a:rPr b="1" dirty="0">
                <a:solidFill>
                  <a:prstClr val="black"/>
                </a:solidFill>
                <a:latin typeface="Times New Roman"/>
                <a:cs typeface="Times New Roman"/>
              </a:rPr>
              <a:t>Producer</a:t>
            </a:r>
            <a:r>
              <a:rPr b="1" spc="-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prstClr val="black"/>
                </a:solidFill>
                <a:latin typeface="Times New Roman"/>
                <a:cs typeface="Times New Roman"/>
              </a:rPr>
              <a:t>Consumer</a:t>
            </a:r>
            <a:r>
              <a:rPr b="1" spc="-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prstClr val="black"/>
                </a:solidFill>
                <a:latin typeface="Times New Roman"/>
                <a:cs typeface="Times New Roman"/>
              </a:rPr>
              <a:t>Problem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95800" y="128511"/>
            <a:ext cx="681101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Thread</a:t>
            </a:r>
            <a:r>
              <a:rPr spc="-95" dirty="0"/>
              <a:t> </a:t>
            </a:r>
            <a:r>
              <a:rPr spc="-10" dirty="0"/>
              <a:t>Synchronization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7548" y="3738116"/>
            <a:ext cx="11089640" cy="11221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600"/>
              </a:lnSpc>
              <a:spcBef>
                <a:spcPts val="110"/>
              </a:spcBef>
            </a:pP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If</a:t>
            </a:r>
            <a:r>
              <a:rPr sz="2400" spc="3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400" spc="2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producer</a:t>
            </a:r>
            <a:r>
              <a:rPr sz="2400" spc="2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2400" spc="3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400" spc="30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consumer</a:t>
            </a:r>
            <a:r>
              <a:rPr sz="2400" spc="2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2400" spc="2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sharing</a:t>
            </a:r>
            <a:r>
              <a:rPr sz="2400" spc="2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400" spc="3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same</a:t>
            </a:r>
            <a:r>
              <a:rPr sz="2400" spc="3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kind</a:t>
            </a:r>
            <a:r>
              <a:rPr sz="2400" spc="3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2400" spc="30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2400" spc="3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240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2400" spc="3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program</a:t>
            </a:r>
            <a:r>
              <a:rPr sz="2400" spc="3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Times New Roman"/>
                <a:cs typeface="Times New Roman"/>
              </a:rPr>
              <a:t>then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either</a:t>
            </a:r>
            <a:r>
              <a:rPr sz="24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producer</a:t>
            </a:r>
            <a:r>
              <a:rPr sz="24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may</a:t>
            </a:r>
            <a:r>
              <a:rPr sz="24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produce</a:t>
            </a:r>
            <a:r>
              <a:rPr sz="24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4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2400" spc="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faster</a:t>
            </a:r>
            <a:r>
              <a:rPr sz="24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or</a:t>
            </a:r>
            <a:r>
              <a:rPr sz="24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consumer</a:t>
            </a:r>
            <a:r>
              <a:rPr sz="24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may</a:t>
            </a:r>
            <a:r>
              <a:rPr sz="24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retrieve</a:t>
            </a:r>
            <a:r>
              <a:rPr sz="24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an</a:t>
            </a:r>
            <a:r>
              <a:rPr sz="24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order</a:t>
            </a:r>
            <a:r>
              <a:rPr sz="24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24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24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33333"/>
                </a:solidFill>
                <a:latin typeface="Times New Roman"/>
                <a:cs typeface="Times New Roman"/>
              </a:rPr>
              <a:t>and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process</a:t>
            </a:r>
            <a:r>
              <a:rPr sz="24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24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without</a:t>
            </a:r>
            <a:r>
              <a:rPr sz="24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its</a:t>
            </a:r>
            <a:r>
              <a:rPr sz="240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Times New Roman"/>
                <a:cs typeface="Times New Roman"/>
              </a:rPr>
              <a:t>existing.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" y="804544"/>
            <a:ext cx="3853053" cy="202501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2403" y="1121411"/>
            <a:ext cx="4067175" cy="129527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47050" y="1150621"/>
            <a:ext cx="39338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26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4317" y="3780792"/>
            <a:ext cx="5949315" cy="1734185"/>
          </a:xfrm>
          <a:custGeom>
            <a:avLst/>
            <a:gdLst/>
            <a:ahLst/>
            <a:cxnLst/>
            <a:rect l="l" t="t" r="r" b="b"/>
            <a:pathLst>
              <a:path w="5949315" h="1734185">
                <a:moveTo>
                  <a:pt x="0" y="400685"/>
                </a:moveTo>
                <a:lnTo>
                  <a:pt x="5757545" y="400685"/>
                </a:lnTo>
                <a:lnTo>
                  <a:pt x="5757545" y="0"/>
                </a:lnTo>
                <a:lnTo>
                  <a:pt x="0" y="0"/>
                </a:lnTo>
                <a:lnTo>
                  <a:pt x="0" y="400685"/>
                </a:lnTo>
                <a:close/>
              </a:path>
              <a:path w="5949315" h="1734185">
                <a:moveTo>
                  <a:pt x="0" y="1734185"/>
                </a:moveTo>
                <a:lnTo>
                  <a:pt x="5949315" y="1734185"/>
                </a:lnTo>
                <a:lnTo>
                  <a:pt x="5949315" y="409575"/>
                </a:lnTo>
                <a:lnTo>
                  <a:pt x="0" y="409575"/>
                </a:lnTo>
                <a:lnTo>
                  <a:pt x="0" y="1734185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888" y="4217034"/>
            <a:ext cx="5940425" cy="124264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3820">
              <a:spcBef>
                <a:spcPts val="90"/>
              </a:spcBef>
            </a:pP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synchronized</a:t>
            </a:r>
            <a:r>
              <a:rPr sz="2000" b="1" spc="-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returntype</a:t>
            </a:r>
            <a:r>
              <a:rPr sz="2000" b="1" spc="-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MethodName</a:t>
            </a:r>
            <a:r>
              <a:rPr sz="2000" b="1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(param_List)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820"/>
            <a:r>
              <a:rPr sz="2000" b="1" spc="-5" dirty="0">
                <a:solidFill>
                  <a:srgbClr val="333333"/>
                </a:solidFill>
                <a:latin typeface="Times New Roman"/>
                <a:cs typeface="Times New Roman"/>
              </a:rPr>
              <a:t>{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98855">
              <a:spcBef>
                <a:spcPts val="5"/>
              </a:spcBef>
            </a:pP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//</a:t>
            </a:r>
            <a:r>
              <a:rPr sz="2000" b="1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statements</a:t>
            </a:r>
            <a:r>
              <a:rPr sz="2000" b="1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2000" b="1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method</a:t>
            </a:r>
            <a:r>
              <a:rPr sz="2000" b="1" spc="-20" dirty="0">
                <a:solidFill>
                  <a:srgbClr val="333333"/>
                </a:solidFill>
                <a:latin typeface="Times New Roman"/>
                <a:cs typeface="Times New Roman"/>
              </a:rPr>
              <a:t> Body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820">
              <a:spcBef>
                <a:spcPts val="20"/>
              </a:spcBef>
            </a:pPr>
            <a:r>
              <a:rPr sz="2000" b="1" spc="-5" dirty="0">
                <a:solidFill>
                  <a:srgbClr val="333333"/>
                </a:solidFill>
                <a:latin typeface="Times New Roman"/>
                <a:cs typeface="Times New Roman"/>
              </a:rPr>
              <a:t>}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887" y="3814317"/>
            <a:ext cx="574865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3820">
              <a:spcBef>
                <a:spcPts val="90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General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form</a:t>
            </a:r>
            <a:r>
              <a:rPr sz="20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synchronized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Method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is: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20842" y="3810000"/>
            <a:ext cx="4852670" cy="1732914"/>
          </a:xfrm>
          <a:custGeom>
            <a:avLst/>
            <a:gdLst/>
            <a:ahLst/>
            <a:cxnLst/>
            <a:rect l="l" t="t" r="r" b="b"/>
            <a:pathLst>
              <a:path w="4852670" h="1732914">
                <a:moveTo>
                  <a:pt x="0" y="401319"/>
                </a:moveTo>
                <a:lnTo>
                  <a:pt x="4439284" y="401319"/>
                </a:lnTo>
                <a:lnTo>
                  <a:pt x="4439284" y="0"/>
                </a:lnTo>
                <a:lnTo>
                  <a:pt x="0" y="0"/>
                </a:lnTo>
                <a:lnTo>
                  <a:pt x="0" y="401319"/>
                </a:lnTo>
                <a:close/>
              </a:path>
              <a:path w="4852670" h="1732914">
                <a:moveTo>
                  <a:pt x="0" y="1732914"/>
                </a:moveTo>
                <a:lnTo>
                  <a:pt x="4852669" y="1732914"/>
                </a:lnTo>
                <a:lnTo>
                  <a:pt x="4852669" y="410210"/>
                </a:lnTo>
                <a:lnTo>
                  <a:pt x="0" y="410210"/>
                </a:lnTo>
                <a:lnTo>
                  <a:pt x="0" y="1732914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25413" y="4247516"/>
            <a:ext cx="4843781" cy="124264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5090">
              <a:spcBef>
                <a:spcPts val="90"/>
              </a:spcBef>
            </a:pP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synchronized</a:t>
            </a:r>
            <a:r>
              <a:rPr sz="2000" b="1" spc="-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(object</a:t>
            </a:r>
            <a:r>
              <a:rPr sz="2000" b="1" spc="-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reference</a:t>
            </a:r>
            <a:r>
              <a:rPr sz="2000" b="1" spc="-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expression)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090"/>
            <a:r>
              <a:rPr sz="2000" b="1" spc="-5" dirty="0">
                <a:solidFill>
                  <a:srgbClr val="333333"/>
                </a:solidFill>
                <a:latin typeface="Times New Roman"/>
                <a:cs typeface="Times New Roman"/>
              </a:rPr>
              <a:t>{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2665">
              <a:spcBef>
                <a:spcPts val="5"/>
              </a:spcBef>
            </a:pP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//</a:t>
            </a:r>
            <a:r>
              <a:rPr sz="2000" b="1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statements</a:t>
            </a:r>
            <a:r>
              <a:rPr sz="2000" b="1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2000" b="1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be</a:t>
            </a:r>
            <a:r>
              <a:rPr sz="20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synchronized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090">
              <a:spcBef>
                <a:spcPts val="45"/>
              </a:spcBef>
            </a:pPr>
            <a:r>
              <a:rPr sz="2000" b="1" spc="-5" dirty="0">
                <a:solidFill>
                  <a:srgbClr val="333333"/>
                </a:solidFill>
                <a:latin typeface="Times New Roman"/>
                <a:cs typeface="Times New Roman"/>
              </a:rPr>
              <a:t>}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25411" y="3835654"/>
            <a:ext cx="443039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5090">
              <a:spcBef>
                <a:spcPts val="90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General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form</a:t>
            </a:r>
            <a:r>
              <a:rPr sz="20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synchronized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block</a:t>
            </a:r>
            <a:r>
              <a:rPr sz="20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is: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13436" y="290458"/>
            <a:ext cx="346329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dirty="0"/>
              <a:t>Thread</a:t>
            </a:r>
            <a:r>
              <a:rPr sz="2400" b="1" spc="-95" dirty="0"/>
              <a:t> </a:t>
            </a:r>
            <a:r>
              <a:rPr sz="2400" b="1" spc="-10" dirty="0"/>
              <a:t>Synchronization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3436" y="1078865"/>
            <a:ext cx="7599045" cy="1658146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spcBef>
                <a:spcPts val="1490"/>
              </a:spcBef>
            </a:pPr>
            <a:r>
              <a:rPr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There</a:t>
            </a:r>
            <a:r>
              <a:rPr sz="2400" b="1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2400" b="1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two</a:t>
            </a:r>
            <a:r>
              <a:rPr sz="24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ways</a:t>
            </a:r>
            <a:r>
              <a:rPr sz="24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24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synchronized</a:t>
            </a:r>
            <a:r>
              <a:rPr sz="24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execution</a:t>
            </a:r>
            <a:r>
              <a:rPr sz="2400" b="1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2400" b="1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code:</a:t>
            </a: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41300" indent="-228600">
              <a:spcBef>
                <a:spcPts val="1395"/>
              </a:spcBef>
              <a:buSzPct val="91666"/>
              <a:buFontTx/>
              <a:buAutoNum type="arabicPeriod"/>
              <a:tabLst>
                <a:tab pos="241300" algn="l"/>
              </a:tabLst>
            </a:pP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Synchronized</a:t>
            </a:r>
            <a:r>
              <a:rPr sz="2400" spc="-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Times New Roman"/>
                <a:cs typeface="Times New Roman"/>
              </a:rPr>
              <a:t>Methods</a:t>
            </a: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41300" indent="-228600">
              <a:spcBef>
                <a:spcPts val="1445"/>
              </a:spcBef>
              <a:buSzPct val="91666"/>
              <a:buFontTx/>
              <a:buAutoNum type="arabicPeriod"/>
              <a:tabLst>
                <a:tab pos="241300" algn="l"/>
              </a:tabLst>
            </a:pP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Synchronized</a:t>
            </a:r>
            <a:r>
              <a:rPr sz="24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Blocks</a:t>
            </a:r>
            <a:r>
              <a:rPr sz="24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Times New Roman"/>
                <a:cs typeface="Times New Roman"/>
              </a:rPr>
              <a:t>(Statements)</a:t>
            </a: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96056" y="151765"/>
            <a:ext cx="2159635" cy="651845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2075" marR="90805">
              <a:lnSpc>
                <a:spcPct val="101000"/>
              </a:lnSpc>
              <a:spcBef>
                <a:spcPts val="235"/>
              </a:spcBef>
            </a:pPr>
            <a:r>
              <a:rPr sz="2000" b="1" spc="-10" dirty="0">
                <a:solidFill>
                  <a:prstClr val="black"/>
                </a:solidFill>
                <a:latin typeface="Times New Roman"/>
                <a:cs typeface="Times New Roman"/>
              </a:rPr>
              <a:t>threadsyncB.java threadsyncM.java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52042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889" y="366355"/>
            <a:ext cx="1045171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sz="3600" u="heavy" dirty="0">
                <a:uFill>
                  <a:solidFill>
                    <a:srgbClr val="D64A2A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Synchronized</a:t>
            </a:r>
            <a:r>
              <a:rPr sz="3600" u="heavy" spc="-210" dirty="0">
                <a:uFill>
                  <a:solidFill>
                    <a:srgbClr val="D64A2A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u="heavy" spc="-10" dirty="0" smtClean="0">
                <a:uFill>
                  <a:solidFill>
                    <a:srgbClr val="D64A2A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3600" u="heavy" dirty="0">
                <a:uFill>
                  <a:solidFill>
                    <a:srgbClr val="D64A2A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600" u="heavy" dirty="0">
              <a:uFill>
                <a:solidFill>
                  <a:srgbClr val="D64A2A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1219200"/>
            <a:ext cx="10991850" cy="35670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2900" algn="just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400" spc="-2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sz="2400" spc="-3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400" spc="-3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2400" spc="-2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  <a:r>
              <a:rPr sz="2400" spc="-3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implicit</a:t>
            </a:r>
            <a:r>
              <a:rPr sz="2400" spc="-3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r>
              <a:rPr sz="2400" spc="-2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associated</a:t>
            </a:r>
            <a:r>
              <a:rPr sz="2400" spc="-3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-3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sz="2400" spc="-10" dirty="0" smtClean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235" marR="5080" indent="-342900" algn="just">
              <a:lnSpc>
                <a:spcPct val="150000"/>
              </a:lnSpc>
              <a:spcBef>
                <a:spcPts val="484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2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400" spc="-2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object’s</a:t>
            </a:r>
            <a:r>
              <a:rPr sz="2400" spc="-1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monitor,</a:t>
            </a:r>
            <a:r>
              <a:rPr sz="2400" spc="-2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sz="2400" spc="-1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object’s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554F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synchronized</a:t>
            </a:r>
            <a:r>
              <a:rPr sz="2400" spc="-645" dirty="0">
                <a:solidFill>
                  <a:srgbClr val="554F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method. </a:t>
            </a:r>
            <a:endParaRPr lang="en-US" sz="2400" spc="-10" dirty="0" smtClean="0">
              <a:solidFill>
                <a:srgbClr val="3636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235" marR="5080" indent="-342900" algn="just">
              <a:lnSpc>
                <a:spcPct val="150000"/>
              </a:lnSpc>
              <a:spcBef>
                <a:spcPts val="484"/>
              </a:spcBef>
              <a:buFont typeface="Arial" panose="020B0604020202020204" pitchFamily="34" charset="0"/>
              <a:buChar char="•"/>
            </a:pPr>
            <a:r>
              <a:rPr sz="2400" dirty="0" smtClean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2400" spc="-20" dirty="0" smtClean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2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sz="2400" spc="-2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1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smtClean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lang="en-US" sz="2400" spc="-2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smtClean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-2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400" spc="-1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threads</a:t>
            </a:r>
            <a:r>
              <a:rPr sz="2400" spc="-2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2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sz="2400" spc="-2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3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sz="2400" spc="-1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1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2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2400" spc="-1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 smtClean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 smtClean="0">
                <a:solidFill>
                  <a:srgbClr val="554F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synchronized</a:t>
            </a:r>
            <a:r>
              <a:rPr sz="2400" spc="-645" dirty="0" smtClean="0">
                <a:solidFill>
                  <a:srgbClr val="554F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645" dirty="0" smtClean="0">
                <a:solidFill>
                  <a:srgbClr val="554F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2400" dirty="0" smtClean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sz="2400" spc="-10" dirty="0" smtClean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wait</a:t>
            </a:r>
            <a:r>
              <a:rPr sz="2400" spc="-10" dirty="0" smtClean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marR="99695" indent="-342900" algn="just">
              <a:lnSpc>
                <a:spcPct val="15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2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sz="2400" spc="-2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monitor,</a:t>
            </a:r>
            <a:r>
              <a:rPr sz="2400" spc="-1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-1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enough</a:t>
            </a:r>
            <a:r>
              <a:rPr sz="2400" spc="-2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2400" spc="-1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400" spc="-2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5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554F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synchronized</a:t>
            </a:r>
            <a:r>
              <a:rPr sz="2400" spc="-645" dirty="0">
                <a:solidFill>
                  <a:srgbClr val="554F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sz="2400" spc="-10" dirty="0" smtClean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spc="-10" dirty="0" smtClean="0">
              <a:solidFill>
                <a:srgbClr val="3636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marR="99695" indent="-342900" algn="just">
              <a:lnSpc>
                <a:spcPct val="15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sz="2400" dirty="0" smtClean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</a:t>
            </a:r>
            <a:r>
              <a:rPr sz="2400" spc="-30" dirty="0" smtClean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2400" spc="-3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400" spc="-3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sz="2400" spc="-3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2400" spc="-3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3636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synchronization…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7431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6388" y="228600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No</a:t>
            </a:r>
            <a:r>
              <a:rPr u="heavy" spc="-1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Synchronization</a:t>
            </a:r>
            <a:r>
              <a:rPr u="heavy" spc="-15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1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600" y="1066800"/>
            <a:ext cx="11658600" cy="4345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06300"/>
              </a:lnSpc>
              <a:spcBef>
                <a:spcPts val="100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call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tries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print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message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string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inside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brackets,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pausing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current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for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second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middle</a:t>
            </a:r>
            <a:r>
              <a:rPr sz="2000" spc="-10" dirty="0" smtClean="0">
                <a:solidFill>
                  <a:srgbClr val="363639"/>
                </a:solidFill>
                <a:latin typeface="Arial MT"/>
                <a:cs typeface="Arial MT"/>
              </a:rPr>
              <a:t>:</a:t>
            </a:r>
            <a:endParaRPr sz="2000" dirty="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Callme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 dirty="0">
              <a:latin typeface="Courier New"/>
              <a:cs typeface="Courier New"/>
            </a:endParaRPr>
          </a:p>
          <a:p>
            <a:pPr marL="829944" marR="3355975" indent="-464184">
              <a:lnSpc>
                <a:spcPts val="2870"/>
              </a:lnSpc>
              <a:spcBef>
                <a:spcPts val="18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call(String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msg)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endParaRPr lang="en-US" sz="2000" spc="-50" dirty="0" smtClean="0">
              <a:solidFill>
                <a:srgbClr val="554F8C"/>
              </a:solidFill>
              <a:latin typeface="Courier New"/>
              <a:cs typeface="Courier New"/>
            </a:endParaRPr>
          </a:p>
          <a:p>
            <a:pPr marL="829944" marR="3355975" indent="-464184">
              <a:lnSpc>
                <a:spcPts val="2870"/>
              </a:lnSpc>
              <a:spcBef>
                <a:spcPts val="180"/>
              </a:spcBef>
            </a:pPr>
            <a:r>
              <a:rPr sz="2000" dirty="0" err="1" smtClean="0">
                <a:solidFill>
                  <a:srgbClr val="554F8C"/>
                </a:solidFill>
                <a:latin typeface="Courier New"/>
                <a:cs typeface="Courier New"/>
              </a:rPr>
              <a:t>System.out.print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("["</a:t>
            </a:r>
            <a:r>
              <a:rPr sz="2000" spc="-6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+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msg);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try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 dirty="0">
              <a:latin typeface="Courier New"/>
              <a:cs typeface="Courier New"/>
            </a:endParaRPr>
          </a:p>
          <a:p>
            <a:pPr marL="1293495">
              <a:lnSpc>
                <a:spcPct val="100000"/>
              </a:lnSpc>
              <a:spcBef>
                <a:spcPts val="30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Thread.sleep(1000);</a:t>
            </a:r>
            <a:endParaRPr sz="2000" dirty="0">
              <a:latin typeface="Courier New"/>
              <a:cs typeface="Courier New"/>
            </a:endParaRPr>
          </a:p>
          <a:p>
            <a:pPr marL="1293495" marR="1978660" indent="-463550">
              <a:lnSpc>
                <a:spcPts val="2880"/>
              </a:lnSpc>
              <a:spcBef>
                <a:spcPts val="17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r>
              <a:rPr sz="2000" spc="-6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catch(InterruptedException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e)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System.out.println("Interrupted");</a:t>
            </a:r>
            <a:endParaRPr sz="2000" dirty="0">
              <a:latin typeface="Courier New"/>
              <a:cs typeface="Courier New"/>
            </a:endParaRPr>
          </a:p>
          <a:p>
            <a:pPr marL="829944">
              <a:lnSpc>
                <a:spcPct val="100000"/>
              </a:lnSpc>
              <a:spcBef>
                <a:spcPts val="30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829944">
              <a:lnSpc>
                <a:spcPct val="100000"/>
              </a:lnSpc>
              <a:spcBef>
                <a:spcPts val="47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System.out.println("]");</a:t>
            </a:r>
            <a:endParaRPr sz="2000" dirty="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5569744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No</a:t>
            </a:r>
            <a:r>
              <a:rPr u="heavy" spc="-1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Synchronization</a:t>
            </a:r>
            <a:r>
              <a:rPr u="heavy" spc="-15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2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401" y="1633370"/>
            <a:ext cx="10190788" cy="39799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Caller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constructor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obtains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references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Callme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object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String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,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stores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them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target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msg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variables,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new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thread: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365760" marR="3203575" indent="-352425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Caller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implements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Runnable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String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msg;</a:t>
            </a:r>
            <a:endParaRPr sz="2000">
              <a:latin typeface="Courier New"/>
              <a:cs typeface="Courier New"/>
            </a:endParaRPr>
          </a:p>
          <a:p>
            <a:pPr marL="365760" marR="5899150">
              <a:lnSpc>
                <a:spcPts val="2870"/>
              </a:lnSpc>
              <a:spcBef>
                <a:spcPts val="1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Callme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target;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Thread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t;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2000">
              <a:latin typeface="Courier New"/>
              <a:cs typeface="Courier New"/>
            </a:endParaRPr>
          </a:p>
          <a:p>
            <a:pPr marL="829944" marR="2241550" indent="-464184">
              <a:lnSpc>
                <a:spcPct val="12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Caller(Callme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targ,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String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target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targ;</a:t>
            </a:r>
            <a:endParaRPr sz="2000">
              <a:latin typeface="Courier New"/>
              <a:cs typeface="Courier New"/>
            </a:endParaRPr>
          </a:p>
          <a:p>
            <a:pPr marL="829944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msg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s;</a:t>
            </a:r>
            <a:endParaRPr sz="2000">
              <a:latin typeface="Courier New"/>
              <a:cs typeface="Courier New"/>
            </a:endParaRPr>
          </a:p>
          <a:p>
            <a:pPr marL="829944" marR="4368165">
              <a:lnSpc>
                <a:spcPts val="2870"/>
              </a:lnSpc>
              <a:spcBef>
                <a:spcPts val="1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Thread(this); t.start();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30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91746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No</a:t>
            </a:r>
            <a:r>
              <a:rPr u="heavy" spc="-1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Synchronization</a:t>
            </a:r>
            <a:r>
              <a:rPr u="heavy" spc="-15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3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96" y="1633369"/>
            <a:ext cx="10365509" cy="2482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  <a:tabLst>
                <a:tab pos="2954655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Caller’s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run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	calls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call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target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instance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Calllme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,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passing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msg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string: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829944" marR="5121910" indent="-464184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run()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target.call(msg);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894031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No</a:t>
            </a:r>
            <a:r>
              <a:rPr u="heavy" spc="-1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Synchronization</a:t>
            </a:r>
            <a:r>
              <a:rPr u="heavy" spc="-15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4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421" y="1633369"/>
            <a:ext cx="9805170" cy="17434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Synch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single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instance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Callme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Caller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,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each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with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message.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Callme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instance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passed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each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Caller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0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static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main(String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args[])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74354" y="3240698"/>
          <a:ext cx="8943879" cy="1227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9212"/>
                <a:gridCol w="4618182"/>
                <a:gridCol w="3086485"/>
              </a:tblGrid>
              <a:tr h="277906">
                <a:tc>
                  <a:txBody>
                    <a:bodyPr/>
                    <a:lstStyle/>
                    <a:p>
                      <a:pPr marR="36195" algn="ctr">
                        <a:lnSpc>
                          <a:spcPts val="2020"/>
                        </a:lnSpc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Callme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20"/>
                        </a:lnSpc>
                      </a:pP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target</a:t>
                      </a:r>
                      <a:r>
                        <a:rPr sz="1800" spc="-2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5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800" spc="-15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Callme();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21609"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Caller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ob1</a:t>
                      </a:r>
                      <a:r>
                        <a:rPr sz="1800" spc="-25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Caller(target,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"Hello");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</a:tr>
              <a:tr h="321609"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Caller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ob2</a:t>
                      </a:r>
                      <a:r>
                        <a:rPr sz="1800" spc="-25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Caller(target,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"Synchronized");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</a:tr>
              <a:tr h="305921">
                <a:tc>
                  <a:txBody>
                    <a:bodyPr/>
                    <a:lstStyle/>
                    <a:p>
                      <a:pPr marR="36195" algn="ctr">
                        <a:lnSpc>
                          <a:spcPts val="2375"/>
                        </a:lnSpc>
                        <a:spcBef>
                          <a:spcPts val="10"/>
                        </a:spcBef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Caller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375"/>
                        </a:lnSpc>
                        <a:spcBef>
                          <a:spcPts val="10"/>
                        </a:spcBef>
                      </a:pP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ob3</a:t>
                      </a:r>
                      <a:r>
                        <a:rPr sz="1800" spc="-25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Caller(target,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375"/>
                        </a:lnSpc>
                        <a:spcBef>
                          <a:spcPts val="10"/>
                        </a:spcBef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"World");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9617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No</a:t>
            </a:r>
            <a:r>
              <a:rPr u="heavy" spc="-1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Synchronization</a:t>
            </a:r>
            <a:r>
              <a:rPr u="heavy" spc="-15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5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43" y="1650178"/>
            <a:ext cx="7862455" cy="40261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Waiting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for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all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finish: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2000">
              <a:latin typeface="Arial MT"/>
              <a:cs typeface="Arial MT"/>
            </a:endParaRPr>
          </a:p>
          <a:p>
            <a:pPr marL="828675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try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91590">
              <a:lnSpc>
                <a:spcPct val="100000"/>
              </a:lnSpc>
              <a:spcBef>
                <a:spcPts val="47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ob1.t.join();</a:t>
            </a:r>
            <a:endParaRPr sz="2000">
              <a:latin typeface="Courier New"/>
              <a:cs typeface="Courier New"/>
            </a:endParaRPr>
          </a:p>
          <a:p>
            <a:pPr marL="1291590">
              <a:lnSpc>
                <a:spcPct val="100000"/>
              </a:lnSpc>
              <a:spcBef>
                <a:spcPts val="47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ob2.t.join();</a:t>
            </a:r>
            <a:endParaRPr sz="2000">
              <a:latin typeface="Courier New"/>
              <a:cs typeface="Courier New"/>
            </a:endParaRPr>
          </a:p>
          <a:p>
            <a:pPr marL="1291590">
              <a:lnSpc>
                <a:spcPct val="100000"/>
              </a:lnSpc>
              <a:spcBef>
                <a:spcPts val="470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ob3.t.join();</a:t>
            </a:r>
            <a:endParaRPr sz="2000">
              <a:latin typeface="Courier New"/>
              <a:cs typeface="Courier New"/>
            </a:endParaRPr>
          </a:p>
          <a:p>
            <a:pPr marL="1291590" marR="5080" indent="-463550">
              <a:lnSpc>
                <a:spcPts val="2870"/>
              </a:lnSpc>
              <a:spcBef>
                <a:spcPts val="18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r>
              <a:rPr sz="2000" spc="-6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catch(InterruptedException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e)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System.out.println("Interrupted");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31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687464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No</a:t>
            </a:r>
            <a:r>
              <a:rPr u="heavy" spc="-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1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Synchronization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73" y="1650178"/>
            <a:ext cx="10437861" cy="39491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Output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from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earlier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program: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20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[Hello[Synchronized[World]</a:t>
            </a: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]</a:t>
            </a: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]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000">
              <a:latin typeface="Courier New"/>
              <a:cs typeface="Courier New"/>
            </a:endParaRPr>
          </a:p>
          <a:p>
            <a:pPr marL="12700" marR="278765" indent="127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By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pausing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for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second,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allows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execution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switch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to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another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thread.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mix-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up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outputs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from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message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strings.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000">
              <a:latin typeface="Arial MT"/>
              <a:cs typeface="Arial MT"/>
            </a:endParaRPr>
          </a:p>
          <a:p>
            <a:pPr marL="12700" marR="5080" indent="127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this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program,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nothing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exists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stop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all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from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calling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same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same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object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at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same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time.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763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Synchronized</a:t>
            </a:r>
            <a:r>
              <a:rPr u="heavy" spc="-21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1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Method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87" y="1633369"/>
            <a:ext cx="10223115" cy="47391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fix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earlier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program,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must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serialize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access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call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0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Callme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call(String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msg)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829944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000">
              <a:latin typeface="Courier New"/>
              <a:cs typeface="Courier New"/>
            </a:endParaRPr>
          </a:p>
          <a:p>
            <a:pPr marL="12700" marR="5080" indent="127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This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prevents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other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threads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from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entering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while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another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using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it.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output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result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program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now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follows: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000">
              <a:latin typeface="Arial MT"/>
              <a:cs typeface="Arial MT"/>
            </a:endParaRPr>
          </a:p>
          <a:p>
            <a:pPr marL="13970" marR="6277610">
              <a:lnSpc>
                <a:spcPct val="119800"/>
              </a:lnSpc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[Hello] [Synchronized] [World]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6222053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Synchronized</a:t>
            </a:r>
            <a:r>
              <a:rPr u="heavy" spc="-21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1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Statement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91" y="1650178"/>
            <a:ext cx="10392448" cy="39106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How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synchronize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access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instances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was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not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designed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for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multithreading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have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no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access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its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source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code?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20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Put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methods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this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inside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block: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0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synchronized(object)</a:t>
            </a:r>
            <a:r>
              <a:rPr sz="2000" spc="-1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2000">
              <a:latin typeface="Courier New"/>
              <a:cs typeface="Courier New"/>
            </a:endParaRPr>
          </a:p>
          <a:p>
            <a:pPr marL="12700" marR="12065" indent="127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This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ensures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member of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object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occurs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only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after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current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has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successfully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entered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object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’s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monitor.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6253641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7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Synchronized</a:t>
            </a:r>
            <a:r>
              <a:rPr u="heavy" spc="-17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1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40" y="1633369"/>
            <a:ext cx="7959435" cy="44108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Now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call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not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modified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by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Callme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828675" marR="1462405" indent="-464184">
              <a:lnSpc>
                <a:spcPts val="2870"/>
              </a:lnSpc>
              <a:spcBef>
                <a:spcPts val="18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call(String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msg)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System.out.print("["</a:t>
            </a:r>
            <a:r>
              <a:rPr sz="2000" spc="-6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+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msg);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try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91590">
              <a:lnSpc>
                <a:spcPct val="100000"/>
              </a:lnSpc>
              <a:spcBef>
                <a:spcPts val="30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Thread.sleep(1000);</a:t>
            </a:r>
            <a:endParaRPr sz="2000">
              <a:latin typeface="Courier New"/>
              <a:cs typeface="Courier New"/>
            </a:endParaRPr>
          </a:p>
          <a:p>
            <a:pPr marL="1291590" marR="84455" indent="-463550">
              <a:lnSpc>
                <a:spcPts val="2880"/>
              </a:lnSpc>
              <a:spcBef>
                <a:spcPts val="17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catch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(InterruptedException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e)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System.out.println("Interrupted");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30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47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System.out.println("]");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954809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7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Synchronized</a:t>
            </a:r>
            <a:r>
              <a:rPr u="heavy" spc="-17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2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43" y="1575951"/>
            <a:ext cx="7477606" cy="40959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marR="966469" indent="-352425">
              <a:lnSpc>
                <a:spcPct val="119800"/>
              </a:lnSpc>
              <a:spcBef>
                <a:spcPts val="10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Caller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implements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Runnable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String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msg;</a:t>
            </a:r>
            <a:endParaRPr sz="2000">
              <a:latin typeface="Courier New"/>
              <a:cs typeface="Courier New"/>
            </a:endParaRPr>
          </a:p>
          <a:p>
            <a:pPr marL="364490" marR="3662045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Callme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target;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Thread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t;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2000">
              <a:latin typeface="Courier New"/>
              <a:cs typeface="Courier New"/>
            </a:endParaRPr>
          </a:p>
          <a:p>
            <a:pPr marL="828675" marR="5080" indent="-464184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Caller(Callme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targ,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String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target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targ;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msg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s;</a:t>
            </a:r>
            <a:endParaRPr sz="2000">
              <a:latin typeface="Courier New"/>
              <a:cs typeface="Courier New"/>
            </a:endParaRPr>
          </a:p>
          <a:p>
            <a:pPr marL="828675" marR="2131695">
              <a:lnSpc>
                <a:spcPct val="119800"/>
              </a:lnSpc>
              <a:spcBef>
                <a:spcPts val="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Thread(this); t.start();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598031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7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Synchronized</a:t>
            </a:r>
            <a:r>
              <a:rPr u="heavy" spc="-17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3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402" y="1633369"/>
            <a:ext cx="10114587" cy="32258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Caller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’s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run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uses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statement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include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target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’s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call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method: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829944" marR="4153535" indent="-464184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run()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synchronized(target)</a:t>
            </a:r>
            <a:r>
              <a:rPr sz="2000" spc="-1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93495">
              <a:lnSpc>
                <a:spcPct val="100000"/>
              </a:lnSpc>
              <a:spcBef>
                <a:spcPts val="47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target.call(msg);</a:t>
            </a:r>
            <a:endParaRPr sz="2000">
              <a:latin typeface="Courier New"/>
              <a:cs typeface="Courier New"/>
            </a:endParaRPr>
          </a:p>
          <a:p>
            <a:pPr marL="829944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370961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7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Synchronized</a:t>
            </a:r>
            <a:r>
              <a:rPr u="heavy" spc="-17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4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43" y="1575950"/>
            <a:ext cx="7847061" cy="753411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Synch1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static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main(String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args[])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74354" y="2327642"/>
          <a:ext cx="8943879" cy="15486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9212"/>
                <a:gridCol w="4618182"/>
                <a:gridCol w="3086485"/>
              </a:tblGrid>
              <a:tr h="277906">
                <a:tc>
                  <a:txBody>
                    <a:bodyPr/>
                    <a:lstStyle/>
                    <a:p>
                      <a:pPr marL="31750">
                        <a:lnSpc>
                          <a:spcPts val="2020"/>
                        </a:lnSpc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Callme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20"/>
                        </a:lnSpc>
                      </a:pP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target</a:t>
                      </a:r>
                      <a:r>
                        <a:rPr sz="1800" spc="-2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5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800" spc="-15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Callme();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216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Caller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ob1</a:t>
                      </a:r>
                      <a:r>
                        <a:rPr sz="1800" spc="-25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Caller(target,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"Hello");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</a:tr>
              <a:tr h="3216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Caller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ob2</a:t>
                      </a:r>
                      <a:r>
                        <a:rPr sz="1800" spc="-25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Caller(target,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"Synchronized");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</a:tr>
              <a:tr h="3216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Caller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ob3</a:t>
                      </a:r>
                      <a:r>
                        <a:rPr sz="1800" spc="-25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Caller(target,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1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"World");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</a:tr>
              <a:tr h="305921">
                <a:tc>
                  <a:txBody>
                    <a:bodyPr/>
                    <a:lstStyle/>
                    <a:p>
                      <a:pPr marL="31750">
                        <a:lnSpc>
                          <a:spcPts val="2375"/>
                        </a:lnSpc>
                        <a:spcBef>
                          <a:spcPts val="10"/>
                        </a:spcBef>
                      </a:pPr>
                      <a:r>
                        <a:rPr sz="180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try</a:t>
                      </a:r>
                      <a:r>
                        <a:rPr sz="1800" spc="-25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8246" y="3830351"/>
            <a:ext cx="7862455" cy="298543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91590">
              <a:lnSpc>
                <a:spcPct val="100000"/>
              </a:lnSpc>
              <a:spcBef>
                <a:spcPts val="580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ob1.t.join();</a:t>
            </a:r>
            <a:endParaRPr sz="2000">
              <a:latin typeface="Courier New"/>
              <a:cs typeface="Courier New"/>
            </a:endParaRPr>
          </a:p>
          <a:p>
            <a:pPr marL="129159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ob2.t.join();</a:t>
            </a:r>
            <a:endParaRPr sz="2000">
              <a:latin typeface="Courier New"/>
              <a:cs typeface="Courier New"/>
            </a:endParaRPr>
          </a:p>
          <a:p>
            <a:pPr marL="1291590">
              <a:lnSpc>
                <a:spcPct val="100000"/>
              </a:lnSpc>
              <a:spcBef>
                <a:spcPts val="47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ob3.t.join();</a:t>
            </a:r>
            <a:endParaRPr sz="2000">
              <a:latin typeface="Courier New"/>
              <a:cs typeface="Courier New"/>
            </a:endParaRPr>
          </a:p>
          <a:p>
            <a:pPr marL="1291590" marR="5080" indent="-463550">
              <a:lnSpc>
                <a:spcPts val="2870"/>
              </a:lnSpc>
              <a:spcBef>
                <a:spcPts val="1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r>
              <a:rPr sz="2000" spc="-6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catch(InterruptedException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e)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System.out.println("Interrupted");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30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2871671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62200"/>
            <a:ext cx="10515600" cy="1325563"/>
          </a:xfrm>
        </p:spPr>
        <p:txBody>
          <a:bodyPr/>
          <a:lstStyle/>
          <a:p>
            <a:r>
              <a:rPr lang="en-US" sz="3600" b="1" dirty="0" smtClean="0"/>
              <a:t>Session 6: Inter Thread Communication</a:t>
            </a:r>
            <a:endParaRPr lang="en-US" sz="36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63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25369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spc="-2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Inter-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Thread</a:t>
            </a:r>
            <a:r>
              <a:rPr u="heavy" spc="-7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1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Communication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294" y="1633370"/>
            <a:ext cx="10153072" cy="50633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Inter-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communication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relies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Object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class: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000">
              <a:latin typeface="Arial MT"/>
              <a:cs typeface="Arial MT"/>
            </a:endParaRPr>
          </a:p>
          <a:p>
            <a:pPr marL="365760" indent="-353060">
              <a:lnSpc>
                <a:spcPct val="100000"/>
              </a:lnSpc>
              <a:buClr>
                <a:srgbClr val="363639"/>
              </a:buClr>
              <a:buFont typeface="Arial MT"/>
              <a:buAutoNum type="arabicParenR"/>
              <a:tabLst>
                <a:tab pos="365760" algn="l"/>
              </a:tabLst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final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wait()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throws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InterruptedException</a:t>
            </a:r>
            <a:endParaRPr sz="2000">
              <a:latin typeface="Courier New"/>
              <a:cs typeface="Courier New"/>
            </a:endParaRPr>
          </a:p>
          <a:p>
            <a:pPr marL="365760" marR="5080">
              <a:lnSpc>
                <a:spcPts val="2250"/>
              </a:lnSpc>
              <a:spcBef>
                <a:spcPts val="82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tells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calling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give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up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monitor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go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sleep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until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some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other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enters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same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monitor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notify()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000">
              <a:latin typeface="Arial MT"/>
              <a:cs typeface="Arial MT"/>
            </a:endParaRPr>
          </a:p>
          <a:p>
            <a:pPr marL="365760" indent="-353060">
              <a:lnSpc>
                <a:spcPct val="100000"/>
              </a:lnSpc>
              <a:spcBef>
                <a:spcPts val="5"/>
              </a:spcBef>
              <a:buClr>
                <a:srgbClr val="363639"/>
              </a:buClr>
              <a:buFont typeface="Arial MT"/>
              <a:buAutoNum type="arabicParenR" startAt="2"/>
              <a:tabLst>
                <a:tab pos="365760" algn="l"/>
              </a:tabLst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final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notify()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0"/>
              </a:spcBef>
              <a:tabLst>
                <a:tab pos="6392545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wakes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up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first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called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wait()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	same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object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000">
              <a:latin typeface="Arial MT"/>
              <a:cs typeface="Arial MT"/>
            </a:endParaRPr>
          </a:p>
          <a:p>
            <a:pPr marL="365760" indent="-353060">
              <a:lnSpc>
                <a:spcPct val="100000"/>
              </a:lnSpc>
              <a:buClr>
                <a:srgbClr val="363639"/>
              </a:buClr>
              <a:buFont typeface="Arial MT"/>
              <a:buAutoNum type="arabicParenR" startAt="3"/>
              <a:tabLst>
                <a:tab pos="365760" algn="l"/>
              </a:tabLst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final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notifyAll()</a:t>
            </a:r>
            <a:endParaRPr sz="2000">
              <a:latin typeface="Courier New"/>
              <a:cs typeface="Courier New"/>
            </a:endParaRPr>
          </a:p>
          <a:p>
            <a:pPr marL="365760" marR="340995">
              <a:lnSpc>
                <a:spcPct val="106300"/>
              </a:lnSpc>
              <a:spcBef>
                <a:spcPts val="32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wakes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up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all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called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wait()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same</a:t>
            </a:r>
            <a:r>
              <a:rPr sz="2000" spc="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object;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the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highest-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priority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will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run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first.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20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All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must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called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from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within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context.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2597008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" y="2056257"/>
            <a:ext cx="4926330" cy="3989070"/>
            <a:chOff x="96011" y="2056257"/>
            <a:chExt cx="4926330" cy="39890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459" y="2085340"/>
              <a:ext cx="4867910" cy="39306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0489" y="2070735"/>
              <a:ext cx="4897120" cy="3959860"/>
            </a:xfrm>
            <a:custGeom>
              <a:avLst/>
              <a:gdLst/>
              <a:ahLst/>
              <a:cxnLst/>
              <a:rect l="l" t="t" r="r" b="b"/>
              <a:pathLst>
                <a:path w="4897120" h="3959860">
                  <a:moveTo>
                    <a:pt x="0" y="3959860"/>
                  </a:moveTo>
                  <a:lnTo>
                    <a:pt x="4897120" y="3959860"/>
                  </a:lnTo>
                  <a:lnTo>
                    <a:pt x="4897120" y="0"/>
                  </a:lnTo>
                  <a:lnTo>
                    <a:pt x="0" y="0"/>
                  </a:lnTo>
                  <a:lnTo>
                    <a:pt x="0" y="3959860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13843" y="889129"/>
            <a:ext cx="12221210" cy="697865"/>
            <a:chOff x="-13843" y="889127"/>
            <a:chExt cx="12221210" cy="697865"/>
          </a:xfrm>
        </p:grpSpPr>
        <p:sp>
          <p:nvSpPr>
            <p:cNvPr id="6" name="object 6"/>
            <p:cNvSpPr/>
            <p:nvPr/>
          </p:nvSpPr>
          <p:spPr>
            <a:xfrm>
              <a:off x="634" y="903605"/>
              <a:ext cx="12192000" cy="368935"/>
            </a:xfrm>
            <a:custGeom>
              <a:avLst/>
              <a:gdLst/>
              <a:ahLst/>
              <a:cxnLst/>
              <a:rect l="l" t="t" r="r" b="b"/>
              <a:pathLst>
                <a:path w="12192000" h="368934">
                  <a:moveTo>
                    <a:pt x="12192000" y="0"/>
                  </a:moveTo>
                  <a:lnTo>
                    <a:pt x="0" y="0"/>
                  </a:lnTo>
                  <a:lnTo>
                    <a:pt x="0" y="368935"/>
                  </a:lnTo>
                  <a:lnTo>
                    <a:pt x="12192000" y="36893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634" y="903605"/>
              <a:ext cx="12192000" cy="368935"/>
            </a:xfrm>
            <a:custGeom>
              <a:avLst/>
              <a:gdLst/>
              <a:ahLst/>
              <a:cxnLst/>
              <a:rect l="l" t="t" r="r" b="b"/>
              <a:pathLst>
                <a:path w="12192000" h="368934">
                  <a:moveTo>
                    <a:pt x="0" y="368935"/>
                  </a:moveTo>
                  <a:lnTo>
                    <a:pt x="12192000" y="36893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68935"/>
                  </a:lnTo>
                  <a:close/>
                </a:path>
              </a:pathLst>
            </a:custGeom>
            <a:ln w="28956">
              <a:solidFill>
                <a:srgbClr val="BD9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514474" y="1271270"/>
              <a:ext cx="190500" cy="309245"/>
            </a:xfrm>
            <a:custGeom>
              <a:avLst/>
              <a:gdLst/>
              <a:ahLst/>
              <a:cxnLst/>
              <a:rect l="l" t="t" r="r" b="b"/>
              <a:pathLst>
                <a:path w="190500" h="309244">
                  <a:moveTo>
                    <a:pt x="142875" y="0"/>
                  </a:moveTo>
                  <a:lnTo>
                    <a:pt x="47625" y="0"/>
                  </a:lnTo>
                  <a:lnTo>
                    <a:pt x="47625" y="213994"/>
                  </a:lnTo>
                  <a:lnTo>
                    <a:pt x="0" y="213994"/>
                  </a:lnTo>
                  <a:lnTo>
                    <a:pt x="95250" y="309244"/>
                  </a:lnTo>
                  <a:lnTo>
                    <a:pt x="190500" y="213994"/>
                  </a:lnTo>
                  <a:lnTo>
                    <a:pt x="142875" y="213994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514474" y="1271270"/>
              <a:ext cx="190500" cy="309245"/>
            </a:xfrm>
            <a:custGeom>
              <a:avLst/>
              <a:gdLst/>
              <a:ahLst/>
              <a:cxnLst/>
              <a:rect l="l" t="t" r="r" b="b"/>
              <a:pathLst>
                <a:path w="190500" h="309244">
                  <a:moveTo>
                    <a:pt x="0" y="213994"/>
                  </a:moveTo>
                  <a:lnTo>
                    <a:pt x="47625" y="213994"/>
                  </a:lnTo>
                  <a:lnTo>
                    <a:pt x="47625" y="0"/>
                  </a:lnTo>
                  <a:lnTo>
                    <a:pt x="142875" y="0"/>
                  </a:lnTo>
                  <a:lnTo>
                    <a:pt x="142875" y="213994"/>
                  </a:lnTo>
                  <a:lnTo>
                    <a:pt x="190500" y="213994"/>
                  </a:lnTo>
                  <a:lnTo>
                    <a:pt x="95250" y="309244"/>
                  </a:lnTo>
                  <a:lnTo>
                    <a:pt x="0" y="213994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321939" y="1751583"/>
            <a:ext cx="1960245" cy="154940"/>
            <a:chOff x="3321939" y="1751583"/>
            <a:chExt cx="1960245" cy="154940"/>
          </a:xfrm>
        </p:grpSpPr>
        <p:sp>
          <p:nvSpPr>
            <p:cNvPr id="11" name="object 11"/>
            <p:cNvSpPr/>
            <p:nvPr/>
          </p:nvSpPr>
          <p:spPr>
            <a:xfrm>
              <a:off x="3328035" y="1757679"/>
              <a:ext cx="1947545" cy="142240"/>
            </a:xfrm>
            <a:custGeom>
              <a:avLst/>
              <a:gdLst/>
              <a:ahLst/>
              <a:cxnLst/>
              <a:rect l="l" t="t" r="r" b="b"/>
              <a:pathLst>
                <a:path w="1947545" h="142239">
                  <a:moveTo>
                    <a:pt x="1876425" y="0"/>
                  </a:moveTo>
                  <a:lnTo>
                    <a:pt x="1876425" y="35560"/>
                  </a:lnTo>
                  <a:lnTo>
                    <a:pt x="0" y="35560"/>
                  </a:lnTo>
                  <a:lnTo>
                    <a:pt x="0" y="106680"/>
                  </a:lnTo>
                  <a:lnTo>
                    <a:pt x="1876425" y="106680"/>
                  </a:lnTo>
                  <a:lnTo>
                    <a:pt x="1876425" y="142240"/>
                  </a:lnTo>
                  <a:lnTo>
                    <a:pt x="1947544" y="71120"/>
                  </a:lnTo>
                  <a:lnTo>
                    <a:pt x="1876425" y="0"/>
                  </a:lnTo>
                  <a:close/>
                </a:path>
              </a:pathLst>
            </a:custGeom>
            <a:solidFill>
              <a:srgbClr val="00AE50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328035" y="1757679"/>
              <a:ext cx="1947545" cy="142240"/>
            </a:xfrm>
            <a:custGeom>
              <a:avLst/>
              <a:gdLst/>
              <a:ahLst/>
              <a:cxnLst/>
              <a:rect l="l" t="t" r="r" b="b"/>
              <a:pathLst>
                <a:path w="1947545" h="142239">
                  <a:moveTo>
                    <a:pt x="0" y="35560"/>
                  </a:moveTo>
                  <a:lnTo>
                    <a:pt x="1876425" y="35560"/>
                  </a:lnTo>
                  <a:lnTo>
                    <a:pt x="1876425" y="0"/>
                  </a:lnTo>
                  <a:lnTo>
                    <a:pt x="1947544" y="71120"/>
                  </a:lnTo>
                  <a:lnTo>
                    <a:pt x="1876425" y="142240"/>
                  </a:lnTo>
                  <a:lnTo>
                    <a:pt x="1876425" y="106680"/>
                  </a:lnTo>
                  <a:lnTo>
                    <a:pt x="0" y="106680"/>
                  </a:lnTo>
                  <a:lnTo>
                    <a:pt x="0" y="35560"/>
                  </a:lnTo>
                  <a:close/>
                </a:path>
              </a:pathLst>
            </a:custGeom>
            <a:ln w="12192">
              <a:solidFill>
                <a:srgbClr val="00AE5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838200" y="683264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Inter-</a:t>
            </a:r>
            <a:r>
              <a:rPr dirty="0"/>
              <a:t>thread</a:t>
            </a:r>
            <a:r>
              <a:rPr spc="-15" dirty="0"/>
              <a:t> </a:t>
            </a:r>
            <a:r>
              <a:rPr spc="-10" dirty="0"/>
              <a:t>communication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9220" y="1581151"/>
            <a:ext cx="3218815" cy="42191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113030" rIns="0" bIns="0" rtlCol="0">
            <a:spAutoFit/>
          </a:bodyPr>
          <a:lstStyle/>
          <a:p>
            <a:pPr marL="91440">
              <a:spcBef>
                <a:spcPts val="89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Problem:</a:t>
            </a:r>
            <a:r>
              <a:rPr sz="2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DeadLock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2830" y="1303655"/>
            <a:ext cx="121780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" algn="ctr">
              <a:spcBef>
                <a:spcPts val="100"/>
              </a:spcBef>
            </a:pPr>
            <a:r>
              <a:rPr b="1" dirty="0">
                <a:solidFill>
                  <a:prstClr val="black"/>
                </a:solidFill>
                <a:latin typeface="Times New Roman"/>
                <a:cs typeface="Times New Roman"/>
              </a:rPr>
              <a:t>AFTER</a:t>
            </a:r>
            <a:r>
              <a:rPr b="1" spc="-6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prstClr val="black"/>
                </a:solidFill>
                <a:latin typeface="Times New Roman"/>
                <a:cs typeface="Times New Roman"/>
              </a:rPr>
              <a:t>SYNCHRONIZATION</a:t>
            </a:r>
            <a:endParaRPr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06670" y="2077720"/>
            <a:ext cx="6995159" cy="4663440"/>
            <a:chOff x="5106670" y="2077720"/>
            <a:chExt cx="6995159" cy="466344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7645" y="2159000"/>
              <a:ext cx="6725920" cy="44799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125720" y="2096770"/>
              <a:ext cx="6957059" cy="4625340"/>
            </a:xfrm>
            <a:custGeom>
              <a:avLst/>
              <a:gdLst/>
              <a:ahLst/>
              <a:cxnLst/>
              <a:rect l="l" t="t" r="r" b="b"/>
              <a:pathLst>
                <a:path w="6957059" h="4625340">
                  <a:moveTo>
                    <a:pt x="0" y="4625340"/>
                  </a:moveTo>
                  <a:lnTo>
                    <a:pt x="6957059" y="4625340"/>
                  </a:lnTo>
                  <a:lnTo>
                    <a:pt x="6957059" y="0"/>
                  </a:lnTo>
                  <a:lnTo>
                    <a:pt x="0" y="0"/>
                  </a:lnTo>
                  <a:lnTo>
                    <a:pt x="0" y="4625340"/>
                  </a:lnTo>
                  <a:close/>
                </a:path>
              </a:pathLst>
            </a:custGeom>
            <a:ln w="38099">
              <a:solidFill>
                <a:srgbClr val="00AE5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275578" y="1581150"/>
            <a:ext cx="5173981" cy="419346"/>
          </a:xfrm>
          <a:prstGeom prst="rect">
            <a:avLst/>
          </a:prstGeom>
          <a:solidFill>
            <a:srgbClr val="00AE50"/>
          </a:solidFill>
        </p:spPr>
        <p:txBody>
          <a:bodyPr vert="horz" wrap="square" lIns="0" tIns="110490" rIns="0" bIns="0" rtlCol="0">
            <a:spAutoFit/>
          </a:bodyPr>
          <a:lstStyle/>
          <a:p>
            <a:pPr marL="92710">
              <a:spcBef>
                <a:spcPts val="87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Solution:</a:t>
            </a: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Inter-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Thread</a:t>
            </a:r>
            <a:r>
              <a:rPr sz="2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72943" y="284480"/>
            <a:ext cx="3043555" cy="345607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3980">
              <a:spcBef>
                <a:spcPts val="295"/>
              </a:spcBef>
            </a:pPr>
            <a:r>
              <a:rPr sz="2000" b="1" spc="-10" dirty="0">
                <a:solidFill>
                  <a:prstClr val="black"/>
                </a:solidFill>
                <a:latin typeface="Times New Roman"/>
                <a:cs typeface="Times New Roman"/>
              </a:rPr>
              <a:t>threadInterNonCom.java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10950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092" y="124462"/>
            <a:ext cx="11964035" cy="6559550"/>
            <a:chOff x="85089" y="124460"/>
            <a:chExt cx="11964035" cy="6559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8839" y="258445"/>
              <a:ext cx="5906770" cy="30670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53735" y="143510"/>
              <a:ext cx="6276340" cy="3307079"/>
            </a:xfrm>
            <a:custGeom>
              <a:avLst/>
              <a:gdLst/>
              <a:ahLst/>
              <a:cxnLst/>
              <a:rect l="l" t="t" r="r" b="b"/>
              <a:pathLst>
                <a:path w="6276340" h="3307079">
                  <a:moveTo>
                    <a:pt x="0" y="3307080"/>
                  </a:moveTo>
                  <a:lnTo>
                    <a:pt x="6276340" y="3307080"/>
                  </a:lnTo>
                  <a:lnTo>
                    <a:pt x="6276340" y="0"/>
                  </a:lnTo>
                  <a:lnTo>
                    <a:pt x="0" y="0"/>
                  </a:lnTo>
                  <a:lnTo>
                    <a:pt x="0" y="3307080"/>
                  </a:lnTo>
                  <a:close/>
                </a:path>
              </a:pathLst>
            </a:custGeom>
            <a:ln w="38100">
              <a:solidFill>
                <a:srgbClr val="2D5395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189" y="2715260"/>
              <a:ext cx="7602220" cy="39306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4139" y="2696210"/>
              <a:ext cx="7640320" cy="3968750"/>
            </a:xfrm>
            <a:custGeom>
              <a:avLst/>
              <a:gdLst/>
              <a:ahLst/>
              <a:cxnLst/>
              <a:rect l="l" t="t" r="r" b="b"/>
              <a:pathLst>
                <a:path w="7640320" h="3968750">
                  <a:moveTo>
                    <a:pt x="0" y="3968750"/>
                  </a:moveTo>
                  <a:lnTo>
                    <a:pt x="7640320" y="3968750"/>
                  </a:lnTo>
                  <a:lnTo>
                    <a:pt x="7640320" y="0"/>
                  </a:lnTo>
                  <a:lnTo>
                    <a:pt x="0" y="0"/>
                  </a:lnTo>
                  <a:lnTo>
                    <a:pt x="0" y="396875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23189" y="2253614"/>
              <a:ext cx="2697480" cy="462280"/>
            </a:xfrm>
            <a:custGeom>
              <a:avLst/>
              <a:gdLst/>
              <a:ahLst/>
              <a:cxnLst/>
              <a:rect l="l" t="t" r="r" b="b"/>
              <a:pathLst>
                <a:path w="2697480" h="462280">
                  <a:moveTo>
                    <a:pt x="2697480" y="0"/>
                  </a:moveTo>
                  <a:lnTo>
                    <a:pt x="0" y="0"/>
                  </a:lnTo>
                  <a:lnTo>
                    <a:pt x="0" y="462279"/>
                  </a:lnTo>
                  <a:lnTo>
                    <a:pt x="2697480" y="462279"/>
                  </a:lnTo>
                  <a:lnTo>
                    <a:pt x="2697480" y="0"/>
                  </a:lnTo>
                  <a:close/>
                </a:path>
              </a:pathLst>
            </a:custGeom>
            <a:solidFill>
              <a:srgbClr val="1F3862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23189" y="2253614"/>
              <a:ext cx="2697480" cy="462280"/>
            </a:xfrm>
            <a:custGeom>
              <a:avLst/>
              <a:gdLst/>
              <a:ahLst/>
              <a:cxnLst/>
              <a:rect l="l" t="t" r="r" b="b"/>
              <a:pathLst>
                <a:path w="2697480" h="462280">
                  <a:moveTo>
                    <a:pt x="0" y="462279"/>
                  </a:moveTo>
                  <a:lnTo>
                    <a:pt x="2697480" y="462279"/>
                  </a:lnTo>
                  <a:lnTo>
                    <a:pt x="2697480" y="0"/>
                  </a:lnTo>
                  <a:lnTo>
                    <a:pt x="0" y="0"/>
                  </a:lnTo>
                  <a:lnTo>
                    <a:pt x="0" y="462279"/>
                  </a:lnTo>
                  <a:close/>
                </a:path>
              </a:pathLst>
            </a:custGeom>
            <a:ln w="9144">
              <a:solidFill>
                <a:srgbClr val="1F3862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221480" y="804544"/>
            <a:ext cx="1551941" cy="1150570"/>
          </a:xfrm>
          <a:prstGeom prst="rect">
            <a:avLst/>
          </a:prstGeom>
          <a:solidFill>
            <a:srgbClr val="2D5395"/>
          </a:solidFill>
        </p:spPr>
        <p:txBody>
          <a:bodyPr vert="horz" wrap="square" lIns="0" tIns="31114" rIns="0" bIns="0" rtlCol="0">
            <a:spAutoFit/>
          </a:bodyPr>
          <a:lstStyle/>
          <a:p>
            <a:pPr marL="92075" marR="94615">
              <a:lnSpc>
                <a:spcPct val="100899"/>
              </a:lnSpc>
              <a:spcBef>
                <a:spcPts val="244"/>
              </a:spcBef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wait(),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notify()</a:t>
            </a:r>
            <a:r>
              <a:rPr sz="24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&amp;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notifyAll()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00662" y="162145"/>
            <a:ext cx="3835399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Inter-</a:t>
            </a:r>
            <a:r>
              <a:rPr dirty="0"/>
              <a:t>thread</a:t>
            </a:r>
            <a:r>
              <a:rPr spc="-15" dirty="0"/>
              <a:t> </a:t>
            </a:r>
            <a:r>
              <a:rPr spc="-10" dirty="0"/>
              <a:t>communication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0662" y="2265426"/>
            <a:ext cx="25126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wait()</a:t>
            </a:r>
            <a:r>
              <a:rPr sz="24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4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timeout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85423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4315" y="3203577"/>
            <a:ext cx="6096000" cy="1860550"/>
          </a:xfrm>
          <a:custGeom>
            <a:avLst/>
            <a:gdLst/>
            <a:ahLst/>
            <a:cxnLst/>
            <a:rect l="l" t="t" r="r" b="b"/>
            <a:pathLst>
              <a:path w="6096000" h="1860550">
                <a:moveTo>
                  <a:pt x="0" y="1860550"/>
                </a:moveTo>
                <a:lnTo>
                  <a:pt x="6096000" y="1860550"/>
                </a:lnTo>
                <a:lnTo>
                  <a:pt x="6096000" y="383539"/>
                </a:lnTo>
                <a:lnTo>
                  <a:pt x="0" y="383539"/>
                </a:lnTo>
                <a:lnTo>
                  <a:pt x="0" y="1860550"/>
                </a:lnTo>
                <a:close/>
              </a:path>
              <a:path w="6096000" h="1860550">
                <a:moveTo>
                  <a:pt x="0" y="368300"/>
                </a:moveTo>
                <a:lnTo>
                  <a:pt x="5909945" y="368300"/>
                </a:lnTo>
                <a:lnTo>
                  <a:pt x="5909945" y="0"/>
                </a:lnTo>
                <a:lnTo>
                  <a:pt x="0" y="0"/>
                </a:lnTo>
                <a:lnTo>
                  <a:pt x="0" y="3683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886" y="685546"/>
            <a:ext cx="11706225" cy="429207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6995" marR="5080" algn="just">
              <a:lnSpc>
                <a:spcPct val="99400"/>
              </a:lnSpc>
              <a:spcBef>
                <a:spcPts val="105"/>
              </a:spcBef>
            </a:pP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Java</a:t>
            </a:r>
            <a:r>
              <a:rPr sz="2000" spc="4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provide</a:t>
            </a:r>
            <a:r>
              <a:rPr sz="2000" spc="5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benefits</a:t>
            </a:r>
            <a:r>
              <a:rPr sz="2000" spc="3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2000" spc="6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avoiding</a:t>
            </a:r>
            <a:r>
              <a:rPr sz="2000" spc="3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thread</a:t>
            </a:r>
            <a:r>
              <a:rPr sz="2000" spc="6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pooling</a:t>
            </a:r>
            <a:r>
              <a:rPr sz="2000" spc="5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using</a:t>
            </a:r>
            <a:r>
              <a:rPr sz="2000" spc="4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inter-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thread</a:t>
            </a:r>
            <a:r>
              <a:rPr sz="2000" spc="2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communication.</a:t>
            </a:r>
            <a:r>
              <a:rPr sz="2000" spc="6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000" spc="4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wait()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,</a:t>
            </a:r>
            <a:r>
              <a:rPr sz="2000" spc="3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notify()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,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2000" spc="4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notifyAll()</a:t>
            </a:r>
            <a:r>
              <a:rPr sz="2000" b="1" spc="10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methods</a:t>
            </a:r>
            <a:r>
              <a:rPr sz="2000" spc="3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2000" spc="4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Object</a:t>
            </a:r>
            <a:r>
              <a:rPr sz="2000" spc="3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class</a:t>
            </a:r>
            <a:r>
              <a:rPr sz="2000" spc="29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2000" spc="3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used</a:t>
            </a:r>
            <a:r>
              <a:rPr sz="2000" spc="31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2000" spc="31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this</a:t>
            </a:r>
            <a:r>
              <a:rPr sz="2000" spc="30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purpose.</a:t>
            </a:r>
            <a:r>
              <a:rPr sz="2000" spc="305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These</a:t>
            </a:r>
            <a:r>
              <a:rPr sz="2000" spc="31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method</a:t>
            </a:r>
            <a:r>
              <a:rPr sz="2000" spc="31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2000" spc="300" dirty="0">
                <a:solidFill>
                  <a:srgbClr val="333333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implemented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2000" spc="1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final</a:t>
            </a:r>
            <a:r>
              <a:rPr sz="2000" b="1" spc="22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methods</a:t>
            </a:r>
            <a:r>
              <a:rPr sz="2000" spc="1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2000" spc="1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Object,</a:t>
            </a:r>
            <a:r>
              <a:rPr sz="2000" spc="1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so</a:t>
            </a:r>
            <a:r>
              <a:rPr sz="2000" spc="1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that</a:t>
            </a:r>
            <a:r>
              <a:rPr sz="2000" spc="1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all</a:t>
            </a:r>
            <a:r>
              <a:rPr sz="2000" spc="1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classes</a:t>
            </a:r>
            <a:r>
              <a:rPr sz="2000" spc="1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have</a:t>
            </a:r>
            <a:r>
              <a:rPr sz="2000" spc="1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them.</a:t>
            </a:r>
            <a:r>
              <a:rPr sz="2000" spc="1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All</a:t>
            </a:r>
            <a:r>
              <a:rPr sz="2000" spc="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000" spc="1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three</a:t>
            </a:r>
            <a:r>
              <a:rPr sz="2000" spc="1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method</a:t>
            </a:r>
            <a:r>
              <a:rPr sz="2000" spc="1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can</a:t>
            </a:r>
            <a:r>
              <a:rPr sz="2000" spc="1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be</a:t>
            </a:r>
            <a:r>
              <a:rPr sz="2000" spc="1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called</a:t>
            </a:r>
            <a:r>
              <a:rPr sz="2000" spc="1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only</a:t>
            </a:r>
            <a:r>
              <a:rPr sz="2000" spc="1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from</a:t>
            </a:r>
            <a:r>
              <a:rPr sz="20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within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2000" spc="-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synchronized</a:t>
            </a:r>
            <a:r>
              <a:rPr sz="2000" b="1" spc="-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context.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28625" marR="259715" indent="-342265">
              <a:spcBef>
                <a:spcPts val="25"/>
              </a:spcBef>
              <a:buFont typeface="Arial"/>
              <a:buChar char="•"/>
              <a:tabLst>
                <a:tab pos="428625" algn="l"/>
                <a:tab pos="429259" algn="l"/>
              </a:tabLst>
            </a:pP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wait()</a:t>
            </a:r>
            <a:r>
              <a:rPr sz="20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tells</a:t>
            </a:r>
            <a:r>
              <a:rPr sz="200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calling</a:t>
            </a:r>
            <a:r>
              <a:rPr sz="2000" spc="-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thread</a:t>
            </a:r>
            <a:r>
              <a:rPr sz="20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give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up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monitor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go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20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sleep</a:t>
            </a:r>
            <a:r>
              <a:rPr sz="20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until</a:t>
            </a:r>
            <a:r>
              <a:rPr sz="20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some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other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thread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enters</a:t>
            </a:r>
            <a:r>
              <a:rPr sz="20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0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same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 monitor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call</a:t>
            </a:r>
            <a:r>
              <a:rPr sz="200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notify.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28625" indent="-342265">
              <a:buFont typeface="Arial"/>
              <a:buChar char="•"/>
              <a:tabLst>
                <a:tab pos="428625" algn="l"/>
                <a:tab pos="429259" algn="l"/>
              </a:tabLst>
            </a:pP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notify()</a:t>
            </a:r>
            <a:r>
              <a:rPr sz="2000" b="1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wakes</a:t>
            </a:r>
            <a:r>
              <a:rPr sz="20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up</a:t>
            </a:r>
            <a:r>
              <a:rPr sz="20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thread</a:t>
            </a:r>
            <a:r>
              <a:rPr sz="20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that</a:t>
            </a:r>
            <a:r>
              <a:rPr sz="20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called</a:t>
            </a:r>
            <a:r>
              <a:rPr sz="20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wait()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on</a:t>
            </a:r>
            <a:r>
              <a:rPr sz="20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same</a:t>
            </a:r>
            <a:r>
              <a:rPr sz="2000" spc="-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object.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28625" indent="-342265">
              <a:spcBef>
                <a:spcPts val="5"/>
              </a:spcBef>
              <a:buFont typeface="Arial"/>
              <a:buChar char="•"/>
              <a:tabLst>
                <a:tab pos="428625" algn="l"/>
                <a:tab pos="429259" algn="l"/>
              </a:tabLst>
            </a:pPr>
            <a:r>
              <a:rPr sz="2000" b="1" dirty="0">
                <a:solidFill>
                  <a:srgbClr val="333333"/>
                </a:solidFill>
                <a:latin typeface="Times New Roman"/>
                <a:cs typeface="Times New Roman"/>
              </a:rPr>
              <a:t>notifyAll()</a:t>
            </a:r>
            <a:r>
              <a:rPr sz="2000" b="1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wakes</a:t>
            </a:r>
            <a:r>
              <a:rPr sz="20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up</a:t>
            </a:r>
            <a:r>
              <a:rPr sz="20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all</a:t>
            </a:r>
            <a:r>
              <a:rPr sz="20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thread</a:t>
            </a:r>
            <a:r>
              <a:rPr sz="20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that</a:t>
            </a:r>
            <a:r>
              <a:rPr sz="200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called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wait()</a:t>
            </a:r>
            <a:r>
              <a:rPr sz="20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33"/>
                </a:solidFill>
                <a:latin typeface="Times New Roman"/>
                <a:cs typeface="Times New Roman"/>
              </a:rPr>
              <a:t>on</a:t>
            </a:r>
            <a:r>
              <a:rPr sz="20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same</a:t>
            </a:r>
            <a:r>
              <a:rPr sz="2000" spc="-11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Times New Roman"/>
                <a:cs typeface="Times New Roman"/>
              </a:rPr>
              <a:t>object.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820">
              <a:spcBef>
                <a:spcPts val="869"/>
              </a:spcBef>
            </a:pPr>
            <a:r>
              <a:rPr b="1" dirty="0">
                <a:solidFill>
                  <a:prstClr val="black"/>
                </a:solidFill>
                <a:latin typeface="Times New Roman"/>
                <a:cs typeface="Times New Roman"/>
              </a:rPr>
              <a:t>These</a:t>
            </a:r>
            <a:r>
              <a:rPr b="1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prstClr val="black"/>
                </a:solidFill>
                <a:latin typeface="Times New Roman"/>
                <a:cs typeface="Times New Roman"/>
              </a:rPr>
              <a:t>methods</a:t>
            </a:r>
            <a:r>
              <a:rPr b="1" spc="-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prstClr val="black"/>
                </a:solidFill>
                <a:latin typeface="Times New Roman"/>
                <a:cs typeface="Times New Roman"/>
              </a:rPr>
              <a:t>are</a:t>
            </a:r>
            <a:r>
              <a:rPr b="1" spc="-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prstClr val="black"/>
                </a:solidFill>
                <a:latin typeface="Times New Roman"/>
                <a:cs typeface="Times New Roman"/>
              </a:rPr>
              <a:t>declared</a:t>
            </a:r>
            <a:r>
              <a:rPr b="1" spc="-5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prstClr val="black"/>
                </a:solidFill>
                <a:latin typeface="Times New Roman"/>
                <a:cs typeface="Times New Roman"/>
              </a:rPr>
              <a:t>within</a:t>
            </a:r>
            <a:r>
              <a:rPr b="1" spc="-5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prstClr val="black"/>
                </a:solidFill>
                <a:latin typeface="Times New Roman"/>
                <a:cs typeface="Times New Roman"/>
              </a:rPr>
              <a:t>Object,</a:t>
            </a:r>
            <a:r>
              <a:rPr b="1" spc="-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prstClr val="black"/>
                </a:solidFill>
                <a:latin typeface="Times New Roman"/>
                <a:cs typeface="Times New Roman"/>
              </a:rPr>
              <a:t>as</a:t>
            </a:r>
            <a:r>
              <a:rPr b="1" spc="-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prstClr val="black"/>
                </a:solidFill>
                <a:latin typeface="Times New Roman"/>
                <a:cs typeface="Times New Roman"/>
              </a:rPr>
              <a:t>shown</a:t>
            </a:r>
            <a:r>
              <a:rPr b="1" spc="-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prstClr val="black"/>
                </a:solidFill>
                <a:latin typeface="Times New Roman"/>
                <a:cs typeface="Times New Roman"/>
              </a:rPr>
              <a:t>here: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28625" indent="-345440">
              <a:spcBef>
                <a:spcPts val="1555"/>
              </a:spcBef>
              <a:buFont typeface="Arial"/>
              <a:buChar char="•"/>
              <a:tabLst>
                <a:tab pos="428625" algn="l"/>
                <a:tab pos="429259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final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void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wait(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throws</a:t>
            </a:r>
            <a:r>
              <a:rPr sz="20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InterruptedException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28625" indent="-345440">
              <a:spcBef>
                <a:spcPts val="1225"/>
              </a:spcBef>
              <a:buFont typeface="Arial"/>
              <a:buChar char="•"/>
              <a:tabLst>
                <a:tab pos="428625" algn="l"/>
                <a:tab pos="429259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final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void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notify(</a:t>
            </a:r>
            <a:r>
              <a:rPr sz="20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28625" indent="-345440">
              <a:spcBef>
                <a:spcPts val="1225"/>
              </a:spcBef>
              <a:buFont typeface="Arial"/>
              <a:buChar char="•"/>
              <a:tabLst>
                <a:tab pos="428625" algn="l"/>
                <a:tab pos="429259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final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void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notifyAll(</a:t>
            </a:r>
            <a:r>
              <a:rPr sz="20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1003" y="75965"/>
            <a:ext cx="1097279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Inter-</a:t>
            </a:r>
            <a:r>
              <a:rPr dirty="0"/>
              <a:t>thread</a:t>
            </a:r>
            <a:r>
              <a:rPr spc="-15" dirty="0"/>
              <a:t> </a:t>
            </a:r>
            <a:r>
              <a:rPr spc="-10" dirty="0"/>
              <a:t>communication</a:t>
            </a:r>
          </a:p>
        </p:txBody>
      </p:sp>
      <p:sp>
        <p:nvSpPr>
          <p:cNvPr id="5" name="object 5"/>
          <p:cNvSpPr/>
          <p:nvPr/>
        </p:nvSpPr>
        <p:spPr>
          <a:xfrm>
            <a:off x="3816987" y="5278503"/>
            <a:ext cx="8253095" cy="564515"/>
          </a:xfrm>
          <a:custGeom>
            <a:avLst/>
            <a:gdLst/>
            <a:ahLst/>
            <a:cxnLst/>
            <a:rect l="l" t="t" r="r" b="b"/>
            <a:pathLst>
              <a:path w="8253095" h="564514">
                <a:moveTo>
                  <a:pt x="51816" y="39649"/>
                </a:moveTo>
                <a:lnTo>
                  <a:pt x="0" y="39649"/>
                </a:lnTo>
                <a:lnTo>
                  <a:pt x="0" y="564210"/>
                </a:lnTo>
                <a:lnTo>
                  <a:pt x="51816" y="564210"/>
                </a:lnTo>
                <a:lnTo>
                  <a:pt x="51816" y="39649"/>
                </a:lnTo>
                <a:close/>
              </a:path>
              <a:path w="8253095" h="564514">
                <a:moveTo>
                  <a:pt x="8253095" y="39649"/>
                </a:moveTo>
                <a:lnTo>
                  <a:pt x="8216519" y="39649"/>
                </a:lnTo>
                <a:lnTo>
                  <a:pt x="8216519" y="564210"/>
                </a:lnTo>
                <a:lnTo>
                  <a:pt x="8253095" y="564210"/>
                </a:lnTo>
                <a:lnTo>
                  <a:pt x="8253095" y="39649"/>
                </a:lnTo>
                <a:close/>
              </a:path>
              <a:path w="8253095" h="564514">
                <a:moveTo>
                  <a:pt x="8253095" y="0"/>
                </a:moveTo>
                <a:lnTo>
                  <a:pt x="8216519" y="0"/>
                </a:lnTo>
                <a:lnTo>
                  <a:pt x="51816" y="12"/>
                </a:lnTo>
                <a:lnTo>
                  <a:pt x="0" y="12"/>
                </a:lnTo>
                <a:lnTo>
                  <a:pt x="0" y="36576"/>
                </a:lnTo>
                <a:lnTo>
                  <a:pt x="0" y="39624"/>
                </a:lnTo>
                <a:lnTo>
                  <a:pt x="51816" y="39624"/>
                </a:lnTo>
                <a:lnTo>
                  <a:pt x="51816" y="36576"/>
                </a:lnTo>
                <a:lnTo>
                  <a:pt x="8216519" y="36576"/>
                </a:lnTo>
                <a:lnTo>
                  <a:pt x="8216519" y="39624"/>
                </a:lnTo>
                <a:lnTo>
                  <a:pt x="8253095" y="39624"/>
                </a:lnTo>
                <a:lnTo>
                  <a:pt x="8253095" y="36576"/>
                </a:lnTo>
                <a:lnTo>
                  <a:pt x="8253095" y="12"/>
                </a:lnTo>
                <a:close/>
              </a:path>
            </a:pathLst>
          </a:custGeom>
          <a:solidFill>
            <a:srgbClr val="00AE5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8880" y="5878780"/>
            <a:ext cx="30181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spcBef>
                <a:spcPts val="100"/>
              </a:spcBef>
            </a:pPr>
            <a:r>
              <a:rPr b="1" dirty="0">
                <a:solidFill>
                  <a:prstClr val="black"/>
                </a:solidFill>
                <a:latin typeface="Times New Roman"/>
                <a:cs typeface="Times New Roman"/>
              </a:rPr>
              <a:t>Producer</a:t>
            </a:r>
            <a:r>
              <a:rPr b="1" spc="-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prstClr val="black"/>
                </a:solidFill>
                <a:latin typeface="Times New Roman"/>
                <a:cs typeface="Times New Roman"/>
              </a:rPr>
              <a:t>Consumer</a:t>
            </a:r>
            <a:r>
              <a:rPr b="1" spc="-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prstClr val="black"/>
                </a:solidFill>
                <a:latin typeface="Times New Roman"/>
                <a:cs typeface="Times New Roman"/>
              </a:rPr>
              <a:t>Problem</a:t>
            </a: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2304" y="5341280"/>
            <a:ext cx="11308080" cy="1486535"/>
            <a:chOff x="762304" y="5341279"/>
            <a:chExt cx="11308080" cy="1486535"/>
          </a:xfrm>
        </p:grpSpPr>
        <p:sp>
          <p:nvSpPr>
            <p:cNvPr id="8" name="object 8"/>
            <p:cNvSpPr/>
            <p:nvPr/>
          </p:nvSpPr>
          <p:spPr>
            <a:xfrm>
              <a:off x="762304" y="5842711"/>
              <a:ext cx="11308080" cy="984885"/>
            </a:xfrm>
            <a:custGeom>
              <a:avLst/>
              <a:gdLst/>
              <a:ahLst/>
              <a:cxnLst/>
              <a:rect l="l" t="t" r="r" b="b"/>
              <a:pathLst>
                <a:path w="11308080" h="984884">
                  <a:moveTo>
                    <a:pt x="3106496" y="0"/>
                  </a:moveTo>
                  <a:lnTo>
                    <a:pt x="3054680" y="0"/>
                  </a:lnTo>
                  <a:lnTo>
                    <a:pt x="3054680" y="36576"/>
                  </a:lnTo>
                  <a:lnTo>
                    <a:pt x="3054680" y="39624"/>
                  </a:lnTo>
                  <a:lnTo>
                    <a:pt x="3054680" y="368808"/>
                  </a:lnTo>
                  <a:lnTo>
                    <a:pt x="73152" y="368808"/>
                  </a:lnTo>
                  <a:lnTo>
                    <a:pt x="36576" y="368808"/>
                  </a:lnTo>
                  <a:lnTo>
                    <a:pt x="36576" y="39624"/>
                  </a:lnTo>
                  <a:lnTo>
                    <a:pt x="36576" y="36576"/>
                  </a:lnTo>
                  <a:lnTo>
                    <a:pt x="73152" y="36576"/>
                  </a:lnTo>
                  <a:lnTo>
                    <a:pt x="3054680" y="36576"/>
                  </a:lnTo>
                  <a:lnTo>
                    <a:pt x="3054680" y="12"/>
                  </a:lnTo>
                  <a:lnTo>
                    <a:pt x="73152" y="12"/>
                  </a:lnTo>
                  <a:lnTo>
                    <a:pt x="36576" y="12"/>
                  </a:lnTo>
                  <a:lnTo>
                    <a:pt x="0" y="0"/>
                  </a:lnTo>
                  <a:lnTo>
                    <a:pt x="0" y="36576"/>
                  </a:lnTo>
                  <a:lnTo>
                    <a:pt x="0" y="39624"/>
                  </a:lnTo>
                  <a:lnTo>
                    <a:pt x="0" y="368808"/>
                  </a:lnTo>
                  <a:lnTo>
                    <a:pt x="0" y="405384"/>
                  </a:lnTo>
                  <a:lnTo>
                    <a:pt x="36576" y="405384"/>
                  </a:lnTo>
                  <a:lnTo>
                    <a:pt x="73152" y="405384"/>
                  </a:lnTo>
                  <a:lnTo>
                    <a:pt x="3054680" y="405384"/>
                  </a:lnTo>
                  <a:lnTo>
                    <a:pt x="3054680" y="408432"/>
                  </a:lnTo>
                  <a:lnTo>
                    <a:pt x="3054680" y="948232"/>
                  </a:lnTo>
                  <a:lnTo>
                    <a:pt x="3106496" y="948232"/>
                  </a:lnTo>
                  <a:lnTo>
                    <a:pt x="3106496" y="408432"/>
                  </a:lnTo>
                  <a:lnTo>
                    <a:pt x="3106496" y="368808"/>
                  </a:lnTo>
                  <a:lnTo>
                    <a:pt x="3106496" y="39624"/>
                  </a:lnTo>
                  <a:lnTo>
                    <a:pt x="3106496" y="0"/>
                  </a:lnTo>
                  <a:close/>
                </a:path>
                <a:path w="11308080" h="984884">
                  <a:moveTo>
                    <a:pt x="11307775" y="948245"/>
                  </a:moveTo>
                  <a:lnTo>
                    <a:pt x="11271199" y="948245"/>
                  </a:lnTo>
                  <a:lnTo>
                    <a:pt x="3054680" y="948245"/>
                  </a:lnTo>
                  <a:lnTo>
                    <a:pt x="3054680" y="984808"/>
                  </a:lnTo>
                  <a:lnTo>
                    <a:pt x="11271199" y="984808"/>
                  </a:lnTo>
                  <a:lnTo>
                    <a:pt x="11307775" y="984808"/>
                  </a:lnTo>
                  <a:lnTo>
                    <a:pt x="11307775" y="948245"/>
                  </a:lnTo>
                  <a:close/>
                </a:path>
                <a:path w="11308080" h="984884">
                  <a:moveTo>
                    <a:pt x="11307775" y="0"/>
                  </a:moveTo>
                  <a:lnTo>
                    <a:pt x="11271199" y="0"/>
                  </a:lnTo>
                  <a:lnTo>
                    <a:pt x="11271199" y="39624"/>
                  </a:lnTo>
                  <a:lnTo>
                    <a:pt x="11271199" y="368808"/>
                  </a:lnTo>
                  <a:lnTo>
                    <a:pt x="11271199" y="408432"/>
                  </a:lnTo>
                  <a:lnTo>
                    <a:pt x="11271199" y="948232"/>
                  </a:lnTo>
                  <a:lnTo>
                    <a:pt x="11307775" y="948232"/>
                  </a:lnTo>
                  <a:lnTo>
                    <a:pt x="11307775" y="408432"/>
                  </a:lnTo>
                  <a:lnTo>
                    <a:pt x="11307775" y="368808"/>
                  </a:lnTo>
                  <a:lnTo>
                    <a:pt x="11307775" y="39624"/>
                  </a:lnTo>
                  <a:lnTo>
                    <a:pt x="11307775" y="0"/>
                  </a:lnTo>
                  <a:close/>
                </a:path>
              </a:pathLst>
            </a:custGeom>
            <a:solidFill>
              <a:srgbClr val="00AE50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7955" y="5341279"/>
              <a:ext cx="8072501" cy="143319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682423" y="124203"/>
            <a:ext cx="2522221" cy="343684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2710">
              <a:spcBef>
                <a:spcPts val="280"/>
              </a:spcBef>
            </a:pPr>
            <a:r>
              <a:rPr sz="2000" b="1" spc="-10" dirty="0">
                <a:solidFill>
                  <a:prstClr val="black"/>
                </a:solidFill>
                <a:latin typeface="Times New Roman"/>
                <a:cs typeface="Times New Roman"/>
              </a:rPr>
              <a:t>threadInterCom.java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73638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Queuing</a:t>
            </a:r>
            <a:r>
              <a:rPr u="heavy" spc="-16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1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Problem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89" y="1650179"/>
            <a:ext cx="9486515" cy="32310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Consider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classic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queuing</a:t>
            </a:r>
            <a:r>
              <a:rPr sz="2000" spc="-4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problem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where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one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(producer)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is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producing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some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data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another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(consumer)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consuming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this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data:</a:t>
            </a:r>
            <a:endParaRPr sz="2000">
              <a:latin typeface="Arial MT"/>
              <a:cs typeface="Arial MT"/>
            </a:endParaRPr>
          </a:p>
          <a:p>
            <a:pPr marL="365760" indent="-353060">
              <a:lnSpc>
                <a:spcPct val="100000"/>
              </a:lnSpc>
              <a:spcBef>
                <a:spcPts val="475"/>
              </a:spcBef>
              <a:buAutoNum type="arabicParenR"/>
              <a:tabLst>
                <a:tab pos="365760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producer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should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not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overrun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consumer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with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marL="365760" indent="-353060">
              <a:lnSpc>
                <a:spcPct val="100000"/>
              </a:lnSpc>
              <a:spcBef>
                <a:spcPts val="480"/>
              </a:spcBef>
              <a:buAutoNum type="arabicParenR"/>
              <a:tabLst>
                <a:tab pos="365760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consumer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should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not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consume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same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data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many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times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buClr>
                <a:srgbClr val="363639"/>
              </a:buClr>
              <a:buFont typeface="Arial MT"/>
              <a:buAutoNum type="arabicParenR"/>
            </a:pPr>
            <a:endParaRPr sz="20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consider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two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solutions: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2000">
              <a:latin typeface="Arial MT"/>
              <a:cs typeface="Arial MT"/>
            </a:endParaRPr>
          </a:p>
          <a:p>
            <a:pPr marL="307340" lvl="1" indent="-294640">
              <a:lnSpc>
                <a:spcPct val="100000"/>
              </a:lnSpc>
              <a:buAutoNum type="arabicParenR"/>
              <a:tabLst>
                <a:tab pos="307340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incorrect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with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only</a:t>
            </a:r>
            <a:endParaRPr sz="2000">
              <a:latin typeface="Arial MT"/>
              <a:cs typeface="Arial MT"/>
            </a:endParaRPr>
          </a:p>
          <a:p>
            <a:pPr marL="306705" lvl="1" indent="-294005">
              <a:lnSpc>
                <a:spcPct val="100000"/>
              </a:lnSpc>
              <a:spcBef>
                <a:spcPts val="475"/>
              </a:spcBef>
              <a:buAutoNum type="arabicParenR"/>
              <a:tabLst>
                <a:tab pos="306705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correct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with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synchronized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wait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/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notify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863566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Incorrect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Queue</a:t>
            </a:r>
            <a:r>
              <a:rPr u="heavy" spc="-13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1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96" y="1633369"/>
            <a:ext cx="9763606" cy="43518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one-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place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queue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,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with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variable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get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put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.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Both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methods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are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365760" marR="6661150" indent="-352425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int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n;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000">
              <a:latin typeface="Courier New"/>
              <a:cs typeface="Courier New"/>
            </a:endParaRPr>
          </a:p>
          <a:p>
            <a:pPr marL="829944" marR="2339975" indent="-464184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int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get()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System.out.println("Got:</a:t>
            </a:r>
            <a:r>
              <a:rPr sz="2000" spc="-5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"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+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n);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return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n;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829944" marR="2339975" indent="-464184">
              <a:lnSpc>
                <a:spcPts val="2870"/>
              </a:lnSpc>
              <a:spcBef>
                <a:spcPts val="18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put(int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this.n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n;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System.out.println("Put:</a:t>
            </a:r>
            <a:r>
              <a:rPr sz="2000" spc="-5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"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+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n);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309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73736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Incorrect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Queue</a:t>
            </a:r>
            <a:r>
              <a:rPr u="heavy" spc="-13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2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43" y="1633369"/>
            <a:ext cx="9743594" cy="4865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Producer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keeps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producing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entries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for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queue: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364490" marR="2531110" indent="-352425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Producer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implements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Runnable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q;</a:t>
            </a:r>
            <a:endParaRPr sz="2000">
              <a:latin typeface="Courier New"/>
              <a:cs typeface="Courier New"/>
            </a:endParaRPr>
          </a:p>
          <a:p>
            <a:pPr marL="828675" marR="5379720" indent="-464184">
              <a:lnSpc>
                <a:spcPts val="2870"/>
              </a:lnSpc>
              <a:spcBef>
                <a:spcPts val="1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Producer(Q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this.q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q;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Thread(this,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"Producer").start();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828675" marR="4770120" indent="-464184">
              <a:lnSpc>
                <a:spcPct val="119800"/>
              </a:lnSpc>
              <a:spcBef>
                <a:spcPts val="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run()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int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0;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while(true)</a:t>
            </a:r>
            <a:r>
              <a:rPr sz="2000" spc="-5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91590">
              <a:lnSpc>
                <a:spcPct val="100000"/>
              </a:lnSpc>
              <a:spcBef>
                <a:spcPts val="47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q.put(i++);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166912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Incorrect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Queue</a:t>
            </a:r>
            <a:r>
              <a:rPr u="heavy" spc="-13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3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43" y="1633370"/>
            <a:ext cx="9762067" cy="477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Consumer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keeps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consuming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entries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queue: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364490" marR="2546350" indent="-352425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Consumer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implements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Runnable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q;</a:t>
            </a:r>
            <a:endParaRPr sz="2000">
              <a:latin typeface="Courier New"/>
              <a:cs typeface="Courier New"/>
            </a:endParaRPr>
          </a:p>
          <a:p>
            <a:pPr marL="828675" marR="5394960" indent="-464184">
              <a:lnSpc>
                <a:spcPts val="2870"/>
              </a:lnSpc>
              <a:spcBef>
                <a:spcPts val="1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Consumer(Q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this.q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q;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Thread(this,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"Consumer").start();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828675" marR="4785360" indent="-464184">
              <a:lnSpc>
                <a:spcPct val="119800"/>
              </a:lnSpc>
              <a:spcBef>
                <a:spcPts val="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run()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while(true)</a:t>
            </a:r>
            <a:r>
              <a:rPr sz="2000" spc="-5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91590">
              <a:lnSpc>
                <a:spcPct val="100000"/>
              </a:lnSpc>
              <a:spcBef>
                <a:spcPts val="47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q.get();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2124984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Incorrect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Queue</a:t>
            </a:r>
            <a:r>
              <a:rPr u="heavy" spc="-13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4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94" y="1633369"/>
            <a:ext cx="9704339" cy="39748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PC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first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single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Queue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instance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,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Producer</a:t>
            </a:r>
            <a:r>
              <a:rPr sz="2000" spc="-6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Consumer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 share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this</a:t>
            </a:r>
            <a:r>
              <a:rPr sz="2000" spc="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0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PC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829944" marR="1535430" indent="-464184">
              <a:lnSpc>
                <a:spcPts val="2870"/>
              </a:lnSpc>
              <a:spcBef>
                <a:spcPts val="18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static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main(String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args[])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Q();</a:t>
            </a:r>
            <a:endParaRPr sz="2000">
              <a:latin typeface="Courier New"/>
              <a:cs typeface="Courier New"/>
            </a:endParaRPr>
          </a:p>
          <a:p>
            <a:pPr marL="829944" marR="4728845">
              <a:lnSpc>
                <a:spcPts val="2870"/>
              </a:lnSpc>
              <a:spcBef>
                <a:spcPts val="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Producer(q);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Consumer(q);</a:t>
            </a:r>
            <a:endParaRPr sz="2000">
              <a:latin typeface="Courier New"/>
              <a:cs typeface="Courier New"/>
            </a:endParaRPr>
          </a:p>
          <a:p>
            <a:pPr marL="829944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System.out.println("Press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Control-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to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stop.");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435786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Why</a:t>
            </a:r>
            <a:r>
              <a:rPr u="heavy" spc="-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1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Incorrect?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42" y="1650178"/>
            <a:ext cx="2543848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Here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output: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85150" y="2327643"/>
          <a:ext cx="1185334" cy="2192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9758"/>
                <a:gridCol w="315576"/>
              </a:tblGrid>
              <a:tr h="277906">
                <a:tc>
                  <a:txBody>
                    <a:bodyPr/>
                    <a:lstStyle/>
                    <a:p>
                      <a:pPr marL="31750">
                        <a:lnSpc>
                          <a:spcPts val="2020"/>
                        </a:lnSpc>
                      </a:pPr>
                      <a:r>
                        <a:rPr sz="1800" spc="-2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Put: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2020"/>
                        </a:lnSpc>
                      </a:pPr>
                      <a:r>
                        <a:rPr sz="1800" spc="-5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216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2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Got: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5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</a:tr>
              <a:tr h="3216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2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Got: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5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</a:tr>
              <a:tr h="3216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2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Put: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5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</a:tr>
              <a:tr h="3216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2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Put: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5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</a:tr>
              <a:tr h="32216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2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Get: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5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</a:tr>
              <a:tr h="305921">
                <a:tc>
                  <a:txBody>
                    <a:bodyPr/>
                    <a:lstStyle/>
                    <a:p>
                      <a:pPr marL="31750">
                        <a:lnSpc>
                          <a:spcPts val="2375"/>
                        </a:lnSpc>
                        <a:spcBef>
                          <a:spcPts val="10"/>
                        </a:spcBef>
                      </a:pPr>
                      <a:r>
                        <a:rPr sz="1800" spc="-50" dirty="0">
                          <a:solidFill>
                            <a:srgbClr val="554F8C"/>
                          </a:solidFill>
                          <a:latin typeface="Courier New"/>
                          <a:cs typeface="Courier New"/>
                        </a:rPr>
                        <a:t>…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121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6391" y="4872091"/>
            <a:ext cx="920865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Nothing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stops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producer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from</a:t>
            </a:r>
            <a:r>
              <a:rPr sz="2000" spc="-4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overrunning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consumer,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nor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consumer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from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consuming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same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data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twice.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421349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Corrected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Queue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1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96" y="1616291"/>
            <a:ext cx="9818253" cy="28171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05790" indent="1270">
              <a:lnSpc>
                <a:spcPct val="106300"/>
              </a:lnSpc>
              <a:spcBef>
                <a:spcPts val="100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correct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producer-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consumer system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uses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wait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notify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to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synchronize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behavior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producer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consumer.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20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queue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introduces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additional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boolean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variable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valueSet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used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by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get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put</a:t>
            </a:r>
            <a:r>
              <a:rPr sz="2000" spc="-65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methods: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000">
              <a:latin typeface="Arial MT"/>
              <a:cs typeface="Arial MT"/>
            </a:endParaRPr>
          </a:p>
          <a:p>
            <a:pPr marL="365760" marR="6705600" indent="-352425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int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n;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boolean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valueSet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false;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454218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Corrected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Queue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2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96" y="1633370"/>
            <a:ext cx="10088418" cy="39696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Inside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get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,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wait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called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suspend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execution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Consumer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until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Producer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notifies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some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data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ready: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829944" marR="4290695" indent="-464184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int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get()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if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(!valueSet)</a:t>
            </a:r>
            <a:endParaRPr sz="2000">
              <a:latin typeface="Courier New"/>
              <a:cs typeface="Courier New"/>
            </a:endParaRPr>
          </a:p>
          <a:p>
            <a:pPr marL="1293495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try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756410">
              <a:lnSpc>
                <a:spcPct val="100000"/>
              </a:lnSpc>
              <a:spcBef>
                <a:spcPts val="470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wait();</a:t>
            </a:r>
            <a:endParaRPr sz="2000">
              <a:latin typeface="Courier New"/>
              <a:cs typeface="Courier New"/>
            </a:endParaRPr>
          </a:p>
          <a:p>
            <a:pPr marL="1293495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756410" marR="5080" indent="-463550">
              <a:lnSpc>
                <a:spcPts val="2880"/>
              </a:lnSpc>
              <a:spcBef>
                <a:spcPts val="17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catch(InterruptedException</a:t>
            </a:r>
            <a:r>
              <a:rPr sz="2000" spc="-8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e)</a:t>
            </a:r>
            <a:r>
              <a:rPr sz="2000" spc="-7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System.out.println("InterruptedException");</a:t>
            </a:r>
            <a:endParaRPr sz="2000">
              <a:latin typeface="Courier New"/>
              <a:cs typeface="Courier New"/>
            </a:endParaRPr>
          </a:p>
          <a:p>
            <a:pPr marL="1293495">
              <a:lnSpc>
                <a:spcPct val="100000"/>
              </a:lnSpc>
              <a:spcBef>
                <a:spcPts val="30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4442056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Corrected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Queue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3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402" y="1616291"/>
            <a:ext cx="10330103" cy="25400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06300"/>
              </a:lnSpc>
              <a:spcBef>
                <a:spcPts val="100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After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data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has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been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obtained,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get</a:t>
            </a:r>
            <a:r>
              <a:rPr sz="2000" spc="-66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notify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tell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Producer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it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put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more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data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queue: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000" dirty="0">
              <a:latin typeface="Arial MT"/>
              <a:cs typeface="Arial MT"/>
            </a:endParaRPr>
          </a:p>
          <a:p>
            <a:pPr marL="829944" marR="2807335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System.out.println("Got:</a:t>
            </a:r>
            <a:r>
              <a:rPr sz="2000" spc="-5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"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+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n); </a:t>
            </a:r>
            <a:endParaRPr lang="en-US" sz="2000" spc="-25" dirty="0" smtClean="0">
              <a:solidFill>
                <a:srgbClr val="554F8C"/>
              </a:solidFill>
              <a:latin typeface="Courier New"/>
              <a:cs typeface="Courier New"/>
            </a:endParaRPr>
          </a:p>
          <a:p>
            <a:pPr marL="829944" marR="2807335">
              <a:lnSpc>
                <a:spcPct val="119800"/>
              </a:lnSpc>
            </a:pPr>
            <a:r>
              <a:rPr sz="2000" dirty="0" err="1" smtClean="0">
                <a:solidFill>
                  <a:srgbClr val="554F8C"/>
                </a:solidFill>
                <a:latin typeface="Courier New"/>
                <a:cs typeface="Courier New"/>
              </a:rPr>
              <a:t>valueSet</a:t>
            </a:r>
            <a:r>
              <a:rPr sz="2000" spc="-25" dirty="0" smtClean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false;</a:t>
            </a:r>
            <a:endParaRPr sz="2000" dirty="0">
              <a:latin typeface="Courier New"/>
              <a:cs typeface="Courier New"/>
            </a:endParaRPr>
          </a:p>
          <a:p>
            <a:pPr marL="829944" marR="6312535">
              <a:lnSpc>
                <a:spcPts val="2870"/>
              </a:lnSpc>
              <a:spcBef>
                <a:spcPts val="180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notify();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return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n;</a:t>
            </a:r>
            <a:endParaRPr sz="2000" dirty="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30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0741837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Corrected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Queue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4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96" y="1633369"/>
            <a:ext cx="10088418" cy="3597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Inside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put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,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wait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called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suspend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execution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Producer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until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Consumer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has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removed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item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from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queue: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829944" marR="3376295" indent="-464184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put(int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if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(valueSet)</a:t>
            </a:r>
            <a:endParaRPr sz="2000">
              <a:latin typeface="Courier New"/>
              <a:cs typeface="Courier New"/>
            </a:endParaRPr>
          </a:p>
          <a:p>
            <a:pPr marL="1293495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try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756410">
              <a:lnSpc>
                <a:spcPct val="100000"/>
              </a:lnSpc>
              <a:spcBef>
                <a:spcPts val="470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wait();</a:t>
            </a:r>
            <a:endParaRPr sz="2000">
              <a:latin typeface="Courier New"/>
              <a:cs typeface="Courier New"/>
            </a:endParaRPr>
          </a:p>
          <a:p>
            <a:pPr marL="1756410" marR="5080" indent="-463550">
              <a:lnSpc>
                <a:spcPts val="2870"/>
              </a:lnSpc>
              <a:spcBef>
                <a:spcPts val="18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r>
              <a:rPr sz="2000" spc="-6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catch(InterruptedException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e)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System.out.println("InterruptedException");</a:t>
            </a:r>
            <a:endParaRPr sz="2000">
              <a:latin typeface="Courier New"/>
              <a:cs typeface="Courier New"/>
            </a:endParaRPr>
          </a:p>
          <a:p>
            <a:pPr marL="1293495">
              <a:lnSpc>
                <a:spcPct val="100000"/>
              </a:lnSpc>
              <a:spcBef>
                <a:spcPts val="31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965896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Corrected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Queue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5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94" y="1633369"/>
            <a:ext cx="9583496" cy="28539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After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next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item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data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put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queue,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put</a:t>
            </a:r>
            <a:r>
              <a:rPr sz="2000" spc="-66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calls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notify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tell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Consumer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it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can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remove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this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item: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829944" marR="4629150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this.n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n;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valueSet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true;</a:t>
            </a:r>
            <a:endParaRPr sz="2000">
              <a:latin typeface="Courier New"/>
              <a:cs typeface="Courier New"/>
            </a:endParaRPr>
          </a:p>
          <a:p>
            <a:pPr marL="829944" marR="2190750">
              <a:lnSpc>
                <a:spcPts val="2870"/>
              </a:lnSpc>
              <a:spcBef>
                <a:spcPts val="1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System.out.println("Put:</a:t>
            </a:r>
            <a:r>
              <a:rPr sz="2000" spc="-5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"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+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n);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notify();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30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3913713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Corrected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Queue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6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43" y="1633369"/>
            <a:ext cx="9743594" cy="4865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Producer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keeps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producing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entries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for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queue: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364490" marR="2531110" indent="-352425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Producer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implements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Runnable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q;</a:t>
            </a:r>
            <a:endParaRPr sz="2000">
              <a:latin typeface="Courier New"/>
              <a:cs typeface="Courier New"/>
            </a:endParaRPr>
          </a:p>
          <a:p>
            <a:pPr marL="828675" marR="5379720" indent="-464184">
              <a:lnSpc>
                <a:spcPts val="2870"/>
              </a:lnSpc>
              <a:spcBef>
                <a:spcPts val="1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Producer(Q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this.q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q;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Thread(this,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"Producer").start();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828675" marR="4770120" indent="-464184">
              <a:lnSpc>
                <a:spcPct val="119800"/>
              </a:lnSpc>
              <a:spcBef>
                <a:spcPts val="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run()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int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0;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while(true)</a:t>
            </a:r>
            <a:r>
              <a:rPr sz="2000" spc="-5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91590">
              <a:lnSpc>
                <a:spcPct val="100000"/>
              </a:lnSpc>
              <a:spcBef>
                <a:spcPts val="47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q.put(i++);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5240946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Corrected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Queue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7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43" y="1633370"/>
            <a:ext cx="9762067" cy="477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Consumer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keeps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consuming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entries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queue: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364490" marR="2546350" indent="-352425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Consumer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implements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Runnable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q;</a:t>
            </a:r>
            <a:endParaRPr sz="2000">
              <a:latin typeface="Courier New"/>
              <a:cs typeface="Courier New"/>
            </a:endParaRPr>
          </a:p>
          <a:p>
            <a:pPr marL="828675" marR="5394960" indent="-464184">
              <a:lnSpc>
                <a:spcPts val="2870"/>
              </a:lnSpc>
              <a:spcBef>
                <a:spcPts val="1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Consumer(Q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this.q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q;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Thread(this,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"Consumer").start();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828675" marR="4785360" indent="-464184">
              <a:lnSpc>
                <a:spcPct val="119800"/>
              </a:lnSpc>
              <a:spcBef>
                <a:spcPts val="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run()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while(true)</a:t>
            </a:r>
            <a:r>
              <a:rPr sz="2000" spc="-5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91590">
              <a:lnSpc>
                <a:spcPct val="100000"/>
              </a:lnSpc>
              <a:spcBef>
                <a:spcPts val="47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q.get();</a:t>
            </a:r>
            <a:endParaRPr sz="2000">
              <a:latin typeface="Courier New"/>
              <a:cs typeface="Courier New"/>
            </a:endParaRPr>
          </a:p>
          <a:p>
            <a:pPr marL="828675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209981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Corrected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Queue</a:t>
            </a:r>
            <a:r>
              <a:rPr u="heavy" spc="-14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8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94" y="1633369"/>
            <a:ext cx="10176164" cy="39748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PCFixed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first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single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Queue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instance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,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Producer</a:t>
            </a:r>
            <a:r>
              <a:rPr sz="2000" spc="-6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Consumer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that share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this</a:t>
            </a:r>
            <a:r>
              <a:rPr sz="2000" spc="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0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PCFixed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829944" marR="1924685" indent="-464184">
              <a:lnSpc>
                <a:spcPts val="2870"/>
              </a:lnSpc>
              <a:spcBef>
                <a:spcPts val="18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static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main(String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args[])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q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Q();</a:t>
            </a:r>
            <a:endParaRPr sz="2000">
              <a:latin typeface="Courier New"/>
              <a:cs typeface="Courier New"/>
            </a:endParaRPr>
          </a:p>
          <a:p>
            <a:pPr marL="829944" marR="5118100">
              <a:lnSpc>
                <a:spcPts val="2870"/>
              </a:lnSpc>
              <a:spcBef>
                <a:spcPts val="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Producer(q);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Consumer(q);</a:t>
            </a:r>
            <a:endParaRPr sz="2000">
              <a:latin typeface="Courier New"/>
              <a:cs typeface="Courier New"/>
            </a:endParaRPr>
          </a:p>
          <a:p>
            <a:pPr marL="829944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System.out.println("Press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Control-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to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stop.");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691107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90800"/>
            <a:ext cx="10515600" cy="1325563"/>
          </a:xfrm>
        </p:spPr>
        <p:txBody>
          <a:bodyPr/>
          <a:lstStyle/>
          <a:p>
            <a:r>
              <a:rPr lang="en-US" b="1" dirty="0" smtClean="0"/>
              <a:t>Session 7: Deadlock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82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91128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spc="-1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Deadlock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72" y="1650178"/>
            <a:ext cx="9345661" cy="32900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Multi-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threading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synchronization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danger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deadlock.</a:t>
            </a:r>
            <a:endParaRPr sz="2000">
              <a:latin typeface="Arial MT"/>
              <a:cs typeface="Arial MT"/>
            </a:endParaRPr>
          </a:p>
          <a:p>
            <a:pPr marL="13970" marR="153035">
              <a:lnSpc>
                <a:spcPct val="239500"/>
              </a:lnSpc>
              <a:spcBef>
                <a:spcPts val="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Deadlock: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circular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dependency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pair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synchronized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objects.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Suppose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that:</a:t>
            </a:r>
            <a:endParaRPr sz="2000">
              <a:latin typeface="Arial MT"/>
              <a:cs typeface="Arial MT"/>
            </a:endParaRPr>
          </a:p>
          <a:p>
            <a:pPr marL="365760" indent="-353060">
              <a:lnSpc>
                <a:spcPct val="100000"/>
              </a:lnSpc>
              <a:spcBef>
                <a:spcPts val="325"/>
              </a:spcBef>
              <a:buAutoNum type="arabicParenR"/>
              <a:tabLst>
                <a:tab pos="365760" algn="l"/>
                <a:tab pos="4944745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enters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monitor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object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	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  <a:p>
            <a:pPr marL="365760" indent="-353060">
              <a:lnSpc>
                <a:spcPct val="100000"/>
              </a:lnSpc>
              <a:spcBef>
                <a:spcPts val="475"/>
              </a:spcBef>
              <a:buAutoNum type="arabicParenR"/>
              <a:tabLst>
                <a:tab pos="365760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another</a:t>
            </a:r>
            <a:r>
              <a:rPr sz="2000" spc="-4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enters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monitor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object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Y</a:t>
            </a:r>
            <a:endParaRPr sz="2000">
              <a:latin typeface="Courier New"/>
              <a:cs typeface="Courier New"/>
            </a:endParaRPr>
          </a:p>
          <a:p>
            <a:pPr marL="365760" indent="-353060">
              <a:lnSpc>
                <a:spcPct val="100000"/>
              </a:lnSpc>
              <a:spcBef>
                <a:spcPts val="475"/>
              </a:spcBef>
              <a:buAutoNum type="arabicParenR"/>
              <a:tabLst>
                <a:tab pos="365760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first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tries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synchronized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object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Y</a:t>
            </a:r>
            <a:endParaRPr sz="2000">
              <a:latin typeface="Courier New"/>
              <a:cs typeface="Courier New"/>
            </a:endParaRPr>
          </a:p>
          <a:p>
            <a:pPr marL="365760" indent="-353060">
              <a:lnSpc>
                <a:spcPct val="100000"/>
              </a:lnSpc>
              <a:spcBef>
                <a:spcPts val="480"/>
              </a:spcBef>
              <a:buAutoNum type="arabicParenR"/>
              <a:tabLst>
                <a:tab pos="365760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second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tries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synchronized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object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result: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wait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forever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–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deadlock.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003595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Deadlock</a:t>
            </a:r>
            <a:r>
              <a:rPr u="heavy" spc="-12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1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415" y="1633369"/>
            <a:ext cx="10351655" cy="48152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95"/>
              </a:spcBef>
              <a:tabLst>
                <a:tab pos="5871845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4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contains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foo</a:t>
            </a:r>
            <a:r>
              <a:rPr sz="2000" spc="-66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which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takes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instance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363639"/>
                </a:solidFill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parameter.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It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pauses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briefly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before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trying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the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’s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last</a:t>
            </a:r>
            <a:r>
              <a:rPr sz="2000" spc="-6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method: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0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foo(B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b)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829944" marR="538480" indent="-635">
              <a:lnSpc>
                <a:spcPts val="2870"/>
              </a:lnSpc>
              <a:spcBef>
                <a:spcPts val="1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String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name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Thread.currentThread().getName();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System.out.println(name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+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"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entered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A.foo");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try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6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93495">
              <a:lnSpc>
                <a:spcPct val="100000"/>
              </a:lnSpc>
              <a:spcBef>
                <a:spcPts val="310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Thread.sleep(1000);</a:t>
            </a:r>
            <a:endParaRPr sz="2000">
              <a:latin typeface="Courier New"/>
              <a:cs typeface="Courier New"/>
            </a:endParaRPr>
          </a:p>
          <a:p>
            <a:pPr marL="1293495" marR="1751330" indent="-463550">
              <a:lnSpc>
                <a:spcPct val="119800"/>
              </a:lnSpc>
              <a:spcBef>
                <a:spcPts val="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catch(Exception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e)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System.out.println("A</a:t>
            </a:r>
            <a:r>
              <a:rPr sz="2000" spc="-114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Interrupted");</a:t>
            </a:r>
            <a:endParaRPr sz="2000">
              <a:latin typeface="Courier New"/>
              <a:cs typeface="Courier New"/>
            </a:endParaRPr>
          </a:p>
          <a:p>
            <a:pPr marL="829944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829944" marR="690880">
              <a:lnSpc>
                <a:spcPts val="2870"/>
              </a:lnSpc>
              <a:spcBef>
                <a:spcPts val="1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System.out.println(name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+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"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trying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B.last()"); b.last();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30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9649999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Deadlock</a:t>
            </a:r>
            <a:r>
              <a:rPr u="heavy" spc="-12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2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39" y="1633370"/>
            <a:ext cx="7887085" cy="21743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also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contains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last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828675" marR="183515" indent="-464184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last()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System.out.println("Inside</a:t>
            </a:r>
            <a:r>
              <a:rPr sz="2000" spc="-1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A.last");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7013159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Deadlock</a:t>
            </a:r>
            <a:r>
              <a:rPr u="heavy" spc="-12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3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409" y="1633369"/>
            <a:ext cx="10251594" cy="48152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95"/>
              </a:spcBef>
              <a:tabLst>
                <a:tab pos="5871845" algn="l"/>
              </a:tabLst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6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contains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bar</a:t>
            </a:r>
            <a:r>
              <a:rPr sz="2000" spc="-66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which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takes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instance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spc="-66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363639"/>
                </a:solidFill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parameter.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It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pauses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briefly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before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trying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call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the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’s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last</a:t>
            </a:r>
            <a:r>
              <a:rPr sz="2000" spc="-6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method: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0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bar(A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a)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829944" marR="455930" indent="-635">
              <a:lnSpc>
                <a:spcPts val="2870"/>
              </a:lnSpc>
              <a:spcBef>
                <a:spcPts val="1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String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name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Thread.currentThread().getName();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System.out.println(name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+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"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entered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B.bar");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try</a:t>
            </a:r>
            <a:r>
              <a:rPr sz="2000" spc="-1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6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93495">
              <a:lnSpc>
                <a:spcPct val="100000"/>
              </a:lnSpc>
              <a:spcBef>
                <a:spcPts val="310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Thread.sleep(1000);</a:t>
            </a:r>
            <a:endParaRPr sz="2000">
              <a:latin typeface="Courier New"/>
              <a:cs typeface="Courier New"/>
            </a:endParaRPr>
          </a:p>
          <a:p>
            <a:pPr marL="1293495" marR="1669414" indent="-463550">
              <a:lnSpc>
                <a:spcPct val="119800"/>
              </a:lnSpc>
              <a:spcBef>
                <a:spcPts val="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catch(Exception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e)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System.out.println("B</a:t>
            </a:r>
            <a:r>
              <a:rPr sz="2000" spc="-114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Interrupted");</a:t>
            </a:r>
            <a:endParaRPr sz="2000">
              <a:latin typeface="Courier New"/>
              <a:cs typeface="Courier New"/>
            </a:endParaRPr>
          </a:p>
          <a:p>
            <a:pPr marL="829944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829944" marR="608330">
              <a:lnSpc>
                <a:spcPts val="2870"/>
              </a:lnSpc>
              <a:spcBef>
                <a:spcPts val="1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System.out.println(name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+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"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trying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A.last()"); a.last();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30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871880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Deadlock</a:t>
            </a:r>
            <a:r>
              <a:rPr u="heavy" spc="-12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4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38" y="1633370"/>
            <a:ext cx="7787794" cy="21743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also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contains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last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828675" marR="100965" indent="-464184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synchronized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last()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System.out.println("Inside</a:t>
            </a:r>
            <a:r>
              <a:rPr sz="2000" spc="-1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A.last");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1254858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Deadlock</a:t>
            </a:r>
            <a:r>
              <a:rPr u="heavy" spc="-12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5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41" y="1633370"/>
            <a:ext cx="9098587" cy="21922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main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Deadlock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class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instances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spc="-66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of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class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Deadlock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implements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Runnable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A();</a:t>
            </a:r>
            <a:endParaRPr sz="20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B();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430458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Deadlock</a:t>
            </a:r>
            <a:r>
              <a:rPr u="heavy" spc="-12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6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95" y="1633370"/>
            <a:ext cx="10432473" cy="28539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constructor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starts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new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thread,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lock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object</a:t>
            </a:r>
            <a:r>
              <a:rPr sz="2000" spc="-4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main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(running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foo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)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with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passed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parameter: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829944" marR="909955" indent="-464184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Deadlock()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{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Thread.currentThread().setName("MainThread");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Thread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=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Thread(this,</a:t>
            </a:r>
            <a:r>
              <a:rPr sz="2000" spc="-2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"RacingThread"); t.start();</a:t>
            </a:r>
            <a:endParaRPr sz="2000">
              <a:latin typeface="Courier New"/>
              <a:cs typeface="Courier New"/>
            </a:endParaRPr>
          </a:p>
          <a:p>
            <a:pPr marL="829944">
              <a:lnSpc>
                <a:spcPct val="100000"/>
              </a:lnSpc>
              <a:spcBef>
                <a:spcPts val="47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a.foo(b);</a:t>
            </a:r>
            <a:endParaRPr sz="2000">
              <a:latin typeface="Courier New"/>
              <a:cs typeface="Courier New"/>
            </a:endParaRPr>
          </a:p>
          <a:p>
            <a:pPr marL="829944">
              <a:lnSpc>
                <a:spcPct val="100000"/>
              </a:lnSpc>
              <a:spcBef>
                <a:spcPts val="470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System.out.println("Back</a:t>
            </a:r>
            <a:r>
              <a:rPr sz="2000" spc="-6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in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main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thread");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625191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Example:</a:t>
            </a:r>
            <a:r>
              <a:rPr u="heavy" spc="-14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Deadlock</a:t>
            </a:r>
            <a:r>
              <a:rPr u="heavy" spc="-12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5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7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396" y="1633370"/>
            <a:ext cx="9959109" cy="4723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run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method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lock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object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new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thread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(running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bar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)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with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passed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as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parameter: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829944" marR="4946015" indent="-464184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run()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b.bar(a);</a:t>
            </a:r>
            <a:endParaRPr sz="2000">
              <a:latin typeface="Courier New"/>
              <a:cs typeface="Courier New"/>
            </a:endParaRPr>
          </a:p>
          <a:p>
            <a:pPr marL="829944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System.out.println("Back</a:t>
            </a:r>
            <a:r>
              <a:rPr sz="2000" spc="-6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in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other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thread");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Create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new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Deadlock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instance: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Arial MT"/>
              <a:cs typeface="Arial MT"/>
            </a:endParaRPr>
          </a:p>
          <a:p>
            <a:pPr marL="829944" marR="1745614" indent="-464184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public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static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void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main(String</a:t>
            </a:r>
            <a:r>
              <a:rPr sz="2000" spc="-3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args[])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new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Deadlock();</a:t>
            </a:r>
            <a:endParaRPr sz="20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  <a:spcBef>
                <a:spcPts val="475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470"/>
              </a:spcBef>
            </a:pPr>
            <a:r>
              <a:rPr sz="2000" spc="-50" dirty="0">
                <a:solidFill>
                  <a:srgbClr val="554F8C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4103798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356" y="658253"/>
            <a:ext cx="10451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Deadlock</a:t>
            </a:r>
            <a:r>
              <a:rPr u="heavy" spc="-135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 </a:t>
            </a:r>
            <a:r>
              <a:rPr u="heavy" spc="-10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Reached</a:t>
            </a:r>
            <a:r>
              <a:rPr u="heavy" dirty="0">
                <a:uFill>
                  <a:solidFill>
                    <a:srgbClr val="D64A2A"/>
                  </a:solidFill>
                </a:uFill>
                <a:latin typeface="Arial MT"/>
                <a:cs typeface="Arial MT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214" y="1650178"/>
            <a:ext cx="10230042" cy="36798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Program</a:t>
            </a:r>
            <a:r>
              <a:rPr sz="2000" spc="-4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output: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2000">
              <a:latin typeface="Arial MT"/>
              <a:cs typeface="Arial MT"/>
            </a:endParaRPr>
          </a:p>
          <a:p>
            <a:pPr marL="12700" marR="2931795">
              <a:lnSpc>
                <a:spcPct val="119800"/>
              </a:lnSpc>
            </a:pP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MainThread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entered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A.foo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RacingThread</a:t>
            </a:r>
            <a:r>
              <a:rPr sz="2000" spc="-6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entered</a:t>
            </a:r>
            <a:r>
              <a:rPr sz="2000" spc="-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B.bar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MainThread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trying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to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B.last()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RacingThread</a:t>
            </a:r>
            <a:r>
              <a:rPr sz="2000" spc="-4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trying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to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call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A.last()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000">
              <a:latin typeface="Courier New"/>
              <a:cs typeface="Courier New"/>
            </a:endParaRPr>
          </a:p>
          <a:p>
            <a:pPr marL="12700" marR="5080" indent="-635">
              <a:lnSpc>
                <a:spcPct val="120000"/>
              </a:lnSpc>
              <a:spcBef>
                <a:spcPts val="5"/>
              </a:spcBef>
            </a:pP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RacingThread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owns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monitor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3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while</a:t>
            </a:r>
            <a:r>
              <a:rPr sz="2000" spc="-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waiting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for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monitor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. </a:t>
            </a:r>
            <a:r>
              <a:rPr sz="2000" spc="-10" dirty="0">
                <a:solidFill>
                  <a:srgbClr val="554F8C"/>
                </a:solidFill>
                <a:latin typeface="Courier New"/>
                <a:cs typeface="Courier New"/>
              </a:rPr>
              <a:t>MainThread</a:t>
            </a:r>
            <a:r>
              <a:rPr sz="2000" spc="-645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owns</a:t>
            </a:r>
            <a:r>
              <a:rPr sz="2000" spc="-4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monitor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54F8C"/>
                </a:solidFill>
                <a:latin typeface="Courier New"/>
                <a:cs typeface="Courier New"/>
              </a:rPr>
              <a:t>a</a:t>
            </a:r>
            <a:r>
              <a:rPr sz="2000" spc="-650" dirty="0">
                <a:solidFill>
                  <a:srgbClr val="554F8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while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it</a:t>
            </a:r>
            <a:r>
              <a:rPr sz="2000" spc="-1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is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waiting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for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monitor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on</a:t>
            </a:r>
            <a:r>
              <a:rPr sz="2000" spc="-2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554F8C"/>
                </a:solidFill>
                <a:latin typeface="Courier New"/>
                <a:cs typeface="Courier New"/>
              </a:rPr>
              <a:t>b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63639"/>
                </a:solidFill>
                <a:latin typeface="Arial MT"/>
                <a:cs typeface="Arial MT"/>
              </a:rPr>
              <a:t>program</a:t>
            </a:r>
            <a:r>
              <a:rPr sz="2000" spc="-25" dirty="0">
                <a:solidFill>
                  <a:srgbClr val="3636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63639"/>
                </a:solidFill>
                <a:latin typeface="Arial MT"/>
                <a:cs typeface="Arial MT"/>
              </a:rPr>
              <a:t>deadlocks!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63800397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10515600" cy="1325563"/>
          </a:xfrm>
        </p:spPr>
        <p:txBody>
          <a:bodyPr/>
          <a:lstStyle/>
          <a:p>
            <a:r>
              <a:rPr lang="en-US" b="1" dirty="0" smtClean="0"/>
              <a:t>Session 8: Executor Framework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92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61059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04800" y="228602"/>
            <a:ext cx="4811712" cy="528637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defTabSz="457200" eaLnBrk="0" hangingPunct="0"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Executor Framework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11430000" cy="4572000"/>
          </a:xfrm>
        </p:spPr>
        <p:txBody>
          <a:bodyPr rtlCol="0">
            <a:normAutofit fontScale="62500" lnSpcReduction="20000"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3200" dirty="0" smtClean="0"/>
              <a:t> With the traditional approach of thread creation, </a:t>
            </a:r>
            <a:r>
              <a:rPr lang="en-US" dirty="0" smtClean="0"/>
              <a:t>When </a:t>
            </a:r>
            <a:r>
              <a:rPr lang="en-US" dirty="0"/>
              <a:t>we create a new thread for executing a new task cause overhead of thread </a:t>
            </a:r>
            <a:r>
              <a:rPr lang="en-US" dirty="0" smtClean="0"/>
              <a:t>creation, In </a:t>
            </a:r>
            <a:r>
              <a:rPr lang="en-US" dirty="0"/>
              <a:t>order to manage this thread life-cycle, the execution time increase respectively</a:t>
            </a:r>
            <a:r>
              <a:rPr lang="en-US" dirty="0" smtClean="0"/>
              <a:t>.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dirty="0" smtClean="0"/>
              <a:t>Java has flexible thread pool implementation, called the </a:t>
            </a:r>
            <a:r>
              <a:rPr lang="en-US" i="1" dirty="0" smtClean="0"/>
              <a:t>Executor framework</a:t>
            </a:r>
            <a:r>
              <a:rPr lang="en-US" dirty="0" smtClean="0"/>
              <a:t>.</a:t>
            </a:r>
            <a:endParaRPr lang="en-US" dirty="0"/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3200" dirty="0" smtClean="0"/>
              <a:t>A </a:t>
            </a:r>
            <a:r>
              <a:rPr lang="en-US" sz="3200" dirty="0"/>
              <a:t>framework having a bunch of components that are used for managing worker threads efficiently is referred to as </a:t>
            </a:r>
            <a:r>
              <a:rPr lang="en-US" sz="3200" b="1" dirty="0"/>
              <a:t>Executor Framework</a:t>
            </a:r>
            <a:r>
              <a:rPr lang="en-US" sz="3200" dirty="0"/>
              <a:t>. </a:t>
            </a:r>
            <a:endParaRPr lang="en-US" sz="3200" dirty="0" smtClean="0"/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3200" dirty="0" smtClean="0"/>
              <a:t>The </a:t>
            </a:r>
            <a:r>
              <a:rPr lang="en-US" sz="3200" dirty="0"/>
              <a:t>Executor API reduces the execution of the task from the actual task to be executed through the </a:t>
            </a:r>
            <a:r>
              <a:rPr lang="en-US" sz="3200" b="1" dirty="0"/>
              <a:t>Executors</a:t>
            </a:r>
            <a:r>
              <a:rPr lang="en-US" sz="3200" dirty="0"/>
              <a:t>. </a:t>
            </a:r>
            <a:endParaRPr lang="en-US" sz="3200" dirty="0" smtClean="0"/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3200" dirty="0" smtClean="0"/>
              <a:t>The </a:t>
            </a:r>
            <a:r>
              <a:rPr lang="en-US" sz="3200" dirty="0"/>
              <a:t>executor framework is an implementation of the </a:t>
            </a:r>
            <a:r>
              <a:rPr lang="en-US" sz="3200" b="1" dirty="0"/>
              <a:t>Producer-Consumer</a:t>
            </a:r>
            <a:r>
              <a:rPr lang="en-US" sz="3200" dirty="0"/>
              <a:t> pattern. The </a:t>
            </a:r>
            <a:r>
              <a:rPr lang="en-US" sz="3200" b="1" dirty="0"/>
              <a:t>java.util.concurrent.Executors</a:t>
            </a:r>
            <a:r>
              <a:rPr lang="en-US" sz="3200" dirty="0"/>
              <a:t> class provides a set of methods for creating </a:t>
            </a:r>
            <a:r>
              <a:rPr lang="en-US" sz="3200" b="1" dirty="0"/>
              <a:t>ThreadPools</a:t>
            </a:r>
            <a:r>
              <a:rPr lang="en-US" sz="3200" dirty="0"/>
              <a:t> of worker threads</a:t>
            </a:r>
            <a:r>
              <a:rPr lang="en-US" sz="3200" dirty="0" smtClean="0"/>
              <a:t>.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for efficient Java multithreading.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93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04800" y="228602"/>
            <a:ext cx="4811712" cy="528637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defTabSz="457200" eaLnBrk="0" hangingPunct="0"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Executor Framework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11430000" cy="4572000"/>
          </a:xfrm>
        </p:spPr>
        <p:txBody>
          <a:bodyPr rtlCol="0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200" dirty="0"/>
              <a:t>p</a:t>
            </a:r>
            <a:r>
              <a:rPr lang="en-US" sz="3200" dirty="0" smtClean="0"/>
              <a:t>ublic interface Executor {</a:t>
            </a:r>
          </a:p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execute(Runnable command) ;</a:t>
            </a:r>
          </a:p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producer/consumer pattern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Producers submit tasks and consumers consume tasks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Decouples task submission from task execution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94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38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04800" y="228602"/>
            <a:ext cx="4811712" cy="528637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defTabSz="457200" eaLnBrk="0" hangingPunct="0"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Executor Framework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11430000" cy="4572000"/>
          </a:xfrm>
        </p:spPr>
        <p:txBody>
          <a:bodyPr rtlCol="0">
            <a:normAutofit/>
          </a:bodyPr>
          <a:lstStyle/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producer/consumer pattern</a:t>
            </a:r>
          </a:p>
          <a:p>
            <a:pPr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Decouples task submission from task execution</a:t>
            </a: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decoupling task submission from execution allows us to easily change the execution policy</a:t>
            </a: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execution policy specifies :</a:t>
            </a:r>
          </a:p>
          <a:p>
            <a:pPr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what thread a task will execute</a:t>
            </a:r>
          </a:p>
          <a:p>
            <a:pPr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what order tasks will be executed</a:t>
            </a:r>
          </a:p>
          <a:p>
            <a:pPr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tasks may execute concurrently</a:t>
            </a:r>
          </a:p>
          <a:p>
            <a:pPr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tasks may be pending</a:t>
            </a:r>
          </a:p>
          <a:p>
            <a:pPr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tasks to reject if the system is overloaded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95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786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E332F21-292D-4855-BDE6-40EC13A5209B}" type="slidenum">
              <a:rPr lang="en-US" altLang="en-US" sz="1400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96</a:t>
            </a:fld>
            <a:endParaRPr lang="en-US" altLang="en-US" sz="140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1987" name="Title 1"/>
          <p:cNvSpPr>
            <a:spLocks noGrp="1"/>
          </p:cNvSpPr>
          <p:nvPr>
            <p:ph type="title"/>
          </p:nvPr>
        </p:nvSpPr>
        <p:spPr>
          <a:xfrm>
            <a:off x="1981203" y="274641"/>
            <a:ext cx="6977063" cy="331787"/>
          </a:xfrm>
        </p:spPr>
        <p:txBody>
          <a:bodyPr/>
          <a:lstStyle/>
          <a:p>
            <a:r>
              <a:rPr lang="en-US" altLang="en-US" sz="3200" b="1"/>
              <a:t>Inter Thread Communication </a:t>
            </a:r>
            <a:r>
              <a:rPr lang="en-US" altLang="en-US" sz="2000" b="1">
                <a:solidFill>
                  <a:srgbClr val="FF0000"/>
                </a:solidFill>
              </a:rPr>
              <a:t>(contd…)</a:t>
            </a:r>
            <a:endParaRPr lang="en-US" altLang="en-US" sz="3600" b="1">
              <a:solidFill>
                <a:srgbClr val="FF0000"/>
              </a:solidFill>
            </a:endParaRPr>
          </a:p>
        </p:txBody>
      </p:sp>
      <p:sp>
        <p:nvSpPr>
          <p:cNvPr id="41988" name="Content Placeholder 2"/>
          <p:cNvSpPr>
            <a:spLocks noGrp="1"/>
          </p:cNvSpPr>
          <p:nvPr>
            <p:ph sz="quarter" idx="1"/>
          </p:nvPr>
        </p:nvSpPr>
        <p:spPr>
          <a:xfrm>
            <a:off x="914402" y="914401"/>
            <a:ext cx="9829800" cy="434340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sz="2400" b="1" dirty="0"/>
              <a:t>Producer Consumer Problem</a:t>
            </a:r>
          </a:p>
          <a:p>
            <a:pPr algn="just">
              <a:buFont typeface="Wingdings" panose="05000000000000000000" pitchFamily="2" charset="2"/>
              <a:buChar char="Ø"/>
              <a:defRPr/>
            </a:pPr>
            <a:r>
              <a:rPr lang="en-US" dirty="0" smtClean="0"/>
              <a:t>In computing, the producer-consumer problem (also known as the bounded-buffer problem) is a classic example of a multi-process synchronization problem. The problem describes two processes, the producer and the consumer, which share a common, fixed-size buffer used as a queue. </a:t>
            </a:r>
          </a:p>
          <a:p>
            <a:pPr lvl="1" algn="just">
              <a:buFont typeface="Wingdings" panose="05000000000000000000" pitchFamily="2" charset="2"/>
              <a:buChar char="Ø"/>
              <a:defRPr/>
            </a:pPr>
            <a:r>
              <a:rPr lang="en-US" dirty="0" smtClean="0"/>
              <a:t>The producer’s job is to generate data, put it into the buffer, and start again.</a:t>
            </a:r>
          </a:p>
          <a:p>
            <a:pPr lvl="1" algn="just">
              <a:buFont typeface="Wingdings" panose="05000000000000000000" pitchFamily="2" charset="2"/>
              <a:buChar char="Ø"/>
              <a:defRPr/>
            </a:pPr>
            <a:r>
              <a:rPr lang="en-US" dirty="0" smtClean="0"/>
              <a:t>At the same time, the consumer is consuming the data (i.e. removing it from the buffer), one piece at a time. </a:t>
            </a:r>
          </a:p>
          <a:p>
            <a:pPr marL="0" indent="0" algn="just">
              <a:buNone/>
              <a:defRPr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4203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97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001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9701</TotalTime>
  <Words>5716</Words>
  <Application>Microsoft Office PowerPoint</Application>
  <PresentationFormat>Custom</PresentationFormat>
  <Paragraphs>931</Paragraphs>
  <Slides>97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99" baseType="lpstr">
      <vt:lpstr>Office Theme</vt:lpstr>
      <vt:lpstr>Picture</vt:lpstr>
      <vt:lpstr>PowerPoint Presentation</vt:lpstr>
      <vt:lpstr>Contents</vt:lpstr>
      <vt:lpstr>  Session 1:  Understanding Threads , Needs of Multi-Threaded Programming  </vt:lpstr>
      <vt:lpstr>PowerPoint Presentation</vt:lpstr>
      <vt:lpstr>PowerPoint Presentation</vt:lpstr>
      <vt:lpstr>Advantages of Multithreading</vt:lpstr>
      <vt:lpstr>PowerPoint Presentation</vt:lpstr>
      <vt:lpstr>Threads Concept</vt:lpstr>
      <vt:lpstr>PowerPoint Presentation</vt:lpstr>
      <vt:lpstr>Understanding main Thread:</vt:lpstr>
      <vt:lpstr>PowerPoint Presentation</vt:lpstr>
      <vt:lpstr>PowerPoint Presentation</vt:lpstr>
      <vt:lpstr>PowerPoint Presentation</vt:lpstr>
      <vt:lpstr>PowerPoint Presentation</vt:lpstr>
      <vt:lpstr>Session 2: Creating a Thread and Thread Life Cycle</vt:lpstr>
      <vt:lpstr>Multithreading</vt:lpstr>
      <vt:lpstr>Multithreading</vt:lpstr>
      <vt:lpstr>Method 1. Thread Class</vt:lpstr>
      <vt:lpstr>Life cycle of a Thread (Thread States)</vt:lpstr>
      <vt:lpstr>Life cycle of a Thread (Thread States): The Thread Class and Methods</vt:lpstr>
      <vt:lpstr>Thread</vt:lpstr>
      <vt:lpstr>Runnable</vt:lpstr>
      <vt:lpstr>Example: thread1.java</vt:lpstr>
      <vt:lpstr>Example: thread2.java</vt:lpstr>
      <vt:lpstr>The Thread Class and Methods:</vt:lpstr>
      <vt:lpstr>Session 3: Creating Multiple Threads, using IsAlive and Join methods</vt:lpstr>
      <vt:lpstr>The Thread Class and Methods: The Following methods are invoked on a particular Thread object.</vt:lpstr>
      <vt:lpstr>The Thread Class and Methods:</vt:lpstr>
      <vt:lpstr>Thread Methods: The isAlive() Method:</vt:lpstr>
      <vt:lpstr>Thread Methods: The join() Method</vt:lpstr>
      <vt:lpstr>Thread Methods: deprecated: stop(), suspend(), and resume() Methods</vt:lpstr>
      <vt:lpstr>PowerPoint Presentation</vt:lpstr>
      <vt:lpstr>PowerPoint Presentation</vt:lpstr>
      <vt:lpstr>PowerPoint Presentation</vt:lpstr>
      <vt:lpstr>PowerPoint Presentation</vt:lpstr>
      <vt:lpstr>Session 4: Thread Priorities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Session 5: Synchronization</vt:lpstr>
      <vt:lpstr>Synchronization:</vt:lpstr>
      <vt:lpstr>Thread Synchronization</vt:lpstr>
      <vt:lpstr>Thread Synchronization</vt:lpstr>
      <vt:lpstr>Thread Synchronization</vt:lpstr>
      <vt:lpstr>Synchronized Method:</vt:lpstr>
      <vt:lpstr>Example: No Synchronization 1 </vt:lpstr>
      <vt:lpstr>Example: No Synchronization 2 </vt:lpstr>
      <vt:lpstr>Example: No Synchronization 3 </vt:lpstr>
      <vt:lpstr>Example: No Synchronization 4 </vt:lpstr>
      <vt:lpstr>Example: No Synchronization 5 </vt:lpstr>
      <vt:lpstr>No Synchronization </vt:lpstr>
      <vt:lpstr>Synchronized Method </vt:lpstr>
      <vt:lpstr>Synchronized Statement </vt:lpstr>
      <vt:lpstr>Example: Synchronized 1 </vt:lpstr>
      <vt:lpstr>Example: Synchronized 2 </vt:lpstr>
      <vt:lpstr>Example: Synchronized 3 </vt:lpstr>
      <vt:lpstr>Example: Synchronized 4 </vt:lpstr>
      <vt:lpstr>Session 6: Inter Thread Communication</vt:lpstr>
      <vt:lpstr>Inter-Thread Communication </vt:lpstr>
      <vt:lpstr>Inter-thread communication</vt:lpstr>
      <vt:lpstr>Inter-thread communication</vt:lpstr>
      <vt:lpstr>Inter-thread communication</vt:lpstr>
      <vt:lpstr>Queuing Problem </vt:lpstr>
      <vt:lpstr>Example: Incorrect Queue 1 </vt:lpstr>
      <vt:lpstr>Example: Incorrect Queue 2 </vt:lpstr>
      <vt:lpstr>Example: Incorrect Queue 3 </vt:lpstr>
      <vt:lpstr>Example: Incorrect Queue 4 </vt:lpstr>
      <vt:lpstr>Why Incorrect? </vt:lpstr>
      <vt:lpstr>Example: Corrected Queue 1 </vt:lpstr>
      <vt:lpstr>Example: Corrected Queue 2 </vt:lpstr>
      <vt:lpstr>Example: Corrected Queue 3 </vt:lpstr>
      <vt:lpstr>Example: Corrected Queue 4 </vt:lpstr>
      <vt:lpstr>Example: Corrected Queue 5 </vt:lpstr>
      <vt:lpstr>Example: Corrected Queue 6 </vt:lpstr>
      <vt:lpstr>Example: Corrected Queue 7 </vt:lpstr>
      <vt:lpstr>Example: Corrected Queue 8 </vt:lpstr>
      <vt:lpstr>Session 7: Deadlock</vt:lpstr>
      <vt:lpstr>Deadlock </vt:lpstr>
      <vt:lpstr>Example: Deadlock 1 </vt:lpstr>
      <vt:lpstr>Example: Deadlock 2 </vt:lpstr>
      <vt:lpstr>Example: Deadlock 3 </vt:lpstr>
      <vt:lpstr>Example: Deadlock 4 </vt:lpstr>
      <vt:lpstr>Example: Deadlock 5 </vt:lpstr>
      <vt:lpstr>Example: Deadlock 6 </vt:lpstr>
      <vt:lpstr>Example: Deadlock 7 </vt:lpstr>
      <vt:lpstr>Deadlock Reached </vt:lpstr>
      <vt:lpstr>Session 8: Executor Framework</vt:lpstr>
      <vt:lpstr>Executor Framework</vt:lpstr>
      <vt:lpstr>Executor Framework</vt:lpstr>
      <vt:lpstr>Executor Framework</vt:lpstr>
      <vt:lpstr>Inter Thread Communication (contd…)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Techniques</dc:title>
  <dc:creator>admin</dc:creator>
  <cp:lastModifiedBy>AFROZ PASHA</cp:lastModifiedBy>
  <cp:revision>471</cp:revision>
  <dcterms:created xsi:type="dcterms:W3CDTF">2007-08-28T09:12:38Z</dcterms:created>
  <dcterms:modified xsi:type="dcterms:W3CDTF">2026-01-12T10:43:27Z</dcterms:modified>
</cp:coreProperties>
</file>