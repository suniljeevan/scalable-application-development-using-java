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5" r:id="rId1"/>
  </p:sldMasterIdLst>
  <p:notesMasterIdLst>
    <p:notesMasterId r:id="rId69"/>
  </p:notesMasterIdLst>
  <p:handoutMasterIdLst>
    <p:handoutMasterId r:id="rId70"/>
  </p:handoutMasterIdLst>
  <p:sldIdLst>
    <p:sldId id="783" r:id="rId2"/>
    <p:sldId id="791" r:id="rId3"/>
    <p:sldId id="892" r:id="rId4"/>
    <p:sldId id="893" r:id="rId5"/>
    <p:sldId id="792" r:id="rId6"/>
    <p:sldId id="634" r:id="rId7"/>
    <p:sldId id="636" r:id="rId8"/>
    <p:sldId id="640" r:id="rId9"/>
    <p:sldId id="651" r:id="rId10"/>
    <p:sldId id="655" r:id="rId11"/>
    <p:sldId id="656" r:id="rId12"/>
    <p:sldId id="679" r:id="rId13"/>
    <p:sldId id="754" r:id="rId14"/>
    <p:sldId id="665" r:id="rId15"/>
    <p:sldId id="666" r:id="rId16"/>
    <p:sldId id="667" r:id="rId17"/>
    <p:sldId id="668" r:id="rId18"/>
    <p:sldId id="669" r:id="rId19"/>
    <p:sldId id="888" r:id="rId20"/>
    <p:sldId id="670" r:id="rId21"/>
    <p:sldId id="671" r:id="rId22"/>
    <p:sldId id="889" r:id="rId23"/>
    <p:sldId id="672" r:id="rId24"/>
    <p:sldId id="673" r:id="rId25"/>
    <p:sldId id="674" r:id="rId26"/>
    <p:sldId id="675" r:id="rId27"/>
    <p:sldId id="676" r:id="rId28"/>
    <p:sldId id="677" r:id="rId29"/>
    <p:sldId id="684" r:id="rId30"/>
    <p:sldId id="685" r:id="rId31"/>
    <p:sldId id="686" r:id="rId32"/>
    <p:sldId id="687" r:id="rId33"/>
    <p:sldId id="688" r:id="rId34"/>
    <p:sldId id="689" r:id="rId35"/>
    <p:sldId id="724" r:id="rId36"/>
    <p:sldId id="690" r:id="rId37"/>
    <p:sldId id="691" r:id="rId38"/>
    <p:sldId id="692" r:id="rId39"/>
    <p:sldId id="693" r:id="rId40"/>
    <p:sldId id="694" r:id="rId41"/>
    <p:sldId id="786" r:id="rId42"/>
    <p:sldId id="787" r:id="rId43"/>
    <p:sldId id="788" r:id="rId44"/>
    <p:sldId id="897" r:id="rId45"/>
    <p:sldId id="704" r:id="rId46"/>
    <p:sldId id="705" r:id="rId47"/>
    <p:sldId id="706" r:id="rId48"/>
    <p:sldId id="707" r:id="rId49"/>
    <p:sldId id="708" r:id="rId50"/>
    <p:sldId id="709" r:id="rId51"/>
    <p:sldId id="710" r:id="rId52"/>
    <p:sldId id="712" r:id="rId53"/>
    <p:sldId id="713" r:id="rId54"/>
    <p:sldId id="714" r:id="rId55"/>
    <p:sldId id="715" r:id="rId56"/>
    <p:sldId id="721" r:id="rId57"/>
    <p:sldId id="716" r:id="rId58"/>
    <p:sldId id="717" r:id="rId59"/>
    <p:sldId id="718" r:id="rId60"/>
    <p:sldId id="719" r:id="rId61"/>
    <p:sldId id="720" r:id="rId62"/>
    <p:sldId id="722" r:id="rId63"/>
    <p:sldId id="723" r:id="rId64"/>
    <p:sldId id="725" r:id="rId65"/>
    <p:sldId id="726" r:id="rId66"/>
    <p:sldId id="790" r:id="rId67"/>
    <p:sldId id="898" r:id="rId68"/>
  </p:sldIdLst>
  <p:sldSz cx="12192000" cy="6858000"/>
  <p:notesSz cx="7315200" cy="96012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EB29A"/>
    <a:srgbClr val="000F2E"/>
    <a:srgbClr val="00194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12" autoAdjust="0"/>
    <p:restoredTop sz="94434" autoAdjust="0"/>
  </p:normalViewPr>
  <p:slideViewPr>
    <p:cSldViewPr>
      <p:cViewPr>
        <p:scale>
          <a:sx n="80" d="100"/>
          <a:sy n="80" d="100"/>
        </p:scale>
        <p:origin x="-264" y="-7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sz="quarter" idx="1"/>
          </p:nvPr>
        </p:nvSpPr>
        <p:spPr>
          <a:xfrm>
            <a:off x="4143587" y="0"/>
            <a:ext cx="3169920" cy="481727"/>
          </a:xfrm>
          <a:prstGeom prst="rect">
            <a:avLst/>
          </a:prstGeom>
        </p:spPr>
        <p:txBody>
          <a:bodyPr vert="horz" lIns="96661" tIns="48331" rIns="96661" bIns="48331" rtlCol="0"/>
          <a:lstStyle>
            <a:lvl1pPr algn="r">
              <a:defRPr sz="1300"/>
            </a:lvl1pPr>
          </a:lstStyle>
          <a:p>
            <a:fld id="{1D5163DD-12C9-4B8E-91F3-BECE4B548A1F}" type="datetimeFigureOut">
              <a:rPr lang="en-US" smtClean="0"/>
              <a:pPr/>
              <a:t>4/8/2026</a:t>
            </a:fld>
            <a:endParaRPr lang="en-US"/>
          </a:p>
        </p:txBody>
      </p:sp>
      <p:sp>
        <p:nvSpPr>
          <p:cNvPr id="4" name="Footer Placeholder 3"/>
          <p:cNvSpPr>
            <a:spLocks noGrp="1"/>
          </p:cNvSpPr>
          <p:nvPr>
            <p:ph type="ftr" sz="quarter" idx="2"/>
          </p:nvPr>
        </p:nvSpPr>
        <p:spPr>
          <a:xfrm>
            <a:off x="0" y="9119474"/>
            <a:ext cx="3169920" cy="481726"/>
          </a:xfrm>
          <a:prstGeom prst="rect">
            <a:avLst/>
          </a:prstGeom>
        </p:spPr>
        <p:txBody>
          <a:bodyPr vert="horz" lIns="96661" tIns="48331" rIns="96661" bIns="48331" rtlCol="0" anchor="b"/>
          <a:lstStyle>
            <a:lvl1pPr algn="l">
              <a:defRPr sz="1300"/>
            </a:lvl1pPr>
          </a:lstStyle>
          <a:p>
            <a:endParaRPr lang="en-US"/>
          </a:p>
        </p:txBody>
      </p:sp>
      <p:sp>
        <p:nvSpPr>
          <p:cNvPr id="5" name="Slide Number Placeholder 4"/>
          <p:cNvSpPr>
            <a:spLocks noGrp="1"/>
          </p:cNvSpPr>
          <p:nvPr>
            <p:ph type="sldNum" sz="quarter" idx="3"/>
          </p:nvPr>
        </p:nvSpPr>
        <p:spPr>
          <a:xfrm>
            <a:off x="4143587" y="9119474"/>
            <a:ext cx="3169920" cy="481726"/>
          </a:xfrm>
          <a:prstGeom prst="rect">
            <a:avLst/>
          </a:prstGeom>
        </p:spPr>
        <p:txBody>
          <a:bodyPr vert="horz" lIns="96661" tIns="48331" rIns="96661" bIns="48331" rtlCol="0" anchor="b"/>
          <a:lstStyle>
            <a:lvl1pPr algn="r">
              <a:defRPr sz="1300"/>
            </a:lvl1pPr>
          </a:lstStyle>
          <a:p>
            <a:fld id="{19884565-77A9-41BC-A3D1-C71554A711C1}" type="slidenum">
              <a:rPr lang="en-US" smtClean="0"/>
              <a:pPr/>
              <a:t>‹#›</a:t>
            </a:fld>
            <a:endParaRPr lang="en-US"/>
          </a:p>
        </p:txBody>
      </p:sp>
    </p:spTree>
    <p:extLst>
      <p:ext uri="{BB962C8B-B14F-4D97-AF65-F5344CB8AC3E}">
        <p14:creationId xmlns:p14="http://schemas.microsoft.com/office/powerpoint/2010/main" val="534415109"/>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eaLnBrk="1" hangingPunct="1">
              <a:defRPr sz="1300"/>
            </a:lvl1pPr>
          </a:lstStyle>
          <a:p>
            <a:pPr>
              <a:defRPr/>
            </a:pPr>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eaLnBrk="1" hangingPunct="1">
              <a:defRPr sz="1300"/>
            </a:lvl1pPr>
          </a:lstStyle>
          <a:p>
            <a:pPr>
              <a:defRPr/>
            </a:pPr>
            <a:fld id="{B35E0ABE-3FD2-4491-A84F-F5DF78F574D2}" type="datetimeFigureOut">
              <a:rPr lang="en-US"/>
              <a:pPr>
                <a:defRPr/>
              </a:pPr>
              <a:t>4/8/2026</a:t>
            </a:fld>
            <a:endParaRPr lang="en-US"/>
          </a:p>
        </p:txBody>
      </p:sp>
      <p:sp>
        <p:nvSpPr>
          <p:cNvPr id="4" name="Slide Image Placeholder 3"/>
          <p:cNvSpPr>
            <a:spLocks noGrp="1" noRot="1" noChangeAspect="1"/>
          </p:cNvSpPr>
          <p:nvPr>
            <p:ph type="sldImg" idx="2"/>
          </p:nvPr>
        </p:nvSpPr>
        <p:spPr>
          <a:xfrm>
            <a:off x="457200" y="720725"/>
            <a:ext cx="6400800" cy="3600450"/>
          </a:xfrm>
          <a:prstGeom prst="rect">
            <a:avLst/>
          </a:prstGeom>
          <a:noFill/>
          <a:ln w="12700">
            <a:solidFill>
              <a:prstClr val="black"/>
            </a:solidFill>
          </a:ln>
        </p:spPr>
        <p:txBody>
          <a:bodyPr vert="horz" lIns="96661" tIns="48331" rIns="96661" bIns="48331" rtlCol="0" anchor="ctr"/>
          <a:lstStyle/>
          <a:p>
            <a:pPr lvl="0"/>
            <a:endParaRPr lang="en-US" noProof="0" smtClean="0"/>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eaLnBrk="1" hangingPunct="1">
              <a:defRPr sz="1300"/>
            </a:lvl1pPr>
          </a:lstStyle>
          <a:p>
            <a:pPr>
              <a:defRPr/>
            </a:pPr>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wrap="square" lIns="96661" tIns="48331" rIns="96661" bIns="48331" numCol="1" anchor="b" anchorCtr="0" compatLnSpc="1">
            <a:prstTxWarp prst="textNoShape">
              <a:avLst/>
            </a:prstTxWarp>
          </a:bodyPr>
          <a:lstStyle>
            <a:lvl1pPr algn="r" eaLnBrk="1" hangingPunct="1">
              <a:defRPr sz="1300"/>
            </a:lvl1pPr>
          </a:lstStyle>
          <a:p>
            <a:pPr>
              <a:defRPr/>
            </a:pPr>
            <a:fld id="{CDD763F7-5C11-4DBC-83B1-39D83E1FBE10}" type="slidenum">
              <a:rPr lang="en-US" altLang="en-US"/>
              <a:pPr>
                <a:defRPr/>
              </a:pPr>
              <a:t>‹#›</a:t>
            </a:fld>
            <a:endParaRPr lang="en-US" altLang="en-US"/>
          </a:p>
        </p:txBody>
      </p:sp>
    </p:spTree>
    <p:extLst>
      <p:ext uri="{BB962C8B-B14F-4D97-AF65-F5344CB8AC3E}">
        <p14:creationId xmlns:p14="http://schemas.microsoft.com/office/powerpoint/2010/main" val="2171985713"/>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32292E83-4E84-4740-8999-21B99A524EB4}" type="datetime1">
              <a:rPr lang="en-US" smtClean="0"/>
              <a:pPr>
                <a:defRPr/>
              </a:pPr>
              <a:t>4/8/2026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772A8AC2-F0C4-4335-A6D7-C22D8A222454}" type="slidenum">
              <a:rPr lang="en-US" altLang="en-US"/>
              <a:pPr>
                <a:defRPr/>
              </a:pPr>
              <a:t>‹#›</a:t>
            </a:fld>
            <a:endParaRPr lang="en-US" altLang="en-US"/>
          </a:p>
        </p:txBody>
      </p:sp>
    </p:spTree>
    <p:extLst>
      <p:ext uri="{BB962C8B-B14F-4D97-AF65-F5344CB8AC3E}">
        <p14:creationId xmlns:p14="http://schemas.microsoft.com/office/powerpoint/2010/main" val="20965966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3B3B847F-E800-49BB-B888-ECFD11F24C1D}" type="datetime1">
              <a:rPr lang="en-US" smtClean="0"/>
              <a:pPr>
                <a:defRPr/>
              </a:pPr>
              <a:t>4/8/2026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01CA5F2-CD08-4EF5-BAD9-872B7BB27165}" type="slidenum">
              <a:rPr lang="en-US" altLang="en-US"/>
              <a:pPr>
                <a:defRPr/>
              </a:pPr>
              <a:t>‹#›</a:t>
            </a:fld>
            <a:endParaRPr lang="en-US" altLang="en-US"/>
          </a:p>
        </p:txBody>
      </p:sp>
    </p:spTree>
    <p:extLst>
      <p:ext uri="{BB962C8B-B14F-4D97-AF65-F5344CB8AC3E}">
        <p14:creationId xmlns:p14="http://schemas.microsoft.com/office/powerpoint/2010/main" val="36336792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1A39EC45-EBE1-44DB-AD55-76A5CDEE8551}" type="datetime1">
              <a:rPr lang="en-US" smtClean="0"/>
              <a:pPr>
                <a:defRPr/>
              </a:pPr>
              <a:t>4/8/2026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CB43365-358E-4EFB-9D2F-D6778ADA2A33}" type="slidenum">
              <a:rPr lang="en-US" altLang="en-US"/>
              <a:pPr>
                <a:defRPr/>
              </a:pPr>
              <a:t>‹#›</a:t>
            </a:fld>
            <a:endParaRPr lang="en-US" altLang="en-US"/>
          </a:p>
        </p:txBody>
      </p:sp>
    </p:spTree>
    <p:extLst>
      <p:ext uri="{BB962C8B-B14F-4D97-AF65-F5344CB8AC3E}">
        <p14:creationId xmlns:p14="http://schemas.microsoft.com/office/powerpoint/2010/main" val="8111566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23A84E65-0CE4-4441-ACE8-8E023A7A741C}" type="datetime1">
              <a:rPr lang="en-US" smtClean="0"/>
              <a:pPr>
                <a:defRPr/>
              </a:pPr>
              <a:t>4/8/2026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7061B66A-860D-4F77-A12A-57453AAB16AB}" type="slidenum">
              <a:rPr lang="en-US" altLang="en-US"/>
              <a:pPr>
                <a:defRPr/>
              </a:pPr>
              <a:t>‹#›</a:t>
            </a:fld>
            <a:endParaRPr lang="en-US" altLang="en-US"/>
          </a:p>
        </p:txBody>
      </p:sp>
    </p:spTree>
    <p:extLst>
      <p:ext uri="{BB962C8B-B14F-4D97-AF65-F5344CB8AC3E}">
        <p14:creationId xmlns:p14="http://schemas.microsoft.com/office/powerpoint/2010/main" val="39459812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6BC930A8-B92B-4AD0-9CA2-E3573C2D7B68}" type="datetime1">
              <a:rPr lang="en-US" smtClean="0"/>
              <a:pPr>
                <a:defRPr/>
              </a:pPr>
              <a:t>4/8/2026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F19E9FAA-A59B-4AE0-A044-7FE2AB03AB9B}" type="slidenum">
              <a:rPr lang="en-US" altLang="en-US"/>
              <a:pPr>
                <a:defRPr/>
              </a:pPr>
              <a:t>‹#›</a:t>
            </a:fld>
            <a:endParaRPr lang="en-US" altLang="en-US"/>
          </a:p>
        </p:txBody>
      </p:sp>
    </p:spTree>
    <p:extLst>
      <p:ext uri="{BB962C8B-B14F-4D97-AF65-F5344CB8AC3E}">
        <p14:creationId xmlns:p14="http://schemas.microsoft.com/office/powerpoint/2010/main" val="9700773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3"/>
          <p:cNvSpPr>
            <a:spLocks noGrp="1"/>
          </p:cNvSpPr>
          <p:nvPr>
            <p:ph type="dt" sz="half" idx="10"/>
          </p:nvPr>
        </p:nvSpPr>
        <p:spPr/>
        <p:txBody>
          <a:bodyPr/>
          <a:lstStyle>
            <a:lvl1pPr>
              <a:defRPr/>
            </a:lvl1pPr>
          </a:lstStyle>
          <a:p>
            <a:pPr>
              <a:defRPr/>
            </a:pPr>
            <a:fld id="{9BFAF9F0-86F4-41BA-BF04-7A68BB35962C}" type="datetime1">
              <a:rPr lang="en-US" smtClean="0"/>
              <a:pPr>
                <a:defRPr/>
              </a:pPr>
              <a:t>4/8/2026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5FF55CBD-5A35-43A0-8B72-DFEEFFF78235}" type="slidenum">
              <a:rPr lang="en-US" altLang="en-US"/>
              <a:pPr>
                <a:defRPr/>
              </a:pPr>
              <a:t>‹#›</a:t>
            </a:fld>
            <a:endParaRPr lang="en-US" altLang="en-US"/>
          </a:p>
        </p:txBody>
      </p:sp>
    </p:spTree>
    <p:extLst>
      <p:ext uri="{BB962C8B-B14F-4D97-AF65-F5344CB8AC3E}">
        <p14:creationId xmlns:p14="http://schemas.microsoft.com/office/powerpoint/2010/main" val="37841307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4B284C8E-89B8-4DD1-9A54-0E190BA47E5D}" type="datetime1">
              <a:rPr lang="en-US" smtClean="0"/>
              <a:pPr>
                <a:defRPr/>
              </a:pPr>
              <a:t>4/8/2026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5EDAE260-203A-48BA-B1E0-2820BBC6B005}" type="slidenum">
              <a:rPr lang="en-US" altLang="en-US"/>
              <a:pPr>
                <a:defRPr/>
              </a:pPr>
              <a:t>‹#›</a:t>
            </a:fld>
            <a:endParaRPr lang="en-US" altLang="en-US"/>
          </a:p>
        </p:txBody>
      </p:sp>
    </p:spTree>
    <p:extLst>
      <p:ext uri="{BB962C8B-B14F-4D97-AF65-F5344CB8AC3E}">
        <p14:creationId xmlns:p14="http://schemas.microsoft.com/office/powerpoint/2010/main" val="35119055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B53A74D-7B57-49DB-9938-D92105508A1C}" type="datetime1">
              <a:rPr lang="en-US" smtClean="0"/>
              <a:pPr>
                <a:defRPr/>
              </a:pPr>
              <a:t>4/8/2026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4043378E-E05F-4D65-B4F7-A87FC0276302}" type="slidenum">
              <a:rPr lang="en-US" altLang="en-US"/>
              <a:pPr>
                <a:defRPr/>
              </a:pPr>
              <a:t>‹#›</a:t>
            </a:fld>
            <a:endParaRPr lang="en-US" altLang="en-US"/>
          </a:p>
        </p:txBody>
      </p:sp>
    </p:spTree>
    <p:extLst>
      <p:ext uri="{BB962C8B-B14F-4D97-AF65-F5344CB8AC3E}">
        <p14:creationId xmlns:p14="http://schemas.microsoft.com/office/powerpoint/2010/main" val="23989143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79F7E326-5233-47C9-9183-AB0FCA1C5179}" type="datetime1">
              <a:rPr lang="en-US" smtClean="0"/>
              <a:pPr>
                <a:defRPr/>
              </a:pPr>
              <a:t>4/8/2026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7D2A09E5-A14B-4738-A48E-EF064E453217}" type="slidenum">
              <a:rPr lang="en-US" altLang="en-US"/>
              <a:pPr>
                <a:defRPr/>
              </a:pPr>
              <a:t>‹#›</a:t>
            </a:fld>
            <a:endParaRPr lang="en-US" altLang="en-US"/>
          </a:p>
        </p:txBody>
      </p:sp>
    </p:spTree>
    <p:extLst>
      <p:ext uri="{BB962C8B-B14F-4D97-AF65-F5344CB8AC3E}">
        <p14:creationId xmlns:p14="http://schemas.microsoft.com/office/powerpoint/2010/main" val="39493839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74AD883A-3962-435F-9831-24ADC35CB10C}" type="datetime1">
              <a:rPr lang="en-US" smtClean="0"/>
              <a:pPr>
                <a:defRPr/>
              </a:pPr>
              <a:t>4/8/2026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A110372-953E-4601-976C-D82CD9FCE073}" type="slidenum">
              <a:rPr lang="en-US" altLang="en-US"/>
              <a:pPr>
                <a:defRPr/>
              </a:pPr>
              <a:t>‹#›</a:t>
            </a:fld>
            <a:endParaRPr lang="en-US" altLang="en-US"/>
          </a:p>
        </p:txBody>
      </p:sp>
    </p:spTree>
    <p:extLst>
      <p:ext uri="{BB962C8B-B14F-4D97-AF65-F5344CB8AC3E}">
        <p14:creationId xmlns:p14="http://schemas.microsoft.com/office/powerpoint/2010/main" val="2314918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CADF5F9B-46DC-4E4F-98F8-47F377D811C8}" type="datetime1">
              <a:rPr lang="en-US" smtClean="0"/>
              <a:pPr>
                <a:defRPr/>
              </a:pPr>
              <a:t>4/8/2026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BCDF80F-6F68-4B94-9701-0F2026993C48}" type="slidenum">
              <a:rPr lang="en-US" altLang="en-US"/>
              <a:pPr>
                <a:defRPr/>
              </a:pPr>
              <a:t>‹#›</a:t>
            </a:fld>
            <a:endParaRPr lang="en-US" altLang="en-US"/>
          </a:p>
        </p:txBody>
      </p:sp>
    </p:spTree>
    <p:extLst>
      <p:ext uri="{BB962C8B-B14F-4D97-AF65-F5344CB8AC3E}">
        <p14:creationId xmlns:p14="http://schemas.microsoft.com/office/powerpoint/2010/main" val="21440113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smtClean="0">
                <a:solidFill>
                  <a:schemeClr val="tx1">
                    <a:tint val="75000"/>
                  </a:schemeClr>
                </a:solidFill>
              </a:defRPr>
            </a:lvl1pPr>
          </a:lstStyle>
          <a:p>
            <a:pPr>
              <a:defRPr/>
            </a:pPr>
            <a:fld id="{14A44C2B-9FC4-482D-A60E-5D6C377FC33F}" type="datetime1">
              <a:rPr lang="en-US" smtClean="0"/>
              <a:pPr>
                <a:defRPr/>
              </a:pPr>
              <a:t>4/8/2026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smtClean="0">
                <a:solidFill>
                  <a:schemeClr val="tx1">
                    <a:tint val="75000"/>
                  </a:schemeClr>
                </a:solidFill>
              </a:defRPr>
            </a:lvl1pPr>
          </a:lstStyle>
          <a:p>
            <a:pPr>
              <a:defRPr/>
            </a:pPr>
            <a:fld id="{03391736-D1CD-4256-BC31-406FE5C1CD1F}" type="slidenum">
              <a:rPr lang="en-US" altLang="en-US"/>
              <a:pPr>
                <a:defRPr/>
              </a:pPr>
              <a:t>‹#›</a:t>
            </a:fld>
            <a:endParaRPr lang="en-US" altLang="en-US"/>
          </a:p>
        </p:txBody>
      </p:sp>
      <p:pic>
        <p:nvPicPr>
          <p:cNvPr id="1031" name="Picture 7"/>
          <p:cNvPicPr>
            <a:picLocks noChangeAspect="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5153025"/>
            <a:ext cx="12192000" cy="170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806" r:id="rId1"/>
    <p:sldLayoutId id="2147483807" r:id="rId2"/>
    <p:sldLayoutId id="2147483808" r:id="rId3"/>
    <p:sldLayoutId id="2147483809" r:id="rId4"/>
    <p:sldLayoutId id="2147483810" r:id="rId5"/>
    <p:sldLayoutId id="2147483811" r:id="rId6"/>
    <p:sldLayoutId id="2147483812" r:id="rId7"/>
    <p:sldLayoutId id="2147483813" r:id="rId8"/>
    <p:sldLayoutId id="2147483814" r:id="rId9"/>
    <p:sldLayoutId id="2147483815" r:id="rId10"/>
    <p:sldLayoutId id="2147483816" r:id="rId11"/>
  </p:sldLayoutIdLst>
  <p:hf hdr="0" ftr="0" dt="0"/>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tomcat.apache.org/download-90.cgi" TargetMode="External"/><Relationship Id="rId2" Type="http://schemas.openxmlformats.org/officeDocument/2006/relationships/hyperlink" Target="https://www.baeldung.com/intro-to-servlets"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javatpoint.com/Garbage-Collection" TargetMode="External"/><Relationship Id="rId2" Type="http://schemas.openxmlformats.org/officeDocument/2006/relationships/hyperlink" Target="https://www.javatpoint.com/jvm-java-virtual-machine"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8748464" cy="938485"/>
          </a:xfrm>
        </p:spPr>
        <p:txBody>
          <a:bodyPr/>
          <a:lstStyle/>
          <a:p>
            <a:r>
              <a:rPr lang="en-GB" dirty="0" smtClean="0"/>
              <a:t>Module </a:t>
            </a:r>
            <a:r>
              <a:rPr lang="en-GB" dirty="0" smtClean="0"/>
              <a:t>5 </a:t>
            </a:r>
            <a:endParaRPr lang="en-US" dirty="0"/>
          </a:p>
        </p:txBody>
      </p:sp>
      <p:sp>
        <p:nvSpPr>
          <p:cNvPr id="3" name="Content Placeholder 2"/>
          <p:cNvSpPr>
            <a:spLocks noGrp="1"/>
          </p:cNvSpPr>
          <p:nvPr>
            <p:ph type="subTitle" idx="1"/>
          </p:nvPr>
        </p:nvSpPr>
        <p:spPr>
          <a:xfrm>
            <a:off x="1544597" y="2348880"/>
            <a:ext cx="9144000" cy="936104"/>
          </a:xfrm>
        </p:spPr>
        <p:txBody>
          <a:bodyPr/>
          <a:lstStyle/>
          <a:p>
            <a:r>
              <a:rPr lang="en-GB" sz="4400" b="1" dirty="0">
                <a:solidFill>
                  <a:schemeClr val="accent5"/>
                </a:solidFill>
              </a:rPr>
              <a:t>Java EE Web </a:t>
            </a:r>
            <a:r>
              <a:rPr lang="en-GB" sz="4400" b="1" dirty="0" smtClean="0">
                <a:solidFill>
                  <a:schemeClr val="accent5"/>
                </a:solidFill>
              </a:rPr>
              <a:t>Applications</a:t>
            </a:r>
            <a:endParaRPr lang="en-GB" sz="4400" b="1" dirty="0">
              <a:solidFill>
                <a:schemeClr val="accent5"/>
              </a:solidFill>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a:t>
            </a:fld>
            <a:endParaRPr lang="en-US" alt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370368" cy="615603"/>
          </a:xfrm>
        </p:spPr>
        <p:txBody>
          <a:bodyPr/>
          <a:lstStyle/>
          <a:p>
            <a:r>
              <a:rPr lang="en-GB" b="1" dirty="0" smtClean="0">
                <a:solidFill>
                  <a:srgbClr val="0070C0"/>
                </a:solidFill>
                <a:latin typeface="Cambria" panose="02040503050406030204" pitchFamily="18" charset="0"/>
                <a:ea typeface="Cambria" panose="02040503050406030204" pitchFamily="18" charset="0"/>
              </a:rPr>
              <a:t>             Content to be discussed</a:t>
            </a:r>
            <a:endParaRPr lang="en-US" b="1" dirty="0">
              <a:solidFill>
                <a:srgbClr val="0070C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692968" y="1196752"/>
            <a:ext cx="10371584" cy="3240360"/>
          </a:xfrm>
        </p:spPr>
        <p:txBody>
          <a:bodyPr/>
          <a:lstStyle/>
          <a:p>
            <a:r>
              <a:rPr lang="en-US" dirty="0" smtClean="0">
                <a:latin typeface="Cambria" panose="02040503050406030204" pitchFamily="18" charset="0"/>
                <a:ea typeface="Cambria" panose="02040503050406030204" pitchFamily="18" charset="0"/>
              </a:rPr>
              <a:t>Introduction to Eclipse &amp; Apache Tomcat Server</a:t>
            </a:r>
          </a:p>
          <a:p>
            <a:r>
              <a:rPr lang="en-US" dirty="0" err="1" smtClean="0">
                <a:latin typeface="Cambria" panose="02040503050406030204" pitchFamily="18" charset="0"/>
                <a:ea typeface="Cambria" panose="02040503050406030204" pitchFamily="18" charset="0"/>
              </a:rPr>
              <a:t>Servlet</a:t>
            </a:r>
            <a:r>
              <a:rPr lang="en-US" dirty="0" smtClean="0">
                <a:latin typeface="Cambria" panose="02040503050406030204" pitchFamily="18" charset="0"/>
                <a:ea typeface="Cambria" panose="02040503050406030204" pitchFamily="18" charset="0"/>
              </a:rPr>
              <a:t> API Fundamentals</a:t>
            </a:r>
          </a:p>
          <a:p>
            <a:r>
              <a:rPr lang="en-US" dirty="0" smtClean="0">
                <a:latin typeface="Cambria" panose="02040503050406030204" pitchFamily="18" charset="0"/>
                <a:ea typeface="Cambria" panose="02040503050406030204" pitchFamily="18" charset="0"/>
              </a:rPr>
              <a:t>ServletContext</a:t>
            </a:r>
          </a:p>
          <a:p>
            <a:r>
              <a:rPr lang="en-US" dirty="0" smtClean="0">
                <a:latin typeface="Cambria" panose="02040503050406030204" pitchFamily="18" charset="0"/>
                <a:ea typeface="Cambria" panose="02040503050406030204" pitchFamily="18" charset="0"/>
              </a:rPr>
              <a:t>Session </a:t>
            </a:r>
          </a:p>
          <a:p>
            <a:r>
              <a:rPr lang="en-US" dirty="0" smtClean="0">
                <a:latin typeface="Cambria" panose="02040503050406030204" pitchFamily="18" charset="0"/>
                <a:ea typeface="Cambria" panose="02040503050406030204" pitchFamily="18" charset="0"/>
              </a:rPr>
              <a:t>Cookies </a:t>
            </a:r>
          </a:p>
          <a:p>
            <a:r>
              <a:rPr lang="en-US" dirty="0" smtClean="0">
                <a:latin typeface="Cambria" panose="02040503050406030204" pitchFamily="18" charset="0"/>
                <a:ea typeface="Cambria" panose="02040503050406030204" pitchFamily="18" charset="0"/>
              </a:rPr>
              <a:t>Request Redirection Techniques   </a:t>
            </a:r>
          </a:p>
          <a:p>
            <a:endParaRPr lang="en-US"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2</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36" y="116632"/>
            <a:ext cx="3817640" cy="687611"/>
          </a:xfrm>
        </p:spPr>
        <p:txBody>
          <a:bodyPr/>
          <a:lstStyle/>
          <a:p>
            <a:r>
              <a:rPr lang="en-GB" sz="4000" b="1" dirty="0" smtClean="0">
                <a:solidFill>
                  <a:schemeClr val="accent5"/>
                </a:solidFill>
                <a:latin typeface="Cambria" panose="02040503050406030204" pitchFamily="18" charset="0"/>
                <a:ea typeface="Cambria" panose="02040503050406030204" pitchFamily="18" charset="0"/>
              </a:rPr>
              <a:t>Web Browser</a:t>
            </a:r>
            <a:endParaRPr lang="en-US" sz="40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551384" y="908721"/>
            <a:ext cx="10802416" cy="936104"/>
          </a:xfrm>
        </p:spPr>
        <p:txBody>
          <a:bodyPr/>
          <a:lstStyle/>
          <a:p>
            <a:pPr marL="0" indent="0" algn="just">
              <a:buNone/>
            </a:pPr>
            <a:r>
              <a:rPr lang="en-US" dirty="0" smtClean="0">
                <a:latin typeface="Cambria" panose="02040503050406030204" pitchFamily="18" charset="0"/>
                <a:ea typeface="Cambria" panose="02040503050406030204" pitchFamily="18" charset="0"/>
              </a:rPr>
              <a:t>a program which acts as an interface between user and web application e.g. Internet Explorer, Chrome, Safari, Mozilla </a:t>
            </a:r>
            <a:r>
              <a:rPr lang="en-US" dirty="0" err="1" smtClean="0">
                <a:latin typeface="Cambria" panose="02040503050406030204" pitchFamily="18" charset="0"/>
                <a:ea typeface="Cambria" panose="02040503050406030204" pitchFamily="18" charset="0"/>
              </a:rPr>
              <a:t>firefox</a:t>
            </a:r>
            <a:r>
              <a:rPr lang="en-US" dirty="0" smtClean="0">
                <a:latin typeface="Cambria" panose="02040503050406030204" pitchFamily="18" charset="0"/>
                <a:ea typeface="Cambria" panose="02040503050406030204" pitchFamily="18" charset="0"/>
              </a:rPr>
              <a:t> etc.</a:t>
            </a:r>
          </a:p>
          <a:p>
            <a:pPr algn="just"/>
            <a:endParaRPr lang="en-US"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3</a:t>
            </a:fld>
            <a:endParaRPr lang="en-US" altLang="en-US">
              <a:latin typeface="Cambria" panose="02040503050406030204" pitchFamily="18" charset="0"/>
              <a:ea typeface="Cambria" panose="02040503050406030204" pitchFamily="18" charset="0"/>
            </a:endParaRPr>
          </a:p>
        </p:txBody>
      </p:sp>
      <p:sp>
        <p:nvSpPr>
          <p:cNvPr id="5" name="Title 1"/>
          <p:cNvSpPr txBox="1">
            <a:spLocks/>
          </p:cNvSpPr>
          <p:nvPr/>
        </p:nvSpPr>
        <p:spPr bwMode="auto">
          <a:xfrm>
            <a:off x="119336" y="1931408"/>
            <a:ext cx="10515600" cy="543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hangingPunct="1"/>
            <a:r>
              <a:rPr lang="en-GB" sz="4000" b="1" dirty="0" smtClean="0">
                <a:solidFill>
                  <a:srgbClr val="0070C0"/>
                </a:solidFill>
                <a:latin typeface="Cambria" panose="02040503050406030204" pitchFamily="18" charset="0"/>
                <a:ea typeface="Cambria" panose="02040503050406030204" pitchFamily="18" charset="0"/>
              </a:rPr>
              <a:t>What is a web application?</a:t>
            </a:r>
            <a:endParaRPr lang="en-GB" sz="4000" b="1" dirty="0">
              <a:solidFill>
                <a:srgbClr val="0070C0"/>
              </a:solidFill>
              <a:latin typeface="Cambria" panose="02040503050406030204" pitchFamily="18" charset="0"/>
              <a:ea typeface="Cambria" panose="02040503050406030204" pitchFamily="18" charset="0"/>
            </a:endParaRPr>
          </a:p>
        </p:txBody>
      </p:sp>
      <p:sp>
        <p:nvSpPr>
          <p:cNvPr id="6" name="Content Placeholder 2"/>
          <p:cNvSpPr txBox="1">
            <a:spLocks/>
          </p:cNvSpPr>
          <p:nvPr/>
        </p:nvSpPr>
        <p:spPr bwMode="auto">
          <a:xfrm>
            <a:off x="495000" y="2577662"/>
            <a:ext cx="10785575" cy="286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eaLnBrk="1" hangingPunct="1"/>
            <a:r>
              <a:rPr lang="en-GB" dirty="0" smtClean="0">
                <a:latin typeface="Cambria" panose="02040503050406030204" pitchFamily="18" charset="0"/>
                <a:ea typeface="Cambria" panose="02040503050406030204" pitchFamily="18" charset="0"/>
              </a:rPr>
              <a:t>A web application is an application accessible from the web. </a:t>
            </a:r>
          </a:p>
          <a:p>
            <a:pPr algn="just" eaLnBrk="1" hangingPunct="1"/>
            <a:r>
              <a:rPr lang="en-GB" dirty="0" smtClean="0">
                <a:latin typeface="Cambria" panose="02040503050406030204" pitchFamily="18" charset="0"/>
                <a:ea typeface="Cambria" panose="02040503050406030204" pitchFamily="18" charset="0"/>
              </a:rPr>
              <a:t>A web application is composed of web components like Servlet, JSP, Filter, etc. and other elements such as HTML, CSS and JavaScript. </a:t>
            </a:r>
          </a:p>
          <a:p>
            <a:pPr algn="just" eaLnBrk="1" hangingPunct="1"/>
            <a:r>
              <a:rPr lang="en-GB" dirty="0" smtClean="0">
                <a:latin typeface="Cambria" panose="02040503050406030204" pitchFamily="18" charset="0"/>
                <a:ea typeface="Cambria" panose="02040503050406030204" pitchFamily="18" charset="0"/>
              </a:rPr>
              <a:t>The web components typically execute in Web Server and respond to the HTTP request.</a:t>
            </a: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96164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5" grpId="0"/>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344" y="116632"/>
            <a:ext cx="4033664" cy="615603"/>
          </a:xfrm>
        </p:spPr>
        <p:txBody>
          <a:bodyPr/>
          <a:lstStyle/>
          <a:p>
            <a:r>
              <a:rPr lang="en-GB" sz="4000" b="1" dirty="0" smtClean="0">
                <a:solidFill>
                  <a:schemeClr val="accent5"/>
                </a:solidFill>
                <a:latin typeface="Cambria" panose="02040503050406030204" pitchFamily="18" charset="0"/>
                <a:ea typeface="Cambria" panose="02040503050406030204" pitchFamily="18" charset="0"/>
              </a:rPr>
              <a:t>Web Server</a:t>
            </a:r>
            <a:endParaRPr lang="en-US" sz="40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335360" y="836712"/>
            <a:ext cx="11018440" cy="3600400"/>
          </a:xfrm>
        </p:spPr>
        <p:txBody>
          <a:bodyPr/>
          <a:lstStyle/>
          <a:p>
            <a:pPr algn="just"/>
            <a:r>
              <a:rPr lang="en-GB" sz="2400" dirty="0" smtClean="0">
                <a:latin typeface="Cambria" panose="02040503050406030204" pitchFamily="18" charset="0"/>
                <a:ea typeface="Cambria" panose="02040503050406030204" pitchFamily="18" charset="0"/>
              </a:rPr>
              <a:t>A web server is a software application or hardware device that stores, processes, and serves web content to users over the </a:t>
            </a:r>
            <a:r>
              <a:rPr lang="en-GB" sz="2400" dirty="0">
                <a:latin typeface="Cambria" panose="02040503050406030204" pitchFamily="18" charset="0"/>
                <a:ea typeface="Cambria" panose="02040503050406030204" pitchFamily="18" charset="0"/>
              </a:rPr>
              <a:t>I</a:t>
            </a:r>
            <a:r>
              <a:rPr lang="en-GB" sz="2400" dirty="0" smtClean="0">
                <a:latin typeface="Cambria" panose="02040503050406030204" pitchFamily="18" charset="0"/>
                <a:ea typeface="Cambria" panose="02040503050406030204" pitchFamily="18" charset="0"/>
              </a:rPr>
              <a:t>nternet. It plays a critical role in the client-server model of the World Wide Web, where clients (typically web browsers) request web pages and resources, and servers respond to these requests by delivering the requested content.</a:t>
            </a:r>
          </a:p>
          <a:p>
            <a:pPr algn="just"/>
            <a:r>
              <a:rPr lang="en-GB" sz="2400" dirty="0" smtClean="0">
                <a:latin typeface="Cambria" panose="02040503050406030204" pitchFamily="18" charset="0"/>
                <a:ea typeface="Cambria" panose="02040503050406030204" pitchFamily="18" charset="0"/>
              </a:rPr>
              <a:t>Web servers operate on the Hypertext Transfer Protocol (HTTP), which is the foundation of data communication on the World Wide Web. When you enter a website’s URL into your browser, it sends an HTTP request to the web server hosting that website, which then sends back the web page you requested, allowing you to view it in your browser.</a:t>
            </a:r>
          </a:p>
          <a:p>
            <a:pPr algn="just"/>
            <a:endParaRPr lang="en-US" sz="24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4</a:t>
            </a:fld>
            <a:endParaRPr lang="en-US" altLang="en-US">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66081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370368" cy="615603"/>
          </a:xfrm>
        </p:spPr>
        <p:txBody>
          <a:bodyPr/>
          <a:lstStyle/>
          <a:p>
            <a:r>
              <a:rPr lang="en-GB" b="1" dirty="0" smtClean="0">
                <a:solidFill>
                  <a:srgbClr val="0070C0"/>
                </a:solidFill>
                <a:latin typeface="Cambria" panose="02040503050406030204" pitchFamily="18" charset="0"/>
                <a:ea typeface="Cambria" panose="02040503050406030204" pitchFamily="18" charset="0"/>
              </a:rPr>
              <a:t>Eclipse &amp; Apache Tomcat Server</a:t>
            </a:r>
            <a:endParaRPr lang="en-US" b="1" dirty="0">
              <a:solidFill>
                <a:srgbClr val="0070C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692968" y="1124744"/>
            <a:ext cx="10515600" cy="3384376"/>
          </a:xfrm>
        </p:spPr>
        <p:txBody>
          <a:bodyPr/>
          <a:lstStyle/>
          <a:p>
            <a:pPr algn="just"/>
            <a:r>
              <a:rPr lang="en-GB" dirty="0" smtClean="0">
                <a:latin typeface="Cambria" panose="02040503050406030204" pitchFamily="18" charset="0"/>
                <a:ea typeface="Cambria" panose="02040503050406030204" pitchFamily="18" charset="0"/>
              </a:rPr>
              <a:t>For Web &amp; EE app development the requirement is “</a:t>
            </a:r>
            <a:r>
              <a:rPr lang="en-GB" dirty="0" smtClean="0">
                <a:solidFill>
                  <a:schemeClr val="accent1">
                    <a:lumMod val="75000"/>
                  </a:schemeClr>
                </a:solidFill>
                <a:latin typeface="Cambria" panose="02040503050406030204" pitchFamily="18" charset="0"/>
                <a:ea typeface="Cambria" panose="02040503050406030204" pitchFamily="18" charset="0"/>
              </a:rPr>
              <a:t>Eclipse IDE for Enterprise Java and Web Developers”</a:t>
            </a:r>
          </a:p>
          <a:p>
            <a:pPr algn="just"/>
            <a:r>
              <a:rPr lang="en-GB" b="1" dirty="0" smtClean="0">
                <a:latin typeface="Cambria" panose="02040503050406030204" pitchFamily="18" charset="0"/>
                <a:ea typeface="Cambria" panose="02040503050406030204" pitchFamily="18" charset="0"/>
              </a:rPr>
              <a:t>Apache Tomcat is a web server and </a:t>
            </a:r>
            <a:r>
              <a:rPr lang="en-GB" b="1" dirty="0" err="1" smtClean="0">
                <a:latin typeface="Cambria" panose="02040503050406030204" pitchFamily="18" charset="0"/>
                <a:ea typeface="Cambria" panose="02040503050406030204" pitchFamily="18" charset="0"/>
                <a:hlinkClick r:id="rId2"/>
              </a:rPr>
              <a:t>servlet</a:t>
            </a:r>
            <a:r>
              <a:rPr lang="en-GB" b="1" dirty="0" smtClean="0">
                <a:latin typeface="Cambria" panose="02040503050406030204" pitchFamily="18" charset="0"/>
                <a:ea typeface="Cambria" panose="02040503050406030204" pitchFamily="18" charset="0"/>
                <a:hlinkClick r:id="rId2"/>
              </a:rPr>
              <a:t> container</a:t>
            </a:r>
            <a:r>
              <a:rPr lang="en-GB" b="1" dirty="0" smtClean="0">
                <a:latin typeface="Cambria" panose="02040503050406030204" pitchFamily="18" charset="0"/>
                <a:ea typeface="Cambria" panose="02040503050406030204" pitchFamily="18" charset="0"/>
              </a:rPr>
              <a:t> that's used to deploy and serve Java web applications</a:t>
            </a:r>
            <a:r>
              <a:rPr lang="en-GB" dirty="0" smtClean="0">
                <a:latin typeface="Cambria" panose="02040503050406030204" pitchFamily="18" charset="0"/>
                <a:ea typeface="Cambria" panose="02040503050406030204" pitchFamily="18" charset="0"/>
              </a:rPr>
              <a:t>.</a:t>
            </a:r>
          </a:p>
          <a:p>
            <a:pPr algn="just"/>
            <a:r>
              <a:rPr lang="en-US" b="1" dirty="0" smtClean="0">
                <a:latin typeface="Cambria" panose="02040503050406030204" pitchFamily="18" charset="0"/>
                <a:ea typeface="Cambria" panose="02040503050406030204" pitchFamily="18" charset="0"/>
              </a:rPr>
              <a:t>Install Tomcat on Windows - </a:t>
            </a:r>
            <a:r>
              <a:rPr lang="en-US" b="1" dirty="0" smtClean="0">
                <a:latin typeface="Cambria" panose="02040503050406030204" pitchFamily="18" charset="0"/>
                <a:ea typeface="Cambria" panose="02040503050406030204" pitchFamily="18" charset="0"/>
                <a:hlinkClick r:id="rId3"/>
              </a:rPr>
              <a:t>https://tomcat.apache.org/download-90.cgi</a:t>
            </a:r>
            <a:endParaRPr lang="en-US" b="1" dirty="0" smtClean="0">
              <a:latin typeface="Cambria" panose="02040503050406030204" pitchFamily="18" charset="0"/>
              <a:ea typeface="Cambria" panose="02040503050406030204" pitchFamily="18" charset="0"/>
            </a:endParaRPr>
          </a:p>
          <a:p>
            <a:pPr algn="just"/>
            <a:r>
              <a:rPr lang="en-US" b="1" dirty="0" smtClean="0">
                <a:latin typeface="Cambria" panose="02040503050406030204" pitchFamily="18" charset="0"/>
                <a:ea typeface="Cambria" panose="02040503050406030204" pitchFamily="18" charset="0"/>
              </a:rPr>
              <a:t>Install </a:t>
            </a:r>
            <a:endParaRPr lang="en-GB" dirty="0" smtClean="0">
              <a:latin typeface="Cambria" panose="02040503050406030204" pitchFamily="18" charset="0"/>
              <a:ea typeface="Cambria" panose="02040503050406030204" pitchFamily="18" charset="0"/>
            </a:endParaRPr>
          </a:p>
          <a:p>
            <a:pPr algn="just"/>
            <a:endParaRPr lang="en-GB" dirty="0" smtClean="0">
              <a:latin typeface="Cambria" panose="02040503050406030204" pitchFamily="18" charset="0"/>
              <a:ea typeface="Cambria" panose="02040503050406030204" pitchFamily="18" charset="0"/>
            </a:endParaRPr>
          </a:p>
          <a:p>
            <a:pPr algn="just"/>
            <a:endParaRPr lang="en-US"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5</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36" y="1"/>
            <a:ext cx="10513168" cy="476672"/>
          </a:xfrm>
        </p:spPr>
        <p:txBody>
          <a:bodyPr/>
          <a:lstStyle/>
          <a:p>
            <a:r>
              <a:rPr lang="en-GB" sz="4000" dirty="0" smtClean="0">
                <a:latin typeface="Cambria" panose="02040503050406030204" pitchFamily="18" charset="0"/>
                <a:ea typeface="Cambria" panose="02040503050406030204" pitchFamily="18" charset="0"/>
              </a:rPr>
              <a:t/>
            </a:r>
            <a:br>
              <a:rPr lang="en-GB" sz="4000" dirty="0" smtClean="0">
                <a:latin typeface="Cambria" panose="02040503050406030204" pitchFamily="18" charset="0"/>
                <a:ea typeface="Cambria" panose="02040503050406030204" pitchFamily="18" charset="0"/>
              </a:rPr>
            </a:br>
            <a:r>
              <a:rPr lang="en-GB" sz="4000" dirty="0" err="1" smtClean="0">
                <a:latin typeface="Cambria" panose="02040503050406030204" pitchFamily="18" charset="0"/>
                <a:ea typeface="Cambria" panose="02040503050406030204" pitchFamily="18" charset="0"/>
              </a:rPr>
              <a:t>Servlet</a:t>
            </a:r>
            <a:r>
              <a:rPr lang="en-IN" sz="4000" dirty="0" smtClean="0">
                <a:latin typeface="Cambria" panose="02040503050406030204" pitchFamily="18" charset="0"/>
                <a:ea typeface="Cambria" panose="02040503050406030204" pitchFamily="18" charset="0"/>
              </a:rPr>
              <a:t/>
            </a:r>
            <a:br>
              <a:rPr lang="en-IN" sz="4000" dirty="0" smtClean="0">
                <a:latin typeface="Cambria" panose="02040503050406030204" pitchFamily="18" charset="0"/>
                <a:ea typeface="Cambria" panose="02040503050406030204" pitchFamily="18" charset="0"/>
              </a:rPr>
            </a:br>
            <a:endParaRPr lang="en-US" sz="4000"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407368" y="548680"/>
            <a:ext cx="10946432" cy="4680520"/>
          </a:xfrm>
        </p:spPr>
        <p:txBody>
          <a:bodyPr/>
          <a:lstStyle/>
          <a:p>
            <a:pPr algn="just"/>
            <a:r>
              <a:rPr lang="en-GB" sz="2000" b="1"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 technology is used to create a web application (resides at server side and generates a dynamic web page).</a:t>
            </a:r>
          </a:p>
          <a:p>
            <a:pPr algn="just"/>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 is an API that provides many interfaces and classes including documentation.</a:t>
            </a:r>
          </a:p>
          <a:p>
            <a:pPr algn="just"/>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 is an interface that must be implemented for creating any </a:t>
            </a:r>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a:t>
            </a:r>
          </a:p>
          <a:p>
            <a:pPr algn="just"/>
            <a:r>
              <a:rPr lang="en-GB" sz="2000" dirty="0" smtClean="0">
                <a:latin typeface="Cambria" panose="02040503050406030204" pitchFamily="18" charset="0"/>
                <a:ea typeface="Cambria" panose="02040503050406030204" pitchFamily="18" charset="0"/>
              </a:rPr>
              <a:t>Servlet is a class that extends the capabilities of the servers and responds to the incoming requests. </a:t>
            </a:r>
          </a:p>
          <a:p>
            <a:pPr algn="just"/>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 is a web component that is deployed on the server to create a dynamic web page.</a:t>
            </a:r>
          </a:p>
          <a:p>
            <a:pPr algn="just"/>
            <a:r>
              <a:rPr lang="en-GB" sz="2000" b="1" dirty="0"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 technology is robust and scalable because of </a:t>
            </a:r>
            <a:r>
              <a:rPr lang="en-GB" sz="2000" dirty="0">
                <a:latin typeface="Cambria" panose="02040503050406030204" pitchFamily="18" charset="0"/>
                <a:ea typeface="Cambria" panose="02040503050406030204" pitchFamily="18" charset="0"/>
              </a:rPr>
              <a:t>J</a:t>
            </a:r>
            <a:r>
              <a:rPr lang="en-GB" sz="2000" dirty="0" smtClean="0">
                <a:latin typeface="Cambria" panose="02040503050406030204" pitchFamily="18" charset="0"/>
                <a:ea typeface="Cambria" panose="02040503050406030204" pitchFamily="18" charset="0"/>
              </a:rPr>
              <a:t>ava language.</a:t>
            </a:r>
          </a:p>
          <a:p>
            <a:pPr algn="just"/>
            <a:r>
              <a:rPr lang="en-GB" sz="2000" dirty="0" smtClean="0">
                <a:latin typeface="Cambria" panose="02040503050406030204" pitchFamily="18" charset="0"/>
                <a:ea typeface="Cambria" panose="02040503050406030204" pitchFamily="18" charset="0"/>
              </a:rPr>
              <a:t>Before </a:t>
            </a:r>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 CGI (Common Gateway Interface) scripting language was common as a server-side programming language.</a:t>
            </a:r>
          </a:p>
          <a:p>
            <a:pPr algn="just"/>
            <a:r>
              <a:rPr lang="en-US" sz="2000" dirty="0" smtClean="0">
                <a:latin typeface="Cambria" panose="02040503050406030204" pitchFamily="18" charset="0"/>
                <a:ea typeface="Cambria" panose="02040503050406030204" pitchFamily="18" charset="0"/>
              </a:rPr>
              <a:t>There are many interfaces and classes in the </a:t>
            </a:r>
            <a:r>
              <a:rPr lang="en-US" sz="2000" dirty="0" err="1" smtClean="0">
                <a:latin typeface="Cambria" panose="02040503050406030204" pitchFamily="18" charset="0"/>
                <a:ea typeface="Cambria" panose="02040503050406030204" pitchFamily="18" charset="0"/>
              </a:rPr>
              <a:t>Servlet</a:t>
            </a:r>
            <a:r>
              <a:rPr lang="en-US" sz="2000" dirty="0" smtClean="0">
                <a:latin typeface="Cambria" panose="02040503050406030204" pitchFamily="18" charset="0"/>
                <a:ea typeface="Cambria" panose="02040503050406030204" pitchFamily="18" charset="0"/>
              </a:rPr>
              <a:t> API such as </a:t>
            </a:r>
            <a:r>
              <a:rPr lang="en-US" sz="2000" dirty="0" err="1" smtClean="0">
                <a:latin typeface="Cambria" panose="02040503050406030204" pitchFamily="18" charset="0"/>
                <a:ea typeface="Cambria" panose="02040503050406030204" pitchFamily="18" charset="0"/>
              </a:rPr>
              <a:t>Servlet</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GenericServlet</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HttpServlet</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ServletRequest</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ServletResponse</a:t>
            </a:r>
            <a:r>
              <a:rPr lang="en-US" sz="2000" dirty="0" smtClean="0">
                <a:latin typeface="Cambria" panose="02040503050406030204" pitchFamily="18" charset="0"/>
                <a:ea typeface="Cambria" panose="02040503050406030204" pitchFamily="18" charset="0"/>
              </a:rPr>
              <a:t>, etc.</a:t>
            </a:r>
            <a:endParaRPr lang="en-US" sz="20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6</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706421"/>
          </a:xfrm>
        </p:spPr>
        <p:txBody>
          <a:bodyPr/>
          <a:lstStyle/>
          <a:p>
            <a:r>
              <a:rPr lang="en-GB" sz="4000" b="1" dirty="0" smtClean="0">
                <a:solidFill>
                  <a:srgbClr val="0070C0"/>
                </a:solidFill>
                <a:latin typeface="Cambria" panose="02040503050406030204" pitchFamily="18" charset="0"/>
                <a:ea typeface="Cambria" panose="02040503050406030204" pitchFamily="18" charset="0"/>
              </a:rPr>
              <a:t>How </a:t>
            </a:r>
            <a:r>
              <a:rPr lang="en-GB" sz="4000" b="1" dirty="0" err="1" smtClean="0">
                <a:solidFill>
                  <a:srgbClr val="0070C0"/>
                </a:solidFill>
                <a:latin typeface="Cambria" panose="02040503050406030204" pitchFamily="18" charset="0"/>
                <a:ea typeface="Cambria" panose="02040503050406030204" pitchFamily="18" charset="0"/>
              </a:rPr>
              <a:t>servlet</a:t>
            </a:r>
            <a:r>
              <a:rPr lang="en-GB" sz="4000" b="1" dirty="0" smtClean="0">
                <a:solidFill>
                  <a:srgbClr val="0070C0"/>
                </a:solidFill>
                <a:latin typeface="Cambria" panose="02040503050406030204" pitchFamily="18" charset="0"/>
                <a:ea typeface="Cambria" panose="02040503050406030204" pitchFamily="18" charset="0"/>
              </a:rPr>
              <a:t> operates?</a:t>
            </a:r>
            <a:endParaRPr lang="en-US" sz="4000" b="1" dirty="0">
              <a:solidFill>
                <a:srgbClr val="0070C0"/>
              </a:solidFill>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7</a:t>
            </a:fld>
            <a:endParaRPr lang="en-US" altLang="en-US">
              <a:latin typeface="Cambria" panose="02040503050406030204" pitchFamily="18" charset="0"/>
              <a:ea typeface="Cambria" panose="02040503050406030204" pitchFamily="18" charset="0"/>
            </a:endParaRPr>
          </a:p>
        </p:txBody>
      </p:sp>
      <p:pic>
        <p:nvPicPr>
          <p:cNvPr id="5" name="Content Placeholder 4" descr="Servlet"/>
          <p:cNvPicPr>
            <a:picLocks noGrp="1"/>
          </p:cNvPicPr>
          <p:nvPr>
            <p:ph idx="1"/>
          </p:nvPr>
        </p:nvPicPr>
        <p:blipFill>
          <a:blip r:embed="rId2"/>
          <a:srcRect/>
          <a:stretch>
            <a:fillRect/>
          </a:stretch>
        </p:blipFill>
        <p:spPr bwMode="auto">
          <a:xfrm>
            <a:off x="2977530" y="980728"/>
            <a:ext cx="6430838" cy="3600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461" y="7803"/>
            <a:ext cx="5833864" cy="504056"/>
          </a:xfrm>
        </p:spPr>
        <p:txBody>
          <a:bodyPr/>
          <a:lstStyle/>
          <a:p>
            <a:pPr algn="just"/>
            <a:r>
              <a:rPr lang="en-US" sz="4000" b="1" dirty="0" smtClean="0">
                <a:solidFill>
                  <a:srgbClr val="0070C0"/>
                </a:solidFill>
                <a:latin typeface="Cambria" panose="02040503050406030204" pitchFamily="18" charset="0"/>
                <a:ea typeface="Cambria" panose="02040503050406030204" pitchFamily="18" charset="0"/>
              </a:rPr>
              <a:t>Advantages of </a:t>
            </a:r>
            <a:r>
              <a:rPr lang="en-US" sz="4000" b="1" dirty="0" err="1" smtClean="0">
                <a:solidFill>
                  <a:srgbClr val="0070C0"/>
                </a:solidFill>
                <a:latin typeface="Cambria" panose="02040503050406030204" pitchFamily="18" charset="0"/>
                <a:ea typeface="Cambria" panose="02040503050406030204" pitchFamily="18" charset="0"/>
              </a:rPr>
              <a:t>Servlet</a:t>
            </a:r>
            <a:endParaRPr lang="en-US" sz="4000" b="1" dirty="0">
              <a:solidFill>
                <a:srgbClr val="0070C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591524" y="692696"/>
            <a:ext cx="10762276" cy="4104455"/>
          </a:xfrm>
        </p:spPr>
        <p:txBody>
          <a:bodyPr/>
          <a:lstStyle/>
          <a:p>
            <a:pPr marL="0" indent="0" algn="just">
              <a:buNone/>
            </a:pPr>
            <a:r>
              <a:rPr lang="en-GB" smtClean="0">
                <a:latin typeface="Cambria" panose="02040503050406030204" pitchFamily="18" charset="0"/>
                <a:ea typeface="Cambria" panose="02040503050406030204" pitchFamily="18" charset="0"/>
              </a:rPr>
              <a:t>The </a:t>
            </a:r>
            <a:r>
              <a:rPr lang="en-GB" dirty="0" smtClean="0">
                <a:latin typeface="Cambria" panose="02040503050406030204" pitchFamily="18" charset="0"/>
                <a:ea typeface="Cambria" panose="02040503050406030204" pitchFamily="18" charset="0"/>
              </a:rPr>
              <a:t>advantages of Servlet are as follows:</a:t>
            </a:r>
          </a:p>
          <a:p>
            <a:pPr marL="342900" indent="-342900" algn="just">
              <a:buFont typeface="+mj-lt"/>
              <a:buAutoNum type="arabicPeriod"/>
            </a:pPr>
            <a:r>
              <a:rPr lang="en-GB" sz="2400" b="1" dirty="0" smtClean="0">
                <a:latin typeface="Cambria" panose="02040503050406030204" pitchFamily="18" charset="0"/>
                <a:ea typeface="Cambria" panose="02040503050406030204" pitchFamily="18" charset="0"/>
              </a:rPr>
              <a:t>Better performance:</a:t>
            </a:r>
            <a:r>
              <a:rPr lang="en-GB" sz="2400" dirty="0" smtClean="0">
                <a:latin typeface="Cambria" panose="02040503050406030204" pitchFamily="18" charset="0"/>
                <a:ea typeface="Cambria" panose="02040503050406030204" pitchFamily="18" charset="0"/>
              </a:rPr>
              <a:t> because it creates a thread for each request, not process.</a:t>
            </a:r>
          </a:p>
          <a:p>
            <a:pPr marL="342900" indent="-342900" algn="just">
              <a:buFont typeface="+mj-lt"/>
              <a:buAutoNum type="arabicPeriod"/>
            </a:pPr>
            <a:r>
              <a:rPr lang="en-GB" sz="2400" b="1" dirty="0" smtClean="0">
                <a:latin typeface="Cambria" panose="02040503050406030204" pitchFamily="18" charset="0"/>
                <a:ea typeface="Cambria" panose="02040503050406030204" pitchFamily="18" charset="0"/>
              </a:rPr>
              <a:t>Portability:</a:t>
            </a:r>
            <a:r>
              <a:rPr lang="en-GB" sz="2400" dirty="0" smtClean="0">
                <a:latin typeface="Cambria" panose="02040503050406030204" pitchFamily="18" charset="0"/>
                <a:ea typeface="Cambria" panose="02040503050406030204" pitchFamily="18" charset="0"/>
              </a:rPr>
              <a:t> because it uses Java language.</a:t>
            </a:r>
          </a:p>
          <a:p>
            <a:pPr marL="342900" indent="-342900" algn="just">
              <a:buFont typeface="+mj-lt"/>
              <a:buAutoNum type="arabicPeriod"/>
            </a:pPr>
            <a:r>
              <a:rPr lang="en-GB" sz="2400" b="1" dirty="0" smtClean="0">
                <a:latin typeface="Cambria" panose="02040503050406030204" pitchFamily="18" charset="0"/>
                <a:ea typeface="Cambria" panose="02040503050406030204" pitchFamily="18" charset="0"/>
              </a:rPr>
              <a:t>Robust:</a:t>
            </a:r>
            <a:r>
              <a:rPr lang="en-GB" sz="2400" dirty="0" smtClean="0">
                <a:latin typeface="Cambria" panose="02040503050406030204" pitchFamily="18" charset="0"/>
                <a:ea typeface="Cambria" panose="02040503050406030204" pitchFamily="18" charset="0"/>
              </a:rPr>
              <a:t> </a:t>
            </a:r>
            <a:r>
              <a:rPr lang="en-GB" sz="2400" dirty="0" smtClean="0">
                <a:latin typeface="Cambria" panose="02040503050406030204" pitchFamily="18" charset="0"/>
                <a:ea typeface="Cambria" panose="02040503050406030204" pitchFamily="18" charset="0"/>
                <a:hlinkClick r:id="rId2"/>
              </a:rPr>
              <a:t>JVM</a:t>
            </a:r>
            <a:r>
              <a:rPr lang="en-GB" sz="2400" dirty="0" smtClean="0">
                <a:latin typeface="Cambria" panose="02040503050406030204" pitchFamily="18" charset="0"/>
                <a:ea typeface="Cambria" panose="02040503050406030204" pitchFamily="18" charset="0"/>
              </a:rPr>
              <a:t> manages </a:t>
            </a:r>
            <a:r>
              <a:rPr lang="en-GB" sz="2400" dirty="0" err="1" smtClean="0">
                <a:latin typeface="Cambria" panose="02040503050406030204" pitchFamily="18" charset="0"/>
                <a:ea typeface="Cambria" panose="02040503050406030204" pitchFamily="18" charset="0"/>
              </a:rPr>
              <a:t>Servlets</a:t>
            </a:r>
            <a:r>
              <a:rPr lang="en-GB" sz="2400" dirty="0" smtClean="0">
                <a:latin typeface="Cambria" panose="02040503050406030204" pitchFamily="18" charset="0"/>
                <a:ea typeface="Cambria" panose="02040503050406030204" pitchFamily="18" charset="0"/>
              </a:rPr>
              <a:t>, so we don't need to worry about the memory leak, </a:t>
            </a:r>
            <a:r>
              <a:rPr lang="en-GB" sz="2400" dirty="0" smtClean="0">
                <a:latin typeface="Cambria" panose="02040503050406030204" pitchFamily="18" charset="0"/>
                <a:ea typeface="Cambria" panose="02040503050406030204" pitchFamily="18" charset="0"/>
                <a:hlinkClick r:id="rId3"/>
              </a:rPr>
              <a:t>garbage collection</a:t>
            </a:r>
            <a:r>
              <a:rPr lang="en-GB" sz="2400" dirty="0" smtClean="0">
                <a:latin typeface="Cambria" panose="02040503050406030204" pitchFamily="18" charset="0"/>
                <a:ea typeface="Cambria" panose="02040503050406030204" pitchFamily="18" charset="0"/>
              </a:rPr>
              <a:t>, etc.</a:t>
            </a:r>
          </a:p>
          <a:p>
            <a:pPr marL="342900" indent="-342900" algn="just">
              <a:buFont typeface="+mj-lt"/>
              <a:buAutoNum type="arabicPeriod"/>
            </a:pPr>
            <a:r>
              <a:rPr lang="en-GB" sz="2400" b="1" dirty="0" smtClean="0">
                <a:latin typeface="Cambria" panose="02040503050406030204" pitchFamily="18" charset="0"/>
                <a:ea typeface="Cambria" panose="02040503050406030204" pitchFamily="18" charset="0"/>
              </a:rPr>
              <a:t>Secure:</a:t>
            </a:r>
            <a:r>
              <a:rPr lang="en-GB" sz="2400" dirty="0" smtClean="0">
                <a:latin typeface="Cambria" panose="02040503050406030204" pitchFamily="18" charset="0"/>
                <a:ea typeface="Cambria" panose="02040503050406030204" pitchFamily="18" charset="0"/>
              </a:rPr>
              <a:t> because it uses Java language.</a:t>
            </a:r>
            <a:endParaRPr lang="en-US" sz="36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8</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36" y="19653"/>
            <a:ext cx="5905872" cy="615603"/>
          </a:xfrm>
        </p:spPr>
        <p:txBody>
          <a:bodyPr/>
          <a:lstStyle/>
          <a:p>
            <a:r>
              <a:rPr lang="en-US" sz="4000" b="1" dirty="0" smtClean="0">
                <a:solidFill>
                  <a:srgbClr val="0070C0"/>
                </a:solidFill>
                <a:latin typeface="Cambria" panose="02040503050406030204" pitchFamily="18" charset="0"/>
                <a:ea typeface="Cambria" panose="02040503050406030204" pitchFamily="18" charset="0"/>
              </a:rPr>
              <a:t> HTTP request methods </a:t>
            </a:r>
            <a:endParaRPr lang="en-US" sz="4000" b="1" dirty="0">
              <a:solidFill>
                <a:srgbClr val="0070C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384948" y="635256"/>
            <a:ext cx="11079770" cy="1152128"/>
          </a:xfrm>
        </p:spPr>
        <p:txBody>
          <a:bodyPr/>
          <a:lstStyle/>
          <a:p>
            <a:pPr algn="just"/>
            <a:r>
              <a:rPr lang="en-GB" sz="2400" dirty="0" smtClean="0">
                <a:latin typeface="Cambria" panose="02040503050406030204" pitchFamily="18" charset="0"/>
                <a:ea typeface="Cambria" panose="02040503050406030204" pitchFamily="18" charset="0"/>
              </a:rPr>
              <a:t>The HTTP request method indicates the method to be performed on the resource identified by the </a:t>
            </a:r>
            <a:r>
              <a:rPr lang="en-GB" sz="2400" b="1" dirty="0" smtClean="0">
                <a:latin typeface="Cambria" panose="02040503050406030204" pitchFamily="18" charset="0"/>
                <a:ea typeface="Cambria" panose="02040503050406030204" pitchFamily="18" charset="0"/>
              </a:rPr>
              <a:t>Requested URI (Uniform Resource Identifier)</a:t>
            </a:r>
            <a:r>
              <a:rPr lang="en-GB" sz="2400" dirty="0" smtClean="0">
                <a:latin typeface="Cambria" panose="02040503050406030204" pitchFamily="18" charset="0"/>
                <a:ea typeface="Cambria" panose="02040503050406030204" pitchFamily="18" charset="0"/>
              </a:rPr>
              <a:t>. This method is case-sensitive and should be used in uppercase.</a:t>
            </a:r>
            <a:endParaRPr lang="en-US" sz="24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9</a:t>
            </a:fld>
            <a:endParaRPr lang="en-US" altLang="en-US">
              <a:latin typeface="Cambria" panose="02040503050406030204" pitchFamily="18" charset="0"/>
              <a:ea typeface="Cambria" panose="02040503050406030204" pitchFamily="18" charset="0"/>
            </a:endParaRPr>
          </a:p>
        </p:txBody>
      </p:sp>
      <p:graphicFrame>
        <p:nvGraphicFramePr>
          <p:cNvPr id="5" name="Table 4"/>
          <p:cNvGraphicFramePr>
            <a:graphicFrameLocks noGrp="1"/>
          </p:cNvGraphicFramePr>
          <p:nvPr>
            <p:extLst>
              <p:ext uri="{D42A27DB-BD31-4B8C-83A1-F6EECF244321}">
                <p14:modId xmlns:p14="http://schemas.microsoft.com/office/powerpoint/2010/main" val="3830214131"/>
              </p:ext>
            </p:extLst>
          </p:nvPr>
        </p:nvGraphicFramePr>
        <p:xfrm>
          <a:off x="525991" y="1706686"/>
          <a:ext cx="10797685" cy="4440393"/>
        </p:xfrm>
        <a:graphic>
          <a:graphicData uri="http://schemas.openxmlformats.org/drawingml/2006/table">
            <a:tbl>
              <a:tblPr firstRow="1" bandRow="1">
                <a:tableStyleId>{5C22544A-7EE6-4342-B048-85BDC9FD1C3A}</a:tableStyleId>
              </a:tblPr>
              <a:tblGrid>
                <a:gridCol w="1813973"/>
                <a:gridCol w="8983712"/>
              </a:tblGrid>
              <a:tr h="695442">
                <a:tc>
                  <a:txBody>
                    <a:bodyPr/>
                    <a:lstStyle/>
                    <a:p>
                      <a:pPr algn="l" fontAlgn="t"/>
                      <a:r>
                        <a:rPr lang="en-US" dirty="0">
                          <a:solidFill>
                            <a:srgbClr val="000000"/>
                          </a:solidFill>
                          <a:latin typeface="Cambria" panose="02040503050406030204" pitchFamily="18" charset="0"/>
                          <a:ea typeface="Cambria" panose="02040503050406030204" pitchFamily="18" charset="0"/>
                        </a:rPr>
                        <a:t>HTTP Request</a:t>
                      </a:r>
                    </a:p>
                  </a:txBody>
                  <a:tcPr marL="114300" marR="114300" marT="114300" marB="114300"/>
                </a:tc>
                <a:tc>
                  <a:txBody>
                    <a:bodyPr/>
                    <a:lstStyle/>
                    <a:p>
                      <a:pPr algn="l" fontAlgn="t"/>
                      <a:r>
                        <a:rPr lang="en-US" dirty="0">
                          <a:solidFill>
                            <a:srgbClr val="000000"/>
                          </a:solidFill>
                          <a:latin typeface="Cambria" panose="02040503050406030204" pitchFamily="18" charset="0"/>
                          <a:ea typeface="Cambria" panose="02040503050406030204" pitchFamily="18" charset="0"/>
                        </a:rPr>
                        <a:t>Description</a:t>
                      </a:r>
                    </a:p>
                  </a:txBody>
                  <a:tcPr marL="114300" marR="114300" marT="114300" marB="114300"/>
                </a:tc>
              </a:tr>
              <a:tr h="387125">
                <a:tc>
                  <a:txBody>
                    <a:bodyPr/>
                    <a:lstStyle/>
                    <a:p>
                      <a:pPr algn="just" fontAlgn="t"/>
                      <a:r>
                        <a:rPr lang="en-US" b="1">
                          <a:solidFill>
                            <a:srgbClr val="333333"/>
                          </a:solidFill>
                          <a:latin typeface="Cambria" panose="02040503050406030204" pitchFamily="18" charset="0"/>
                          <a:ea typeface="Cambria" panose="02040503050406030204" pitchFamily="18" charset="0"/>
                        </a:rPr>
                        <a:t>GET</a:t>
                      </a:r>
                      <a:endParaRPr lang="en-US">
                        <a:solidFill>
                          <a:srgbClr val="333333"/>
                        </a:solidFill>
                        <a:latin typeface="Cambria" panose="02040503050406030204" pitchFamily="18" charset="0"/>
                        <a:ea typeface="Cambria" panose="02040503050406030204" pitchFamily="18" charset="0"/>
                      </a:endParaRPr>
                    </a:p>
                  </a:txBody>
                  <a:tcPr marL="76200" marR="76200" marT="76200" marB="76200"/>
                </a:tc>
                <a:tc>
                  <a:txBody>
                    <a:bodyPr/>
                    <a:lstStyle/>
                    <a:p>
                      <a:pPr algn="just" fontAlgn="t"/>
                      <a:r>
                        <a:rPr lang="en-GB">
                          <a:solidFill>
                            <a:srgbClr val="333333"/>
                          </a:solidFill>
                          <a:latin typeface="Cambria" panose="02040503050406030204" pitchFamily="18" charset="0"/>
                          <a:ea typeface="Cambria" panose="02040503050406030204" pitchFamily="18" charset="0"/>
                        </a:rPr>
                        <a:t>Asks to get the resource at the requested URL.</a:t>
                      </a:r>
                    </a:p>
                  </a:txBody>
                  <a:tcPr marL="76200" marR="76200" marT="76200" marB="76200"/>
                </a:tc>
              </a:tr>
              <a:tr h="635991">
                <a:tc>
                  <a:txBody>
                    <a:bodyPr/>
                    <a:lstStyle/>
                    <a:p>
                      <a:pPr algn="just" fontAlgn="t"/>
                      <a:r>
                        <a:rPr lang="en-US" b="1">
                          <a:solidFill>
                            <a:srgbClr val="333333"/>
                          </a:solidFill>
                          <a:latin typeface="Cambria" panose="02040503050406030204" pitchFamily="18" charset="0"/>
                          <a:ea typeface="Cambria" panose="02040503050406030204" pitchFamily="18" charset="0"/>
                        </a:rPr>
                        <a:t>POST</a:t>
                      </a:r>
                      <a:endParaRPr lang="en-US">
                        <a:solidFill>
                          <a:srgbClr val="333333"/>
                        </a:solidFill>
                        <a:latin typeface="Cambria" panose="02040503050406030204" pitchFamily="18" charset="0"/>
                        <a:ea typeface="Cambria" panose="02040503050406030204" pitchFamily="18" charset="0"/>
                      </a:endParaRPr>
                    </a:p>
                  </a:txBody>
                  <a:tcPr marL="76200" marR="76200" marT="76200" marB="76200"/>
                </a:tc>
                <a:tc>
                  <a:txBody>
                    <a:bodyPr/>
                    <a:lstStyle/>
                    <a:p>
                      <a:pPr algn="just" fontAlgn="t"/>
                      <a:r>
                        <a:rPr lang="en-GB">
                          <a:solidFill>
                            <a:srgbClr val="333333"/>
                          </a:solidFill>
                          <a:latin typeface="Cambria" panose="02040503050406030204" pitchFamily="18" charset="0"/>
                          <a:ea typeface="Cambria" panose="02040503050406030204" pitchFamily="18" charset="0"/>
                        </a:rPr>
                        <a:t>Asks the server to accept the body info attached. It is like GET request with extra info sent with the request.</a:t>
                      </a:r>
                    </a:p>
                  </a:txBody>
                  <a:tcPr marL="76200" marR="76200" marT="76200" marB="76200"/>
                </a:tc>
              </a:tr>
              <a:tr h="635991">
                <a:tc>
                  <a:txBody>
                    <a:bodyPr/>
                    <a:lstStyle/>
                    <a:p>
                      <a:pPr algn="just" fontAlgn="t"/>
                      <a:r>
                        <a:rPr lang="en-US" b="1">
                          <a:solidFill>
                            <a:srgbClr val="333333"/>
                          </a:solidFill>
                          <a:latin typeface="Cambria" panose="02040503050406030204" pitchFamily="18" charset="0"/>
                          <a:ea typeface="Cambria" panose="02040503050406030204" pitchFamily="18" charset="0"/>
                        </a:rPr>
                        <a:t>HEAD</a:t>
                      </a:r>
                      <a:endParaRPr lang="en-US">
                        <a:solidFill>
                          <a:srgbClr val="333333"/>
                        </a:solidFill>
                        <a:latin typeface="Cambria" panose="02040503050406030204" pitchFamily="18" charset="0"/>
                        <a:ea typeface="Cambria" panose="02040503050406030204" pitchFamily="18" charset="0"/>
                      </a:endParaRPr>
                    </a:p>
                  </a:txBody>
                  <a:tcPr marL="76200" marR="76200" marT="76200" marB="76200"/>
                </a:tc>
                <a:tc>
                  <a:txBody>
                    <a:bodyPr/>
                    <a:lstStyle/>
                    <a:p>
                      <a:pPr algn="just" fontAlgn="t"/>
                      <a:r>
                        <a:rPr lang="en-GB" dirty="0">
                          <a:solidFill>
                            <a:srgbClr val="333333"/>
                          </a:solidFill>
                          <a:latin typeface="Cambria" panose="02040503050406030204" pitchFamily="18" charset="0"/>
                          <a:ea typeface="Cambria" panose="02040503050406030204" pitchFamily="18" charset="0"/>
                        </a:rPr>
                        <a:t>Asks for only the header part of whatever a GET would return. Just like GET but with no body.</a:t>
                      </a:r>
                    </a:p>
                  </a:txBody>
                  <a:tcPr marL="76200" marR="76200" marT="76200" marB="76200"/>
                </a:tc>
              </a:tr>
              <a:tr h="422208">
                <a:tc>
                  <a:txBody>
                    <a:bodyPr/>
                    <a:lstStyle/>
                    <a:p>
                      <a:pPr algn="just" fontAlgn="t"/>
                      <a:r>
                        <a:rPr lang="en-US" b="1">
                          <a:solidFill>
                            <a:srgbClr val="333333"/>
                          </a:solidFill>
                          <a:latin typeface="Cambria" panose="02040503050406030204" pitchFamily="18" charset="0"/>
                          <a:ea typeface="Cambria" panose="02040503050406030204" pitchFamily="18" charset="0"/>
                        </a:rPr>
                        <a:t>TRACE</a:t>
                      </a:r>
                      <a:endParaRPr lang="en-US">
                        <a:solidFill>
                          <a:srgbClr val="333333"/>
                        </a:solidFill>
                        <a:latin typeface="Cambria" panose="02040503050406030204" pitchFamily="18" charset="0"/>
                        <a:ea typeface="Cambria" panose="02040503050406030204" pitchFamily="18" charset="0"/>
                      </a:endParaRPr>
                    </a:p>
                  </a:txBody>
                  <a:tcPr marL="76200" marR="76200" marT="76200" marB="76200"/>
                </a:tc>
                <a:tc>
                  <a:txBody>
                    <a:bodyPr/>
                    <a:lstStyle/>
                    <a:p>
                      <a:pPr algn="just" fontAlgn="t"/>
                      <a:r>
                        <a:rPr lang="en-GB" dirty="0">
                          <a:solidFill>
                            <a:srgbClr val="333333"/>
                          </a:solidFill>
                          <a:latin typeface="Cambria" panose="02040503050406030204" pitchFamily="18" charset="0"/>
                          <a:ea typeface="Cambria" panose="02040503050406030204" pitchFamily="18" charset="0"/>
                        </a:rPr>
                        <a:t>Asks for the loopback of the request message, for testing or troubleshooting.</a:t>
                      </a:r>
                    </a:p>
                  </a:txBody>
                  <a:tcPr marL="76200" marR="76200" marT="76200" marB="76200"/>
                </a:tc>
              </a:tr>
              <a:tr h="387125">
                <a:tc>
                  <a:txBody>
                    <a:bodyPr/>
                    <a:lstStyle/>
                    <a:p>
                      <a:pPr algn="just" fontAlgn="t"/>
                      <a:r>
                        <a:rPr lang="en-US" b="1" dirty="0">
                          <a:solidFill>
                            <a:srgbClr val="333333"/>
                          </a:solidFill>
                          <a:latin typeface="Cambria" panose="02040503050406030204" pitchFamily="18" charset="0"/>
                          <a:ea typeface="Cambria" panose="02040503050406030204" pitchFamily="18" charset="0"/>
                        </a:rPr>
                        <a:t>PUT</a:t>
                      </a:r>
                      <a:endParaRPr lang="en-US" dirty="0">
                        <a:solidFill>
                          <a:srgbClr val="333333"/>
                        </a:solidFill>
                        <a:latin typeface="Cambria" panose="02040503050406030204" pitchFamily="18" charset="0"/>
                        <a:ea typeface="Cambria" panose="02040503050406030204" pitchFamily="18" charset="0"/>
                      </a:endParaRPr>
                    </a:p>
                  </a:txBody>
                  <a:tcPr marL="76200" marR="76200" marT="76200" marB="76200"/>
                </a:tc>
                <a:tc>
                  <a:txBody>
                    <a:bodyPr/>
                    <a:lstStyle/>
                    <a:p>
                      <a:pPr algn="just" fontAlgn="t"/>
                      <a:r>
                        <a:rPr lang="en-GB" dirty="0">
                          <a:solidFill>
                            <a:srgbClr val="333333"/>
                          </a:solidFill>
                          <a:latin typeface="Cambria" panose="02040503050406030204" pitchFamily="18" charset="0"/>
                          <a:ea typeface="Cambria" panose="02040503050406030204" pitchFamily="18" charset="0"/>
                        </a:rPr>
                        <a:t>Says to put the enclosed info (the body) at the requested URL.</a:t>
                      </a:r>
                    </a:p>
                  </a:txBody>
                  <a:tcPr marL="76200" marR="76200" marT="76200" marB="76200"/>
                </a:tc>
              </a:tr>
              <a:tr h="387125">
                <a:tc>
                  <a:txBody>
                    <a:bodyPr/>
                    <a:lstStyle/>
                    <a:p>
                      <a:pPr algn="just" fontAlgn="t"/>
                      <a:r>
                        <a:rPr lang="en-US" b="1">
                          <a:solidFill>
                            <a:srgbClr val="333333"/>
                          </a:solidFill>
                          <a:latin typeface="Cambria" panose="02040503050406030204" pitchFamily="18" charset="0"/>
                          <a:ea typeface="Cambria" panose="02040503050406030204" pitchFamily="18" charset="0"/>
                        </a:rPr>
                        <a:t>DELETE</a:t>
                      </a:r>
                      <a:endParaRPr lang="en-US">
                        <a:solidFill>
                          <a:srgbClr val="333333"/>
                        </a:solidFill>
                        <a:latin typeface="Cambria" panose="02040503050406030204" pitchFamily="18" charset="0"/>
                        <a:ea typeface="Cambria" panose="02040503050406030204" pitchFamily="18" charset="0"/>
                      </a:endParaRPr>
                    </a:p>
                  </a:txBody>
                  <a:tcPr marL="76200" marR="76200" marT="76200" marB="76200"/>
                </a:tc>
                <a:tc>
                  <a:txBody>
                    <a:bodyPr/>
                    <a:lstStyle/>
                    <a:p>
                      <a:pPr algn="just" fontAlgn="t"/>
                      <a:r>
                        <a:rPr lang="en-GB">
                          <a:solidFill>
                            <a:srgbClr val="333333"/>
                          </a:solidFill>
                          <a:latin typeface="Cambria" panose="02040503050406030204" pitchFamily="18" charset="0"/>
                          <a:ea typeface="Cambria" panose="02040503050406030204" pitchFamily="18" charset="0"/>
                        </a:rPr>
                        <a:t>Says to delete the resource at the requested URL.</a:t>
                      </a:r>
                    </a:p>
                  </a:txBody>
                  <a:tcPr marL="76200" marR="76200" marT="76200" marB="76200"/>
                </a:tc>
              </a:tr>
              <a:tr h="635991">
                <a:tc>
                  <a:txBody>
                    <a:bodyPr/>
                    <a:lstStyle/>
                    <a:p>
                      <a:pPr algn="just" fontAlgn="t"/>
                      <a:r>
                        <a:rPr lang="en-US" b="1">
                          <a:solidFill>
                            <a:srgbClr val="333333"/>
                          </a:solidFill>
                          <a:latin typeface="Cambria" panose="02040503050406030204" pitchFamily="18" charset="0"/>
                          <a:ea typeface="Cambria" panose="02040503050406030204" pitchFamily="18" charset="0"/>
                        </a:rPr>
                        <a:t>OPTIONS</a:t>
                      </a:r>
                      <a:endParaRPr lang="en-US">
                        <a:solidFill>
                          <a:srgbClr val="333333"/>
                        </a:solidFill>
                        <a:latin typeface="Cambria" panose="02040503050406030204" pitchFamily="18" charset="0"/>
                        <a:ea typeface="Cambria" panose="02040503050406030204" pitchFamily="18" charset="0"/>
                      </a:endParaRPr>
                    </a:p>
                  </a:txBody>
                  <a:tcPr marL="76200" marR="76200" marT="76200" marB="76200"/>
                </a:tc>
                <a:tc>
                  <a:txBody>
                    <a:bodyPr/>
                    <a:lstStyle/>
                    <a:p>
                      <a:pPr algn="just" fontAlgn="t"/>
                      <a:r>
                        <a:rPr lang="en-GB" dirty="0">
                          <a:solidFill>
                            <a:srgbClr val="333333"/>
                          </a:solidFill>
                          <a:latin typeface="Cambria" panose="02040503050406030204" pitchFamily="18" charset="0"/>
                          <a:ea typeface="Cambria" panose="02040503050406030204" pitchFamily="18" charset="0"/>
                        </a:rPr>
                        <a:t>Asks for a list of the HTTP methods to which the thing at the request URL can respond</a:t>
                      </a:r>
                    </a:p>
                  </a:txBody>
                  <a:tcPr marL="76200" marR="76200" marT="76200" marB="76200"/>
                </a:tc>
              </a:tr>
            </a:tbl>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36" y="14571"/>
            <a:ext cx="4968552" cy="606117"/>
          </a:xfrm>
        </p:spPr>
        <p:txBody>
          <a:bodyPr/>
          <a:lstStyle/>
          <a:p>
            <a:r>
              <a:rPr lang="en-GB" sz="4000" b="1" dirty="0" smtClean="0">
                <a:solidFill>
                  <a:srgbClr val="0070C0"/>
                </a:solidFill>
                <a:latin typeface="Cambria" panose="02040503050406030204" pitchFamily="18" charset="0"/>
                <a:ea typeface="Cambria" panose="02040503050406030204" pitchFamily="18" charset="0"/>
              </a:rPr>
              <a:t> Servlet Container</a:t>
            </a:r>
            <a:endParaRPr lang="en-US" sz="4000" b="1" dirty="0">
              <a:solidFill>
                <a:srgbClr val="0070C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479376" y="764705"/>
            <a:ext cx="10874424" cy="1944216"/>
          </a:xfrm>
        </p:spPr>
        <p:txBody>
          <a:bodyPr/>
          <a:lstStyle/>
          <a:p>
            <a:pPr algn="just"/>
            <a:r>
              <a:rPr lang="en-GB" sz="2400" dirty="0" smtClean="0">
                <a:latin typeface="Cambria" panose="02040503050406030204" pitchFamily="18" charset="0"/>
                <a:ea typeface="Cambria" panose="02040503050406030204" pitchFamily="18" charset="0"/>
              </a:rPr>
              <a:t>It provides the runtime environment for JavaEE (J2EE) applications</a:t>
            </a:r>
            <a:r>
              <a:rPr lang="en-GB" sz="2400" smtClean="0">
                <a:latin typeface="Cambria" panose="02040503050406030204" pitchFamily="18" charset="0"/>
                <a:ea typeface="Cambria" panose="02040503050406030204" pitchFamily="18" charset="0"/>
              </a:rPr>
              <a:t>. If </a:t>
            </a:r>
            <a:r>
              <a:rPr lang="en-GB" sz="2400" dirty="0" smtClean="0">
                <a:latin typeface="Cambria" panose="02040503050406030204" pitchFamily="18" charset="0"/>
                <a:ea typeface="Cambria" panose="02040503050406030204" pitchFamily="18" charset="0"/>
              </a:rPr>
              <a:t>the user wants to read the web pages as per input, then the servlet container is used in java.</a:t>
            </a:r>
          </a:p>
          <a:p>
            <a:pPr marL="0" indent="0" algn="just">
              <a:buNone/>
            </a:pPr>
            <a:endParaRPr lang="en-GB" sz="2400" dirty="0" smtClean="0">
              <a:latin typeface="Cambria" panose="02040503050406030204" pitchFamily="18" charset="0"/>
              <a:ea typeface="Cambria" panose="02040503050406030204" pitchFamily="18" charset="0"/>
            </a:endParaRPr>
          </a:p>
          <a:p>
            <a:pPr algn="just">
              <a:spcBef>
                <a:spcPts val="0"/>
              </a:spcBef>
              <a:buNone/>
            </a:pPr>
            <a:r>
              <a:rPr lang="en-US" sz="2400" dirty="0" smtClean="0">
                <a:latin typeface="Cambria" panose="02040503050406030204" pitchFamily="18" charset="0"/>
                <a:ea typeface="Cambria" panose="02040503050406030204" pitchFamily="18" charset="0"/>
              </a:rPr>
              <a:t> </a:t>
            </a:r>
          </a:p>
          <a:p>
            <a:pPr algn="just"/>
            <a:endParaRPr lang="en-US" sz="36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10</a:t>
            </a:fld>
            <a:endParaRPr lang="en-US" altLang="en-US">
              <a:latin typeface="Cambria" panose="02040503050406030204" pitchFamily="18" charset="0"/>
              <a:ea typeface="Cambria" panose="02040503050406030204" pitchFamily="18" charset="0"/>
            </a:endParaRPr>
          </a:p>
        </p:txBody>
      </p:sp>
      <p:pic>
        <p:nvPicPr>
          <p:cNvPr id="5" name="Picture 4" descr="Servlet Container1"/>
          <p:cNvPicPr/>
          <p:nvPr/>
        </p:nvPicPr>
        <p:blipFill>
          <a:blip r:embed="rId2"/>
          <a:srcRect/>
          <a:stretch>
            <a:fillRect/>
          </a:stretch>
        </p:blipFill>
        <p:spPr bwMode="auto">
          <a:xfrm>
            <a:off x="2580983" y="2276872"/>
            <a:ext cx="5135245" cy="205232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61117"/>
            <a:ext cx="6312024" cy="559571"/>
          </a:xfrm>
        </p:spPr>
        <p:txBody>
          <a:bodyPr/>
          <a:lstStyle/>
          <a:p>
            <a:r>
              <a:rPr lang="en-US" sz="4000" b="1" dirty="0" err="1" smtClean="0">
                <a:solidFill>
                  <a:srgbClr val="0070C0"/>
                </a:solidFill>
                <a:latin typeface="Cambria" panose="02040503050406030204" pitchFamily="18" charset="0"/>
                <a:ea typeface="Cambria" panose="02040503050406030204" pitchFamily="18" charset="0"/>
              </a:rPr>
              <a:t>Servlet</a:t>
            </a:r>
            <a:r>
              <a:rPr lang="en-US" sz="4000" b="1" dirty="0" smtClean="0">
                <a:solidFill>
                  <a:srgbClr val="0070C0"/>
                </a:solidFill>
                <a:latin typeface="Cambria" panose="02040503050406030204" pitchFamily="18" charset="0"/>
                <a:ea typeface="Cambria" panose="02040503050406030204" pitchFamily="18" charset="0"/>
              </a:rPr>
              <a:t> Container States</a:t>
            </a:r>
            <a:endParaRPr lang="en-GB" sz="4000" dirty="0" smtClean="0">
              <a:solidFill>
                <a:srgbClr val="0070C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407368" y="620689"/>
            <a:ext cx="11017224" cy="4320480"/>
          </a:xfrm>
        </p:spPr>
        <p:txBody>
          <a:bodyPr/>
          <a:lstStyle/>
          <a:p>
            <a:pPr algn="just"/>
            <a:r>
              <a:rPr lang="en-GB" sz="2400" dirty="0" smtClean="0">
                <a:latin typeface="Cambria" panose="02040503050406030204" pitchFamily="18" charset="0"/>
                <a:ea typeface="Cambria" panose="02040503050406030204" pitchFamily="18" charset="0"/>
              </a:rPr>
              <a:t>The </a:t>
            </a:r>
            <a:r>
              <a:rPr lang="en-GB" sz="2400" dirty="0" err="1" smtClean="0">
                <a:latin typeface="Cambria" panose="02040503050406030204" pitchFamily="18" charset="0"/>
                <a:ea typeface="Cambria" panose="02040503050406030204" pitchFamily="18" charset="0"/>
              </a:rPr>
              <a:t>servlet</a:t>
            </a:r>
            <a:r>
              <a:rPr lang="en-GB" sz="2400" dirty="0" smtClean="0">
                <a:latin typeface="Cambria" panose="02040503050406030204" pitchFamily="18" charset="0"/>
                <a:ea typeface="Cambria" panose="02040503050406030204" pitchFamily="18" charset="0"/>
              </a:rPr>
              <a:t> container is the part of web server which can be run in a separate process. We can classify the </a:t>
            </a:r>
            <a:r>
              <a:rPr lang="en-GB" sz="2400" dirty="0" err="1" smtClean="0">
                <a:latin typeface="Cambria" panose="02040503050406030204" pitchFamily="18" charset="0"/>
                <a:ea typeface="Cambria" panose="02040503050406030204" pitchFamily="18" charset="0"/>
              </a:rPr>
              <a:t>servlet</a:t>
            </a:r>
            <a:r>
              <a:rPr lang="en-GB" sz="2400" dirty="0" smtClean="0">
                <a:latin typeface="Cambria" panose="02040503050406030204" pitchFamily="18" charset="0"/>
                <a:ea typeface="Cambria" panose="02040503050406030204" pitchFamily="18" charset="0"/>
              </a:rPr>
              <a:t> container states in three types:</a:t>
            </a:r>
          </a:p>
          <a:p>
            <a:pPr algn="just"/>
            <a:r>
              <a:rPr lang="en-GB" sz="2400" b="1" dirty="0" smtClean="0">
                <a:latin typeface="Cambria" panose="02040503050406030204" pitchFamily="18" charset="0"/>
                <a:ea typeface="Cambria" panose="02040503050406030204" pitchFamily="18" charset="0"/>
              </a:rPr>
              <a:t>Standalone:</a:t>
            </a:r>
            <a:r>
              <a:rPr lang="en-GB" sz="2400" dirty="0" smtClean="0">
                <a:latin typeface="Cambria" panose="02040503050406030204" pitchFamily="18" charset="0"/>
                <a:ea typeface="Cambria" panose="02040503050406030204" pitchFamily="18" charset="0"/>
              </a:rPr>
              <a:t> It is typical Java-based servers in which the servlet container and the web servers are the integral part of a single program. </a:t>
            </a:r>
          </a:p>
          <a:p>
            <a:pPr marL="0" indent="0" algn="just">
              <a:buNone/>
            </a:pPr>
            <a:r>
              <a:rPr lang="en-GB" sz="2400" dirty="0">
                <a:latin typeface="Cambria" panose="02040503050406030204" pitchFamily="18" charset="0"/>
                <a:ea typeface="Cambria" panose="02040503050406030204" pitchFamily="18" charset="0"/>
              </a:rPr>
              <a:t>	</a:t>
            </a:r>
            <a:r>
              <a:rPr lang="en-GB" sz="2400" dirty="0" smtClean="0">
                <a:latin typeface="Cambria" panose="02040503050406030204" pitchFamily="18" charset="0"/>
                <a:ea typeface="Cambria" panose="02040503050406030204" pitchFamily="18" charset="0"/>
              </a:rPr>
              <a:t>For example:- Tomcat running by itself.</a:t>
            </a:r>
          </a:p>
          <a:p>
            <a:pPr algn="just"/>
            <a:r>
              <a:rPr lang="en-GB" sz="2400" b="1" dirty="0" smtClean="0">
                <a:latin typeface="Cambria" panose="02040503050406030204" pitchFamily="18" charset="0"/>
                <a:ea typeface="Cambria" panose="02040503050406030204" pitchFamily="18" charset="0"/>
              </a:rPr>
              <a:t>In-process:</a:t>
            </a:r>
            <a:r>
              <a:rPr lang="en-GB" sz="2400" dirty="0" smtClean="0">
                <a:latin typeface="Cambria" panose="02040503050406030204" pitchFamily="18" charset="0"/>
                <a:ea typeface="Cambria" panose="02040503050406030204" pitchFamily="18" charset="0"/>
              </a:rPr>
              <a:t> It is separated from the web server, because a different program runs within the address space of the main server as a plug-in. </a:t>
            </a:r>
          </a:p>
          <a:p>
            <a:pPr marL="0" indent="0" algn="just">
              <a:buNone/>
            </a:pPr>
            <a:r>
              <a:rPr lang="en-GB" sz="2400" dirty="0">
                <a:latin typeface="Cambria" panose="02040503050406030204" pitchFamily="18" charset="0"/>
                <a:ea typeface="Cambria" panose="02040503050406030204" pitchFamily="18" charset="0"/>
              </a:rPr>
              <a:t>	</a:t>
            </a:r>
            <a:r>
              <a:rPr lang="en-GB" sz="2400" dirty="0" smtClean="0">
                <a:latin typeface="Cambria" panose="02040503050406030204" pitchFamily="18" charset="0"/>
                <a:ea typeface="Cambria" panose="02040503050406030204" pitchFamily="18" charset="0"/>
              </a:rPr>
              <a:t>For example:- Tomcat running inside the JBoss.</a:t>
            </a:r>
          </a:p>
          <a:p>
            <a:pPr algn="just"/>
            <a:r>
              <a:rPr lang="en-GB" sz="2400" b="1" dirty="0" smtClean="0">
                <a:latin typeface="Cambria" panose="02040503050406030204" pitchFamily="18" charset="0"/>
                <a:ea typeface="Cambria" panose="02040503050406030204" pitchFamily="18" charset="0"/>
              </a:rPr>
              <a:t>Out-of-process:</a:t>
            </a:r>
            <a:r>
              <a:rPr lang="en-GB" sz="2400" dirty="0" smtClean="0">
                <a:latin typeface="Cambria" panose="02040503050406030204" pitchFamily="18" charset="0"/>
                <a:ea typeface="Cambria" panose="02040503050406030204" pitchFamily="18" charset="0"/>
              </a:rPr>
              <a:t> The web server and </a:t>
            </a:r>
            <a:r>
              <a:rPr lang="en-GB" sz="2400" dirty="0" err="1" smtClean="0">
                <a:latin typeface="Cambria" panose="02040503050406030204" pitchFamily="18" charset="0"/>
                <a:ea typeface="Cambria" panose="02040503050406030204" pitchFamily="18" charset="0"/>
              </a:rPr>
              <a:t>servlet</a:t>
            </a:r>
            <a:r>
              <a:rPr lang="en-GB" sz="2400" dirty="0" smtClean="0">
                <a:latin typeface="Cambria" panose="02040503050406030204" pitchFamily="18" charset="0"/>
                <a:ea typeface="Cambria" panose="02040503050406030204" pitchFamily="18" charset="0"/>
              </a:rPr>
              <a:t> container are different programs which are run in a different process. For performing the communications between them, web server uses the plug-in provided by the </a:t>
            </a:r>
            <a:r>
              <a:rPr lang="en-GB" sz="2400" dirty="0" err="1" smtClean="0">
                <a:latin typeface="Cambria" panose="02040503050406030204" pitchFamily="18" charset="0"/>
                <a:ea typeface="Cambria" panose="02040503050406030204" pitchFamily="18" charset="0"/>
              </a:rPr>
              <a:t>servlet</a:t>
            </a:r>
            <a:r>
              <a:rPr lang="en-GB" sz="2400" dirty="0" smtClean="0">
                <a:latin typeface="Cambria" panose="02040503050406030204" pitchFamily="18" charset="0"/>
                <a:ea typeface="Cambria" panose="02040503050406030204" pitchFamily="18" charset="0"/>
              </a:rPr>
              <a:t> container.</a:t>
            </a:r>
          </a:p>
          <a:p>
            <a:pPr algn="just"/>
            <a:endParaRPr lang="en-US" sz="24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11</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344" y="116632"/>
            <a:ext cx="3889648" cy="598472"/>
          </a:xfrm>
        </p:spPr>
        <p:txBody>
          <a:bodyPr/>
          <a:lstStyle/>
          <a:p>
            <a:r>
              <a:rPr lang="en-GB" sz="4000" b="1" dirty="0" err="1" smtClean="0">
                <a:solidFill>
                  <a:srgbClr val="0070C0"/>
                </a:solidFill>
                <a:latin typeface="Cambria" panose="02040503050406030204" pitchFamily="18" charset="0"/>
                <a:ea typeface="Cambria" panose="02040503050406030204" pitchFamily="18" charset="0"/>
              </a:rPr>
              <a:t>Servlet</a:t>
            </a:r>
            <a:r>
              <a:rPr lang="en-GB" sz="4000" b="1" dirty="0" smtClean="0">
                <a:solidFill>
                  <a:srgbClr val="0070C0"/>
                </a:solidFill>
                <a:latin typeface="Cambria" panose="02040503050406030204" pitchFamily="18" charset="0"/>
                <a:ea typeface="Cambria" panose="02040503050406030204" pitchFamily="18" charset="0"/>
              </a:rPr>
              <a:t> API</a:t>
            </a:r>
            <a:endParaRPr lang="en-US" sz="4000" b="1" dirty="0">
              <a:solidFill>
                <a:srgbClr val="0070C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551384" y="836712"/>
            <a:ext cx="10802416" cy="3528391"/>
          </a:xfrm>
        </p:spPr>
        <p:txBody>
          <a:bodyPr/>
          <a:lstStyle/>
          <a:p>
            <a:pPr algn="just"/>
            <a:r>
              <a:rPr lang="en-GB" dirty="0" smtClean="0">
                <a:latin typeface="Cambria" panose="02040503050406030204" pitchFamily="18" charset="0"/>
                <a:ea typeface="Cambria" panose="02040503050406030204" pitchFamily="18" charset="0"/>
              </a:rPr>
              <a:t>The </a:t>
            </a:r>
            <a:r>
              <a:rPr lang="en-GB" dirty="0" err="1" smtClean="0">
                <a:latin typeface="Cambria" panose="02040503050406030204" pitchFamily="18" charset="0"/>
                <a:ea typeface="Cambria" panose="02040503050406030204" pitchFamily="18" charset="0"/>
              </a:rPr>
              <a:t>javax.servlet</a:t>
            </a:r>
            <a:r>
              <a:rPr lang="en-GB" dirty="0" smtClean="0">
                <a:latin typeface="Cambria" panose="02040503050406030204" pitchFamily="18" charset="0"/>
                <a:ea typeface="Cambria" panose="02040503050406030204" pitchFamily="18" charset="0"/>
              </a:rPr>
              <a:t> and </a:t>
            </a:r>
            <a:r>
              <a:rPr lang="en-GB" dirty="0" err="1" smtClean="0">
                <a:latin typeface="Cambria" panose="02040503050406030204" pitchFamily="18" charset="0"/>
                <a:ea typeface="Cambria" panose="02040503050406030204" pitchFamily="18" charset="0"/>
              </a:rPr>
              <a:t>javax.servlet.http</a:t>
            </a:r>
            <a:r>
              <a:rPr lang="en-GB" dirty="0" smtClean="0">
                <a:latin typeface="Cambria" panose="02040503050406030204" pitchFamily="18" charset="0"/>
                <a:ea typeface="Cambria" panose="02040503050406030204" pitchFamily="18" charset="0"/>
              </a:rPr>
              <a:t> packages represent interfaces and classes for </a:t>
            </a:r>
            <a:r>
              <a:rPr lang="en-GB" dirty="0" err="1" smtClean="0">
                <a:latin typeface="Cambria" panose="02040503050406030204" pitchFamily="18" charset="0"/>
                <a:ea typeface="Cambria" panose="02040503050406030204" pitchFamily="18" charset="0"/>
              </a:rPr>
              <a:t>servlet</a:t>
            </a:r>
            <a:r>
              <a:rPr lang="en-GB" dirty="0" smtClean="0">
                <a:latin typeface="Cambria" panose="02040503050406030204" pitchFamily="18" charset="0"/>
                <a:ea typeface="Cambria" panose="02040503050406030204" pitchFamily="18" charset="0"/>
              </a:rPr>
              <a:t> </a:t>
            </a:r>
            <a:r>
              <a:rPr lang="en-GB" dirty="0" err="1" smtClean="0">
                <a:latin typeface="Cambria" panose="02040503050406030204" pitchFamily="18" charset="0"/>
                <a:ea typeface="Cambria" panose="02040503050406030204" pitchFamily="18" charset="0"/>
              </a:rPr>
              <a:t>api</a:t>
            </a:r>
            <a:r>
              <a:rPr lang="en-GB" dirty="0" smtClean="0">
                <a:latin typeface="Cambria" panose="02040503050406030204" pitchFamily="18" charset="0"/>
                <a:ea typeface="Cambria" panose="02040503050406030204" pitchFamily="18" charset="0"/>
              </a:rPr>
              <a:t>.</a:t>
            </a:r>
          </a:p>
          <a:p>
            <a:pPr algn="just"/>
            <a:r>
              <a:rPr lang="en-GB" dirty="0" smtClean="0">
                <a:latin typeface="Cambria" panose="02040503050406030204" pitchFamily="18" charset="0"/>
                <a:ea typeface="Cambria" panose="02040503050406030204" pitchFamily="18" charset="0"/>
              </a:rPr>
              <a:t>The </a:t>
            </a:r>
            <a:r>
              <a:rPr lang="en-GB" b="1" dirty="0" err="1" smtClean="0">
                <a:latin typeface="Cambria" panose="02040503050406030204" pitchFamily="18" charset="0"/>
                <a:ea typeface="Cambria" panose="02040503050406030204" pitchFamily="18" charset="0"/>
              </a:rPr>
              <a:t>javax.servlet</a:t>
            </a:r>
            <a:r>
              <a:rPr lang="en-GB" dirty="0" smtClean="0">
                <a:latin typeface="Cambria" panose="02040503050406030204" pitchFamily="18" charset="0"/>
                <a:ea typeface="Cambria" panose="02040503050406030204" pitchFamily="18" charset="0"/>
              </a:rPr>
              <a:t> package contains many interfaces and classes that are used by the </a:t>
            </a:r>
            <a:r>
              <a:rPr lang="en-GB" dirty="0" err="1" smtClean="0">
                <a:latin typeface="Cambria" panose="02040503050406030204" pitchFamily="18" charset="0"/>
                <a:ea typeface="Cambria" panose="02040503050406030204" pitchFamily="18" charset="0"/>
              </a:rPr>
              <a:t>servlet</a:t>
            </a:r>
            <a:r>
              <a:rPr lang="en-GB" dirty="0" smtClean="0">
                <a:latin typeface="Cambria" panose="02040503050406030204" pitchFamily="18" charset="0"/>
                <a:ea typeface="Cambria" panose="02040503050406030204" pitchFamily="18" charset="0"/>
              </a:rPr>
              <a:t> or web container. These are not specific to any protocol.</a:t>
            </a:r>
          </a:p>
          <a:p>
            <a:pPr algn="just"/>
            <a:r>
              <a:rPr lang="en-GB" dirty="0" smtClean="0">
                <a:latin typeface="Cambria" panose="02040503050406030204" pitchFamily="18" charset="0"/>
                <a:ea typeface="Cambria" panose="02040503050406030204" pitchFamily="18" charset="0"/>
              </a:rPr>
              <a:t>The </a:t>
            </a:r>
            <a:r>
              <a:rPr lang="en-GB" b="1" dirty="0" err="1" smtClean="0">
                <a:latin typeface="Cambria" panose="02040503050406030204" pitchFamily="18" charset="0"/>
                <a:ea typeface="Cambria" panose="02040503050406030204" pitchFamily="18" charset="0"/>
              </a:rPr>
              <a:t>javax.servlet.http</a:t>
            </a:r>
            <a:r>
              <a:rPr lang="en-GB" dirty="0" smtClean="0">
                <a:latin typeface="Cambria" panose="02040503050406030204" pitchFamily="18" charset="0"/>
                <a:ea typeface="Cambria" panose="02040503050406030204" pitchFamily="18" charset="0"/>
              </a:rPr>
              <a:t> package contains interfaces and classes that are responsible for http requests only.</a:t>
            </a:r>
            <a:endParaRPr lang="en-GB"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12</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1867"/>
            <a:ext cx="4655840" cy="588821"/>
          </a:xfrm>
        </p:spPr>
        <p:txBody>
          <a:bodyPr/>
          <a:lstStyle/>
          <a:p>
            <a:r>
              <a:rPr lang="en-US" sz="4000" b="1" dirty="0" err="1" smtClean="0">
                <a:solidFill>
                  <a:schemeClr val="accent5"/>
                </a:solidFill>
                <a:latin typeface="Cambria" panose="02040503050406030204" pitchFamily="18" charset="0"/>
                <a:ea typeface="Cambria" panose="02040503050406030204" pitchFamily="18" charset="0"/>
              </a:rPr>
              <a:t>Servlet</a:t>
            </a:r>
            <a:r>
              <a:rPr lang="en-US" sz="4000" b="1" dirty="0" smtClean="0">
                <a:solidFill>
                  <a:schemeClr val="accent5"/>
                </a:solidFill>
                <a:latin typeface="Cambria" panose="02040503050406030204" pitchFamily="18" charset="0"/>
                <a:ea typeface="Cambria" panose="02040503050406030204" pitchFamily="18" charset="0"/>
              </a:rPr>
              <a:t> Interface</a:t>
            </a:r>
            <a:endParaRPr lang="en-US" sz="40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263352" y="1052736"/>
            <a:ext cx="11233248" cy="3240360"/>
          </a:xfrm>
        </p:spPr>
        <p:txBody>
          <a:bodyPr/>
          <a:lstStyle/>
          <a:p>
            <a:pPr algn="just"/>
            <a:r>
              <a:rPr lang="en-GB" b="1" dirty="0" err="1" smtClean="0">
                <a:latin typeface="Cambria" panose="02040503050406030204" pitchFamily="18" charset="0"/>
                <a:ea typeface="Cambria" panose="02040503050406030204" pitchFamily="18" charset="0"/>
              </a:rPr>
              <a:t>Servlet</a:t>
            </a:r>
            <a:r>
              <a:rPr lang="en-GB" b="1" dirty="0" smtClean="0">
                <a:latin typeface="Cambria" panose="02040503050406030204" pitchFamily="18" charset="0"/>
                <a:ea typeface="Cambria" panose="02040503050406030204" pitchFamily="18" charset="0"/>
              </a:rPr>
              <a:t> interface provides</a:t>
            </a:r>
            <a:r>
              <a:rPr lang="en-GB" dirty="0" smtClean="0">
                <a:latin typeface="Cambria" panose="02040503050406030204" pitchFamily="18" charset="0"/>
                <a:ea typeface="Cambria" panose="02040503050406030204" pitchFamily="18" charset="0"/>
              </a:rPr>
              <a:t> common </a:t>
            </a:r>
            <a:r>
              <a:rPr lang="en-GB" dirty="0" err="1" smtClean="0">
                <a:latin typeface="Cambria" panose="02040503050406030204" pitchFamily="18" charset="0"/>
                <a:ea typeface="Cambria" panose="02040503050406030204" pitchFamily="18" charset="0"/>
              </a:rPr>
              <a:t>behavior</a:t>
            </a:r>
            <a:r>
              <a:rPr lang="en-GB" dirty="0" smtClean="0">
                <a:latin typeface="Cambria" panose="02040503050406030204" pitchFamily="18" charset="0"/>
                <a:ea typeface="Cambria" panose="02040503050406030204" pitchFamily="18" charset="0"/>
              </a:rPr>
              <a:t> to all the </a:t>
            </a:r>
            <a:r>
              <a:rPr lang="en-GB" dirty="0" err="1" smtClean="0">
                <a:latin typeface="Cambria" panose="02040503050406030204" pitchFamily="18" charset="0"/>
                <a:ea typeface="Cambria" panose="02040503050406030204" pitchFamily="18" charset="0"/>
              </a:rPr>
              <a:t>servlets</a:t>
            </a:r>
            <a:r>
              <a:rPr lang="en-GB" dirty="0" smtClean="0">
                <a:latin typeface="Cambria" panose="02040503050406030204" pitchFamily="18" charset="0"/>
                <a:ea typeface="Cambria" panose="02040503050406030204" pitchFamily="18" charset="0"/>
              </a:rPr>
              <a:t>. </a:t>
            </a:r>
            <a:r>
              <a:rPr lang="en-GB" dirty="0" err="1" smtClean="0">
                <a:latin typeface="Cambria" panose="02040503050406030204" pitchFamily="18" charset="0"/>
                <a:ea typeface="Cambria" panose="02040503050406030204" pitchFamily="18" charset="0"/>
              </a:rPr>
              <a:t>Servlet</a:t>
            </a:r>
            <a:r>
              <a:rPr lang="en-GB" dirty="0" smtClean="0">
                <a:latin typeface="Cambria" panose="02040503050406030204" pitchFamily="18" charset="0"/>
                <a:ea typeface="Cambria" panose="02040503050406030204" pitchFamily="18" charset="0"/>
              </a:rPr>
              <a:t> interface defines methods that all </a:t>
            </a:r>
            <a:r>
              <a:rPr lang="en-GB" dirty="0" err="1" smtClean="0">
                <a:latin typeface="Cambria" panose="02040503050406030204" pitchFamily="18" charset="0"/>
                <a:ea typeface="Cambria" panose="02040503050406030204" pitchFamily="18" charset="0"/>
              </a:rPr>
              <a:t>servlets</a:t>
            </a:r>
            <a:r>
              <a:rPr lang="en-GB" dirty="0" smtClean="0">
                <a:latin typeface="Cambria" panose="02040503050406030204" pitchFamily="18" charset="0"/>
                <a:ea typeface="Cambria" panose="02040503050406030204" pitchFamily="18" charset="0"/>
              </a:rPr>
              <a:t> must implement.</a:t>
            </a:r>
          </a:p>
          <a:p>
            <a:pPr algn="just"/>
            <a:r>
              <a:rPr lang="en-GB" dirty="0" err="1" smtClean="0">
                <a:latin typeface="Cambria" panose="02040503050406030204" pitchFamily="18" charset="0"/>
                <a:ea typeface="Cambria" panose="02040503050406030204" pitchFamily="18" charset="0"/>
              </a:rPr>
              <a:t>Servlet</a:t>
            </a:r>
            <a:r>
              <a:rPr lang="en-GB" dirty="0" smtClean="0">
                <a:latin typeface="Cambria" panose="02040503050406030204" pitchFamily="18" charset="0"/>
                <a:ea typeface="Cambria" panose="02040503050406030204" pitchFamily="18" charset="0"/>
              </a:rPr>
              <a:t> interface needs to be implemented for creating any </a:t>
            </a:r>
            <a:r>
              <a:rPr lang="en-GB" dirty="0" err="1" smtClean="0">
                <a:latin typeface="Cambria" panose="02040503050406030204" pitchFamily="18" charset="0"/>
                <a:ea typeface="Cambria" panose="02040503050406030204" pitchFamily="18" charset="0"/>
              </a:rPr>
              <a:t>servlet</a:t>
            </a:r>
            <a:r>
              <a:rPr lang="en-GB" dirty="0" smtClean="0">
                <a:latin typeface="Cambria" panose="02040503050406030204" pitchFamily="18" charset="0"/>
                <a:ea typeface="Cambria" panose="02040503050406030204" pitchFamily="18" charset="0"/>
              </a:rPr>
              <a:t> (either directly or indirectly).</a:t>
            </a:r>
          </a:p>
          <a:p>
            <a:pPr algn="just"/>
            <a:r>
              <a:rPr lang="en-GB" dirty="0" smtClean="0">
                <a:latin typeface="Cambria" panose="02040503050406030204" pitchFamily="18" charset="0"/>
                <a:ea typeface="Cambria" panose="02040503050406030204" pitchFamily="18" charset="0"/>
              </a:rPr>
              <a:t> It provides 3 life cycle methods that are used to </a:t>
            </a:r>
            <a:r>
              <a:rPr lang="en-GB" u="sng" dirty="0" smtClean="0">
                <a:latin typeface="Cambria" panose="02040503050406030204" pitchFamily="18" charset="0"/>
                <a:ea typeface="Cambria" panose="02040503050406030204" pitchFamily="18" charset="0"/>
              </a:rPr>
              <a:t>initialize</a:t>
            </a:r>
            <a:r>
              <a:rPr lang="en-GB" dirty="0" smtClean="0">
                <a:latin typeface="Cambria" panose="02040503050406030204" pitchFamily="18" charset="0"/>
                <a:ea typeface="Cambria" panose="02040503050406030204" pitchFamily="18" charset="0"/>
              </a:rPr>
              <a:t> the </a:t>
            </a:r>
            <a:r>
              <a:rPr lang="en-GB" dirty="0" err="1" smtClean="0">
                <a:latin typeface="Cambria" panose="02040503050406030204" pitchFamily="18" charset="0"/>
                <a:ea typeface="Cambria" panose="02040503050406030204" pitchFamily="18" charset="0"/>
              </a:rPr>
              <a:t>servlet</a:t>
            </a:r>
            <a:r>
              <a:rPr lang="en-GB" dirty="0" smtClean="0">
                <a:latin typeface="Cambria" panose="02040503050406030204" pitchFamily="18" charset="0"/>
                <a:ea typeface="Cambria" panose="02040503050406030204" pitchFamily="18" charset="0"/>
              </a:rPr>
              <a:t>, to </a:t>
            </a:r>
            <a:r>
              <a:rPr lang="en-GB" u="sng" dirty="0" smtClean="0">
                <a:latin typeface="Cambria" panose="02040503050406030204" pitchFamily="18" charset="0"/>
                <a:ea typeface="Cambria" panose="02040503050406030204" pitchFamily="18" charset="0"/>
              </a:rPr>
              <a:t>service</a:t>
            </a:r>
            <a:r>
              <a:rPr lang="en-GB" dirty="0" smtClean="0">
                <a:latin typeface="Cambria" panose="02040503050406030204" pitchFamily="18" charset="0"/>
                <a:ea typeface="Cambria" panose="02040503050406030204" pitchFamily="18" charset="0"/>
              </a:rPr>
              <a:t> the requests, and to </a:t>
            </a:r>
            <a:r>
              <a:rPr lang="en-GB" u="sng" dirty="0" smtClean="0">
                <a:latin typeface="Cambria" panose="02040503050406030204" pitchFamily="18" charset="0"/>
                <a:ea typeface="Cambria" panose="02040503050406030204" pitchFamily="18" charset="0"/>
              </a:rPr>
              <a:t>destroy</a:t>
            </a:r>
            <a:r>
              <a:rPr lang="en-GB" dirty="0" smtClean="0">
                <a:latin typeface="Cambria" panose="02040503050406030204" pitchFamily="18" charset="0"/>
                <a:ea typeface="Cambria" panose="02040503050406030204" pitchFamily="18" charset="0"/>
              </a:rPr>
              <a:t> the </a:t>
            </a:r>
            <a:r>
              <a:rPr lang="en-GB" dirty="0" err="1" smtClean="0">
                <a:latin typeface="Cambria" panose="02040503050406030204" pitchFamily="18" charset="0"/>
                <a:ea typeface="Cambria" panose="02040503050406030204" pitchFamily="18" charset="0"/>
              </a:rPr>
              <a:t>servlet</a:t>
            </a:r>
            <a:r>
              <a:rPr lang="en-GB" dirty="0" smtClean="0">
                <a:latin typeface="Cambria" panose="02040503050406030204" pitchFamily="18" charset="0"/>
                <a:ea typeface="Cambria" panose="02040503050406030204" pitchFamily="18" charset="0"/>
              </a:rPr>
              <a:t> and 2 non-life cycle methods.</a:t>
            </a:r>
          </a:p>
          <a:p>
            <a:pPr algn="just"/>
            <a:endParaRPr lang="en-US"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13</a:t>
            </a:fld>
            <a:endParaRPr lang="en-US" alt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344" y="188640"/>
            <a:ext cx="10515600" cy="777859"/>
          </a:xfrm>
        </p:spPr>
        <p:txBody>
          <a:bodyPr/>
          <a:lstStyle/>
          <a:p>
            <a:r>
              <a:rPr lang="en-US" sz="4000" b="1" dirty="0" smtClean="0">
                <a:solidFill>
                  <a:schemeClr val="accent5"/>
                </a:solidFill>
                <a:latin typeface="Cambria" panose="02040503050406030204" pitchFamily="18" charset="0"/>
                <a:ea typeface="Cambria" panose="02040503050406030204" pitchFamily="18" charset="0"/>
              </a:rPr>
              <a:t>Methods of Servlet interface</a:t>
            </a:r>
            <a:r>
              <a:rPr lang="en-GB" sz="4000" b="1" dirty="0" smtClean="0">
                <a:solidFill>
                  <a:schemeClr val="accent5"/>
                </a:solidFill>
                <a:latin typeface="Cambria" panose="02040503050406030204" pitchFamily="18" charset="0"/>
                <a:ea typeface="Cambria" panose="02040503050406030204" pitchFamily="18" charset="0"/>
              </a:rPr>
              <a:t> </a:t>
            </a:r>
            <a:endParaRPr lang="en-US" sz="4000" b="1" dirty="0">
              <a:solidFill>
                <a:schemeClr val="accent5"/>
              </a:solidFill>
              <a:latin typeface="Cambria" panose="02040503050406030204" pitchFamily="18" charset="0"/>
              <a:ea typeface="Cambria" panose="02040503050406030204" pitchFamily="18" charset="0"/>
            </a:endParaRP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997308488"/>
              </p:ext>
            </p:extLst>
          </p:nvPr>
        </p:nvGraphicFramePr>
        <p:xfrm>
          <a:off x="623392" y="966499"/>
          <a:ext cx="10515600" cy="4008120"/>
        </p:xfrm>
        <a:graphic>
          <a:graphicData uri="http://schemas.openxmlformats.org/drawingml/2006/table">
            <a:tbl>
              <a:tblPr firstRow="1" bandRow="1">
                <a:tableStyleId>{5C22544A-7EE6-4342-B048-85BDC9FD1C3A}</a:tableStyleId>
              </a:tblPr>
              <a:tblGrid>
                <a:gridCol w="5257800"/>
                <a:gridCol w="5257800"/>
              </a:tblGrid>
              <a:tr h="370840">
                <a:tc>
                  <a:txBody>
                    <a:bodyPr/>
                    <a:lstStyle/>
                    <a:p>
                      <a:pPr algn="l" fontAlgn="t"/>
                      <a:r>
                        <a:rPr lang="en-US" dirty="0">
                          <a:solidFill>
                            <a:srgbClr val="000000"/>
                          </a:solidFill>
                          <a:latin typeface="times new roman"/>
                        </a:rPr>
                        <a:t>Method</a:t>
                      </a:r>
                    </a:p>
                  </a:txBody>
                  <a:tcPr marL="114300" marR="114300" marT="114300" marB="114300"/>
                </a:tc>
                <a:tc>
                  <a:txBody>
                    <a:bodyPr/>
                    <a:lstStyle/>
                    <a:p>
                      <a:pPr algn="l" fontAlgn="t"/>
                      <a:r>
                        <a:rPr lang="en-US">
                          <a:solidFill>
                            <a:srgbClr val="000000"/>
                          </a:solidFill>
                          <a:latin typeface="times new roman"/>
                        </a:rPr>
                        <a:t>Description</a:t>
                      </a:r>
                    </a:p>
                  </a:txBody>
                  <a:tcPr marL="114300" marR="114300" marT="114300" marB="114300"/>
                </a:tc>
              </a:tr>
              <a:tr h="370840">
                <a:tc>
                  <a:txBody>
                    <a:bodyPr/>
                    <a:lstStyle/>
                    <a:p>
                      <a:pPr algn="just" fontAlgn="t"/>
                      <a:r>
                        <a:rPr lang="en-US" b="1">
                          <a:solidFill>
                            <a:srgbClr val="333333"/>
                          </a:solidFill>
                          <a:latin typeface="inter-bold"/>
                        </a:rPr>
                        <a:t>public void init(ServletConfig config)</a:t>
                      </a:r>
                      <a:endParaRPr lang="en-US">
                        <a:solidFill>
                          <a:srgbClr val="333333"/>
                        </a:solidFill>
                        <a:latin typeface="inter-regular"/>
                      </a:endParaRPr>
                    </a:p>
                  </a:txBody>
                  <a:tcPr marL="76200" marR="76200" marT="76200" marB="76200"/>
                </a:tc>
                <a:tc>
                  <a:txBody>
                    <a:bodyPr/>
                    <a:lstStyle/>
                    <a:p>
                      <a:pPr algn="just" fontAlgn="t"/>
                      <a:r>
                        <a:rPr lang="en-GB">
                          <a:solidFill>
                            <a:srgbClr val="333333"/>
                          </a:solidFill>
                          <a:latin typeface="inter-regular"/>
                        </a:rPr>
                        <a:t>initializes the servlet. It is the life cycle method of servlet and invoked by the web container only once.</a:t>
                      </a:r>
                    </a:p>
                  </a:txBody>
                  <a:tcPr marL="76200" marR="76200" marT="76200" marB="76200"/>
                </a:tc>
              </a:tr>
              <a:tr h="370840">
                <a:tc>
                  <a:txBody>
                    <a:bodyPr/>
                    <a:lstStyle/>
                    <a:p>
                      <a:pPr algn="just" fontAlgn="t"/>
                      <a:r>
                        <a:rPr lang="fr-FR" b="1" dirty="0">
                          <a:solidFill>
                            <a:srgbClr val="333333"/>
                          </a:solidFill>
                          <a:latin typeface="inter-bold"/>
                        </a:rPr>
                        <a:t>public void service(ServletRequest request</a:t>
                      </a:r>
                      <a:r>
                        <a:rPr lang="fr-FR" b="1" dirty="0" smtClean="0">
                          <a:solidFill>
                            <a:srgbClr val="333333"/>
                          </a:solidFill>
                          <a:latin typeface="inter-bold"/>
                        </a:rPr>
                        <a:t>, ServletResponse </a:t>
                      </a:r>
                      <a:r>
                        <a:rPr lang="fr-FR" b="1" dirty="0">
                          <a:solidFill>
                            <a:srgbClr val="333333"/>
                          </a:solidFill>
                          <a:latin typeface="inter-bold"/>
                        </a:rPr>
                        <a:t>response)</a:t>
                      </a:r>
                      <a:endParaRPr lang="fr-FR" dirty="0">
                        <a:solidFill>
                          <a:srgbClr val="333333"/>
                        </a:solidFill>
                        <a:latin typeface="inter-regular"/>
                      </a:endParaRPr>
                    </a:p>
                  </a:txBody>
                  <a:tcPr marL="76200" marR="76200" marT="76200" marB="76200"/>
                </a:tc>
                <a:tc>
                  <a:txBody>
                    <a:bodyPr/>
                    <a:lstStyle/>
                    <a:p>
                      <a:pPr algn="just" fontAlgn="t"/>
                      <a:r>
                        <a:rPr lang="en-GB" dirty="0">
                          <a:solidFill>
                            <a:srgbClr val="333333"/>
                          </a:solidFill>
                          <a:latin typeface="inter-regular"/>
                        </a:rPr>
                        <a:t>provides response for the incoming request. It is invoked at each request by the web container.</a:t>
                      </a:r>
                    </a:p>
                  </a:txBody>
                  <a:tcPr marL="76200" marR="76200" marT="76200" marB="76200"/>
                </a:tc>
              </a:tr>
              <a:tr h="370840">
                <a:tc>
                  <a:txBody>
                    <a:bodyPr/>
                    <a:lstStyle/>
                    <a:p>
                      <a:pPr algn="just" fontAlgn="t"/>
                      <a:r>
                        <a:rPr lang="en-US" b="1">
                          <a:solidFill>
                            <a:srgbClr val="333333"/>
                          </a:solidFill>
                          <a:latin typeface="inter-bold"/>
                        </a:rPr>
                        <a:t>public void destroy()</a:t>
                      </a:r>
                      <a:endParaRPr lang="en-US">
                        <a:solidFill>
                          <a:srgbClr val="333333"/>
                        </a:solidFill>
                        <a:latin typeface="inter-regular"/>
                      </a:endParaRPr>
                    </a:p>
                  </a:txBody>
                  <a:tcPr marL="76200" marR="76200" marT="76200" marB="76200"/>
                </a:tc>
                <a:tc>
                  <a:txBody>
                    <a:bodyPr/>
                    <a:lstStyle/>
                    <a:p>
                      <a:pPr algn="just" fontAlgn="t"/>
                      <a:r>
                        <a:rPr lang="en-GB">
                          <a:solidFill>
                            <a:srgbClr val="333333"/>
                          </a:solidFill>
                          <a:latin typeface="inter-regular"/>
                        </a:rPr>
                        <a:t>is invoked only once and indicates that servlet is being destroyed.</a:t>
                      </a:r>
                    </a:p>
                  </a:txBody>
                  <a:tcPr marL="76200" marR="76200" marT="76200" marB="76200"/>
                </a:tc>
              </a:tr>
              <a:tr h="370840">
                <a:tc>
                  <a:txBody>
                    <a:bodyPr/>
                    <a:lstStyle/>
                    <a:p>
                      <a:pPr algn="just" fontAlgn="t"/>
                      <a:r>
                        <a:rPr lang="en-US" b="1">
                          <a:solidFill>
                            <a:srgbClr val="333333"/>
                          </a:solidFill>
                          <a:latin typeface="inter-bold"/>
                        </a:rPr>
                        <a:t>public ServletConfig getServletConfig()</a:t>
                      </a:r>
                      <a:endParaRPr lang="en-US">
                        <a:solidFill>
                          <a:srgbClr val="333333"/>
                        </a:solidFill>
                        <a:latin typeface="inter-regular"/>
                      </a:endParaRPr>
                    </a:p>
                  </a:txBody>
                  <a:tcPr marL="76200" marR="76200" marT="76200" marB="76200"/>
                </a:tc>
                <a:tc>
                  <a:txBody>
                    <a:bodyPr/>
                    <a:lstStyle/>
                    <a:p>
                      <a:pPr algn="just" fontAlgn="t"/>
                      <a:r>
                        <a:rPr lang="en-GB">
                          <a:solidFill>
                            <a:srgbClr val="333333"/>
                          </a:solidFill>
                          <a:latin typeface="inter-regular"/>
                        </a:rPr>
                        <a:t>returns the object of ServletConfig.</a:t>
                      </a:r>
                    </a:p>
                  </a:txBody>
                  <a:tcPr marL="76200" marR="76200" marT="76200" marB="76200"/>
                </a:tc>
              </a:tr>
              <a:tr h="370840">
                <a:tc>
                  <a:txBody>
                    <a:bodyPr/>
                    <a:lstStyle/>
                    <a:p>
                      <a:pPr algn="just" fontAlgn="t"/>
                      <a:r>
                        <a:rPr lang="en-US" b="1">
                          <a:solidFill>
                            <a:srgbClr val="333333"/>
                          </a:solidFill>
                          <a:latin typeface="inter-bold"/>
                        </a:rPr>
                        <a:t>public String getServletInfo()</a:t>
                      </a:r>
                      <a:endParaRPr lang="en-US">
                        <a:solidFill>
                          <a:srgbClr val="333333"/>
                        </a:solidFill>
                        <a:latin typeface="inter-regular"/>
                      </a:endParaRPr>
                    </a:p>
                  </a:txBody>
                  <a:tcPr marL="76200" marR="76200" marT="76200" marB="76200"/>
                </a:tc>
                <a:tc>
                  <a:txBody>
                    <a:bodyPr/>
                    <a:lstStyle/>
                    <a:p>
                      <a:pPr algn="just" fontAlgn="t"/>
                      <a:r>
                        <a:rPr lang="en-GB" dirty="0">
                          <a:solidFill>
                            <a:srgbClr val="333333"/>
                          </a:solidFill>
                          <a:latin typeface="inter-regular"/>
                        </a:rPr>
                        <a:t>returns information about </a:t>
                      </a:r>
                      <a:r>
                        <a:rPr lang="en-GB" dirty="0" err="1">
                          <a:solidFill>
                            <a:srgbClr val="333333"/>
                          </a:solidFill>
                          <a:latin typeface="inter-regular"/>
                        </a:rPr>
                        <a:t>servlet</a:t>
                      </a:r>
                      <a:r>
                        <a:rPr lang="en-GB" dirty="0">
                          <a:solidFill>
                            <a:srgbClr val="333333"/>
                          </a:solidFill>
                          <a:latin typeface="inter-regular"/>
                        </a:rPr>
                        <a:t> such as writer, copyright, version etc.</a:t>
                      </a:r>
                    </a:p>
                  </a:txBody>
                  <a:tcPr marL="76200" marR="76200" marT="76200" marB="76200"/>
                </a:tc>
              </a:tr>
            </a:tbl>
          </a:graphicData>
        </a:graphic>
      </p:graphicFrame>
      <p:sp>
        <p:nvSpPr>
          <p:cNvPr id="4" name="Slide Number Placeholder 3"/>
          <p:cNvSpPr>
            <a:spLocks noGrp="1"/>
          </p:cNvSpPr>
          <p:nvPr>
            <p:ph type="sldNum" sz="quarter" idx="12"/>
          </p:nvPr>
        </p:nvSpPr>
        <p:spPr>
          <a:xfrm>
            <a:off x="7963744" y="6126097"/>
            <a:ext cx="2743200" cy="365125"/>
          </a:xfrm>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14</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36" y="44529"/>
            <a:ext cx="11234464" cy="576160"/>
          </a:xfrm>
        </p:spPr>
        <p:txBody>
          <a:bodyPr/>
          <a:lstStyle/>
          <a:p>
            <a:r>
              <a:rPr lang="en-GB" sz="3600" b="1" dirty="0" err="1" smtClean="0">
                <a:solidFill>
                  <a:srgbClr val="0070C0"/>
                </a:solidFill>
                <a:latin typeface="Cambria" panose="02040503050406030204" pitchFamily="18" charset="0"/>
                <a:ea typeface="Cambria" panose="02040503050406030204" pitchFamily="18" charset="0"/>
              </a:rPr>
              <a:t>Servlet</a:t>
            </a:r>
            <a:r>
              <a:rPr lang="en-GB" sz="3600" b="1" dirty="0" smtClean="0">
                <a:solidFill>
                  <a:srgbClr val="0070C0"/>
                </a:solidFill>
                <a:latin typeface="Cambria" panose="02040503050406030204" pitchFamily="18" charset="0"/>
                <a:ea typeface="Cambria" panose="02040503050406030204" pitchFamily="18" charset="0"/>
              </a:rPr>
              <a:t> Example by implementing </a:t>
            </a:r>
            <a:r>
              <a:rPr lang="en-GB" sz="3600" b="1" dirty="0" err="1" smtClean="0">
                <a:solidFill>
                  <a:srgbClr val="0070C0"/>
                </a:solidFill>
                <a:latin typeface="Cambria" panose="02040503050406030204" pitchFamily="18" charset="0"/>
                <a:ea typeface="Cambria" panose="02040503050406030204" pitchFamily="18" charset="0"/>
              </a:rPr>
              <a:t>Servlet</a:t>
            </a:r>
            <a:r>
              <a:rPr lang="en-GB" sz="3600" b="1" dirty="0" smtClean="0">
                <a:solidFill>
                  <a:srgbClr val="0070C0"/>
                </a:solidFill>
                <a:latin typeface="Cambria" panose="02040503050406030204" pitchFamily="18" charset="0"/>
                <a:ea typeface="Cambria" panose="02040503050406030204" pitchFamily="18" charset="0"/>
              </a:rPr>
              <a:t> interface</a:t>
            </a:r>
            <a:endParaRPr lang="en-GB" sz="3600" b="1" dirty="0">
              <a:solidFill>
                <a:srgbClr val="0070C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191344" y="620689"/>
            <a:ext cx="10515600" cy="4891103"/>
          </a:xfrm>
        </p:spPr>
        <p:txBody>
          <a:bodyPr/>
          <a:lstStyle/>
          <a:p>
            <a:pPr>
              <a:spcBef>
                <a:spcPts val="0"/>
              </a:spcBef>
              <a:buNone/>
            </a:pPr>
            <a:r>
              <a:rPr lang="en-US" sz="2000" b="1" dirty="0" smtClean="0">
                <a:latin typeface="Cambria" panose="02040503050406030204" pitchFamily="18" charset="0"/>
                <a:ea typeface="Cambria" panose="02040503050406030204" pitchFamily="18" charset="0"/>
              </a:rPr>
              <a:t>import</a:t>
            </a:r>
            <a:r>
              <a:rPr lang="en-US" sz="2000" dirty="0" smtClean="0">
                <a:latin typeface="Cambria" panose="02040503050406030204" pitchFamily="18" charset="0"/>
                <a:ea typeface="Cambria" panose="02040503050406030204" pitchFamily="18" charset="0"/>
              </a:rPr>
              <a:t> java.io.*;  </a:t>
            </a:r>
          </a:p>
          <a:p>
            <a:pPr>
              <a:spcBef>
                <a:spcPts val="0"/>
              </a:spcBef>
              <a:buNone/>
            </a:pPr>
            <a:r>
              <a:rPr lang="en-US" sz="2000" b="1" dirty="0" smtClean="0">
                <a:latin typeface="Cambria" panose="02040503050406030204" pitchFamily="18" charset="0"/>
                <a:ea typeface="Cambria" panose="02040503050406030204" pitchFamily="18" charset="0"/>
              </a:rPr>
              <a:t>import</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javax.servlet</a:t>
            </a:r>
            <a:r>
              <a:rPr lang="en-US" sz="2000" dirty="0" smtClean="0">
                <a:latin typeface="Cambria" panose="02040503050406030204" pitchFamily="18" charset="0"/>
                <a:ea typeface="Cambria" panose="02040503050406030204" pitchFamily="18" charset="0"/>
              </a:rPr>
              <a:t>.*;  </a:t>
            </a:r>
          </a:p>
          <a:p>
            <a:pPr>
              <a:spcBef>
                <a:spcPts val="0"/>
              </a:spcBef>
              <a:buNone/>
            </a:pPr>
            <a:r>
              <a:rPr lang="en-US" sz="2000" dirty="0" smtClean="0">
                <a:latin typeface="Cambria" panose="02040503050406030204" pitchFamily="18" charset="0"/>
                <a:ea typeface="Cambria" panose="02040503050406030204" pitchFamily="18" charset="0"/>
              </a:rPr>
              <a:t>  </a:t>
            </a:r>
          </a:p>
          <a:p>
            <a:pPr>
              <a:spcBef>
                <a:spcPts val="0"/>
              </a:spcBef>
              <a:buNone/>
            </a:pPr>
            <a:r>
              <a:rPr lang="en-US" sz="2000" b="1" dirty="0" smtClean="0">
                <a:latin typeface="Cambria" panose="02040503050406030204" pitchFamily="18" charset="0"/>
                <a:ea typeface="Cambria" panose="02040503050406030204" pitchFamily="18" charset="0"/>
              </a:rPr>
              <a:t>public</a:t>
            </a: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class</a:t>
            </a:r>
            <a:r>
              <a:rPr lang="en-US" sz="2000" dirty="0" smtClean="0">
                <a:latin typeface="Cambria" panose="02040503050406030204" pitchFamily="18" charset="0"/>
                <a:ea typeface="Cambria" panose="02040503050406030204" pitchFamily="18" charset="0"/>
              </a:rPr>
              <a:t> First </a:t>
            </a:r>
            <a:r>
              <a:rPr lang="en-US" sz="2000" b="1" dirty="0" smtClean="0">
                <a:latin typeface="Cambria" panose="02040503050406030204" pitchFamily="18" charset="0"/>
                <a:ea typeface="Cambria" panose="02040503050406030204" pitchFamily="18" charset="0"/>
              </a:rPr>
              <a:t>implements</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Servlet</a:t>
            </a:r>
            <a:r>
              <a:rPr lang="en-US" sz="2000" dirty="0" smtClean="0">
                <a:latin typeface="Cambria" panose="02040503050406030204" pitchFamily="18" charset="0"/>
                <a:ea typeface="Cambria" panose="02040503050406030204" pitchFamily="18" charset="0"/>
              </a:rPr>
              <a:t> {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ServletConfig</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config</a:t>
            </a:r>
            <a:r>
              <a:rPr lang="en-US" sz="2000" dirty="0" smtClean="0">
                <a:latin typeface="Cambria" panose="02040503050406030204" pitchFamily="18" charset="0"/>
                <a:ea typeface="Cambria" panose="02040503050406030204" pitchFamily="18" charset="0"/>
              </a:rPr>
              <a:t>=</a:t>
            </a:r>
            <a:r>
              <a:rPr lang="en-US" sz="2000" b="1" dirty="0" smtClean="0">
                <a:latin typeface="Cambria" panose="02040503050406030204" pitchFamily="18" charset="0"/>
                <a:ea typeface="Cambria" panose="02040503050406030204" pitchFamily="18" charset="0"/>
              </a:rPr>
              <a:t>null</a:t>
            </a:r>
            <a:r>
              <a:rPr lang="en-US" sz="2000" dirty="0" smtClean="0">
                <a:latin typeface="Cambria" panose="02040503050406030204" pitchFamily="18" charset="0"/>
                <a:ea typeface="Cambria" panose="02040503050406030204" pitchFamily="18" charset="0"/>
              </a:rPr>
              <a:t>;  </a:t>
            </a:r>
          </a:p>
          <a:p>
            <a:pPr>
              <a:spcBef>
                <a:spcPts val="0"/>
              </a:spcBef>
              <a:buNone/>
            </a:pPr>
            <a:r>
              <a:rPr lang="en-US" sz="2000" dirty="0" smtClean="0">
                <a:latin typeface="Cambria" panose="02040503050406030204" pitchFamily="18" charset="0"/>
                <a:ea typeface="Cambria" panose="02040503050406030204" pitchFamily="18" charset="0"/>
              </a:rPr>
              <a:t>  </a:t>
            </a:r>
          </a:p>
          <a:p>
            <a:pPr>
              <a:spcBef>
                <a:spcPts val="0"/>
              </a:spcBef>
              <a:buNone/>
            </a:pPr>
            <a:r>
              <a:rPr lang="en-US" sz="2000" b="1" dirty="0" smtClean="0">
                <a:latin typeface="Cambria" panose="02040503050406030204" pitchFamily="18" charset="0"/>
                <a:ea typeface="Cambria" panose="02040503050406030204" pitchFamily="18" charset="0"/>
              </a:rPr>
              <a:t>public</a:t>
            </a: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void</a:t>
            </a:r>
            <a:r>
              <a:rPr lang="en-US" sz="2000" dirty="0" smtClean="0">
                <a:latin typeface="Cambria" panose="02040503050406030204" pitchFamily="18" charset="0"/>
                <a:ea typeface="Cambria" panose="02040503050406030204" pitchFamily="18" charset="0"/>
              </a:rPr>
              <a:t> init(</a:t>
            </a:r>
            <a:r>
              <a:rPr lang="en-US" sz="2000" dirty="0" err="1" smtClean="0">
                <a:latin typeface="Cambria" panose="02040503050406030204" pitchFamily="18" charset="0"/>
                <a:ea typeface="Cambria" panose="02040503050406030204" pitchFamily="18" charset="0"/>
              </a:rPr>
              <a:t>ServletConfig</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config</a:t>
            </a:r>
            <a:r>
              <a:rPr lang="en-US" sz="2000" dirty="0" smtClean="0">
                <a:latin typeface="Cambria" panose="02040503050406030204" pitchFamily="18" charset="0"/>
                <a:ea typeface="Cambria" panose="02040503050406030204" pitchFamily="18" charset="0"/>
              </a:rPr>
              <a:t>){  </a:t>
            </a:r>
          </a:p>
          <a:p>
            <a:pPr>
              <a:spcBef>
                <a:spcPts val="0"/>
              </a:spcBef>
              <a:buNone/>
            </a:pPr>
            <a:r>
              <a:rPr lang="en-US" sz="2000" b="1" dirty="0" smtClean="0">
                <a:latin typeface="Cambria" panose="02040503050406030204" pitchFamily="18" charset="0"/>
                <a:ea typeface="Cambria" panose="02040503050406030204" pitchFamily="18" charset="0"/>
              </a:rPr>
              <a:t>       </a:t>
            </a:r>
            <a:r>
              <a:rPr lang="en-US" sz="2000" b="1" dirty="0" err="1" smtClean="0">
                <a:latin typeface="Cambria" panose="02040503050406030204" pitchFamily="18" charset="0"/>
                <a:ea typeface="Cambria" panose="02040503050406030204" pitchFamily="18" charset="0"/>
              </a:rPr>
              <a:t>this</a:t>
            </a:r>
            <a:r>
              <a:rPr lang="en-US" sz="2000" dirty="0" err="1" smtClean="0">
                <a:latin typeface="Cambria" panose="02040503050406030204" pitchFamily="18" charset="0"/>
                <a:ea typeface="Cambria" panose="02040503050406030204" pitchFamily="18" charset="0"/>
              </a:rPr>
              <a:t>.config</a:t>
            </a:r>
            <a:r>
              <a:rPr lang="en-US" sz="2000" dirty="0" smtClean="0">
                <a:latin typeface="Cambria" panose="02040503050406030204" pitchFamily="18" charset="0"/>
                <a:ea typeface="Cambria" panose="02040503050406030204" pitchFamily="18" charset="0"/>
              </a:rPr>
              <a:t>=</a:t>
            </a:r>
            <a:r>
              <a:rPr lang="en-US" sz="2000" dirty="0" err="1" smtClean="0">
                <a:latin typeface="Cambria" panose="02040503050406030204" pitchFamily="18" charset="0"/>
                <a:ea typeface="Cambria" panose="02040503050406030204" pitchFamily="18" charset="0"/>
              </a:rPr>
              <a:t>config</a:t>
            </a:r>
            <a:r>
              <a:rPr lang="en-US" sz="2000" dirty="0" smtClean="0">
                <a:latin typeface="Cambria" panose="02040503050406030204" pitchFamily="18" charset="0"/>
                <a:ea typeface="Cambria" panose="02040503050406030204" pitchFamily="18" charset="0"/>
              </a:rPr>
              <a:t>;  </a:t>
            </a:r>
          </a:p>
          <a:p>
            <a:pPr>
              <a:spcBef>
                <a:spcPts val="0"/>
              </a:spcBef>
              <a:buNone/>
            </a:pPr>
            <a:r>
              <a:rPr lang="en-US" sz="2000" dirty="0" smtClean="0">
                <a:latin typeface="Cambria" panose="02040503050406030204" pitchFamily="18" charset="0"/>
                <a:ea typeface="Cambria" panose="02040503050406030204" pitchFamily="18" charset="0"/>
              </a:rPr>
              <a:t>       System.out.println(“Servlet is initialized");  </a:t>
            </a:r>
          </a:p>
          <a:p>
            <a:pPr>
              <a:spcBef>
                <a:spcPts val="0"/>
              </a:spcBef>
              <a:buNone/>
            </a:pPr>
            <a:r>
              <a:rPr lang="en-US" sz="2000" dirty="0" smtClean="0">
                <a:latin typeface="Cambria" panose="02040503050406030204" pitchFamily="18" charset="0"/>
                <a:ea typeface="Cambria" panose="02040503050406030204" pitchFamily="18" charset="0"/>
              </a:rPr>
              <a:t>}    </a:t>
            </a:r>
          </a:p>
          <a:p>
            <a:pPr>
              <a:spcBef>
                <a:spcPts val="0"/>
              </a:spcBef>
              <a:buNone/>
            </a:pPr>
            <a:r>
              <a:rPr lang="en-US" sz="2000" b="1" dirty="0" smtClean="0">
                <a:latin typeface="Cambria" panose="02040503050406030204" pitchFamily="18" charset="0"/>
                <a:ea typeface="Cambria" panose="02040503050406030204" pitchFamily="18" charset="0"/>
              </a:rPr>
              <a:t>public</a:t>
            </a: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void</a:t>
            </a:r>
            <a:r>
              <a:rPr lang="en-US" sz="2000" dirty="0" smtClean="0">
                <a:latin typeface="Cambria" panose="02040503050406030204" pitchFamily="18" charset="0"/>
                <a:ea typeface="Cambria" panose="02040503050406030204" pitchFamily="18" charset="0"/>
              </a:rPr>
              <a:t> service(</a:t>
            </a:r>
            <a:r>
              <a:rPr lang="en-US" sz="2000" dirty="0" err="1" smtClean="0">
                <a:latin typeface="Cambria" panose="02040503050406030204" pitchFamily="18" charset="0"/>
                <a:ea typeface="Cambria" panose="02040503050406030204" pitchFamily="18" charset="0"/>
              </a:rPr>
              <a:t>ServletRequest</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req,ServletResponse</a:t>
            </a:r>
            <a:r>
              <a:rPr lang="en-US" sz="2000" dirty="0" smtClean="0">
                <a:latin typeface="Cambria" panose="02040503050406030204" pitchFamily="18" charset="0"/>
                <a:ea typeface="Cambria" panose="02040503050406030204" pitchFamily="18" charset="0"/>
              </a:rPr>
              <a:t> res)  </a:t>
            </a:r>
          </a:p>
          <a:p>
            <a:pPr>
              <a:spcBef>
                <a:spcPts val="0"/>
              </a:spcBef>
              <a:buNone/>
            </a:pPr>
            <a:r>
              <a:rPr lang="en-US" sz="2000" b="1" dirty="0" smtClean="0">
                <a:latin typeface="Cambria" panose="02040503050406030204" pitchFamily="18" charset="0"/>
                <a:ea typeface="Cambria" panose="02040503050406030204" pitchFamily="18" charset="0"/>
              </a:rPr>
              <a:t>throws</a:t>
            </a:r>
            <a:r>
              <a:rPr lang="en-US" sz="2000" dirty="0" smtClean="0">
                <a:latin typeface="Cambria" panose="02040503050406030204" pitchFamily="18" charset="0"/>
                <a:ea typeface="Cambria" panose="02040503050406030204" pitchFamily="18" charset="0"/>
              </a:rPr>
              <a:t> IOException, ServletException{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res.setContentType</a:t>
            </a:r>
            <a:r>
              <a:rPr lang="en-US" sz="2000" dirty="0" smtClean="0">
                <a:latin typeface="Cambria" panose="02040503050406030204" pitchFamily="18" charset="0"/>
                <a:ea typeface="Cambria" panose="02040503050406030204" pitchFamily="18" charset="0"/>
              </a:rPr>
              <a:t>("text/html");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PrintWriter</a:t>
            </a:r>
            <a:r>
              <a:rPr lang="en-US" sz="2000" dirty="0" smtClean="0">
                <a:latin typeface="Cambria" panose="02040503050406030204" pitchFamily="18" charset="0"/>
                <a:ea typeface="Cambria" panose="02040503050406030204" pitchFamily="18" charset="0"/>
              </a:rPr>
              <a:t> out=</a:t>
            </a:r>
            <a:r>
              <a:rPr lang="en-US" sz="2000" dirty="0" err="1" smtClean="0">
                <a:latin typeface="Cambria" panose="02040503050406030204" pitchFamily="18" charset="0"/>
                <a:ea typeface="Cambria" panose="02040503050406030204" pitchFamily="18" charset="0"/>
              </a:rPr>
              <a:t>res.getWriter</a:t>
            </a:r>
            <a:r>
              <a:rPr lang="en-US" sz="2000" dirty="0" smtClean="0">
                <a:latin typeface="Cambria" panose="02040503050406030204" pitchFamily="18" charset="0"/>
                <a:ea typeface="Cambria" panose="02040503050406030204" pitchFamily="18" charset="0"/>
              </a:rPr>
              <a:t>();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out.print</a:t>
            </a:r>
            <a:r>
              <a:rPr lang="en-US" sz="2000" dirty="0" smtClean="0">
                <a:latin typeface="Cambria" panose="02040503050406030204" pitchFamily="18" charset="0"/>
                <a:ea typeface="Cambria" panose="02040503050406030204" pitchFamily="18" charset="0"/>
              </a:rPr>
              <a:t>("&lt;html&gt;&lt;body&gt;");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out.print</a:t>
            </a:r>
            <a:r>
              <a:rPr lang="en-US" sz="2000" dirty="0" smtClean="0">
                <a:latin typeface="Cambria" panose="02040503050406030204" pitchFamily="18" charset="0"/>
                <a:ea typeface="Cambria" panose="02040503050406030204" pitchFamily="18" charset="0"/>
              </a:rPr>
              <a:t>("&lt;b&gt;hello simple </a:t>
            </a:r>
            <a:r>
              <a:rPr lang="en-US" sz="2000" dirty="0" err="1" smtClean="0">
                <a:latin typeface="Cambria" panose="02040503050406030204" pitchFamily="18" charset="0"/>
                <a:ea typeface="Cambria" panose="02040503050406030204" pitchFamily="18" charset="0"/>
              </a:rPr>
              <a:t>servlet</a:t>
            </a:r>
            <a:r>
              <a:rPr lang="en-US" sz="2000" dirty="0" smtClean="0">
                <a:latin typeface="Cambria" panose="02040503050406030204" pitchFamily="18" charset="0"/>
                <a:ea typeface="Cambria" panose="02040503050406030204" pitchFamily="18" charset="0"/>
              </a:rPr>
              <a:t>&lt;/b&gt;");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out.print</a:t>
            </a:r>
            <a:r>
              <a:rPr lang="en-US" sz="2000" dirty="0" smtClean="0">
                <a:latin typeface="Cambria" panose="02040503050406030204" pitchFamily="18" charset="0"/>
                <a:ea typeface="Cambria" panose="02040503050406030204" pitchFamily="18" charset="0"/>
              </a:rPr>
              <a:t>("&lt;/body&gt;&lt;/html&gt;");  </a:t>
            </a:r>
          </a:p>
          <a:p>
            <a:pPr>
              <a:spcBef>
                <a:spcPts val="0"/>
              </a:spcBef>
              <a:buNone/>
            </a:pPr>
            <a:r>
              <a:rPr lang="en-US" sz="2000" dirty="0" smtClean="0">
                <a:latin typeface="Cambria" panose="02040503050406030204" pitchFamily="18" charset="0"/>
                <a:ea typeface="Cambria" panose="02040503050406030204" pitchFamily="18" charset="0"/>
              </a:rPr>
              <a:t>  </a:t>
            </a:r>
          </a:p>
          <a:p>
            <a:pPr>
              <a:spcBef>
                <a:spcPts val="0"/>
              </a:spcBef>
              <a:buNone/>
            </a:pPr>
            <a:r>
              <a:rPr lang="en-US" sz="2000" dirty="0" smtClean="0">
                <a:latin typeface="Cambria" panose="02040503050406030204" pitchFamily="18" charset="0"/>
                <a:ea typeface="Cambria" panose="02040503050406030204" pitchFamily="18" charset="0"/>
              </a:rPr>
              <a:t>}  </a:t>
            </a:r>
          </a:p>
          <a:p>
            <a:pPr>
              <a:spcBef>
                <a:spcPts val="0"/>
              </a:spcBef>
            </a:pPr>
            <a:endParaRPr lang="en-US" sz="20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15</a:t>
            </a:fld>
            <a:endParaRPr lang="en-US" altLang="en-US"/>
          </a:p>
        </p:txBody>
      </p:sp>
      <p:sp>
        <p:nvSpPr>
          <p:cNvPr id="5" name="Rectangle 4"/>
          <p:cNvSpPr/>
          <p:nvPr/>
        </p:nvSpPr>
        <p:spPr>
          <a:xfrm>
            <a:off x="7032104" y="692696"/>
            <a:ext cx="5003863" cy="2585323"/>
          </a:xfrm>
          <a:prstGeom prst="rect">
            <a:avLst/>
          </a:prstGeom>
        </p:spPr>
        <p:txBody>
          <a:bodyPr wrap="square">
            <a:spAutoFit/>
          </a:bodyPr>
          <a:lstStyle/>
          <a:p>
            <a:pPr>
              <a:spcBef>
                <a:spcPts val="0"/>
              </a:spcBef>
              <a:buNone/>
            </a:pPr>
            <a:r>
              <a:rPr lang="en-US" b="1" dirty="0">
                <a:latin typeface="Cambria" panose="02040503050406030204" pitchFamily="18" charset="0"/>
                <a:ea typeface="Cambria" panose="02040503050406030204" pitchFamily="18" charset="0"/>
              </a:rPr>
              <a:t>public</a:t>
            </a:r>
            <a:r>
              <a:rPr lang="en-US" dirty="0">
                <a:latin typeface="Cambria" panose="02040503050406030204" pitchFamily="18" charset="0"/>
                <a:ea typeface="Cambria" panose="02040503050406030204" pitchFamily="18" charset="0"/>
              </a:rPr>
              <a:t> </a:t>
            </a:r>
            <a:r>
              <a:rPr lang="en-US" b="1" dirty="0">
                <a:latin typeface="Cambria" panose="02040503050406030204" pitchFamily="18" charset="0"/>
                <a:ea typeface="Cambria" panose="02040503050406030204" pitchFamily="18" charset="0"/>
              </a:rPr>
              <a:t>void</a:t>
            </a:r>
            <a:r>
              <a:rPr lang="en-US" dirty="0">
                <a:latin typeface="Cambria" panose="02040503050406030204" pitchFamily="18" charset="0"/>
                <a:ea typeface="Cambria" panose="02040503050406030204" pitchFamily="18" charset="0"/>
              </a:rPr>
              <a:t> destroy() { </a:t>
            </a:r>
          </a:p>
          <a:p>
            <a:pPr>
              <a:spcBef>
                <a:spcPts val="0"/>
              </a:spcBef>
              <a:buNone/>
            </a:pPr>
            <a:r>
              <a:rPr lang="en-US" dirty="0">
                <a:latin typeface="Cambria" panose="02040503050406030204" pitchFamily="18" charset="0"/>
                <a:ea typeface="Cambria" panose="02040503050406030204" pitchFamily="18" charset="0"/>
              </a:rPr>
              <a:t>          System.out.println("servlet is destroyed");</a:t>
            </a:r>
          </a:p>
          <a:p>
            <a:pPr>
              <a:spcBef>
                <a:spcPts val="0"/>
              </a:spcBef>
              <a:buNone/>
            </a:pPr>
            <a:r>
              <a:rPr lang="en-US" dirty="0">
                <a:latin typeface="Cambria" panose="02040503050406030204" pitchFamily="18" charset="0"/>
                <a:ea typeface="Cambria" panose="02040503050406030204" pitchFamily="18" charset="0"/>
              </a:rPr>
              <a:t>}  </a:t>
            </a:r>
          </a:p>
          <a:p>
            <a:pPr>
              <a:spcBef>
                <a:spcPts val="0"/>
              </a:spcBef>
              <a:buNone/>
            </a:pPr>
            <a:r>
              <a:rPr lang="en-US" b="1" dirty="0">
                <a:latin typeface="Cambria" panose="02040503050406030204" pitchFamily="18" charset="0"/>
                <a:ea typeface="Cambria" panose="02040503050406030204" pitchFamily="18" charset="0"/>
              </a:rPr>
              <a:t>public</a:t>
            </a:r>
            <a:r>
              <a:rPr lang="en-US" dirty="0">
                <a:latin typeface="Cambria" panose="02040503050406030204" pitchFamily="18" charset="0"/>
                <a:ea typeface="Cambria" panose="02040503050406030204" pitchFamily="18" charset="0"/>
              </a:rPr>
              <a:t> ServletConfig getServletConfig() {</a:t>
            </a:r>
          </a:p>
          <a:p>
            <a:pPr>
              <a:spcBef>
                <a:spcPts val="0"/>
              </a:spcBef>
              <a:buNone/>
            </a:pPr>
            <a:r>
              <a:rPr lang="en-US" b="1" dirty="0">
                <a:latin typeface="Cambria" panose="02040503050406030204" pitchFamily="18" charset="0"/>
                <a:ea typeface="Cambria" panose="02040503050406030204" pitchFamily="18" charset="0"/>
              </a:rPr>
              <a:t>           return</a:t>
            </a:r>
            <a:r>
              <a:rPr lang="en-US" dirty="0">
                <a:latin typeface="Cambria" panose="02040503050406030204" pitchFamily="18" charset="0"/>
                <a:ea typeface="Cambria" panose="02040503050406030204" pitchFamily="18" charset="0"/>
              </a:rPr>
              <a:t> config;</a:t>
            </a:r>
          </a:p>
          <a:p>
            <a:pPr>
              <a:spcBef>
                <a:spcPts val="0"/>
              </a:spcBef>
              <a:buNone/>
            </a:pPr>
            <a:r>
              <a:rPr lang="en-US" dirty="0">
                <a:latin typeface="Cambria" panose="02040503050406030204" pitchFamily="18" charset="0"/>
                <a:ea typeface="Cambria" panose="02040503050406030204" pitchFamily="18" charset="0"/>
              </a:rPr>
              <a:t>}  </a:t>
            </a:r>
          </a:p>
          <a:p>
            <a:pPr>
              <a:spcBef>
                <a:spcPts val="0"/>
              </a:spcBef>
              <a:buNone/>
            </a:pPr>
            <a:r>
              <a:rPr lang="en-US" b="1" dirty="0">
                <a:latin typeface="Cambria" panose="02040503050406030204" pitchFamily="18" charset="0"/>
                <a:ea typeface="Cambria" panose="02040503050406030204" pitchFamily="18" charset="0"/>
              </a:rPr>
              <a:t>public</a:t>
            </a:r>
            <a:r>
              <a:rPr lang="en-US" dirty="0">
                <a:latin typeface="Cambria" panose="02040503050406030204" pitchFamily="18" charset="0"/>
                <a:ea typeface="Cambria" panose="02040503050406030204" pitchFamily="18" charset="0"/>
              </a:rPr>
              <a:t> String getServletInfo() {</a:t>
            </a:r>
          </a:p>
          <a:p>
            <a:pPr>
              <a:spcBef>
                <a:spcPts val="0"/>
              </a:spcBef>
              <a:buNone/>
            </a:pPr>
            <a:r>
              <a:rPr lang="en-US" b="1" dirty="0">
                <a:latin typeface="Cambria" panose="02040503050406030204" pitchFamily="18" charset="0"/>
                <a:ea typeface="Cambria" panose="02040503050406030204" pitchFamily="18" charset="0"/>
              </a:rPr>
              <a:t>           return</a:t>
            </a:r>
            <a:r>
              <a:rPr lang="en-US" dirty="0">
                <a:latin typeface="Cambria" panose="02040503050406030204" pitchFamily="18" charset="0"/>
                <a:ea typeface="Cambria" panose="02040503050406030204" pitchFamily="18" charset="0"/>
              </a:rPr>
              <a:t> "copyright 2007-1010";}  </a:t>
            </a:r>
          </a:p>
          <a:p>
            <a:pPr>
              <a:spcBef>
                <a:spcPts val="0"/>
              </a:spcBef>
              <a:buNone/>
            </a:pPr>
            <a:r>
              <a:rPr lang="en-US" dirty="0">
                <a:latin typeface="Cambria" panose="02040503050406030204" pitchFamily="18" charset="0"/>
                <a:ea typeface="Cambria" panose="02040503050406030204" pitchFamily="18" charset="0"/>
              </a:rPr>
              <a:t>}  </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130" y="61117"/>
            <a:ext cx="7365014" cy="415555"/>
          </a:xfrm>
        </p:spPr>
        <p:txBody>
          <a:bodyPr/>
          <a:lstStyle/>
          <a:p>
            <a:r>
              <a:rPr lang="en-US" sz="4000" b="1" dirty="0" smtClean="0">
                <a:solidFill>
                  <a:schemeClr val="accent5"/>
                </a:solidFill>
                <a:latin typeface="Cambria" panose="02040503050406030204" pitchFamily="18" charset="0"/>
                <a:ea typeface="Cambria" panose="02040503050406030204" pitchFamily="18" charset="0"/>
              </a:rPr>
              <a:t/>
            </a:r>
            <a:br>
              <a:rPr lang="en-US" sz="4000" b="1" dirty="0" smtClean="0">
                <a:solidFill>
                  <a:schemeClr val="accent5"/>
                </a:solidFill>
                <a:latin typeface="Cambria" panose="02040503050406030204" pitchFamily="18" charset="0"/>
                <a:ea typeface="Cambria" panose="02040503050406030204" pitchFamily="18" charset="0"/>
              </a:rPr>
            </a:br>
            <a:r>
              <a:rPr lang="en-US" sz="4000" b="1" dirty="0" smtClean="0">
                <a:solidFill>
                  <a:schemeClr val="accent5"/>
                </a:solidFill>
                <a:latin typeface="Cambria" panose="02040503050406030204" pitchFamily="18" charset="0"/>
                <a:ea typeface="Cambria" panose="02040503050406030204" pitchFamily="18" charset="0"/>
              </a:rPr>
              <a:t/>
            </a:r>
            <a:br>
              <a:rPr lang="en-US" sz="4000" b="1" dirty="0" smtClean="0">
                <a:solidFill>
                  <a:schemeClr val="accent5"/>
                </a:solidFill>
                <a:latin typeface="Cambria" panose="02040503050406030204" pitchFamily="18" charset="0"/>
                <a:ea typeface="Cambria" panose="02040503050406030204" pitchFamily="18" charset="0"/>
              </a:rPr>
            </a:br>
            <a:r>
              <a:rPr lang="en-US" sz="4000" b="1" dirty="0" err="1" smtClean="0">
                <a:solidFill>
                  <a:schemeClr val="accent5"/>
                </a:solidFill>
                <a:latin typeface="Cambria" panose="02040503050406030204" pitchFamily="18" charset="0"/>
                <a:ea typeface="Cambria" panose="02040503050406030204" pitchFamily="18" charset="0"/>
              </a:rPr>
              <a:t>GenericServlet</a:t>
            </a:r>
            <a:r>
              <a:rPr lang="en-US" sz="4000" b="1" dirty="0" smtClean="0">
                <a:solidFill>
                  <a:schemeClr val="accent5"/>
                </a:solidFill>
                <a:latin typeface="Cambria" panose="02040503050406030204" pitchFamily="18" charset="0"/>
                <a:ea typeface="Cambria" panose="02040503050406030204" pitchFamily="18" charset="0"/>
              </a:rPr>
              <a:t> class</a:t>
            </a:r>
            <a:br>
              <a:rPr lang="en-US" sz="4000" b="1" dirty="0" smtClean="0">
                <a:solidFill>
                  <a:schemeClr val="accent5"/>
                </a:solidFill>
                <a:latin typeface="Cambria" panose="02040503050406030204" pitchFamily="18" charset="0"/>
                <a:ea typeface="Cambria" panose="02040503050406030204" pitchFamily="18" charset="0"/>
              </a:rPr>
            </a:br>
            <a:r>
              <a:rPr lang="en-IN" sz="4000" b="1" dirty="0" smtClean="0">
                <a:solidFill>
                  <a:schemeClr val="accent5"/>
                </a:solidFill>
                <a:latin typeface="Cambria" panose="02040503050406030204" pitchFamily="18" charset="0"/>
                <a:ea typeface="Cambria" panose="02040503050406030204" pitchFamily="18" charset="0"/>
              </a:rPr>
              <a:t/>
            </a:r>
            <a:br>
              <a:rPr lang="en-IN" sz="4000" b="1" dirty="0" smtClean="0">
                <a:solidFill>
                  <a:schemeClr val="accent5"/>
                </a:solidFill>
                <a:latin typeface="Cambria" panose="02040503050406030204" pitchFamily="18" charset="0"/>
                <a:ea typeface="Cambria" panose="02040503050406030204" pitchFamily="18" charset="0"/>
              </a:rPr>
            </a:br>
            <a:endParaRPr lang="en-US" sz="40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407368" y="507087"/>
            <a:ext cx="11233248" cy="5226169"/>
          </a:xfrm>
        </p:spPr>
        <p:txBody>
          <a:bodyPr/>
          <a:lstStyle/>
          <a:p>
            <a:pPr algn="just"/>
            <a:r>
              <a:rPr lang="en-GB" dirty="0" smtClean="0">
                <a:latin typeface="Cambria" panose="02040503050406030204" pitchFamily="18" charset="0"/>
                <a:ea typeface="Cambria" panose="02040503050406030204" pitchFamily="18" charset="0"/>
              </a:rPr>
              <a:t>implements </a:t>
            </a:r>
            <a:r>
              <a:rPr lang="en-GB" b="1" dirty="0" err="1" smtClean="0">
                <a:latin typeface="Cambria" panose="02040503050406030204" pitchFamily="18" charset="0"/>
                <a:ea typeface="Cambria" panose="02040503050406030204" pitchFamily="18" charset="0"/>
              </a:rPr>
              <a:t>Servlet</a:t>
            </a:r>
            <a:r>
              <a:rPr lang="en-GB" dirty="0" smtClean="0">
                <a:latin typeface="Cambria" panose="02040503050406030204" pitchFamily="18" charset="0"/>
                <a:ea typeface="Cambria" panose="02040503050406030204" pitchFamily="18" charset="0"/>
              </a:rPr>
              <a:t>, </a:t>
            </a:r>
            <a:r>
              <a:rPr lang="en-GB" b="1" dirty="0" err="1" smtClean="0">
                <a:latin typeface="Cambria" panose="02040503050406030204" pitchFamily="18" charset="0"/>
                <a:ea typeface="Cambria" panose="02040503050406030204" pitchFamily="18" charset="0"/>
              </a:rPr>
              <a:t>ServletConfig</a:t>
            </a:r>
            <a:r>
              <a:rPr lang="en-GB" dirty="0" smtClean="0">
                <a:latin typeface="Cambria" panose="02040503050406030204" pitchFamily="18" charset="0"/>
                <a:ea typeface="Cambria" panose="02040503050406030204" pitchFamily="18" charset="0"/>
              </a:rPr>
              <a:t> and </a:t>
            </a:r>
            <a:r>
              <a:rPr lang="en-GB" b="1" dirty="0" err="1" smtClean="0">
                <a:latin typeface="Cambria" panose="02040503050406030204" pitchFamily="18" charset="0"/>
                <a:ea typeface="Cambria" panose="02040503050406030204" pitchFamily="18" charset="0"/>
              </a:rPr>
              <a:t>Serializable</a:t>
            </a:r>
            <a:r>
              <a:rPr lang="en-GB" dirty="0" smtClean="0">
                <a:latin typeface="Cambria" panose="02040503050406030204" pitchFamily="18" charset="0"/>
                <a:ea typeface="Cambria" panose="02040503050406030204" pitchFamily="18" charset="0"/>
              </a:rPr>
              <a:t> interfaces. It provides the implementation of all the methods of these interfaces except the service method.</a:t>
            </a:r>
          </a:p>
          <a:p>
            <a:pPr algn="just"/>
            <a:r>
              <a:rPr lang="en-GB" dirty="0" smtClean="0">
                <a:latin typeface="Cambria" panose="02040503050406030204" pitchFamily="18" charset="0"/>
                <a:ea typeface="Cambria" panose="02040503050406030204" pitchFamily="18" charset="0"/>
              </a:rPr>
              <a:t> can handle any type of request, so it is protocol-independent.</a:t>
            </a:r>
          </a:p>
          <a:p>
            <a:pPr algn="just"/>
            <a:r>
              <a:rPr lang="en-US" dirty="0" smtClean="0">
                <a:latin typeface="Cambria" panose="02040503050406030204" pitchFamily="18" charset="0"/>
                <a:ea typeface="Cambria" panose="02040503050406030204" pitchFamily="18" charset="0"/>
              </a:rPr>
              <a:t>Methods</a:t>
            </a:r>
          </a:p>
          <a:p>
            <a:pPr marL="514350" indent="-514350" algn="just">
              <a:lnSpc>
                <a:spcPct val="100000"/>
              </a:lnSpc>
              <a:spcBef>
                <a:spcPts val="300"/>
              </a:spcBef>
              <a:spcAft>
                <a:spcPts val="300"/>
              </a:spcAft>
              <a:buFont typeface="+mj-lt"/>
              <a:buAutoNum type="arabicPeriod"/>
            </a:pPr>
            <a:r>
              <a:rPr lang="en-GB" sz="2000" b="1" dirty="0" smtClean="0">
                <a:latin typeface="Cambria" panose="02040503050406030204" pitchFamily="18" charset="0"/>
                <a:ea typeface="Cambria" panose="02040503050406030204" pitchFamily="18" charset="0"/>
              </a:rPr>
              <a:t>public void init(</a:t>
            </a:r>
            <a:r>
              <a:rPr lang="en-GB" sz="2000" b="1" dirty="0" err="1" smtClean="0">
                <a:latin typeface="Cambria" panose="02040503050406030204" pitchFamily="18" charset="0"/>
                <a:ea typeface="Cambria" panose="02040503050406030204" pitchFamily="18" charset="0"/>
              </a:rPr>
              <a:t>ServletConfig</a:t>
            </a:r>
            <a:r>
              <a:rPr lang="en-GB" sz="2000" b="1" dirty="0" smtClean="0">
                <a:latin typeface="Cambria" panose="02040503050406030204" pitchFamily="18" charset="0"/>
                <a:ea typeface="Cambria" panose="02040503050406030204" pitchFamily="18" charset="0"/>
              </a:rPr>
              <a:t> </a:t>
            </a:r>
            <a:r>
              <a:rPr lang="en-GB" sz="2000" b="1" dirty="0" err="1" smtClean="0">
                <a:latin typeface="Cambria" panose="02040503050406030204" pitchFamily="18" charset="0"/>
                <a:ea typeface="Cambria" panose="02040503050406030204" pitchFamily="18" charset="0"/>
              </a:rPr>
              <a:t>config</a:t>
            </a:r>
            <a:r>
              <a:rPr lang="en-GB" sz="2000" b="1" dirty="0" smtClean="0">
                <a:latin typeface="Cambria" panose="02040503050406030204" pitchFamily="18" charset="0"/>
                <a:ea typeface="Cambria" panose="02040503050406030204" pitchFamily="18" charset="0"/>
              </a:rPr>
              <a:t>)</a:t>
            </a:r>
            <a:r>
              <a:rPr lang="en-GB" sz="2000" dirty="0" smtClean="0">
                <a:latin typeface="Cambria" panose="02040503050406030204" pitchFamily="18" charset="0"/>
                <a:ea typeface="Cambria" panose="02040503050406030204" pitchFamily="18" charset="0"/>
              </a:rPr>
              <a:t> is used to initialize the </a:t>
            </a:r>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a:t>
            </a:r>
          </a:p>
          <a:p>
            <a:pPr marL="514350" indent="-514350" algn="just">
              <a:lnSpc>
                <a:spcPct val="100000"/>
              </a:lnSpc>
              <a:spcBef>
                <a:spcPts val="300"/>
              </a:spcBef>
              <a:spcAft>
                <a:spcPts val="300"/>
              </a:spcAft>
              <a:buFont typeface="+mj-lt"/>
              <a:buAutoNum type="arabicPeriod"/>
            </a:pPr>
            <a:r>
              <a:rPr lang="en-GB" sz="2000" b="1" dirty="0" smtClean="0">
                <a:latin typeface="Cambria" panose="02040503050406030204" pitchFamily="18" charset="0"/>
                <a:ea typeface="Cambria" panose="02040503050406030204" pitchFamily="18" charset="0"/>
              </a:rPr>
              <a:t>public abstract void service(</a:t>
            </a:r>
            <a:r>
              <a:rPr lang="en-GB" sz="2000" b="1" dirty="0" err="1" smtClean="0">
                <a:latin typeface="Cambria" panose="02040503050406030204" pitchFamily="18" charset="0"/>
                <a:ea typeface="Cambria" panose="02040503050406030204" pitchFamily="18" charset="0"/>
              </a:rPr>
              <a:t>ServletRequest</a:t>
            </a:r>
            <a:r>
              <a:rPr lang="en-GB" sz="2000" b="1" dirty="0" smtClean="0">
                <a:latin typeface="Cambria" panose="02040503050406030204" pitchFamily="18" charset="0"/>
                <a:ea typeface="Cambria" panose="02040503050406030204" pitchFamily="18" charset="0"/>
              </a:rPr>
              <a:t> request, </a:t>
            </a:r>
            <a:r>
              <a:rPr lang="en-GB" sz="2000" b="1" dirty="0" err="1" smtClean="0">
                <a:latin typeface="Cambria" panose="02040503050406030204" pitchFamily="18" charset="0"/>
                <a:ea typeface="Cambria" panose="02040503050406030204" pitchFamily="18" charset="0"/>
              </a:rPr>
              <a:t>ServletResponse</a:t>
            </a:r>
            <a:r>
              <a:rPr lang="en-GB" sz="2000" b="1" dirty="0" smtClean="0">
                <a:latin typeface="Cambria" panose="02040503050406030204" pitchFamily="18" charset="0"/>
                <a:ea typeface="Cambria" panose="02040503050406030204" pitchFamily="18" charset="0"/>
              </a:rPr>
              <a:t> response)</a:t>
            </a:r>
            <a:r>
              <a:rPr lang="en-GB" sz="2000" dirty="0" smtClean="0">
                <a:latin typeface="Cambria" panose="02040503050406030204" pitchFamily="18" charset="0"/>
                <a:ea typeface="Cambria" panose="02040503050406030204" pitchFamily="18" charset="0"/>
              </a:rPr>
              <a:t> provides service for the incoming request. It is invoked at each time when user requests for a </a:t>
            </a:r>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a:t>
            </a:r>
          </a:p>
          <a:p>
            <a:pPr marL="514350" indent="-514350" algn="just">
              <a:lnSpc>
                <a:spcPct val="100000"/>
              </a:lnSpc>
              <a:spcBef>
                <a:spcPts val="300"/>
              </a:spcBef>
              <a:spcAft>
                <a:spcPts val="300"/>
              </a:spcAft>
              <a:buFont typeface="+mj-lt"/>
              <a:buAutoNum type="arabicPeriod"/>
            </a:pPr>
            <a:r>
              <a:rPr lang="en-GB" sz="2000" b="1" dirty="0" smtClean="0">
                <a:latin typeface="Cambria" panose="02040503050406030204" pitchFamily="18" charset="0"/>
                <a:ea typeface="Cambria" panose="02040503050406030204" pitchFamily="18" charset="0"/>
              </a:rPr>
              <a:t>public void destroy()</a:t>
            </a:r>
            <a:r>
              <a:rPr lang="en-GB" sz="2000" dirty="0" smtClean="0">
                <a:latin typeface="Cambria" panose="02040503050406030204" pitchFamily="18" charset="0"/>
                <a:ea typeface="Cambria" panose="02040503050406030204" pitchFamily="18" charset="0"/>
              </a:rPr>
              <a:t> is invoked only once throughout the life cycle and indicates that </a:t>
            </a:r>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 is being destroyed.</a:t>
            </a:r>
          </a:p>
          <a:p>
            <a:pPr marL="514350" indent="-514350" algn="just">
              <a:lnSpc>
                <a:spcPct val="100000"/>
              </a:lnSpc>
              <a:spcBef>
                <a:spcPts val="300"/>
              </a:spcBef>
              <a:spcAft>
                <a:spcPts val="300"/>
              </a:spcAft>
              <a:buFont typeface="+mj-lt"/>
              <a:buAutoNum type="arabicPeriod"/>
            </a:pPr>
            <a:r>
              <a:rPr lang="en-GB" sz="2000" b="1" dirty="0" smtClean="0">
                <a:latin typeface="Cambria" panose="02040503050406030204" pitchFamily="18" charset="0"/>
                <a:ea typeface="Cambria" panose="02040503050406030204" pitchFamily="18" charset="0"/>
              </a:rPr>
              <a:t>public </a:t>
            </a:r>
            <a:r>
              <a:rPr lang="en-GB" sz="2000" b="1" dirty="0" err="1" smtClean="0">
                <a:latin typeface="Cambria" panose="02040503050406030204" pitchFamily="18" charset="0"/>
                <a:ea typeface="Cambria" panose="02040503050406030204" pitchFamily="18" charset="0"/>
              </a:rPr>
              <a:t>ServletConfig</a:t>
            </a:r>
            <a:r>
              <a:rPr lang="en-GB" sz="2000" b="1" dirty="0" smtClean="0">
                <a:latin typeface="Cambria" panose="02040503050406030204" pitchFamily="18" charset="0"/>
                <a:ea typeface="Cambria" panose="02040503050406030204" pitchFamily="18" charset="0"/>
              </a:rPr>
              <a:t> </a:t>
            </a:r>
            <a:r>
              <a:rPr lang="en-GB" sz="2000" b="1" dirty="0" err="1" smtClean="0">
                <a:latin typeface="Cambria" panose="02040503050406030204" pitchFamily="18" charset="0"/>
                <a:ea typeface="Cambria" panose="02040503050406030204" pitchFamily="18" charset="0"/>
              </a:rPr>
              <a:t>getServletConfig</a:t>
            </a:r>
            <a:r>
              <a:rPr lang="en-GB" sz="2000" b="1" dirty="0" smtClean="0">
                <a:latin typeface="Cambria" panose="02040503050406030204" pitchFamily="18" charset="0"/>
                <a:ea typeface="Cambria" panose="02040503050406030204" pitchFamily="18" charset="0"/>
              </a:rPr>
              <a:t>()</a:t>
            </a:r>
            <a:r>
              <a:rPr lang="en-GB" sz="2000" dirty="0" smtClean="0">
                <a:latin typeface="Cambria" panose="02040503050406030204" pitchFamily="18" charset="0"/>
                <a:ea typeface="Cambria" panose="02040503050406030204" pitchFamily="18" charset="0"/>
              </a:rPr>
              <a:t> returns the object of </a:t>
            </a:r>
            <a:r>
              <a:rPr lang="en-GB" sz="2000" dirty="0" err="1" smtClean="0">
                <a:latin typeface="Cambria" panose="02040503050406030204" pitchFamily="18" charset="0"/>
                <a:ea typeface="Cambria" panose="02040503050406030204" pitchFamily="18" charset="0"/>
              </a:rPr>
              <a:t>ServletConfig</a:t>
            </a:r>
            <a:r>
              <a:rPr lang="en-GB" sz="2000" dirty="0" smtClean="0">
                <a:latin typeface="Cambria" panose="02040503050406030204" pitchFamily="18" charset="0"/>
                <a:ea typeface="Cambria" panose="02040503050406030204" pitchFamily="18" charset="0"/>
              </a:rPr>
              <a:t>.</a:t>
            </a:r>
          </a:p>
          <a:p>
            <a:pPr marL="514350" indent="-514350" algn="just">
              <a:lnSpc>
                <a:spcPct val="100000"/>
              </a:lnSpc>
              <a:spcBef>
                <a:spcPts val="300"/>
              </a:spcBef>
              <a:spcAft>
                <a:spcPts val="300"/>
              </a:spcAft>
              <a:buFont typeface="+mj-lt"/>
              <a:buAutoNum type="arabicPeriod"/>
            </a:pPr>
            <a:r>
              <a:rPr lang="en-GB" sz="2000" b="1" dirty="0" smtClean="0">
                <a:latin typeface="Cambria" panose="02040503050406030204" pitchFamily="18" charset="0"/>
                <a:ea typeface="Cambria" panose="02040503050406030204" pitchFamily="18" charset="0"/>
              </a:rPr>
              <a:t>public String </a:t>
            </a:r>
            <a:r>
              <a:rPr lang="en-GB" sz="2000" b="1" dirty="0" err="1" smtClean="0">
                <a:latin typeface="Cambria" panose="02040503050406030204" pitchFamily="18" charset="0"/>
                <a:ea typeface="Cambria" panose="02040503050406030204" pitchFamily="18" charset="0"/>
              </a:rPr>
              <a:t>getServletInfo</a:t>
            </a:r>
            <a:r>
              <a:rPr lang="en-GB" sz="2000" b="1" dirty="0" smtClean="0">
                <a:latin typeface="Cambria" panose="02040503050406030204" pitchFamily="18" charset="0"/>
                <a:ea typeface="Cambria" panose="02040503050406030204" pitchFamily="18" charset="0"/>
              </a:rPr>
              <a:t>()</a:t>
            </a:r>
            <a:r>
              <a:rPr lang="en-GB" sz="2000" dirty="0" smtClean="0">
                <a:latin typeface="Cambria" panose="02040503050406030204" pitchFamily="18" charset="0"/>
                <a:ea typeface="Cambria" panose="02040503050406030204" pitchFamily="18" charset="0"/>
              </a:rPr>
              <a:t> returns information about </a:t>
            </a:r>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 such as writer, copyright, version etc.</a:t>
            </a:r>
          </a:p>
          <a:p>
            <a:pPr algn="just"/>
            <a:endParaRPr lang="en-US"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16</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5360" y="226888"/>
            <a:ext cx="10298360" cy="543595"/>
          </a:xfrm>
        </p:spPr>
        <p:txBody>
          <a:bodyPr/>
          <a:lstStyle/>
          <a:p>
            <a:r>
              <a:rPr lang="en-GB" sz="3200" b="1" dirty="0" err="1" smtClean="0">
                <a:solidFill>
                  <a:schemeClr val="accent5"/>
                </a:solidFill>
                <a:latin typeface="Cambria" panose="02040503050406030204" pitchFamily="18" charset="0"/>
                <a:ea typeface="Cambria" panose="02040503050406030204" pitchFamily="18" charset="0"/>
              </a:rPr>
              <a:t>Servlet</a:t>
            </a:r>
            <a:r>
              <a:rPr lang="en-GB" sz="3200" b="1" dirty="0" smtClean="0">
                <a:solidFill>
                  <a:schemeClr val="accent5"/>
                </a:solidFill>
                <a:latin typeface="Cambria" panose="02040503050406030204" pitchFamily="18" charset="0"/>
                <a:ea typeface="Cambria" panose="02040503050406030204" pitchFamily="18" charset="0"/>
              </a:rPr>
              <a:t> Example by inheriting the </a:t>
            </a:r>
            <a:r>
              <a:rPr lang="en-GB" sz="3200" b="1" dirty="0" err="1" smtClean="0">
                <a:solidFill>
                  <a:schemeClr val="accent5"/>
                </a:solidFill>
                <a:latin typeface="Cambria" panose="02040503050406030204" pitchFamily="18" charset="0"/>
                <a:ea typeface="Cambria" panose="02040503050406030204" pitchFamily="18" charset="0"/>
              </a:rPr>
              <a:t>GenericServlet</a:t>
            </a:r>
            <a:r>
              <a:rPr lang="en-GB" sz="3200" b="1" dirty="0" smtClean="0">
                <a:solidFill>
                  <a:schemeClr val="accent5"/>
                </a:solidFill>
                <a:latin typeface="Cambria" panose="02040503050406030204" pitchFamily="18" charset="0"/>
                <a:ea typeface="Cambria" panose="02040503050406030204" pitchFamily="18" charset="0"/>
              </a:rPr>
              <a:t> class</a:t>
            </a:r>
            <a:endParaRPr lang="en-GB" sz="3200" b="1" dirty="0">
              <a:solidFill>
                <a:schemeClr val="accent5"/>
              </a:solidFill>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17</a:t>
            </a:fld>
            <a:endParaRPr lang="en-US" altLang="en-US">
              <a:latin typeface="Cambria" panose="02040503050406030204" pitchFamily="18" charset="0"/>
              <a:ea typeface="Cambria" panose="02040503050406030204" pitchFamily="18" charset="0"/>
            </a:endParaRPr>
          </a:p>
        </p:txBody>
      </p:sp>
      <p:sp>
        <p:nvSpPr>
          <p:cNvPr id="6" name="Content Placeholder 5"/>
          <p:cNvSpPr>
            <a:spLocks noGrp="1"/>
          </p:cNvSpPr>
          <p:nvPr>
            <p:ph idx="1"/>
          </p:nvPr>
        </p:nvSpPr>
        <p:spPr>
          <a:xfrm>
            <a:off x="407368" y="1124744"/>
            <a:ext cx="11233248" cy="3475583"/>
          </a:xfrm>
        </p:spPr>
        <p:txBody>
          <a:bodyPr/>
          <a:lstStyle/>
          <a:p>
            <a:pPr>
              <a:spcBef>
                <a:spcPts val="0"/>
              </a:spcBef>
              <a:buNone/>
            </a:pPr>
            <a:r>
              <a:rPr lang="en-US" sz="2000" b="1" dirty="0" smtClean="0">
                <a:latin typeface="Cambria" panose="02040503050406030204" pitchFamily="18" charset="0"/>
                <a:ea typeface="Cambria" panose="02040503050406030204" pitchFamily="18" charset="0"/>
              </a:rPr>
              <a:t>import</a:t>
            </a:r>
            <a:r>
              <a:rPr lang="en-US" sz="2000" dirty="0" smtClean="0">
                <a:latin typeface="Cambria" panose="02040503050406030204" pitchFamily="18" charset="0"/>
                <a:ea typeface="Cambria" panose="02040503050406030204" pitchFamily="18" charset="0"/>
              </a:rPr>
              <a:t> java.io.*;  </a:t>
            </a:r>
          </a:p>
          <a:p>
            <a:pPr>
              <a:spcBef>
                <a:spcPts val="0"/>
              </a:spcBef>
              <a:buNone/>
            </a:pPr>
            <a:r>
              <a:rPr lang="en-US" sz="2000" b="1" dirty="0" smtClean="0">
                <a:latin typeface="Cambria" panose="02040503050406030204" pitchFamily="18" charset="0"/>
                <a:ea typeface="Cambria" panose="02040503050406030204" pitchFamily="18" charset="0"/>
              </a:rPr>
              <a:t>import</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javax.servlet</a:t>
            </a:r>
            <a:r>
              <a:rPr lang="en-US" sz="2000" dirty="0" smtClean="0">
                <a:latin typeface="Cambria" panose="02040503050406030204" pitchFamily="18" charset="0"/>
                <a:ea typeface="Cambria" panose="02040503050406030204" pitchFamily="18" charset="0"/>
              </a:rPr>
              <a:t>.*;  </a:t>
            </a:r>
          </a:p>
          <a:p>
            <a:pPr>
              <a:spcBef>
                <a:spcPts val="0"/>
              </a:spcBef>
              <a:buNone/>
            </a:pPr>
            <a:r>
              <a:rPr lang="en-US" sz="2000" dirty="0" smtClean="0">
                <a:latin typeface="Cambria" panose="02040503050406030204" pitchFamily="18" charset="0"/>
                <a:ea typeface="Cambria" panose="02040503050406030204" pitchFamily="18" charset="0"/>
              </a:rPr>
              <a:t>  </a:t>
            </a:r>
          </a:p>
          <a:p>
            <a:pPr>
              <a:spcBef>
                <a:spcPts val="0"/>
              </a:spcBef>
              <a:buNone/>
            </a:pPr>
            <a:r>
              <a:rPr lang="en-US" sz="2000" b="1" dirty="0" smtClean="0">
                <a:latin typeface="Cambria" panose="02040503050406030204" pitchFamily="18" charset="0"/>
                <a:ea typeface="Cambria" panose="02040503050406030204" pitchFamily="18" charset="0"/>
              </a:rPr>
              <a:t>public</a:t>
            </a: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class</a:t>
            </a:r>
            <a:r>
              <a:rPr lang="en-US" sz="2000" dirty="0" smtClean="0">
                <a:latin typeface="Cambria" panose="02040503050406030204" pitchFamily="18" charset="0"/>
                <a:ea typeface="Cambria" panose="02040503050406030204" pitchFamily="18" charset="0"/>
              </a:rPr>
              <a:t> First </a:t>
            </a:r>
            <a:r>
              <a:rPr lang="en-US" sz="2000" b="1" dirty="0" smtClean="0">
                <a:latin typeface="Cambria" panose="02040503050406030204" pitchFamily="18" charset="0"/>
                <a:ea typeface="Cambria" panose="02040503050406030204" pitchFamily="18" charset="0"/>
              </a:rPr>
              <a:t>extends</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GenericServlet</a:t>
            </a:r>
            <a:r>
              <a:rPr lang="en-US" sz="2000" dirty="0" smtClean="0">
                <a:latin typeface="Cambria" panose="02040503050406030204" pitchFamily="18" charset="0"/>
                <a:ea typeface="Cambria" panose="02040503050406030204" pitchFamily="18" charset="0"/>
              </a:rPr>
              <a:t>  {  </a:t>
            </a:r>
          </a:p>
          <a:p>
            <a:pPr>
              <a:spcBef>
                <a:spcPts val="0"/>
              </a:spcBef>
              <a:buNone/>
            </a:pPr>
            <a:r>
              <a:rPr lang="en-US" sz="2000" b="1" dirty="0" smtClean="0">
                <a:latin typeface="Cambria" panose="02040503050406030204" pitchFamily="18" charset="0"/>
                <a:ea typeface="Cambria" panose="02040503050406030204" pitchFamily="18" charset="0"/>
              </a:rPr>
              <a:t>public</a:t>
            </a: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void</a:t>
            </a:r>
            <a:r>
              <a:rPr lang="en-US" sz="2000" dirty="0" smtClean="0">
                <a:latin typeface="Cambria" panose="02040503050406030204" pitchFamily="18" charset="0"/>
                <a:ea typeface="Cambria" panose="02040503050406030204" pitchFamily="18" charset="0"/>
              </a:rPr>
              <a:t> service(</a:t>
            </a:r>
            <a:r>
              <a:rPr lang="en-US" sz="2000" dirty="0" err="1" smtClean="0">
                <a:latin typeface="Cambria" panose="02040503050406030204" pitchFamily="18" charset="0"/>
                <a:ea typeface="Cambria" panose="02040503050406030204" pitchFamily="18" charset="0"/>
              </a:rPr>
              <a:t>ServletRequest</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req,ServletResponse</a:t>
            </a:r>
            <a:r>
              <a:rPr lang="en-US" sz="2000" dirty="0" smtClean="0">
                <a:latin typeface="Cambria" panose="02040503050406030204" pitchFamily="18" charset="0"/>
                <a:ea typeface="Cambria" panose="02040503050406030204" pitchFamily="18" charset="0"/>
              </a:rPr>
              <a:t> res)  </a:t>
            </a:r>
            <a:r>
              <a:rPr lang="en-US" sz="2000" b="1" dirty="0" smtClean="0">
                <a:latin typeface="Cambria" panose="02040503050406030204" pitchFamily="18" charset="0"/>
                <a:ea typeface="Cambria" panose="02040503050406030204" pitchFamily="18" charset="0"/>
              </a:rPr>
              <a:t>throws</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IOException,ServletException</a:t>
            </a:r>
            <a:r>
              <a:rPr lang="en-US" sz="2000" dirty="0" smtClean="0">
                <a:latin typeface="Cambria" panose="02040503050406030204" pitchFamily="18" charset="0"/>
                <a:ea typeface="Cambria" panose="02040503050406030204" pitchFamily="18" charset="0"/>
              </a:rPr>
              <a:t> {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res.setContentType</a:t>
            </a:r>
            <a:r>
              <a:rPr lang="en-US" sz="2000" dirty="0" smtClean="0">
                <a:latin typeface="Cambria" panose="02040503050406030204" pitchFamily="18" charset="0"/>
                <a:ea typeface="Cambria" panose="02040503050406030204" pitchFamily="18" charset="0"/>
              </a:rPr>
              <a:t>("text/html");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PrintWriter</a:t>
            </a:r>
            <a:r>
              <a:rPr lang="en-US" sz="2000" dirty="0" smtClean="0">
                <a:latin typeface="Cambria" panose="02040503050406030204" pitchFamily="18" charset="0"/>
                <a:ea typeface="Cambria" panose="02040503050406030204" pitchFamily="18" charset="0"/>
              </a:rPr>
              <a:t> out=</a:t>
            </a:r>
            <a:r>
              <a:rPr lang="en-US" sz="2000" dirty="0" err="1" smtClean="0">
                <a:latin typeface="Cambria" panose="02040503050406030204" pitchFamily="18" charset="0"/>
                <a:ea typeface="Cambria" panose="02040503050406030204" pitchFamily="18" charset="0"/>
              </a:rPr>
              <a:t>res.getWriter</a:t>
            </a:r>
            <a:r>
              <a:rPr lang="en-US" sz="2000" dirty="0" smtClean="0">
                <a:latin typeface="Cambria" panose="02040503050406030204" pitchFamily="18" charset="0"/>
                <a:ea typeface="Cambria" panose="02040503050406030204" pitchFamily="18" charset="0"/>
              </a:rPr>
              <a:t>();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out.print</a:t>
            </a:r>
            <a:r>
              <a:rPr lang="en-US" sz="2000" dirty="0" smtClean="0">
                <a:latin typeface="Cambria" panose="02040503050406030204" pitchFamily="18" charset="0"/>
                <a:ea typeface="Cambria" panose="02040503050406030204" pitchFamily="18" charset="0"/>
              </a:rPr>
              <a:t>("&lt;html&gt;&lt;body&gt;");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out.print</a:t>
            </a:r>
            <a:r>
              <a:rPr lang="en-US" sz="2000" dirty="0" smtClean="0">
                <a:latin typeface="Cambria" panose="02040503050406030204" pitchFamily="18" charset="0"/>
                <a:ea typeface="Cambria" panose="02040503050406030204" pitchFamily="18" charset="0"/>
              </a:rPr>
              <a:t>("&lt;b&gt;hello generic </a:t>
            </a:r>
            <a:r>
              <a:rPr lang="en-US" sz="2000" dirty="0" err="1" smtClean="0">
                <a:latin typeface="Cambria" panose="02040503050406030204" pitchFamily="18" charset="0"/>
                <a:ea typeface="Cambria" panose="02040503050406030204" pitchFamily="18" charset="0"/>
              </a:rPr>
              <a:t>servlet</a:t>
            </a:r>
            <a:r>
              <a:rPr lang="en-US" sz="2000" dirty="0" smtClean="0">
                <a:latin typeface="Cambria" panose="02040503050406030204" pitchFamily="18" charset="0"/>
                <a:ea typeface="Cambria" panose="02040503050406030204" pitchFamily="18" charset="0"/>
              </a:rPr>
              <a:t>&lt;/b&gt;");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out.print</a:t>
            </a:r>
            <a:r>
              <a:rPr lang="en-US" sz="2000" dirty="0" smtClean="0">
                <a:latin typeface="Cambria" panose="02040503050406030204" pitchFamily="18" charset="0"/>
                <a:ea typeface="Cambria" panose="02040503050406030204" pitchFamily="18" charset="0"/>
              </a:rPr>
              <a:t>("&lt;/body&gt;&lt;/html&gt;");  </a:t>
            </a:r>
          </a:p>
          <a:p>
            <a:pPr>
              <a:spcBef>
                <a:spcPts val="0"/>
              </a:spcBef>
              <a:buNone/>
            </a:pPr>
            <a:r>
              <a:rPr lang="en-US" sz="2000" dirty="0" smtClean="0">
                <a:latin typeface="Cambria" panose="02040503050406030204" pitchFamily="18" charset="0"/>
                <a:ea typeface="Cambria" panose="02040503050406030204" pitchFamily="18" charset="0"/>
              </a:rPr>
              <a:t>     }  </a:t>
            </a:r>
          </a:p>
          <a:p>
            <a:pPr>
              <a:spcBef>
                <a:spcPts val="0"/>
              </a:spcBef>
              <a:buNone/>
            </a:pPr>
            <a:r>
              <a:rPr lang="en-US" sz="2000" dirty="0" smtClean="0">
                <a:latin typeface="Cambria" panose="02040503050406030204" pitchFamily="18" charset="0"/>
                <a:ea typeface="Cambria" panose="02040503050406030204" pitchFamily="18" charset="0"/>
              </a:rPr>
              <a:t>}  </a:t>
            </a:r>
          </a:p>
          <a:p>
            <a:endParaRPr lang="en-US" dirty="0">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010328" cy="543595"/>
          </a:xfrm>
        </p:spPr>
        <p:txBody>
          <a:bodyPr/>
          <a:lstStyle/>
          <a:p>
            <a:r>
              <a:rPr lang="en-US" sz="3600" b="1" dirty="0" err="1" smtClean="0">
                <a:solidFill>
                  <a:srgbClr val="002060"/>
                </a:solidFill>
                <a:latin typeface="Cambria" panose="02040503050406030204" pitchFamily="18" charset="0"/>
                <a:ea typeface="Cambria" panose="02040503050406030204" pitchFamily="18" charset="0"/>
              </a:rPr>
              <a:t>HttpServlet</a:t>
            </a:r>
            <a:r>
              <a:rPr lang="en-US" sz="3600" b="1" dirty="0" smtClean="0">
                <a:latin typeface="Cambria" panose="02040503050406030204" pitchFamily="18" charset="0"/>
                <a:ea typeface="Cambria" panose="02040503050406030204" pitchFamily="18" charset="0"/>
              </a:rPr>
              <a:t> class</a:t>
            </a:r>
            <a:endParaRPr lang="en-US" sz="3600" b="1"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335360" y="543595"/>
            <a:ext cx="11377264" cy="4757613"/>
          </a:xfrm>
        </p:spPr>
        <p:txBody>
          <a:bodyPr/>
          <a:lstStyle/>
          <a:p>
            <a:pPr algn="just"/>
            <a:r>
              <a:rPr lang="en-GB" sz="2000" dirty="0" smtClean="0">
                <a:latin typeface="Cambria" panose="02040503050406030204" pitchFamily="18" charset="0"/>
                <a:ea typeface="Cambria" panose="02040503050406030204" pitchFamily="18" charset="0"/>
              </a:rPr>
              <a:t>The </a:t>
            </a:r>
            <a:r>
              <a:rPr lang="en-GB" sz="2000" dirty="0" err="1" smtClean="0">
                <a:latin typeface="Cambria" panose="02040503050406030204" pitchFamily="18" charset="0"/>
                <a:ea typeface="Cambria" panose="02040503050406030204" pitchFamily="18" charset="0"/>
              </a:rPr>
              <a:t>HttpServlet</a:t>
            </a:r>
            <a:r>
              <a:rPr lang="en-GB" sz="2000" dirty="0" smtClean="0">
                <a:latin typeface="Cambria" panose="02040503050406030204" pitchFamily="18" charset="0"/>
                <a:ea typeface="Cambria" panose="02040503050406030204" pitchFamily="18" charset="0"/>
              </a:rPr>
              <a:t> class extends the </a:t>
            </a:r>
            <a:r>
              <a:rPr lang="en-GB" sz="2000" dirty="0" err="1" smtClean="0">
                <a:latin typeface="Cambria" panose="02040503050406030204" pitchFamily="18" charset="0"/>
                <a:ea typeface="Cambria" panose="02040503050406030204" pitchFamily="18" charset="0"/>
              </a:rPr>
              <a:t>GenericServlet</a:t>
            </a:r>
            <a:r>
              <a:rPr lang="en-GB" sz="2000" dirty="0" smtClean="0">
                <a:latin typeface="Cambria" panose="02040503050406030204" pitchFamily="18" charset="0"/>
                <a:ea typeface="Cambria" panose="02040503050406030204" pitchFamily="18" charset="0"/>
              </a:rPr>
              <a:t> class and implements </a:t>
            </a:r>
            <a:r>
              <a:rPr lang="en-GB" sz="2000" dirty="0" err="1" smtClean="0">
                <a:latin typeface="Cambria" panose="02040503050406030204" pitchFamily="18" charset="0"/>
                <a:ea typeface="Cambria" panose="02040503050406030204" pitchFamily="18" charset="0"/>
              </a:rPr>
              <a:t>Serializable</a:t>
            </a:r>
            <a:r>
              <a:rPr lang="en-GB" sz="2000" dirty="0" smtClean="0">
                <a:latin typeface="Cambria" panose="02040503050406030204" pitchFamily="18" charset="0"/>
                <a:ea typeface="Cambria" panose="02040503050406030204" pitchFamily="18" charset="0"/>
              </a:rPr>
              <a:t> interface. It provides http specific methods such as </a:t>
            </a:r>
            <a:r>
              <a:rPr lang="en-GB" sz="2000" dirty="0" err="1" smtClean="0">
                <a:latin typeface="Cambria" panose="02040503050406030204" pitchFamily="18" charset="0"/>
                <a:ea typeface="Cambria" panose="02040503050406030204" pitchFamily="18" charset="0"/>
              </a:rPr>
              <a:t>doGet</a:t>
            </a:r>
            <a:r>
              <a:rPr lang="en-GB" sz="2000" dirty="0" smtClean="0">
                <a:latin typeface="Cambria" panose="02040503050406030204" pitchFamily="18" charset="0"/>
                <a:ea typeface="Cambria" panose="02040503050406030204" pitchFamily="18" charset="0"/>
              </a:rPr>
              <a:t>, </a:t>
            </a:r>
            <a:r>
              <a:rPr lang="en-GB" sz="2000" dirty="0" err="1" smtClean="0">
                <a:latin typeface="Cambria" panose="02040503050406030204" pitchFamily="18" charset="0"/>
                <a:ea typeface="Cambria" panose="02040503050406030204" pitchFamily="18" charset="0"/>
              </a:rPr>
              <a:t>doPost</a:t>
            </a:r>
            <a:r>
              <a:rPr lang="en-GB" sz="2000" dirty="0" smtClean="0">
                <a:latin typeface="Cambria" panose="02040503050406030204" pitchFamily="18" charset="0"/>
                <a:ea typeface="Cambria" panose="02040503050406030204" pitchFamily="18" charset="0"/>
              </a:rPr>
              <a:t>, </a:t>
            </a:r>
            <a:r>
              <a:rPr lang="en-GB" sz="2000" dirty="0" err="1" smtClean="0">
                <a:latin typeface="Cambria" panose="02040503050406030204" pitchFamily="18" charset="0"/>
                <a:ea typeface="Cambria" panose="02040503050406030204" pitchFamily="18" charset="0"/>
              </a:rPr>
              <a:t>doHead</a:t>
            </a:r>
            <a:r>
              <a:rPr lang="en-GB" sz="2000" dirty="0" smtClean="0">
                <a:latin typeface="Cambria" panose="02040503050406030204" pitchFamily="18" charset="0"/>
                <a:ea typeface="Cambria" panose="02040503050406030204" pitchFamily="18" charset="0"/>
              </a:rPr>
              <a:t>, </a:t>
            </a:r>
            <a:r>
              <a:rPr lang="en-GB" sz="2000" dirty="0" err="1" smtClean="0">
                <a:latin typeface="Cambria" panose="02040503050406030204" pitchFamily="18" charset="0"/>
                <a:ea typeface="Cambria" panose="02040503050406030204" pitchFamily="18" charset="0"/>
              </a:rPr>
              <a:t>doTrace</a:t>
            </a:r>
            <a:r>
              <a:rPr lang="en-GB" sz="2000" dirty="0" smtClean="0">
                <a:latin typeface="Cambria" panose="02040503050406030204" pitchFamily="18" charset="0"/>
                <a:ea typeface="Cambria" panose="02040503050406030204" pitchFamily="18" charset="0"/>
              </a:rPr>
              <a:t> etc.</a:t>
            </a:r>
          </a:p>
          <a:p>
            <a:pPr algn="just"/>
            <a:r>
              <a:rPr lang="en-GB" sz="2000" dirty="0" smtClean="0">
                <a:latin typeface="Cambria" panose="02040503050406030204" pitchFamily="18" charset="0"/>
                <a:ea typeface="Cambria" panose="02040503050406030204" pitchFamily="18" charset="0"/>
              </a:rPr>
              <a:t>Methods of </a:t>
            </a:r>
            <a:r>
              <a:rPr lang="en-GB" sz="2000" dirty="0" err="1" smtClean="0">
                <a:latin typeface="Cambria" panose="02040503050406030204" pitchFamily="18" charset="0"/>
                <a:ea typeface="Cambria" panose="02040503050406030204" pitchFamily="18" charset="0"/>
              </a:rPr>
              <a:t>HttpServlet</a:t>
            </a:r>
            <a:r>
              <a:rPr lang="en-GB" sz="2000" dirty="0" smtClean="0">
                <a:latin typeface="Cambria" panose="02040503050406030204" pitchFamily="18" charset="0"/>
                <a:ea typeface="Cambria" panose="02040503050406030204" pitchFamily="18" charset="0"/>
              </a:rPr>
              <a:t> class</a:t>
            </a:r>
          </a:p>
          <a:p>
            <a:pPr marL="457200" indent="-457200" algn="just">
              <a:buFont typeface="+mj-lt"/>
              <a:buAutoNum type="arabicPeriod"/>
            </a:pPr>
            <a:r>
              <a:rPr lang="en-GB" sz="2000" dirty="0" smtClean="0">
                <a:latin typeface="Cambria" panose="02040503050406030204" pitchFamily="18" charset="0"/>
                <a:ea typeface="Cambria" panose="02040503050406030204" pitchFamily="18" charset="0"/>
              </a:rPr>
              <a:t> </a:t>
            </a:r>
            <a:r>
              <a:rPr lang="en-GB" sz="2000" b="1" dirty="0" smtClean="0">
                <a:latin typeface="Cambria" panose="02040503050406030204" pitchFamily="18" charset="0"/>
                <a:ea typeface="Cambria" panose="02040503050406030204" pitchFamily="18" charset="0"/>
              </a:rPr>
              <a:t>public void service(ServletRequest req, ServletResponse res)</a:t>
            </a:r>
            <a:r>
              <a:rPr lang="en-GB" sz="2000" dirty="0" smtClean="0">
                <a:latin typeface="Cambria" panose="02040503050406030204" pitchFamily="18" charset="0"/>
                <a:ea typeface="Cambria" panose="02040503050406030204" pitchFamily="18" charset="0"/>
              </a:rPr>
              <a:t> dispatches the request to the protected service method by converting the request and response object into http type.</a:t>
            </a:r>
          </a:p>
          <a:p>
            <a:pPr marL="457200" indent="-457200" algn="just">
              <a:buFont typeface="+mj-lt"/>
              <a:buAutoNum type="arabicPeriod"/>
            </a:pPr>
            <a:r>
              <a:rPr lang="en-GB" sz="2000" b="1" dirty="0" smtClean="0">
                <a:latin typeface="Cambria" panose="02040503050406030204" pitchFamily="18" charset="0"/>
                <a:ea typeface="Cambria" panose="02040503050406030204" pitchFamily="18" charset="0"/>
              </a:rPr>
              <a:t>protected void service(HttpServletRequest req,  HttpServletResponse res)</a:t>
            </a:r>
            <a:r>
              <a:rPr lang="en-GB" sz="2000" dirty="0" smtClean="0">
                <a:latin typeface="Cambria" panose="02040503050406030204" pitchFamily="18" charset="0"/>
                <a:ea typeface="Cambria" panose="02040503050406030204" pitchFamily="18" charset="0"/>
              </a:rPr>
              <a:t> receives the request from the service method, and dispatches the request to the doXXX() method depending on the incoming http request type.</a:t>
            </a:r>
          </a:p>
          <a:p>
            <a:pPr marL="457200" indent="-457200" algn="just">
              <a:buFont typeface="+mj-lt"/>
              <a:buAutoNum type="arabicPeriod"/>
            </a:pPr>
            <a:r>
              <a:rPr lang="en-GB" sz="2000" b="1" dirty="0" smtClean="0">
                <a:latin typeface="Cambria" panose="02040503050406030204" pitchFamily="18" charset="0"/>
                <a:ea typeface="Cambria" panose="02040503050406030204" pitchFamily="18" charset="0"/>
              </a:rPr>
              <a:t>protected void </a:t>
            </a:r>
            <a:r>
              <a:rPr lang="en-GB" sz="2000" b="1" dirty="0" err="1" smtClean="0">
                <a:latin typeface="Cambria" panose="02040503050406030204" pitchFamily="18" charset="0"/>
                <a:ea typeface="Cambria" panose="02040503050406030204" pitchFamily="18" charset="0"/>
              </a:rPr>
              <a:t>doGet</a:t>
            </a:r>
            <a:r>
              <a:rPr lang="en-GB" sz="2000" b="1" dirty="0" smtClean="0">
                <a:latin typeface="Cambria" panose="02040503050406030204" pitchFamily="18" charset="0"/>
                <a:ea typeface="Cambria" panose="02040503050406030204" pitchFamily="18" charset="0"/>
              </a:rPr>
              <a:t>(</a:t>
            </a:r>
            <a:r>
              <a:rPr lang="en-GB" sz="2000" b="1" dirty="0" err="1" smtClean="0">
                <a:latin typeface="Cambria" panose="02040503050406030204" pitchFamily="18" charset="0"/>
                <a:ea typeface="Cambria" panose="02040503050406030204" pitchFamily="18" charset="0"/>
              </a:rPr>
              <a:t>HttpServletRequest</a:t>
            </a:r>
            <a:r>
              <a:rPr lang="en-GB" sz="2000" b="1" dirty="0" smtClean="0">
                <a:latin typeface="Cambria" panose="02040503050406030204" pitchFamily="18" charset="0"/>
                <a:ea typeface="Cambria" panose="02040503050406030204" pitchFamily="18" charset="0"/>
              </a:rPr>
              <a:t> </a:t>
            </a:r>
            <a:r>
              <a:rPr lang="en-GB" sz="2000" b="1" dirty="0" err="1" smtClean="0">
                <a:latin typeface="Cambria" panose="02040503050406030204" pitchFamily="18" charset="0"/>
                <a:ea typeface="Cambria" panose="02040503050406030204" pitchFamily="18" charset="0"/>
              </a:rPr>
              <a:t>req</a:t>
            </a:r>
            <a:r>
              <a:rPr lang="en-GB" sz="2000" b="1" dirty="0" smtClean="0">
                <a:latin typeface="Cambria" panose="02040503050406030204" pitchFamily="18" charset="0"/>
                <a:ea typeface="Cambria" panose="02040503050406030204" pitchFamily="18" charset="0"/>
              </a:rPr>
              <a:t>, </a:t>
            </a:r>
            <a:r>
              <a:rPr lang="en-GB" sz="2000" b="1" dirty="0" err="1" smtClean="0">
                <a:latin typeface="Cambria" panose="02040503050406030204" pitchFamily="18" charset="0"/>
                <a:ea typeface="Cambria" panose="02040503050406030204" pitchFamily="18" charset="0"/>
              </a:rPr>
              <a:t>HttpServletResponse</a:t>
            </a:r>
            <a:r>
              <a:rPr lang="en-GB" sz="2000" b="1" dirty="0" smtClean="0">
                <a:latin typeface="Cambria" panose="02040503050406030204" pitchFamily="18" charset="0"/>
                <a:ea typeface="Cambria" panose="02040503050406030204" pitchFamily="18" charset="0"/>
              </a:rPr>
              <a:t> res)</a:t>
            </a:r>
            <a:r>
              <a:rPr lang="en-GB" sz="2000" dirty="0" smtClean="0">
                <a:latin typeface="Cambria" panose="02040503050406030204" pitchFamily="18" charset="0"/>
                <a:ea typeface="Cambria" panose="02040503050406030204" pitchFamily="18" charset="0"/>
              </a:rPr>
              <a:t> handles the GET request. It is invoked by the web container.</a:t>
            </a:r>
          </a:p>
          <a:p>
            <a:pPr marL="457200" indent="-457200" algn="just">
              <a:buFont typeface="+mj-lt"/>
              <a:buAutoNum type="arabicPeriod"/>
            </a:pPr>
            <a:r>
              <a:rPr lang="en-GB" sz="2000" b="1" dirty="0" smtClean="0">
                <a:latin typeface="Cambria" panose="02040503050406030204" pitchFamily="18" charset="0"/>
                <a:ea typeface="Cambria" panose="02040503050406030204" pitchFamily="18" charset="0"/>
              </a:rPr>
              <a:t>protected void </a:t>
            </a:r>
            <a:r>
              <a:rPr lang="en-GB" sz="2000" b="1" dirty="0" err="1" smtClean="0">
                <a:latin typeface="Cambria" panose="02040503050406030204" pitchFamily="18" charset="0"/>
                <a:ea typeface="Cambria" panose="02040503050406030204" pitchFamily="18" charset="0"/>
              </a:rPr>
              <a:t>doPost</a:t>
            </a:r>
            <a:r>
              <a:rPr lang="en-GB" sz="2000" b="1" dirty="0" smtClean="0">
                <a:latin typeface="Cambria" panose="02040503050406030204" pitchFamily="18" charset="0"/>
                <a:ea typeface="Cambria" panose="02040503050406030204" pitchFamily="18" charset="0"/>
              </a:rPr>
              <a:t>(</a:t>
            </a:r>
            <a:r>
              <a:rPr lang="en-GB" sz="2000" b="1" dirty="0" err="1" smtClean="0">
                <a:latin typeface="Cambria" panose="02040503050406030204" pitchFamily="18" charset="0"/>
                <a:ea typeface="Cambria" panose="02040503050406030204" pitchFamily="18" charset="0"/>
              </a:rPr>
              <a:t>HttpServletRequest</a:t>
            </a:r>
            <a:r>
              <a:rPr lang="en-GB" sz="2000" b="1" dirty="0" smtClean="0">
                <a:latin typeface="Cambria" panose="02040503050406030204" pitchFamily="18" charset="0"/>
                <a:ea typeface="Cambria" panose="02040503050406030204" pitchFamily="18" charset="0"/>
              </a:rPr>
              <a:t> </a:t>
            </a:r>
            <a:r>
              <a:rPr lang="en-GB" sz="2000" b="1" dirty="0" err="1" smtClean="0">
                <a:latin typeface="Cambria" panose="02040503050406030204" pitchFamily="18" charset="0"/>
                <a:ea typeface="Cambria" panose="02040503050406030204" pitchFamily="18" charset="0"/>
              </a:rPr>
              <a:t>req</a:t>
            </a:r>
            <a:r>
              <a:rPr lang="en-GB" sz="2000" b="1" dirty="0" smtClean="0">
                <a:latin typeface="Cambria" panose="02040503050406030204" pitchFamily="18" charset="0"/>
                <a:ea typeface="Cambria" panose="02040503050406030204" pitchFamily="18" charset="0"/>
              </a:rPr>
              <a:t>, </a:t>
            </a:r>
            <a:r>
              <a:rPr lang="en-GB" sz="2000" b="1" dirty="0" err="1" smtClean="0">
                <a:latin typeface="Cambria" panose="02040503050406030204" pitchFamily="18" charset="0"/>
                <a:ea typeface="Cambria" panose="02040503050406030204" pitchFamily="18" charset="0"/>
              </a:rPr>
              <a:t>HttpServletResponse</a:t>
            </a:r>
            <a:r>
              <a:rPr lang="en-GB" sz="2000" b="1" dirty="0" smtClean="0">
                <a:latin typeface="Cambria" panose="02040503050406030204" pitchFamily="18" charset="0"/>
                <a:ea typeface="Cambria" panose="02040503050406030204" pitchFamily="18" charset="0"/>
              </a:rPr>
              <a:t> res)</a:t>
            </a:r>
            <a:r>
              <a:rPr lang="en-GB" sz="2000" dirty="0" smtClean="0">
                <a:latin typeface="Cambria" panose="02040503050406030204" pitchFamily="18" charset="0"/>
                <a:ea typeface="Cambria" panose="02040503050406030204" pitchFamily="18" charset="0"/>
              </a:rPr>
              <a:t> handles the POST request. It is invoked by the web container.</a:t>
            </a:r>
          </a:p>
          <a:p>
            <a:pPr marL="457200" indent="-457200" algn="just">
              <a:spcBef>
                <a:spcPts val="0"/>
              </a:spcBef>
              <a:buFont typeface="+mj-lt"/>
              <a:buAutoNum type="arabicPeriod"/>
            </a:pPr>
            <a:r>
              <a:rPr lang="en-GB" sz="2000" b="1" dirty="0" smtClean="0">
                <a:latin typeface="Cambria" panose="02040503050406030204" pitchFamily="18" charset="0"/>
                <a:ea typeface="Cambria" panose="02040503050406030204" pitchFamily="18" charset="0"/>
              </a:rPr>
              <a:t>protected void doHead(HttpServletRequest req, HttpServletResponse res)</a:t>
            </a:r>
            <a:r>
              <a:rPr lang="en-GB" sz="2000" dirty="0" smtClean="0">
                <a:latin typeface="Cambria" panose="02040503050406030204" pitchFamily="18" charset="0"/>
                <a:ea typeface="Cambria" panose="02040503050406030204" pitchFamily="18" charset="0"/>
              </a:rPr>
              <a:t> handles the HEAD request. It is invoked by the web container.</a:t>
            </a:r>
          </a:p>
          <a:p>
            <a:pPr marL="457200" indent="-457200" algn="just">
              <a:buFont typeface="+mj-lt"/>
              <a:buAutoNum type="arabicPeriod"/>
            </a:pPr>
            <a:endParaRPr lang="en-GB" sz="2000" dirty="0" smtClean="0">
              <a:latin typeface="Cambria" panose="02040503050406030204" pitchFamily="18" charset="0"/>
              <a:ea typeface="Cambria" panose="02040503050406030204" pitchFamily="18" charset="0"/>
            </a:endParaRPr>
          </a:p>
          <a:p>
            <a:pPr marL="514350" indent="-514350" algn="just">
              <a:buFont typeface="+mj-lt"/>
              <a:buAutoNum type="arabicPeriod"/>
            </a:pPr>
            <a:endParaRPr lang="en-US"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18</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010328" cy="543595"/>
          </a:xfrm>
        </p:spPr>
        <p:txBody>
          <a:bodyPr/>
          <a:lstStyle/>
          <a:p>
            <a:r>
              <a:rPr lang="en-US" sz="3600" b="1" dirty="0" err="1" smtClean="0">
                <a:solidFill>
                  <a:srgbClr val="002060"/>
                </a:solidFill>
                <a:latin typeface="Cambria" panose="02040503050406030204" pitchFamily="18" charset="0"/>
                <a:ea typeface="Cambria" panose="02040503050406030204" pitchFamily="18" charset="0"/>
              </a:rPr>
              <a:t>HttpServlet</a:t>
            </a:r>
            <a:r>
              <a:rPr lang="en-US" sz="3600" b="1" dirty="0" smtClean="0">
                <a:latin typeface="Cambria" panose="02040503050406030204" pitchFamily="18" charset="0"/>
                <a:ea typeface="Cambria" panose="02040503050406030204" pitchFamily="18" charset="0"/>
              </a:rPr>
              <a:t> class</a:t>
            </a:r>
            <a:endParaRPr lang="en-US" sz="3600" b="1"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335360" y="543595"/>
            <a:ext cx="11161240" cy="3821509"/>
          </a:xfrm>
        </p:spPr>
        <p:txBody>
          <a:bodyPr/>
          <a:lstStyle/>
          <a:p>
            <a:pPr marL="457200" indent="-457200" algn="just">
              <a:buFont typeface="+mj-lt"/>
              <a:buAutoNum type="arabicPeriod" startAt="6"/>
            </a:pPr>
            <a:r>
              <a:rPr lang="en-GB" sz="2000" b="1" dirty="0" smtClean="0">
                <a:latin typeface="Cambria" panose="02040503050406030204" pitchFamily="18" charset="0"/>
                <a:ea typeface="Cambria" panose="02040503050406030204" pitchFamily="18" charset="0"/>
              </a:rPr>
              <a:t>protected void doOptions(HttpServletRequest req, HttpServletResponse res)</a:t>
            </a:r>
            <a:r>
              <a:rPr lang="en-GB" sz="2000" dirty="0" smtClean="0">
                <a:latin typeface="Cambria" panose="02040503050406030204" pitchFamily="18" charset="0"/>
                <a:ea typeface="Cambria" panose="02040503050406030204" pitchFamily="18" charset="0"/>
              </a:rPr>
              <a:t> handles the OPTIONS request. It is invoked by the web container.</a:t>
            </a:r>
          </a:p>
          <a:p>
            <a:pPr marL="457200" indent="-457200" algn="just">
              <a:buFont typeface="+mj-lt"/>
              <a:buAutoNum type="arabicPeriod" startAt="6"/>
            </a:pPr>
            <a:r>
              <a:rPr lang="en-GB" sz="2000" b="1" dirty="0" smtClean="0">
                <a:latin typeface="Cambria" panose="02040503050406030204" pitchFamily="18" charset="0"/>
                <a:ea typeface="Cambria" panose="02040503050406030204" pitchFamily="18" charset="0"/>
              </a:rPr>
              <a:t>protected void </a:t>
            </a:r>
            <a:r>
              <a:rPr lang="en-GB" sz="2000" b="1" dirty="0" err="1" smtClean="0">
                <a:latin typeface="Cambria" panose="02040503050406030204" pitchFamily="18" charset="0"/>
                <a:ea typeface="Cambria" panose="02040503050406030204" pitchFamily="18" charset="0"/>
              </a:rPr>
              <a:t>doPut</a:t>
            </a:r>
            <a:r>
              <a:rPr lang="en-GB" sz="2000" b="1" dirty="0" smtClean="0">
                <a:latin typeface="Cambria" panose="02040503050406030204" pitchFamily="18" charset="0"/>
                <a:ea typeface="Cambria" panose="02040503050406030204" pitchFamily="18" charset="0"/>
              </a:rPr>
              <a:t>(</a:t>
            </a:r>
            <a:r>
              <a:rPr lang="en-GB" sz="2000" b="1" dirty="0" err="1" smtClean="0">
                <a:latin typeface="Cambria" panose="02040503050406030204" pitchFamily="18" charset="0"/>
                <a:ea typeface="Cambria" panose="02040503050406030204" pitchFamily="18" charset="0"/>
              </a:rPr>
              <a:t>HttpServletRequest</a:t>
            </a:r>
            <a:r>
              <a:rPr lang="en-GB" sz="2000" b="1" dirty="0" smtClean="0">
                <a:latin typeface="Cambria" panose="02040503050406030204" pitchFamily="18" charset="0"/>
                <a:ea typeface="Cambria" panose="02040503050406030204" pitchFamily="18" charset="0"/>
              </a:rPr>
              <a:t> </a:t>
            </a:r>
            <a:r>
              <a:rPr lang="en-GB" sz="2000" b="1" dirty="0" err="1" smtClean="0">
                <a:latin typeface="Cambria" panose="02040503050406030204" pitchFamily="18" charset="0"/>
                <a:ea typeface="Cambria" panose="02040503050406030204" pitchFamily="18" charset="0"/>
              </a:rPr>
              <a:t>req</a:t>
            </a:r>
            <a:r>
              <a:rPr lang="en-GB" sz="2000" b="1" dirty="0" smtClean="0">
                <a:latin typeface="Cambria" panose="02040503050406030204" pitchFamily="18" charset="0"/>
                <a:ea typeface="Cambria" panose="02040503050406030204" pitchFamily="18" charset="0"/>
              </a:rPr>
              <a:t>, </a:t>
            </a:r>
            <a:r>
              <a:rPr lang="en-GB" sz="2000" b="1" dirty="0" err="1" smtClean="0">
                <a:latin typeface="Cambria" panose="02040503050406030204" pitchFamily="18" charset="0"/>
                <a:ea typeface="Cambria" panose="02040503050406030204" pitchFamily="18" charset="0"/>
              </a:rPr>
              <a:t>HttpServletResponse</a:t>
            </a:r>
            <a:r>
              <a:rPr lang="en-GB" sz="2000" b="1" dirty="0" smtClean="0">
                <a:latin typeface="Cambria" panose="02040503050406030204" pitchFamily="18" charset="0"/>
                <a:ea typeface="Cambria" panose="02040503050406030204" pitchFamily="18" charset="0"/>
              </a:rPr>
              <a:t> res)</a:t>
            </a:r>
            <a:r>
              <a:rPr lang="en-GB" sz="2000" dirty="0" smtClean="0">
                <a:latin typeface="Cambria" panose="02040503050406030204" pitchFamily="18" charset="0"/>
                <a:ea typeface="Cambria" panose="02040503050406030204" pitchFamily="18" charset="0"/>
              </a:rPr>
              <a:t> handles the PUT request. It is invoked by the web container.</a:t>
            </a:r>
          </a:p>
          <a:p>
            <a:pPr marL="457200" indent="-457200" algn="just">
              <a:buFont typeface="+mj-lt"/>
              <a:buAutoNum type="arabicPeriod" startAt="6"/>
            </a:pPr>
            <a:r>
              <a:rPr lang="en-GB" sz="2000" b="1" dirty="0" smtClean="0">
                <a:latin typeface="Cambria" panose="02040503050406030204" pitchFamily="18" charset="0"/>
                <a:ea typeface="Cambria" panose="02040503050406030204" pitchFamily="18" charset="0"/>
              </a:rPr>
              <a:t>protected void </a:t>
            </a:r>
            <a:r>
              <a:rPr lang="en-GB" sz="2000" b="1" dirty="0" err="1" smtClean="0">
                <a:latin typeface="Cambria" panose="02040503050406030204" pitchFamily="18" charset="0"/>
                <a:ea typeface="Cambria" panose="02040503050406030204" pitchFamily="18" charset="0"/>
              </a:rPr>
              <a:t>doTrace</a:t>
            </a:r>
            <a:r>
              <a:rPr lang="en-GB" sz="2000" b="1" dirty="0" smtClean="0">
                <a:latin typeface="Cambria" panose="02040503050406030204" pitchFamily="18" charset="0"/>
                <a:ea typeface="Cambria" panose="02040503050406030204" pitchFamily="18" charset="0"/>
              </a:rPr>
              <a:t>(</a:t>
            </a:r>
            <a:r>
              <a:rPr lang="en-GB" sz="2000" b="1" dirty="0" err="1" smtClean="0">
                <a:latin typeface="Cambria" panose="02040503050406030204" pitchFamily="18" charset="0"/>
                <a:ea typeface="Cambria" panose="02040503050406030204" pitchFamily="18" charset="0"/>
              </a:rPr>
              <a:t>HttpServletRequest</a:t>
            </a:r>
            <a:r>
              <a:rPr lang="en-GB" sz="2000" b="1" dirty="0" smtClean="0">
                <a:latin typeface="Cambria" panose="02040503050406030204" pitchFamily="18" charset="0"/>
                <a:ea typeface="Cambria" panose="02040503050406030204" pitchFamily="18" charset="0"/>
              </a:rPr>
              <a:t> </a:t>
            </a:r>
            <a:r>
              <a:rPr lang="en-GB" sz="2000" b="1" dirty="0" err="1" smtClean="0">
                <a:latin typeface="Cambria" panose="02040503050406030204" pitchFamily="18" charset="0"/>
                <a:ea typeface="Cambria" panose="02040503050406030204" pitchFamily="18" charset="0"/>
              </a:rPr>
              <a:t>req</a:t>
            </a:r>
            <a:r>
              <a:rPr lang="en-GB" sz="2000" b="1" dirty="0" smtClean="0">
                <a:latin typeface="Cambria" panose="02040503050406030204" pitchFamily="18" charset="0"/>
                <a:ea typeface="Cambria" panose="02040503050406030204" pitchFamily="18" charset="0"/>
              </a:rPr>
              <a:t>, </a:t>
            </a:r>
            <a:r>
              <a:rPr lang="en-GB" sz="2000" b="1" dirty="0" err="1" smtClean="0">
                <a:latin typeface="Cambria" panose="02040503050406030204" pitchFamily="18" charset="0"/>
                <a:ea typeface="Cambria" panose="02040503050406030204" pitchFamily="18" charset="0"/>
              </a:rPr>
              <a:t>HttpServletResponse</a:t>
            </a:r>
            <a:r>
              <a:rPr lang="en-GB" sz="2000" b="1" dirty="0" smtClean="0">
                <a:latin typeface="Cambria" panose="02040503050406030204" pitchFamily="18" charset="0"/>
                <a:ea typeface="Cambria" panose="02040503050406030204" pitchFamily="18" charset="0"/>
              </a:rPr>
              <a:t> res)</a:t>
            </a:r>
            <a:r>
              <a:rPr lang="en-GB" sz="2000" dirty="0" smtClean="0">
                <a:latin typeface="Cambria" panose="02040503050406030204" pitchFamily="18" charset="0"/>
                <a:ea typeface="Cambria" panose="02040503050406030204" pitchFamily="18" charset="0"/>
              </a:rPr>
              <a:t> handles the TRACE request. It is invoked by the web container.</a:t>
            </a:r>
          </a:p>
          <a:p>
            <a:pPr marL="457200" indent="-457200" algn="just">
              <a:buFont typeface="+mj-lt"/>
              <a:buAutoNum type="arabicPeriod" startAt="6"/>
            </a:pPr>
            <a:r>
              <a:rPr lang="en-GB" sz="2000" b="1" dirty="0" smtClean="0">
                <a:latin typeface="Cambria" panose="02040503050406030204" pitchFamily="18" charset="0"/>
                <a:ea typeface="Cambria" panose="02040503050406030204" pitchFamily="18" charset="0"/>
              </a:rPr>
              <a:t>protected void </a:t>
            </a:r>
            <a:r>
              <a:rPr lang="en-GB" sz="2000" b="1" dirty="0" err="1" smtClean="0">
                <a:latin typeface="Cambria" panose="02040503050406030204" pitchFamily="18" charset="0"/>
                <a:ea typeface="Cambria" panose="02040503050406030204" pitchFamily="18" charset="0"/>
              </a:rPr>
              <a:t>doDelete</a:t>
            </a:r>
            <a:r>
              <a:rPr lang="en-GB" sz="2000" b="1" dirty="0" smtClean="0">
                <a:latin typeface="Cambria" panose="02040503050406030204" pitchFamily="18" charset="0"/>
                <a:ea typeface="Cambria" panose="02040503050406030204" pitchFamily="18" charset="0"/>
              </a:rPr>
              <a:t>(</a:t>
            </a:r>
            <a:r>
              <a:rPr lang="en-GB" sz="2000" b="1" dirty="0" err="1" smtClean="0">
                <a:latin typeface="Cambria" panose="02040503050406030204" pitchFamily="18" charset="0"/>
                <a:ea typeface="Cambria" panose="02040503050406030204" pitchFamily="18" charset="0"/>
              </a:rPr>
              <a:t>HttpServletRequest</a:t>
            </a:r>
            <a:r>
              <a:rPr lang="en-GB" sz="2000" b="1" dirty="0" smtClean="0">
                <a:latin typeface="Cambria" panose="02040503050406030204" pitchFamily="18" charset="0"/>
                <a:ea typeface="Cambria" panose="02040503050406030204" pitchFamily="18" charset="0"/>
              </a:rPr>
              <a:t> </a:t>
            </a:r>
            <a:r>
              <a:rPr lang="en-GB" sz="2000" b="1" dirty="0" err="1" smtClean="0">
                <a:latin typeface="Cambria" panose="02040503050406030204" pitchFamily="18" charset="0"/>
                <a:ea typeface="Cambria" panose="02040503050406030204" pitchFamily="18" charset="0"/>
              </a:rPr>
              <a:t>req</a:t>
            </a:r>
            <a:r>
              <a:rPr lang="en-GB" sz="2000" b="1" dirty="0" smtClean="0">
                <a:latin typeface="Cambria" panose="02040503050406030204" pitchFamily="18" charset="0"/>
                <a:ea typeface="Cambria" panose="02040503050406030204" pitchFamily="18" charset="0"/>
              </a:rPr>
              <a:t>, </a:t>
            </a:r>
            <a:r>
              <a:rPr lang="en-GB" sz="2000" b="1" dirty="0" err="1" smtClean="0">
                <a:latin typeface="Cambria" panose="02040503050406030204" pitchFamily="18" charset="0"/>
                <a:ea typeface="Cambria" panose="02040503050406030204" pitchFamily="18" charset="0"/>
              </a:rPr>
              <a:t>HttpServletResponse</a:t>
            </a:r>
            <a:r>
              <a:rPr lang="en-GB" sz="2000" b="1" dirty="0" smtClean="0">
                <a:latin typeface="Cambria" panose="02040503050406030204" pitchFamily="18" charset="0"/>
                <a:ea typeface="Cambria" panose="02040503050406030204" pitchFamily="18" charset="0"/>
              </a:rPr>
              <a:t> res)</a:t>
            </a:r>
            <a:r>
              <a:rPr lang="en-GB" sz="2000" dirty="0" smtClean="0">
                <a:latin typeface="Cambria" panose="02040503050406030204" pitchFamily="18" charset="0"/>
                <a:ea typeface="Cambria" panose="02040503050406030204" pitchFamily="18" charset="0"/>
              </a:rPr>
              <a:t> handles the DELETE request. It is invoked by the web container.</a:t>
            </a:r>
          </a:p>
          <a:p>
            <a:pPr marL="457200" indent="-457200" algn="just">
              <a:buFont typeface="+mj-lt"/>
              <a:buAutoNum type="arabicPeriod" startAt="6"/>
            </a:pPr>
            <a:r>
              <a:rPr lang="en-GB" sz="2000" b="1" dirty="0" smtClean="0">
                <a:latin typeface="Cambria" panose="02040503050406030204" pitchFamily="18" charset="0"/>
                <a:ea typeface="Cambria" panose="02040503050406030204" pitchFamily="18" charset="0"/>
              </a:rPr>
              <a:t>protected long </a:t>
            </a:r>
            <a:r>
              <a:rPr lang="en-GB" sz="2000" b="1" dirty="0" err="1" smtClean="0">
                <a:latin typeface="Cambria" panose="02040503050406030204" pitchFamily="18" charset="0"/>
                <a:ea typeface="Cambria" panose="02040503050406030204" pitchFamily="18" charset="0"/>
              </a:rPr>
              <a:t>getLastModified</a:t>
            </a:r>
            <a:r>
              <a:rPr lang="en-GB" sz="2000" b="1" dirty="0" smtClean="0">
                <a:latin typeface="Cambria" panose="02040503050406030204" pitchFamily="18" charset="0"/>
                <a:ea typeface="Cambria" panose="02040503050406030204" pitchFamily="18" charset="0"/>
              </a:rPr>
              <a:t>(</a:t>
            </a:r>
            <a:r>
              <a:rPr lang="en-GB" sz="2000" b="1" dirty="0" err="1" smtClean="0">
                <a:latin typeface="Cambria" panose="02040503050406030204" pitchFamily="18" charset="0"/>
                <a:ea typeface="Cambria" panose="02040503050406030204" pitchFamily="18" charset="0"/>
              </a:rPr>
              <a:t>HttpServletRequest</a:t>
            </a:r>
            <a:r>
              <a:rPr lang="en-GB" sz="2000" b="1" dirty="0" smtClean="0">
                <a:latin typeface="Cambria" panose="02040503050406030204" pitchFamily="18" charset="0"/>
                <a:ea typeface="Cambria" panose="02040503050406030204" pitchFamily="18" charset="0"/>
              </a:rPr>
              <a:t> </a:t>
            </a:r>
            <a:r>
              <a:rPr lang="en-GB" sz="2000" b="1" dirty="0" err="1" smtClean="0">
                <a:latin typeface="Cambria" panose="02040503050406030204" pitchFamily="18" charset="0"/>
                <a:ea typeface="Cambria" panose="02040503050406030204" pitchFamily="18" charset="0"/>
              </a:rPr>
              <a:t>req</a:t>
            </a:r>
            <a:r>
              <a:rPr lang="en-GB" sz="2000" b="1" dirty="0" smtClean="0">
                <a:latin typeface="Cambria" panose="02040503050406030204" pitchFamily="18" charset="0"/>
                <a:ea typeface="Cambria" panose="02040503050406030204" pitchFamily="18" charset="0"/>
              </a:rPr>
              <a:t>)</a:t>
            </a:r>
            <a:r>
              <a:rPr lang="en-GB" sz="2000" dirty="0" smtClean="0">
                <a:latin typeface="Cambria" panose="02040503050406030204" pitchFamily="18" charset="0"/>
                <a:ea typeface="Cambria" panose="02040503050406030204" pitchFamily="18" charset="0"/>
              </a:rPr>
              <a:t> returns the time when </a:t>
            </a:r>
            <a:r>
              <a:rPr lang="en-GB" sz="2000" dirty="0" err="1" smtClean="0">
                <a:latin typeface="Cambria" panose="02040503050406030204" pitchFamily="18" charset="0"/>
                <a:ea typeface="Cambria" panose="02040503050406030204" pitchFamily="18" charset="0"/>
              </a:rPr>
              <a:t>HttpServletRequest</a:t>
            </a:r>
            <a:r>
              <a:rPr lang="en-GB" sz="2000" dirty="0" smtClean="0">
                <a:latin typeface="Cambria" panose="02040503050406030204" pitchFamily="18" charset="0"/>
                <a:ea typeface="Cambria" panose="02040503050406030204" pitchFamily="18" charset="0"/>
              </a:rPr>
              <a:t> was last modified since midnight January 1, 1970 GMT.</a:t>
            </a:r>
          </a:p>
          <a:p>
            <a:pPr marL="457200" indent="-457200" algn="just">
              <a:buFont typeface="+mj-lt"/>
              <a:buAutoNum type="arabicPeriod" startAt="6"/>
            </a:pPr>
            <a:endParaRPr lang="en-GB" sz="2000" dirty="0" smtClean="0">
              <a:latin typeface="Cambria" panose="02040503050406030204" pitchFamily="18" charset="0"/>
              <a:ea typeface="Cambria" panose="02040503050406030204" pitchFamily="18" charset="0"/>
            </a:endParaRPr>
          </a:p>
          <a:p>
            <a:pPr marL="514350" indent="-514350" algn="just">
              <a:buFont typeface="+mj-lt"/>
              <a:buAutoNum type="arabicPeriod" startAt="6"/>
            </a:pPr>
            <a:endParaRPr lang="en-US"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19</a:t>
            </a:fld>
            <a:endParaRPr lang="en-US" altLang="en-US">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91416862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36" y="1"/>
            <a:ext cx="9073008" cy="548680"/>
          </a:xfrm>
        </p:spPr>
        <p:txBody>
          <a:bodyPr/>
          <a:lstStyle/>
          <a:p>
            <a:r>
              <a:rPr lang="en-GB" sz="3600" b="1" dirty="0" smtClean="0">
                <a:solidFill>
                  <a:srgbClr val="002060"/>
                </a:solidFill>
                <a:latin typeface="Cambria" panose="02040503050406030204" pitchFamily="18" charset="0"/>
                <a:ea typeface="Cambria" panose="02040503050406030204" pitchFamily="18" charset="0"/>
              </a:rPr>
              <a:t>Life Cycle of a </a:t>
            </a:r>
            <a:r>
              <a:rPr lang="en-GB" sz="3600" b="1" dirty="0" err="1" smtClean="0">
                <a:solidFill>
                  <a:srgbClr val="002060"/>
                </a:solidFill>
                <a:latin typeface="Cambria" panose="02040503050406030204" pitchFamily="18" charset="0"/>
                <a:ea typeface="Cambria" panose="02040503050406030204" pitchFamily="18" charset="0"/>
              </a:rPr>
              <a:t>Servlet</a:t>
            </a:r>
            <a:r>
              <a:rPr lang="en-GB" sz="3600" b="1" dirty="0" smtClean="0">
                <a:solidFill>
                  <a:srgbClr val="002060"/>
                </a:solidFill>
                <a:latin typeface="Cambria" panose="02040503050406030204" pitchFamily="18" charset="0"/>
                <a:ea typeface="Cambria" panose="02040503050406030204" pitchFamily="18" charset="0"/>
              </a:rPr>
              <a:t> (</a:t>
            </a:r>
            <a:r>
              <a:rPr lang="en-GB" sz="3600" b="1" dirty="0" err="1" smtClean="0">
                <a:solidFill>
                  <a:srgbClr val="002060"/>
                </a:solidFill>
                <a:latin typeface="Cambria" panose="02040503050406030204" pitchFamily="18" charset="0"/>
                <a:ea typeface="Cambria" panose="02040503050406030204" pitchFamily="18" charset="0"/>
              </a:rPr>
              <a:t>Servlet</a:t>
            </a:r>
            <a:r>
              <a:rPr lang="en-GB" sz="3600" b="1" dirty="0" smtClean="0">
                <a:solidFill>
                  <a:srgbClr val="002060"/>
                </a:solidFill>
                <a:latin typeface="Cambria" panose="02040503050406030204" pitchFamily="18" charset="0"/>
                <a:ea typeface="Cambria" panose="02040503050406030204" pitchFamily="18" charset="0"/>
              </a:rPr>
              <a:t> Life Cycle)</a:t>
            </a:r>
            <a:endParaRPr lang="en-GB" sz="3600" b="1" dirty="0">
              <a:solidFill>
                <a:srgbClr val="002060"/>
              </a:solidFill>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20</a:t>
            </a:fld>
            <a:endParaRPr lang="en-US" altLang="en-US">
              <a:latin typeface="Cambria" panose="02040503050406030204" pitchFamily="18" charset="0"/>
              <a:ea typeface="Cambria" panose="02040503050406030204" pitchFamily="18" charset="0"/>
            </a:endParaRPr>
          </a:p>
        </p:txBody>
      </p:sp>
      <p:sp>
        <p:nvSpPr>
          <p:cNvPr id="6" name="Content Placeholder 5"/>
          <p:cNvSpPr>
            <a:spLocks noGrp="1"/>
          </p:cNvSpPr>
          <p:nvPr>
            <p:ph idx="1"/>
          </p:nvPr>
        </p:nvSpPr>
        <p:spPr>
          <a:xfrm>
            <a:off x="335360" y="807513"/>
            <a:ext cx="7272808" cy="3989639"/>
          </a:xfrm>
        </p:spPr>
        <p:txBody>
          <a:bodyPr/>
          <a:lstStyle/>
          <a:p>
            <a:pPr algn="just"/>
            <a:r>
              <a:rPr lang="en-GB" dirty="0" smtClean="0">
                <a:latin typeface="Cambria" panose="02040503050406030204" pitchFamily="18" charset="0"/>
                <a:ea typeface="Cambria" panose="02040503050406030204" pitchFamily="18" charset="0"/>
              </a:rPr>
              <a:t>The web container maintains the life cycle of a </a:t>
            </a:r>
            <a:r>
              <a:rPr lang="en-GB" dirty="0" err="1" smtClean="0">
                <a:latin typeface="Cambria" panose="02040503050406030204" pitchFamily="18" charset="0"/>
                <a:ea typeface="Cambria" panose="02040503050406030204" pitchFamily="18" charset="0"/>
              </a:rPr>
              <a:t>servlet</a:t>
            </a:r>
            <a:r>
              <a:rPr lang="en-GB" dirty="0" smtClean="0">
                <a:latin typeface="Cambria" panose="02040503050406030204" pitchFamily="18" charset="0"/>
                <a:ea typeface="Cambria" panose="02040503050406030204" pitchFamily="18" charset="0"/>
              </a:rPr>
              <a:t> instance. Let's see the life cycle of the </a:t>
            </a:r>
            <a:r>
              <a:rPr lang="en-GB" dirty="0" err="1" smtClean="0">
                <a:latin typeface="Cambria" panose="02040503050406030204" pitchFamily="18" charset="0"/>
                <a:ea typeface="Cambria" panose="02040503050406030204" pitchFamily="18" charset="0"/>
              </a:rPr>
              <a:t>servlet</a:t>
            </a:r>
            <a:r>
              <a:rPr lang="en-GB" dirty="0" smtClean="0">
                <a:latin typeface="Cambria" panose="02040503050406030204" pitchFamily="18" charset="0"/>
                <a:ea typeface="Cambria" panose="02040503050406030204" pitchFamily="18" charset="0"/>
              </a:rPr>
              <a:t>:</a:t>
            </a:r>
          </a:p>
          <a:p>
            <a:pPr algn="just"/>
            <a:r>
              <a:rPr lang="en-GB" dirty="0" err="1" smtClean="0">
                <a:latin typeface="Cambria" panose="02040503050406030204" pitchFamily="18" charset="0"/>
                <a:ea typeface="Cambria" panose="02040503050406030204" pitchFamily="18" charset="0"/>
              </a:rPr>
              <a:t>Servlet</a:t>
            </a:r>
            <a:r>
              <a:rPr lang="en-GB" dirty="0" smtClean="0">
                <a:latin typeface="Cambria" panose="02040503050406030204" pitchFamily="18" charset="0"/>
                <a:ea typeface="Cambria" panose="02040503050406030204" pitchFamily="18" charset="0"/>
              </a:rPr>
              <a:t> class is loaded.</a:t>
            </a:r>
          </a:p>
          <a:p>
            <a:pPr algn="just"/>
            <a:r>
              <a:rPr lang="en-GB" dirty="0" err="1" smtClean="0">
                <a:latin typeface="Cambria" panose="02040503050406030204" pitchFamily="18" charset="0"/>
                <a:ea typeface="Cambria" panose="02040503050406030204" pitchFamily="18" charset="0"/>
              </a:rPr>
              <a:t>Servlet</a:t>
            </a:r>
            <a:r>
              <a:rPr lang="en-GB" dirty="0" smtClean="0">
                <a:latin typeface="Cambria" panose="02040503050406030204" pitchFamily="18" charset="0"/>
                <a:ea typeface="Cambria" panose="02040503050406030204" pitchFamily="18" charset="0"/>
              </a:rPr>
              <a:t> instance is created.</a:t>
            </a:r>
          </a:p>
          <a:p>
            <a:pPr algn="just"/>
            <a:r>
              <a:rPr lang="en-GB" dirty="0" smtClean="0">
                <a:latin typeface="Cambria" panose="02040503050406030204" pitchFamily="18" charset="0"/>
                <a:ea typeface="Cambria" panose="02040503050406030204" pitchFamily="18" charset="0"/>
              </a:rPr>
              <a:t>init method is invoked.</a:t>
            </a:r>
          </a:p>
          <a:p>
            <a:pPr algn="just"/>
            <a:r>
              <a:rPr lang="en-GB" dirty="0" smtClean="0">
                <a:latin typeface="Cambria" panose="02040503050406030204" pitchFamily="18" charset="0"/>
                <a:ea typeface="Cambria" panose="02040503050406030204" pitchFamily="18" charset="0"/>
              </a:rPr>
              <a:t>service method is invoked.</a:t>
            </a:r>
          </a:p>
          <a:p>
            <a:pPr algn="just"/>
            <a:r>
              <a:rPr lang="en-GB" dirty="0" smtClean="0">
                <a:latin typeface="Cambria" panose="02040503050406030204" pitchFamily="18" charset="0"/>
                <a:ea typeface="Cambria" panose="02040503050406030204" pitchFamily="18" charset="0"/>
              </a:rPr>
              <a:t>destroy method is invoked.</a:t>
            </a:r>
          </a:p>
        </p:txBody>
      </p:sp>
      <p:pic>
        <p:nvPicPr>
          <p:cNvPr id="7" name="Picture 6" descr="Life cycle of a servlet"/>
          <p:cNvPicPr/>
          <p:nvPr/>
        </p:nvPicPr>
        <p:blipFill>
          <a:blip r:embed="rId2"/>
          <a:srcRect/>
          <a:stretch>
            <a:fillRect/>
          </a:stretch>
        </p:blipFill>
        <p:spPr bwMode="auto">
          <a:xfrm>
            <a:off x="7896200" y="629012"/>
            <a:ext cx="3859530" cy="416814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67" y="0"/>
            <a:ext cx="3817640" cy="527034"/>
          </a:xfrm>
        </p:spPr>
        <p:txBody>
          <a:bodyPr/>
          <a:lstStyle/>
          <a:p>
            <a:r>
              <a:rPr lang="en-IN" sz="3600" b="1" dirty="0" smtClean="0">
                <a:solidFill>
                  <a:srgbClr val="002060"/>
                </a:solidFill>
                <a:latin typeface="Cambria" panose="02040503050406030204" pitchFamily="18" charset="0"/>
                <a:ea typeface="Cambria" panose="02040503050406030204" pitchFamily="18" charset="0"/>
              </a:rPr>
              <a:t>Servlet Life Cycle</a:t>
            </a:r>
            <a:endParaRPr lang="en-US" sz="3600" b="1" dirty="0">
              <a:solidFill>
                <a:srgbClr val="00206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407368" y="520991"/>
            <a:ext cx="10946432" cy="4132145"/>
          </a:xfrm>
        </p:spPr>
        <p:txBody>
          <a:bodyPr/>
          <a:lstStyle/>
          <a:p>
            <a:pPr marL="0" indent="0" algn="just">
              <a:buNone/>
            </a:pPr>
            <a:r>
              <a:rPr lang="en-GB" sz="2000" dirty="0" smtClean="0">
                <a:latin typeface="Cambria" panose="02040503050406030204" pitchFamily="18" charset="0"/>
                <a:ea typeface="Cambria" panose="02040503050406030204" pitchFamily="18" charset="0"/>
              </a:rPr>
              <a:t>1) </a:t>
            </a:r>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 class is loaded</a:t>
            </a:r>
          </a:p>
          <a:p>
            <a:pPr marL="0" indent="0" algn="just">
              <a:buNone/>
            </a:pPr>
            <a:r>
              <a:rPr lang="en-GB" sz="2000" dirty="0" smtClean="0">
                <a:latin typeface="Cambria" panose="02040503050406030204" pitchFamily="18" charset="0"/>
                <a:ea typeface="Cambria" panose="02040503050406030204" pitchFamily="18" charset="0"/>
              </a:rPr>
              <a:t>The </a:t>
            </a:r>
            <a:r>
              <a:rPr lang="en-GB" sz="2000" dirty="0" err="1" smtClean="0">
                <a:latin typeface="Cambria" panose="02040503050406030204" pitchFamily="18" charset="0"/>
                <a:ea typeface="Cambria" panose="02040503050406030204" pitchFamily="18" charset="0"/>
              </a:rPr>
              <a:t>classloader</a:t>
            </a:r>
            <a:r>
              <a:rPr lang="en-GB" sz="2000" dirty="0" smtClean="0">
                <a:latin typeface="Cambria" panose="02040503050406030204" pitchFamily="18" charset="0"/>
                <a:ea typeface="Cambria" panose="02040503050406030204" pitchFamily="18" charset="0"/>
              </a:rPr>
              <a:t> is responsible to load the </a:t>
            </a:r>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 class. The </a:t>
            </a:r>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 class is loaded when the first request for the </a:t>
            </a:r>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 is received by the web container.</a:t>
            </a:r>
          </a:p>
          <a:p>
            <a:pPr marL="0" indent="0" algn="just">
              <a:buNone/>
            </a:pPr>
            <a:r>
              <a:rPr lang="en-GB" sz="2000" dirty="0" smtClean="0">
                <a:latin typeface="Cambria" panose="02040503050406030204" pitchFamily="18" charset="0"/>
                <a:ea typeface="Cambria" panose="02040503050406030204" pitchFamily="18" charset="0"/>
              </a:rPr>
              <a:t>2) </a:t>
            </a:r>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 instance is created</a:t>
            </a:r>
          </a:p>
          <a:p>
            <a:pPr marL="0" indent="0" algn="just">
              <a:buNone/>
            </a:pPr>
            <a:r>
              <a:rPr lang="en-GB" sz="2000" dirty="0" smtClean="0">
                <a:latin typeface="Cambria" panose="02040503050406030204" pitchFamily="18" charset="0"/>
                <a:ea typeface="Cambria" panose="02040503050406030204" pitchFamily="18" charset="0"/>
              </a:rPr>
              <a:t>The web container creates the instance of a </a:t>
            </a:r>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 after loading the </a:t>
            </a:r>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 class. The </a:t>
            </a:r>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 instance is created only once in the </a:t>
            </a:r>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 life cycle.</a:t>
            </a:r>
          </a:p>
          <a:p>
            <a:pPr marL="0" indent="0" algn="just">
              <a:buNone/>
            </a:pPr>
            <a:r>
              <a:rPr lang="en-GB" sz="2000" dirty="0" smtClean="0">
                <a:latin typeface="Cambria" panose="02040503050406030204" pitchFamily="18" charset="0"/>
                <a:ea typeface="Cambria" panose="02040503050406030204" pitchFamily="18" charset="0"/>
              </a:rPr>
              <a:t>3) init method is invoked</a:t>
            </a:r>
          </a:p>
          <a:p>
            <a:pPr marL="0" indent="0" algn="just">
              <a:buNone/>
            </a:pPr>
            <a:r>
              <a:rPr lang="en-GB" sz="2000" dirty="0" smtClean="0">
                <a:latin typeface="Cambria" panose="02040503050406030204" pitchFamily="18" charset="0"/>
                <a:ea typeface="Cambria" panose="02040503050406030204" pitchFamily="18" charset="0"/>
              </a:rPr>
              <a:t>The web container calls the init method only once after creating the </a:t>
            </a:r>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 instance. The init method is used to initialize the </a:t>
            </a:r>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 It is the life cycle method of the </a:t>
            </a:r>
            <a:r>
              <a:rPr lang="en-GB" sz="2000" dirty="0" err="1" smtClean="0">
                <a:latin typeface="Cambria" panose="02040503050406030204" pitchFamily="18" charset="0"/>
                <a:ea typeface="Cambria" panose="02040503050406030204" pitchFamily="18" charset="0"/>
              </a:rPr>
              <a:t>javax.servlet.Servlet</a:t>
            </a:r>
            <a:r>
              <a:rPr lang="en-GB" sz="2000" dirty="0" smtClean="0">
                <a:latin typeface="Cambria" panose="02040503050406030204" pitchFamily="18" charset="0"/>
                <a:ea typeface="Cambria" panose="02040503050406030204" pitchFamily="18" charset="0"/>
              </a:rPr>
              <a:t> interface. Syntax of the init method is given below:</a:t>
            </a:r>
          </a:p>
          <a:p>
            <a:pPr marL="0" indent="0" algn="just">
              <a:buNone/>
            </a:pPr>
            <a:r>
              <a:rPr lang="en-GB" sz="2000" b="1" dirty="0" smtClean="0">
                <a:latin typeface="Cambria" panose="02040503050406030204" pitchFamily="18" charset="0"/>
                <a:ea typeface="Cambria" panose="02040503050406030204" pitchFamily="18" charset="0"/>
              </a:rPr>
              <a:t>public</a:t>
            </a:r>
            <a:r>
              <a:rPr lang="en-GB" sz="2000" dirty="0" smtClean="0">
                <a:latin typeface="Cambria" panose="02040503050406030204" pitchFamily="18" charset="0"/>
                <a:ea typeface="Cambria" panose="02040503050406030204" pitchFamily="18" charset="0"/>
              </a:rPr>
              <a:t> </a:t>
            </a:r>
            <a:r>
              <a:rPr lang="en-GB" sz="2000" b="1" dirty="0" smtClean="0">
                <a:latin typeface="Cambria" panose="02040503050406030204" pitchFamily="18" charset="0"/>
                <a:ea typeface="Cambria" panose="02040503050406030204" pitchFamily="18" charset="0"/>
              </a:rPr>
              <a:t>void</a:t>
            </a:r>
            <a:r>
              <a:rPr lang="en-GB" sz="2000" dirty="0" smtClean="0">
                <a:latin typeface="Cambria" panose="02040503050406030204" pitchFamily="18" charset="0"/>
                <a:ea typeface="Cambria" panose="02040503050406030204" pitchFamily="18" charset="0"/>
              </a:rPr>
              <a:t> init(ServletConfig config) </a:t>
            </a:r>
            <a:r>
              <a:rPr lang="en-GB" sz="2000" b="1" dirty="0" smtClean="0">
                <a:latin typeface="Cambria" panose="02040503050406030204" pitchFamily="18" charset="0"/>
                <a:ea typeface="Cambria" panose="02040503050406030204" pitchFamily="18" charset="0"/>
              </a:rPr>
              <a:t>throws</a:t>
            </a:r>
            <a:r>
              <a:rPr lang="en-GB" sz="2000" dirty="0" smtClean="0">
                <a:latin typeface="Cambria" panose="02040503050406030204" pitchFamily="18" charset="0"/>
                <a:ea typeface="Cambria" panose="02040503050406030204" pitchFamily="18" charset="0"/>
              </a:rPr>
              <a:t> ServletException  </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21</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67" y="0"/>
            <a:ext cx="3817640" cy="527034"/>
          </a:xfrm>
        </p:spPr>
        <p:txBody>
          <a:bodyPr/>
          <a:lstStyle/>
          <a:p>
            <a:r>
              <a:rPr lang="en-IN" sz="3600" b="1" dirty="0" smtClean="0">
                <a:solidFill>
                  <a:srgbClr val="002060"/>
                </a:solidFill>
                <a:latin typeface="Cambria" panose="02040503050406030204" pitchFamily="18" charset="0"/>
                <a:ea typeface="Cambria" panose="02040503050406030204" pitchFamily="18" charset="0"/>
              </a:rPr>
              <a:t>Servlet Life Cycle</a:t>
            </a:r>
            <a:endParaRPr lang="en-US" sz="3600" b="1" dirty="0">
              <a:solidFill>
                <a:srgbClr val="00206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479376" y="527034"/>
            <a:ext cx="10801200" cy="4414134"/>
          </a:xfrm>
        </p:spPr>
        <p:txBody>
          <a:bodyPr/>
          <a:lstStyle/>
          <a:p>
            <a:pPr marL="0" indent="0" algn="just">
              <a:buNone/>
            </a:pPr>
            <a:r>
              <a:rPr lang="en-GB" sz="2000" dirty="0" smtClean="0">
                <a:latin typeface="Cambria" panose="02040503050406030204" pitchFamily="18" charset="0"/>
                <a:ea typeface="Cambria" panose="02040503050406030204" pitchFamily="18" charset="0"/>
              </a:rPr>
              <a:t>4) service method is invoked</a:t>
            </a:r>
          </a:p>
          <a:p>
            <a:pPr marL="0" indent="0" algn="just">
              <a:buNone/>
            </a:pPr>
            <a:r>
              <a:rPr lang="en-GB" sz="2000" dirty="0" smtClean="0">
                <a:latin typeface="Cambria" panose="02040503050406030204" pitchFamily="18" charset="0"/>
                <a:ea typeface="Cambria" panose="02040503050406030204" pitchFamily="18" charset="0"/>
              </a:rPr>
              <a:t>The web container calls the service method each time when request for the </a:t>
            </a:r>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 is received. If </a:t>
            </a:r>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 is not initialized, it follows the first three steps as described above then calls the service method. If </a:t>
            </a:r>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 is initialized, it calls the service method. Notice that </a:t>
            </a:r>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 is initialized only once. The syntax of the service method of the </a:t>
            </a:r>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 interface is given below:</a:t>
            </a:r>
          </a:p>
          <a:p>
            <a:pPr marL="0" indent="0" algn="just">
              <a:buNone/>
            </a:pPr>
            <a:r>
              <a:rPr lang="en-GB" sz="2000" b="1" dirty="0" smtClean="0">
                <a:latin typeface="Cambria" panose="02040503050406030204" pitchFamily="18" charset="0"/>
                <a:ea typeface="Cambria" panose="02040503050406030204" pitchFamily="18" charset="0"/>
              </a:rPr>
              <a:t>public</a:t>
            </a:r>
            <a:r>
              <a:rPr lang="en-GB" sz="2000" dirty="0" smtClean="0">
                <a:latin typeface="Cambria" panose="02040503050406030204" pitchFamily="18" charset="0"/>
                <a:ea typeface="Cambria" panose="02040503050406030204" pitchFamily="18" charset="0"/>
              </a:rPr>
              <a:t> </a:t>
            </a:r>
            <a:r>
              <a:rPr lang="en-GB" sz="2000" b="1" dirty="0" smtClean="0">
                <a:latin typeface="Cambria" panose="02040503050406030204" pitchFamily="18" charset="0"/>
                <a:ea typeface="Cambria" panose="02040503050406030204" pitchFamily="18" charset="0"/>
              </a:rPr>
              <a:t>void</a:t>
            </a:r>
            <a:r>
              <a:rPr lang="en-GB" sz="2000" dirty="0" smtClean="0">
                <a:latin typeface="Cambria" panose="02040503050406030204" pitchFamily="18" charset="0"/>
                <a:ea typeface="Cambria" panose="02040503050406030204" pitchFamily="18" charset="0"/>
              </a:rPr>
              <a:t> service(</a:t>
            </a:r>
            <a:r>
              <a:rPr lang="en-GB" sz="2000" dirty="0" err="1" smtClean="0">
                <a:latin typeface="Cambria" panose="02040503050406030204" pitchFamily="18" charset="0"/>
                <a:ea typeface="Cambria" panose="02040503050406030204" pitchFamily="18" charset="0"/>
              </a:rPr>
              <a:t>ServletRequest</a:t>
            </a:r>
            <a:r>
              <a:rPr lang="en-GB" sz="2000" dirty="0" smtClean="0">
                <a:latin typeface="Cambria" panose="02040503050406030204" pitchFamily="18" charset="0"/>
                <a:ea typeface="Cambria" panose="02040503050406030204" pitchFamily="18" charset="0"/>
              </a:rPr>
              <a:t> request, </a:t>
            </a:r>
            <a:r>
              <a:rPr lang="en-GB" sz="2000" dirty="0" err="1" smtClean="0">
                <a:latin typeface="Cambria" panose="02040503050406030204" pitchFamily="18" charset="0"/>
                <a:ea typeface="Cambria" panose="02040503050406030204" pitchFamily="18" charset="0"/>
              </a:rPr>
              <a:t>ServletResponse</a:t>
            </a:r>
            <a:r>
              <a:rPr lang="en-GB" sz="2000" dirty="0" smtClean="0">
                <a:latin typeface="Cambria" panose="02040503050406030204" pitchFamily="18" charset="0"/>
                <a:ea typeface="Cambria" panose="02040503050406030204" pitchFamily="18" charset="0"/>
              </a:rPr>
              <a:t> response)   </a:t>
            </a:r>
          </a:p>
          <a:p>
            <a:pPr marL="0" indent="0" algn="just">
              <a:buNone/>
            </a:pPr>
            <a:r>
              <a:rPr lang="en-GB" sz="2000" dirty="0" smtClean="0">
                <a:latin typeface="Cambria" panose="02040503050406030204" pitchFamily="18" charset="0"/>
                <a:ea typeface="Cambria" panose="02040503050406030204" pitchFamily="18" charset="0"/>
              </a:rPr>
              <a:t>  </a:t>
            </a:r>
            <a:r>
              <a:rPr lang="en-GB" sz="2000" b="1" dirty="0" smtClean="0">
                <a:latin typeface="Cambria" panose="02040503050406030204" pitchFamily="18" charset="0"/>
                <a:ea typeface="Cambria" panose="02040503050406030204" pitchFamily="18" charset="0"/>
              </a:rPr>
              <a:t>throws</a:t>
            </a:r>
            <a:r>
              <a:rPr lang="en-GB" sz="2000" dirty="0" smtClean="0">
                <a:latin typeface="Cambria" panose="02040503050406030204" pitchFamily="18" charset="0"/>
                <a:ea typeface="Cambria" panose="02040503050406030204" pitchFamily="18" charset="0"/>
              </a:rPr>
              <a:t> </a:t>
            </a:r>
            <a:r>
              <a:rPr lang="en-GB" sz="2000" dirty="0" err="1" smtClean="0">
                <a:latin typeface="Cambria" panose="02040503050406030204" pitchFamily="18" charset="0"/>
                <a:ea typeface="Cambria" panose="02040503050406030204" pitchFamily="18" charset="0"/>
              </a:rPr>
              <a:t>ServletException</a:t>
            </a:r>
            <a:r>
              <a:rPr lang="en-GB" sz="2000" dirty="0" smtClean="0">
                <a:latin typeface="Cambria" panose="02040503050406030204" pitchFamily="18" charset="0"/>
                <a:ea typeface="Cambria" panose="02040503050406030204" pitchFamily="18" charset="0"/>
              </a:rPr>
              <a:t>, </a:t>
            </a:r>
            <a:r>
              <a:rPr lang="en-GB" sz="2000" dirty="0" err="1" smtClean="0">
                <a:latin typeface="Cambria" panose="02040503050406030204" pitchFamily="18" charset="0"/>
                <a:ea typeface="Cambria" panose="02040503050406030204" pitchFamily="18" charset="0"/>
              </a:rPr>
              <a:t>IOException</a:t>
            </a:r>
            <a:r>
              <a:rPr lang="en-GB" sz="2000" dirty="0" smtClean="0">
                <a:latin typeface="Cambria" panose="02040503050406030204" pitchFamily="18" charset="0"/>
                <a:ea typeface="Cambria" panose="02040503050406030204" pitchFamily="18" charset="0"/>
              </a:rPr>
              <a:t>  </a:t>
            </a:r>
          </a:p>
          <a:p>
            <a:pPr marL="0" indent="0" algn="just">
              <a:buNone/>
            </a:pPr>
            <a:r>
              <a:rPr lang="en-GB" sz="2000" dirty="0" smtClean="0">
                <a:latin typeface="Cambria" panose="02040503050406030204" pitchFamily="18" charset="0"/>
                <a:ea typeface="Cambria" panose="02040503050406030204" pitchFamily="18" charset="0"/>
              </a:rPr>
              <a:t>5) destroy method is invoked</a:t>
            </a:r>
          </a:p>
          <a:p>
            <a:pPr marL="0" indent="0" algn="just">
              <a:buNone/>
            </a:pPr>
            <a:r>
              <a:rPr lang="en-GB" sz="2000" dirty="0" smtClean="0">
                <a:latin typeface="Cambria" panose="02040503050406030204" pitchFamily="18" charset="0"/>
                <a:ea typeface="Cambria" panose="02040503050406030204" pitchFamily="18" charset="0"/>
              </a:rPr>
              <a:t>The web container calls the destroy method before removing the </a:t>
            </a:r>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 instance from the service. It gives the </a:t>
            </a:r>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 an opportunity to clean up any resource for example memory, thread etc. The syntax of the destroy method of the </a:t>
            </a:r>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 interface is given below:</a:t>
            </a:r>
          </a:p>
          <a:p>
            <a:pPr marL="0" indent="0" algn="just">
              <a:buNone/>
            </a:pPr>
            <a:r>
              <a:rPr lang="en-GB" sz="2000" b="1" dirty="0" smtClean="0">
                <a:latin typeface="Cambria" panose="02040503050406030204" pitchFamily="18" charset="0"/>
                <a:ea typeface="Cambria" panose="02040503050406030204" pitchFamily="18" charset="0"/>
              </a:rPr>
              <a:t>public</a:t>
            </a:r>
            <a:r>
              <a:rPr lang="en-GB" sz="2000" dirty="0" smtClean="0">
                <a:latin typeface="Cambria" panose="02040503050406030204" pitchFamily="18" charset="0"/>
                <a:ea typeface="Cambria" panose="02040503050406030204" pitchFamily="18" charset="0"/>
              </a:rPr>
              <a:t> </a:t>
            </a:r>
            <a:r>
              <a:rPr lang="en-GB" sz="2000" b="1" dirty="0" smtClean="0">
                <a:latin typeface="Cambria" panose="02040503050406030204" pitchFamily="18" charset="0"/>
                <a:ea typeface="Cambria" panose="02040503050406030204" pitchFamily="18" charset="0"/>
              </a:rPr>
              <a:t>void</a:t>
            </a:r>
            <a:r>
              <a:rPr lang="en-GB" sz="2000" dirty="0" smtClean="0">
                <a:latin typeface="Cambria" panose="02040503050406030204" pitchFamily="18" charset="0"/>
                <a:ea typeface="Cambria" panose="02040503050406030204" pitchFamily="18" charset="0"/>
              </a:rPr>
              <a:t> destroy()  </a:t>
            </a:r>
          </a:p>
          <a:p>
            <a:pPr marL="0" indent="0" algn="just">
              <a:buNone/>
            </a:pPr>
            <a:endParaRPr lang="en-US" sz="20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22</a:t>
            </a:fld>
            <a:endParaRPr lang="en-US" altLang="en-US">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39174392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5360" y="-4775"/>
            <a:ext cx="10513168" cy="769480"/>
          </a:xfrm>
        </p:spPr>
        <p:txBody>
          <a:bodyPr/>
          <a:lstStyle/>
          <a:p>
            <a:r>
              <a:rPr lang="en-GB" sz="4000" b="1" dirty="0" smtClean="0">
                <a:solidFill>
                  <a:schemeClr val="accent5"/>
                </a:solidFill>
                <a:latin typeface="Cambria" panose="02040503050406030204" pitchFamily="18" charset="0"/>
                <a:ea typeface="Cambria" panose="02040503050406030204" pitchFamily="18" charset="0"/>
              </a:rPr>
              <a:t>Steps to create a </a:t>
            </a:r>
            <a:r>
              <a:rPr lang="en-GB" sz="4000" b="1" dirty="0" err="1" smtClean="0">
                <a:solidFill>
                  <a:schemeClr val="accent5"/>
                </a:solidFill>
                <a:latin typeface="Cambria" panose="02040503050406030204" pitchFamily="18" charset="0"/>
                <a:ea typeface="Cambria" panose="02040503050406030204" pitchFamily="18" charset="0"/>
              </a:rPr>
              <a:t>servlet</a:t>
            </a:r>
            <a:r>
              <a:rPr lang="en-GB" sz="4000" b="1" dirty="0" smtClean="0">
                <a:solidFill>
                  <a:schemeClr val="accent5"/>
                </a:solidFill>
                <a:latin typeface="Cambria" panose="02040503050406030204" pitchFamily="18" charset="0"/>
                <a:ea typeface="Cambria" panose="02040503050406030204" pitchFamily="18" charset="0"/>
              </a:rPr>
              <a:t> example</a:t>
            </a:r>
            <a:endParaRPr lang="en-GB" sz="40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335360" y="620688"/>
            <a:ext cx="10515600" cy="4676789"/>
          </a:xfrm>
        </p:spPr>
        <p:txBody>
          <a:bodyPr/>
          <a:lstStyle/>
          <a:p>
            <a:pPr algn="just"/>
            <a:r>
              <a:rPr lang="en-GB" sz="2400" dirty="0" smtClean="0">
                <a:latin typeface="Cambria" panose="02040503050406030204" pitchFamily="18" charset="0"/>
                <a:ea typeface="Cambria" panose="02040503050406030204" pitchFamily="18" charset="0"/>
              </a:rPr>
              <a:t>There are given 6 steps to create a </a:t>
            </a:r>
            <a:r>
              <a:rPr lang="en-GB" sz="2400" b="1" dirty="0" err="1" smtClean="0">
                <a:latin typeface="Cambria" panose="02040503050406030204" pitchFamily="18" charset="0"/>
                <a:ea typeface="Cambria" panose="02040503050406030204" pitchFamily="18" charset="0"/>
              </a:rPr>
              <a:t>servlet</a:t>
            </a:r>
            <a:r>
              <a:rPr lang="en-GB" sz="2400" b="1" dirty="0" smtClean="0">
                <a:latin typeface="Cambria" panose="02040503050406030204" pitchFamily="18" charset="0"/>
                <a:ea typeface="Cambria" panose="02040503050406030204" pitchFamily="18" charset="0"/>
              </a:rPr>
              <a:t> example</a:t>
            </a:r>
            <a:r>
              <a:rPr lang="en-GB" sz="2400" dirty="0" smtClean="0">
                <a:latin typeface="Cambria" panose="02040503050406030204" pitchFamily="18" charset="0"/>
                <a:ea typeface="Cambria" panose="02040503050406030204" pitchFamily="18" charset="0"/>
              </a:rPr>
              <a:t>. These steps are required for all the servers.</a:t>
            </a:r>
          </a:p>
          <a:p>
            <a:pPr marL="514350" indent="-514350" algn="just">
              <a:buFont typeface="+mj-lt"/>
              <a:buAutoNum type="arabicPeriod"/>
            </a:pPr>
            <a:r>
              <a:rPr lang="en-GB" sz="2400" dirty="0" smtClean="0">
                <a:latin typeface="Cambria" panose="02040503050406030204" pitchFamily="18" charset="0"/>
                <a:ea typeface="Cambria" panose="02040503050406030204" pitchFamily="18" charset="0"/>
              </a:rPr>
              <a:t>The </a:t>
            </a:r>
            <a:r>
              <a:rPr lang="en-GB" sz="2400" dirty="0" err="1" smtClean="0">
                <a:latin typeface="Cambria" panose="02040503050406030204" pitchFamily="18" charset="0"/>
                <a:ea typeface="Cambria" panose="02040503050406030204" pitchFamily="18" charset="0"/>
              </a:rPr>
              <a:t>servlet</a:t>
            </a:r>
            <a:r>
              <a:rPr lang="en-GB" sz="2400" dirty="0" smtClean="0">
                <a:latin typeface="Cambria" panose="02040503050406030204" pitchFamily="18" charset="0"/>
                <a:ea typeface="Cambria" panose="02040503050406030204" pitchFamily="18" charset="0"/>
              </a:rPr>
              <a:t> example can be created by three ways:</a:t>
            </a:r>
          </a:p>
          <a:p>
            <a:pPr algn="just"/>
            <a:r>
              <a:rPr lang="en-GB" sz="2400" dirty="0" smtClean="0">
                <a:latin typeface="Cambria" panose="02040503050406030204" pitchFamily="18" charset="0"/>
                <a:ea typeface="Cambria" panose="02040503050406030204" pitchFamily="18" charset="0"/>
              </a:rPr>
              <a:t>By implementing </a:t>
            </a:r>
            <a:r>
              <a:rPr lang="en-GB" sz="2400" dirty="0" err="1" smtClean="0">
                <a:latin typeface="Cambria" panose="02040503050406030204" pitchFamily="18" charset="0"/>
                <a:ea typeface="Cambria" panose="02040503050406030204" pitchFamily="18" charset="0"/>
              </a:rPr>
              <a:t>Servlet</a:t>
            </a:r>
            <a:r>
              <a:rPr lang="en-GB" sz="2400" dirty="0" smtClean="0">
                <a:latin typeface="Cambria" panose="02040503050406030204" pitchFamily="18" charset="0"/>
                <a:ea typeface="Cambria" panose="02040503050406030204" pitchFamily="18" charset="0"/>
              </a:rPr>
              <a:t> interface,</a:t>
            </a:r>
          </a:p>
          <a:p>
            <a:pPr algn="just"/>
            <a:r>
              <a:rPr lang="en-GB" sz="2400" dirty="0" smtClean="0">
                <a:latin typeface="Cambria" panose="02040503050406030204" pitchFamily="18" charset="0"/>
                <a:ea typeface="Cambria" panose="02040503050406030204" pitchFamily="18" charset="0"/>
              </a:rPr>
              <a:t>By inheriting </a:t>
            </a:r>
            <a:r>
              <a:rPr lang="en-GB" sz="2400" dirty="0" err="1" smtClean="0">
                <a:latin typeface="Cambria" panose="02040503050406030204" pitchFamily="18" charset="0"/>
                <a:ea typeface="Cambria" panose="02040503050406030204" pitchFamily="18" charset="0"/>
              </a:rPr>
              <a:t>GenericServlet</a:t>
            </a:r>
            <a:r>
              <a:rPr lang="en-GB" sz="2400" dirty="0" smtClean="0">
                <a:latin typeface="Cambria" panose="02040503050406030204" pitchFamily="18" charset="0"/>
                <a:ea typeface="Cambria" panose="02040503050406030204" pitchFamily="18" charset="0"/>
              </a:rPr>
              <a:t> class, (or)</a:t>
            </a:r>
          </a:p>
          <a:p>
            <a:pPr algn="just"/>
            <a:r>
              <a:rPr lang="en-GB" sz="2400" dirty="0" smtClean="0">
                <a:latin typeface="Cambria" panose="02040503050406030204" pitchFamily="18" charset="0"/>
                <a:ea typeface="Cambria" panose="02040503050406030204" pitchFamily="18" charset="0"/>
              </a:rPr>
              <a:t>By inheriting </a:t>
            </a:r>
            <a:r>
              <a:rPr lang="en-GB" sz="2400" dirty="0" err="1" smtClean="0">
                <a:latin typeface="Cambria" panose="02040503050406030204" pitchFamily="18" charset="0"/>
                <a:ea typeface="Cambria" panose="02040503050406030204" pitchFamily="18" charset="0"/>
              </a:rPr>
              <a:t>HttpServlet</a:t>
            </a:r>
            <a:r>
              <a:rPr lang="en-GB" sz="2400" dirty="0" smtClean="0">
                <a:latin typeface="Cambria" panose="02040503050406030204" pitchFamily="18" charset="0"/>
                <a:ea typeface="Cambria" panose="02040503050406030204" pitchFamily="18" charset="0"/>
              </a:rPr>
              <a:t> class</a:t>
            </a:r>
          </a:p>
          <a:p>
            <a:pPr algn="just"/>
            <a:r>
              <a:rPr lang="en-GB" sz="2400" dirty="0" smtClean="0">
                <a:latin typeface="Cambria" panose="02040503050406030204" pitchFamily="18" charset="0"/>
                <a:ea typeface="Cambria" panose="02040503050406030204" pitchFamily="18" charset="0"/>
              </a:rPr>
              <a:t>The mostly used approach is by extending </a:t>
            </a:r>
            <a:r>
              <a:rPr lang="en-GB" sz="2400" dirty="0" err="1" smtClean="0">
                <a:latin typeface="Cambria" panose="02040503050406030204" pitchFamily="18" charset="0"/>
                <a:ea typeface="Cambria" panose="02040503050406030204" pitchFamily="18" charset="0"/>
              </a:rPr>
              <a:t>HttpServlet</a:t>
            </a:r>
            <a:r>
              <a:rPr lang="en-GB" sz="2400" dirty="0" smtClean="0">
                <a:latin typeface="Cambria" panose="02040503050406030204" pitchFamily="18" charset="0"/>
                <a:ea typeface="Cambria" panose="02040503050406030204" pitchFamily="18" charset="0"/>
              </a:rPr>
              <a:t> because it provides http request specific method such as </a:t>
            </a:r>
            <a:r>
              <a:rPr lang="en-GB" sz="2400" dirty="0" err="1" smtClean="0">
                <a:latin typeface="Cambria" panose="02040503050406030204" pitchFamily="18" charset="0"/>
                <a:ea typeface="Cambria" panose="02040503050406030204" pitchFamily="18" charset="0"/>
              </a:rPr>
              <a:t>doGet</a:t>
            </a:r>
            <a:r>
              <a:rPr lang="en-GB" sz="2400" dirty="0" smtClean="0">
                <a:latin typeface="Cambria" panose="02040503050406030204" pitchFamily="18" charset="0"/>
                <a:ea typeface="Cambria" panose="02040503050406030204" pitchFamily="18" charset="0"/>
              </a:rPr>
              <a:t>(), </a:t>
            </a:r>
            <a:r>
              <a:rPr lang="en-GB" sz="2400" dirty="0" err="1" smtClean="0">
                <a:latin typeface="Cambria" panose="02040503050406030204" pitchFamily="18" charset="0"/>
                <a:ea typeface="Cambria" panose="02040503050406030204" pitchFamily="18" charset="0"/>
              </a:rPr>
              <a:t>doPost</a:t>
            </a:r>
            <a:r>
              <a:rPr lang="en-GB" sz="2400" dirty="0" smtClean="0">
                <a:latin typeface="Cambria" panose="02040503050406030204" pitchFamily="18" charset="0"/>
                <a:ea typeface="Cambria" panose="02040503050406030204" pitchFamily="18" charset="0"/>
              </a:rPr>
              <a:t>(), </a:t>
            </a:r>
            <a:r>
              <a:rPr lang="en-GB" sz="2400" dirty="0" err="1" smtClean="0">
                <a:latin typeface="Cambria" panose="02040503050406030204" pitchFamily="18" charset="0"/>
                <a:ea typeface="Cambria" panose="02040503050406030204" pitchFamily="18" charset="0"/>
              </a:rPr>
              <a:t>doHead</a:t>
            </a:r>
            <a:r>
              <a:rPr lang="en-GB" sz="2400" dirty="0" smtClean="0">
                <a:latin typeface="Cambria" panose="02040503050406030204" pitchFamily="18" charset="0"/>
                <a:ea typeface="Cambria" panose="02040503050406030204" pitchFamily="18" charset="0"/>
              </a:rPr>
              <a:t>() etc.</a:t>
            </a:r>
          </a:p>
          <a:p>
            <a:pPr algn="just"/>
            <a:r>
              <a:rPr lang="en-GB" sz="2400" dirty="0" smtClean="0">
                <a:latin typeface="Cambria" panose="02040503050406030204" pitchFamily="18" charset="0"/>
                <a:ea typeface="Cambria" panose="02040503050406030204" pitchFamily="18" charset="0"/>
              </a:rPr>
              <a:t>Here, we are going to use </a:t>
            </a:r>
            <a:r>
              <a:rPr lang="en-GB" sz="2400" b="1" dirty="0" smtClean="0">
                <a:latin typeface="Cambria" panose="02040503050406030204" pitchFamily="18" charset="0"/>
                <a:ea typeface="Cambria" panose="02040503050406030204" pitchFamily="18" charset="0"/>
              </a:rPr>
              <a:t>apache tomcat server</a:t>
            </a:r>
            <a:r>
              <a:rPr lang="en-GB" sz="2400" dirty="0" smtClean="0">
                <a:latin typeface="Cambria" panose="02040503050406030204" pitchFamily="18" charset="0"/>
                <a:ea typeface="Cambria" panose="02040503050406030204" pitchFamily="18" charset="0"/>
              </a:rPr>
              <a:t> in this example. </a:t>
            </a:r>
          </a:p>
          <a:p>
            <a:pPr algn="just">
              <a:buNone/>
            </a:pPr>
            <a:endParaRPr lang="en-US" sz="24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23</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344" y="188640"/>
            <a:ext cx="6121896" cy="615603"/>
          </a:xfrm>
        </p:spPr>
        <p:txBody>
          <a:bodyPr/>
          <a:lstStyle/>
          <a:p>
            <a:r>
              <a:rPr lang="en-GB" sz="4000" b="1" dirty="0" smtClean="0">
                <a:solidFill>
                  <a:schemeClr val="accent5"/>
                </a:solidFill>
                <a:latin typeface="Cambria" panose="02040503050406030204" pitchFamily="18" charset="0"/>
                <a:ea typeface="Cambria" panose="02040503050406030204" pitchFamily="18" charset="0"/>
              </a:rPr>
              <a:t>The steps are as follows:</a:t>
            </a:r>
            <a:endParaRPr lang="en-US" sz="4000" b="1" dirty="0">
              <a:solidFill>
                <a:schemeClr val="accent5"/>
              </a:solidFill>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24</a:t>
            </a:fld>
            <a:endParaRPr lang="en-US" altLang="en-US">
              <a:latin typeface="Cambria" panose="02040503050406030204" pitchFamily="18" charset="0"/>
              <a:ea typeface="Cambria" panose="02040503050406030204" pitchFamily="18" charset="0"/>
            </a:endParaRPr>
          </a:p>
        </p:txBody>
      </p:sp>
      <p:sp>
        <p:nvSpPr>
          <p:cNvPr id="6" name="Content Placeholder 5"/>
          <p:cNvSpPr>
            <a:spLocks noGrp="1"/>
          </p:cNvSpPr>
          <p:nvPr>
            <p:ph idx="1"/>
          </p:nvPr>
        </p:nvSpPr>
        <p:spPr>
          <a:xfrm>
            <a:off x="803902" y="1196752"/>
            <a:ext cx="10476674" cy="3456384"/>
          </a:xfrm>
        </p:spPr>
        <p:txBody>
          <a:bodyPr/>
          <a:lstStyle/>
          <a:p>
            <a:pPr marL="514350" indent="-514350">
              <a:buFont typeface="+mj-lt"/>
              <a:buAutoNum type="arabicPeriod"/>
            </a:pPr>
            <a:r>
              <a:rPr lang="en-GB" dirty="0" smtClean="0">
                <a:latin typeface="Cambria" panose="02040503050406030204" pitchFamily="18" charset="0"/>
                <a:ea typeface="Cambria" panose="02040503050406030204" pitchFamily="18" charset="0"/>
              </a:rPr>
              <a:t>Create a directory structure</a:t>
            </a:r>
          </a:p>
          <a:p>
            <a:pPr marL="514350" indent="-514350">
              <a:buFont typeface="+mj-lt"/>
              <a:buAutoNum type="arabicPeriod"/>
            </a:pPr>
            <a:r>
              <a:rPr lang="en-GB" dirty="0" smtClean="0">
                <a:latin typeface="Cambria" panose="02040503050406030204" pitchFamily="18" charset="0"/>
                <a:ea typeface="Cambria" panose="02040503050406030204" pitchFamily="18" charset="0"/>
              </a:rPr>
              <a:t>Create a Servlet</a:t>
            </a:r>
          </a:p>
          <a:p>
            <a:pPr marL="514350" indent="-514350">
              <a:buFont typeface="+mj-lt"/>
              <a:buAutoNum type="arabicPeriod"/>
            </a:pPr>
            <a:r>
              <a:rPr lang="en-GB" dirty="0" smtClean="0">
                <a:latin typeface="Cambria" panose="02040503050406030204" pitchFamily="18" charset="0"/>
                <a:ea typeface="Cambria" panose="02040503050406030204" pitchFamily="18" charset="0"/>
              </a:rPr>
              <a:t>Compile the Servlet</a:t>
            </a:r>
          </a:p>
          <a:p>
            <a:pPr marL="514350" indent="-514350">
              <a:buFont typeface="+mj-lt"/>
              <a:buAutoNum type="arabicPeriod"/>
            </a:pPr>
            <a:r>
              <a:rPr lang="en-GB" dirty="0" smtClean="0">
                <a:latin typeface="Cambria" panose="02040503050406030204" pitchFamily="18" charset="0"/>
                <a:ea typeface="Cambria" panose="02040503050406030204" pitchFamily="18" charset="0"/>
              </a:rPr>
              <a:t>Create a deployment descriptor</a:t>
            </a:r>
          </a:p>
          <a:p>
            <a:pPr marL="514350" indent="-514350">
              <a:buFont typeface="+mj-lt"/>
              <a:buAutoNum type="arabicPeriod"/>
            </a:pPr>
            <a:r>
              <a:rPr lang="en-GB" dirty="0" smtClean="0">
                <a:latin typeface="Cambria" panose="02040503050406030204" pitchFamily="18" charset="0"/>
                <a:ea typeface="Cambria" panose="02040503050406030204" pitchFamily="18" charset="0"/>
              </a:rPr>
              <a:t>Start the server and deploy the project</a:t>
            </a:r>
          </a:p>
          <a:p>
            <a:pPr marL="514350" indent="-514350">
              <a:buFont typeface="+mj-lt"/>
              <a:buAutoNum type="arabicPeriod"/>
            </a:pPr>
            <a:r>
              <a:rPr lang="en-GB" dirty="0" smtClean="0">
                <a:latin typeface="Cambria" panose="02040503050406030204" pitchFamily="18" charset="0"/>
                <a:ea typeface="Cambria" panose="02040503050406030204" pitchFamily="18" charset="0"/>
              </a:rPr>
              <a:t>Access the servlet</a:t>
            </a:r>
            <a:endParaRPr lang="en-US" dirty="0">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272464" cy="649641"/>
          </a:xfrm>
        </p:spPr>
        <p:txBody>
          <a:bodyPr/>
          <a:lstStyle/>
          <a:p>
            <a:r>
              <a:rPr lang="en-US" sz="3600" b="1" dirty="0" smtClean="0">
                <a:solidFill>
                  <a:schemeClr val="accent5"/>
                </a:solidFill>
                <a:latin typeface="Cambria" panose="02040503050406030204" pitchFamily="18" charset="0"/>
                <a:ea typeface="Cambria" panose="02040503050406030204" pitchFamily="18" charset="0"/>
              </a:rPr>
              <a:t>1. Create a directory structures</a:t>
            </a:r>
            <a:endParaRPr lang="en-US" sz="36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263352" y="679148"/>
            <a:ext cx="7128792" cy="4550052"/>
          </a:xfrm>
        </p:spPr>
        <p:txBody>
          <a:bodyPr/>
          <a:lstStyle/>
          <a:p>
            <a:pPr algn="just"/>
            <a:r>
              <a:rPr lang="en-GB" dirty="0" smtClean="0">
                <a:latin typeface="Cambria" panose="02040503050406030204" pitchFamily="18" charset="0"/>
                <a:ea typeface="Cambria" panose="02040503050406030204" pitchFamily="18" charset="0"/>
              </a:rPr>
              <a:t>The </a:t>
            </a:r>
            <a:r>
              <a:rPr lang="en-GB" b="1" dirty="0" smtClean="0">
                <a:latin typeface="Cambria" panose="02040503050406030204" pitchFamily="18" charset="0"/>
                <a:ea typeface="Cambria" panose="02040503050406030204" pitchFamily="18" charset="0"/>
              </a:rPr>
              <a:t>directory structure</a:t>
            </a:r>
            <a:r>
              <a:rPr lang="en-GB" dirty="0" smtClean="0">
                <a:latin typeface="Cambria" panose="02040503050406030204" pitchFamily="18" charset="0"/>
                <a:ea typeface="Cambria" panose="02040503050406030204" pitchFamily="18" charset="0"/>
              </a:rPr>
              <a:t> defines that where to put the different types of files so that web container may get the information and respond to the client.</a:t>
            </a:r>
          </a:p>
          <a:p>
            <a:pPr algn="just"/>
            <a:r>
              <a:rPr lang="en-GB" dirty="0" smtClean="0">
                <a:latin typeface="Cambria" panose="02040503050406030204" pitchFamily="18" charset="0"/>
                <a:ea typeface="Cambria" panose="02040503050406030204" pitchFamily="18" charset="0"/>
              </a:rPr>
              <a:t>The Sun </a:t>
            </a:r>
            <a:r>
              <a:rPr lang="en-GB" dirty="0" err="1" smtClean="0">
                <a:latin typeface="Cambria" panose="02040503050406030204" pitchFamily="18" charset="0"/>
                <a:ea typeface="Cambria" panose="02040503050406030204" pitchFamily="18" charset="0"/>
              </a:rPr>
              <a:t>Microsystem</a:t>
            </a:r>
            <a:r>
              <a:rPr lang="en-GB" dirty="0" smtClean="0">
                <a:latin typeface="Cambria" panose="02040503050406030204" pitchFamily="18" charset="0"/>
                <a:ea typeface="Cambria" panose="02040503050406030204" pitchFamily="18" charset="0"/>
              </a:rPr>
              <a:t> defines a unique standard to be followed by all the server vendors. Let's see the directory structure that must be followed to create the </a:t>
            </a:r>
            <a:r>
              <a:rPr lang="en-GB" dirty="0" err="1" smtClean="0">
                <a:latin typeface="Cambria" panose="02040503050406030204" pitchFamily="18" charset="0"/>
                <a:ea typeface="Cambria" panose="02040503050406030204" pitchFamily="18" charset="0"/>
              </a:rPr>
              <a:t>servlet</a:t>
            </a:r>
            <a:r>
              <a:rPr lang="en-GB" dirty="0" smtClean="0">
                <a:latin typeface="Cambria" panose="02040503050406030204" pitchFamily="18" charset="0"/>
                <a:ea typeface="Cambria" panose="02040503050406030204" pitchFamily="18" charset="0"/>
              </a:rPr>
              <a:t>.</a:t>
            </a:r>
          </a:p>
          <a:p>
            <a:pPr algn="just"/>
            <a:r>
              <a:rPr lang="en-GB" dirty="0" smtClean="0">
                <a:latin typeface="Cambria" panose="02040503050406030204" pitchFamily="18" charset="0"/>
                <a:ea typeface="Cambria" panose="02040503050406030204" pitchFamily="18" charset="0"/>
              </a:rPr>
              <a:t>the </a:t>
            </a:r>
            <a:r>
              <a:rPr lang="en-GB" dirty="0" err="1" smtClean="0">
                <a:latin typeface="Cambria" panose="02040503050406030204" pitchFamily="18" charset="0"/>
                <a:ea typeface="Cambria" panose="02040503050406030204" pitchFamily="18" charset="0"/>
              </a:rPr>
              <a:t>servlet</a:t>
            </a:r>
            <a:r>
              <a:rPr lang="en-GB" dirty="0" smtClean="0">
                <a:latin typeface="Cambria" panose="02040503050406030204" pitchFamily="18" charset="0"/>
                <a:ea typeface="Cambria" panose="02040503050406030204" pitchFamily="18" charset="0"/>
              </a:rPr>
              <a:t> class file must be in the classes folder. The web.xml file must be under the WEB-INF folder.</a:t>
            </a:r>
            <a:endParaRPr lang="en-US"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25</a:t>
            </a:fld>
            <a:endParaRPr lang="en-US" altLang="en-US">
              <a:latin typeface="Cambria" panose="02040503050406030204" pitchFamily="18" charset="0"/>
              <a:ea typeface="Cambria" panose="02040503050406030204" pitchFamily="18" charset="0"/>
            </a:endParaRPr>
          </a:p>
        </p:txBody>
      </p:sp>
      <p:pic>
        <p:nvPicPr>
          <p:cNvPr id="5" name="Picture 4" descr="directory structure of servlet"/>
          <p:cNvPicPr/>
          <p:nvPr/>
        </p:nvPicPr>
        <p:blipFill>
          <a:blip r:embed="rId2"/>
          <a:srcRect/>
          <a:stretch>
            <a:fillRect/>
          </a:stretch>
        </p:blipFill>
        <p:spPr bwMode="auto">
          <a:xfrm>
            <a:off x="7824192" y="715503"/>
            <a:ext cx="3242945" cy="347187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3352" y="31685"/>
            <a:ext cx="4609728" cy="471587"/>
          </a:xfrm>
        </p:spPr>
        <p:txBody>
          <a:bodyPr/>
          <a:lstStyle/>
          <a:p>
            <a:r>
              <a:rPr lang="en-US" sz="3600" b="1" dirty="0" smtClean="0">
                <a:solidFill>
                  <a:schemeClr val="accent5"/>
                </a:solidFill>
                <a:latin typeface="Cambria" panose="02040503050406030204" pitchFamily="18" charset="0"/>
                <a:ea typeface="Cambria" panose="02040503050406030204" pitchFamily="18" charset="0"/>
              </a:rPr>
              <a:t>2. Create a </a:t>
            </a:r>
            <a:r>
              <a:rPr lang="en-US" sz="3600" b="1" dirty="0" err="1" smtClean="0">
                <a:solidFill>
                  <a:schemeClr val="accent5"/>
                </a:solidFill>
                <a:latin typeface="Cambria" panose="02040503050406030204" pitchFamily="18" charset="0"/>
                <a:ea typeface="Cambria" panose="02040503050406030204" pitchFamily="18" charset="0"/>
              </a:rPr>
              <a:t>Servlet</a:t>
            </a:r>
            <a:endParaRPr lang="en-US" sz="36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407368" y="620688"/>
            <a:ext cx="11377264" cy="5904656"/>
          </a:xfrm>
        </p:spPr>
        <p:txBody>
          <a:bodyPr/>
          <a:lstStyle/>
          <a:p>
            <a:r>
              <a:rPr lang="en-GB" sz="1800" dirty="0" smtClean="0">
                <a:latin typeface="Cambria" panose="02040503050406030204" pitchFamily="18" charset="0"/>
                <a:ea typeface="Cambria" panose="02040503050406030204" pitchFamily="18" charset="0"/>
              </a:rPr>
              <a:t>There are three ways to create the </a:t>
            </a:r>
            <a:r>
              <a:rPr lang="en-GB" sz="1800" dirty="0" err="1" smtClean="0">
                <a:latin typeface="Cambria" panose="02040503050406030204" pitchFamily="18" charset="0"/>
                <a:ea typeface="Cambria" panose="02040503050406030204" pitchFamily="18" charset="0"/>
              </a:rPr>
              <a:t>servlet</a:t>
            </a:r>
            <a:r>
              <a:rPr lang="en-GB" sz="1800" dirty="0" smtClean="0">
                <a:latin typeface="Cambria" panose="02040503050406030204" pitchFamily="18" charset="0"/>
                <a:ea typeface="Cambria" panose="02040503050406030204" pitchFamily="18" charset="0"/>
              </a:rPr>
              <a:t>.</a:t>
            </a:r>
          </a:p>
          <a:p>
            <a:pPr marL="342900" indent="-342900">
              <a:buFont typeface="+mj-lt"/>
              <a:buAutoNum type="arabicPeriod"/>
            </a:pPr>
            <a:r>
              <a:rPr lang="en-GB" sz="1800" dirty="0" smtClean="0">
                <a:latin typeface="Cambria" panose="02040503050406030204" pitchFamily="18" charset="0"/>
                <a:ea typeface="Cambria" panose="02040503050406030204" pitchFamily="18" charset="0"/>
              </a:rPr>
              <a:t>By implementing the </a:t>
            </a:r>
            <a:r>
              <a:rPr lang="en-GB" sz="1800" dirty="0" err="1" smtClean="0">
                <a:latin typeface="Cambria" panose="02040503050406030204" pitchFamily="18" charset="0"/>
                <a:ea typeface="Cambria" panose="02040503050406030204" pitchFamily="18" charset="0"/>
              </a:rPr>
              <a:t>Servlet</a:t>
            </a:r>
            <a:r>
              <a:rPr lang="en-GB" sz="1800" dirty="0" smtClean="0">
                <a:latin typeface="Cambria" panose="02040503050406030204" pitchFamily="18" charset="0"/>
                <a:ea typeface="Cambria" panose="02040503050406030204" pitchFamily="18" charset="0"/>
              </a:rPr>
              <a:t> interface</a:t>
            </a:r>
          </a:p>
          <a:p>
            <a:pPr marL="342900" indent="-342900">
              <a:buFont typeface="+mj-lt"/>
              <a:buAutoNum type="arabicPeriod"/>
            </a:pPr>
            <a:r>
              <a:rPr lang="en-GB" sz="1800" dirty="0" smtClean="0">
                <a:latin typeface="Cambria" panose="02040503050406030204" pitchFamily="18" charset="0"/>
                <a:ea typeface="Cambria" panose="02040503050406030204" pitchFamily="18" charset="0"/>
              </a:rPr>
              <a:t>By inheriting the </a:t>
            </a:r>
            <a:r>
              <a:rPr lang="en-GB" sz="1800" dirty="0" err="1" smtClean="0">
                <a:latin typeface="Cambria" panose="02040503050406030204" pitchFamily="18" charset="0"/>
                <a:ea typeface="Cambria" panose="02040503050406030204" pitchFamily="18" charset="0"/>
              </a:rPr>
              <a:t>GenericServlet</a:t>
            </a:r>
            <a:r>
              <a:rPr lang="en-GB" sz="1800" dirty="0" smtClean="0">
                <a:latin typeface="Cambria" panose="02040503050406030204" pitchFamily="18" charset="0"/>
                <a:ea typeface="Cambria" panose="02040503050406030204" pitchFamily="18" charset="0"/>
              </a:rPr>
              <a:t> class</a:t>
            </a:r>
          </a:p>
          <a:p>
            <a:pPr marL="342900" indent="-342900">
              <a:buFont typeface="+mj-lt"/>
              <a:buAutoNum type="arabicPeriod"/>
            </a:pPr>
            <a:r>
              <a:rPr lang="en-GB" sz="1800" dirty="0" smtClean="0">
                <a:latin typeface="Cambria" panose="02040503050406030204" pitchFamily="18" charset="0"/>
                <a:ea typeface="Cambria" panose="02040503050406030204" pitchFamily="18" charset="0"/>
              </a:rPr>
              <a:t>By inheriting the </a:t>
            </a:r>
            <a:r>
              <a:rPr lang="en-GB" sz="1800" dirty="0" err="1" smtClean="0">
                <a:latin typeface="Cambria" panose="02040503050406030204" pitchFamily="18" charset="0"/>
                <a:ea typeface="Cambria" panose="02040503050406030204" pitchFamily="18" charset="0"/>
              </a:rPr>
              <a:t>HttpServlet</a:t>
            </a:r>
            <a:r>
              <a:rPr lang="en-GB" sz="1800" dirty="0" smtClean="0">
                <a:latin typeface="Cambria" panose="02040503050406030204" pitchFamily="18" charset="0"/>
                <a:ea typeface="Cambria" panose="02040503050406030204" pitchFamily="18" charset="0"/>
              </a:rPr>
              <a:t> class</a:t>
            </a:r>
          </a:p>
          <a:p>
            <a:pPr marL="0" indent="0">
              <a:buNone/>
            </a:pPr>
            <a:r>
              <a:rPr lang="en-US" sz="1800" b="1" u="sng" dirty="0" smtClean="0">
                <a:latin typeface="Cambria" panose="02040503050406030204" pitchFamily="18" charset="0"/>
                <a:ea typeface="Cambria" panose="02040503050406030204" pitchFamily="18" charset="0"/>
              </a:rPr>
              <a:t>DemoServlet.java</a:t>
            </a:r>
            <a:endParaRPr lang="en-US" sz="1800" u="sng" dirty="0" smtClean="0">
              <a:latin typeface="Cambria" panose="02040503050406030204" pitchFamily="18" charset="0"/>
              <a:ea typeface="Cambria" panose="02040503050406030204" pitchFamily="18" charset="0"/>
            </a:endParaRPr>
          </a:p>
          <a:p>
            <a:pPr>
              <a:spcBef>
                <a:spcPts val="0"/>
              </a:spcBef>
              <a:buNone/>
            </a:pPr>
            <a:r>
              <a:rPr lang="en-US" sz="1800" b="1" dirty="0" smtClean="0">
                <a:latin typeface="Cambria" panose="02040503050406030204" pitchFamily="18" charset="0"/>
                <a:ea typeface="Cambria" panose="02040503050406030204" pitchFamily="18" charset="0"/>
              </a:rPr>
              <a:t>import</a:t>
            </a: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javax.servlet.http</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b="1" dirty="0" smtClean="0">
                <a:latin typeface="Cambria" panose="02040503050406030204" pitchFamily="18" charset="0"/>
                <a:ea typeface="Cambria" panose="02040503050406030204" pitchFamily="18" charset="0"/>
              </a:rPr>
              <a:t>import</a:t>
            </a: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javax.servlet</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b="1" dirty="0" smtClean="0">
                <a:latin typeface="Cambria" panose="02040503050406030204" pitchFamily="18" charset="0"/>
                <a:ea typeface="Cambria" panose="02040503050406030204" pitchFamily="18" charset="0"/>
              </a:rPr>
              <a:t>import</a:t>
            </a:r>
            <a:r>
              <a:rPr lang="en-US" sz="1800" dirty="0" smtClean="0">
                <a:latin typeface="Cambria" panose="02040503050406030204" pitchFamily="18" charset="0"/>
                <a:ea typeface="Cambria" panose="02040503050406030204" pitchFamily="18" charset="0"/>
              </a:rPr>
              <a:t> java.io.*;  </a:t>
            </a:r>
          </a:p>
          <a:p>
            <a:pPr>
              <a:spcBef>
                <a:spcPts val="0"/>
              </a:spcBef>
              <a:buNone/>
            </a:pPr>
            <a:r>
              <a:rPr lang="en-US" sz="1800" b="1" dirty="0" smtClean="0">
                <a:latin typeface="Cambria" panose="02040503050406030204" pitchFamily="18" charset="0"/>
                <a:ea typeface="Cambria" panose="02040503050406030204" pitchFamily="18" charset="0"/>
              </a:rPr>
              <a:t>public</a:t>
            </a: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class</a:t>
            </a: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DemoServlet</a:t>
            </a: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extends</a:t>
            </a: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HttpServlet</a:t>
            </a:r>
            <a:r>
              <a:rPr lang="en-US" sz="1800" dirty="0" smtClean="0">
                <a:latin typeface="Cambria" panose="02040503050406030204" pitchFamily="18" charset="0"/>
                <a:ea typeface="Cambria" panose="02040503050406030204" pitchFamily="18" charset="0"/>
              </a:rPr>
              <a:t> {  </a:t>
            </a:r>
          </a:p>
          <a:p>
            <a:pPr>
              <a:spcBef>
                <a:spcPts val="0"/>
              </a:spcBef>
              <a:buNone/>
            </a:pPr>
            <a:r>
              <a:rPr lang="en-US" sz="1800" b="1" dirty="0" smtClean="0">
                <a:latin typeface="Cambria" panose="02040503050406030204" pitchFamily="18" charset="0"/>
                <a:ea typeface="Cambria" panose="02040503050406030204" pitchFamily="18" charset="0"/>
              </a:rPr>
              <a:t>       public</a:t>
            </a: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void</a:t>
            </a: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doGet</a:t>
            </a:r>
            <a:r>
              <a:rPr lang="en-US" sz="1800" dirty="0" smtClean="0">
                <a:latin typeface="Cambria" panose="02040503050406030204" pitchFamily="18" charset="0"/>
                <a:ea typeface="Cambria" panose="02040503050406030204" pitchFamily="18" charset="0"/>
              </a:rPr>
              <a:t>(</a:t>
            </a:r>
            <a:r>
              <a:rPr lang="en-US" sz="1800" dirty="0" err="1" smtClean="0">
                <a:latin typeface="Cambria" panose="02040503050406030204" pitchFamily="18" charset="0"/>
                <a:ea typeface="Cambria" panose="02040503050406030204" pitchFamily="18" charset="0"/>
              </a:rPr>
              <a:t>HttpServletRequest</a:t>
            </a: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req,HttpServletResponse</a:t>
            </a:r>
            <a:r>
              <a:rPr lang="en-US" sz="1800" dirty="0" smtClean="0">
                <a:latin typeface="Cambria" panose="02040503050406030204" pitchFamily="18" charset="0"/>
                <a:ea typeface="Cambria" panose="02040503050406030204" pitchFamily="18" charset="0"/>
              </a:rPr>
              <a:t> res)  </a:t>
            </a:r>
            <a:r>
              <a:rPr lang="en-US" sz="1800" b="1" dirty="0" smtClean="0">
                <a:latin typeface="Cambria" panose="02040503050406030204" pitchFamily="18" charset="0"/>
                <a:ea typeface="Cambria" panose="02040503050406030204" pitchFamily="18" charset="0"/>
              </a:rPr>
              <a:t>throws</a:t>
            </a: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ServletException,IOException</a:t>
            </a:r>
            <a:r>
              <a:rPr lang="en-US" sz="1800" dirty="0" smtClean="0">
                <a:latin typeface="Cambria" panose="02040503050406030204" pitchFamily="18" charset="0"/>
                <a:ea typeface="Cambria" panose="02040503050406030204" pitchFamily="18" charset="0"/>
              </a:rPr>
              <a:t>  {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res.setContentType</a:t>
            </a:r>
            <a:r>
              <a:rPr lang="en-US" sz="1800" dirty="0" smtClean="0">
                <a:latin typeface="Cambria" panose="02040503050406030204" pitchFamily="18" charset="0"/>
                <a:ea typeface="Cambria" panose="02040503050406030204" pitchFamily="18" charset="0"/>
              </a:rPr>
              <a:t>("text/html");//setting the content type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PrintWriter</a:t>
            </a:r>
            <a:r>
              <a:rPr lang="en-US" sz="1800" dirty="0" smtClean="0">
                <a:latin typeface="Cambria" panose="02040503050406030204" pitchFamily="18" charset="0"/>
                <a:ea typeface="Cambria" panose="02040503050406030204" pitchFamily="18" charset="0"/>
              </a:rPr>
              <a:t> pw=</a:t>
            </a:r>
            <a:r>
              <a:rPr lang="en-US" sz="1800" dirty="0" err="1" smtClean="0">
                <a:latin typeface="Cambria" panose="02040503050406030204" pitchFamily="18" charset="0"/>
                <a:ea typeface="Cambria" panose="02040503050406030204" pitchFamily="18" charset="0"/>
              </a:rPr>
              <a:t>res.getWriter</a:t>
            </a:r>
            <a:r>
              <a:rPr lang="en-US" sz="1800" dirty="0" smtClean="0">
                <a:latin typeface="Cambria" panose="02040503050406030204" pitchFamily="18" charset="0"/>
                <a:ea typeface="Cambria" panose="02040503050406030204" pitchFamily="18" charset="0"/>
              </a:rPr>
              <a:t>();//get the stream to write the data  </a:t>
            </a:r>
          </a:p>
          <a:p>
            <a:pPr>
              <a:spcBef>
                <a:spcPts val="0"/>
              </a:spcBef>
              <a:buNone/>
            </a:pPr>
            <a:r>
              <a:rPr lang="en-US" sz="1800" dirty="0" smtClean="0">
                <a:latin typeface="Cambria" panose="02040503050406030204" pitchFamily="18" charset="0"/>
                <a:ea typeface="Cambria" panose="02040503050406030204" pitchFamily="18" charset="0"/>
              </a:rPr>
              <a:t>                //writing html in the stream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pw.println</a:t>
            </a:r>
            <a:r>
              <a:rPr lang="en-US" sz="1800" dirty="0" smtClean="0">
                <a:latin typeface="Cambria" panose="02040503050406030204" pitchFamily="18" charset="0"/>
                <a:ea typeface="Cambria" panose="02040503050406030204" pitchFamily="18" charset="0"/>
              </a:rPr>
              <a:t>("&lt;html&gt;&lt;body&gt;");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pw.println</a:t>
            </a:r>
            <a:r>
              <a:rPr lang="en-US" sz="1800" dirty="0" smtClean="0">
                <a:latin typeface="Cambria" panose="02040503050406030204" pitchFamily="18" charset="0"/>
                <a:ea typeface="Cambria" panose="02040503050406030204" pitchFamily="18" charset="0"/>
              </a:rPr>
              <a:t>("Welcome to </a:t>
            </a:r>
            <a:r>
              <a:rPr lang="en-US" sz="1800" dirty="0" err="1" smtClean="0">
                <a:latin typeface="Cambria" panose="02040503050406030204" pitchFamily="18" charset="0"/>
                <a:ea typeface="Cambria" panose="02040503050406030204" pitchFamily="18" charset="0"/>
              </a:rPr>
              <a:t>servlet</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pw.println</a:t>
            </a:r>
            <a:r>
              <a:rPr lang="en-US" sz="1800" dirty="0" smtClean="0">
                <a:latin typeface="Cambria" panose="02040503050406030204" pitchFamily="18" charset="0"/>
                <a:ea typeface="Cambria" panose="02040503050406030204" pitchFamily="18" charset="0"/>
              </a:rPr>
              <a:t>("&lt;/body&gt;&lt;/html&gt;");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pw.close</a:t>
            </a:r>
            <a:r>
              <a:rPr lang="en-US" sz="1800" dirty="0" smtClean="0">
                <a:latin typeface="Cambria" panose="02040503050406030204" pitchFamily="18" charset="0"/>
                <a:ea typeface="Cambria" panose="02040503050406030204" pitchFamily="18" charset="0"/>
              </a:rPr>
              <a:t>();//closing the stream  </a:t>
            </a:r>
          </a:p>
          <a:p>
            <a:pPr>
              <a:spcBef>
                <a:spcPts val="0"/>
              </a:spcBef>
              <a:buNone/>
            </a:pP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a:t>
            </a:r>
          </a:p>
          <a:p>
            <a:endParaRPr lang="en-US" sz="18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26</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344" y="176549"/>
            <a:ext cx="5473824" cy="615603"/>
          </a:xfrm>
        </p:spPr>
        <p:txBody>
          <a:bodyPr/>
          <a:lstStyle/>
          <a:p>
            <a:r>
              <a:rPr lang="en-US" sz="3600" b="1" dirty="0" smtClean="0">
                <a:solidFill>
                  <a:schemeClr val="accent5"/>
                </a:solidFill>
                <a:latin typeface="Cambria" panose="02040503050406030204" pitchFamily="18" charset="0"/>
                <a:ea typeface="Cambria" panose="02040503050406030204" pitchFamily="18" charset="0"/>
              </a:rPr>
              <a:t>3. Compile the </a:t>
            </a:r>
            <a:r>
              <a:rPr lang="en-US" sz="3600" b="1" dirty="0" err="1" smtClean="0">
                <a:solidFill>
                  <a:schemeClr val="accent5"/>
                </a:solidFill>
                <a:latin typeface="Cambria" panose="02040503050406030204" pitchFamily="18" charset="0"/>
                <a:ea typeface="Cambria" panose="02040503050406030204" pitchFamily="18" charset="0"/>
              </a:rPr>
              <a:t>servlet</a:t>
            </a:r>
            <a:endParaRPr lang="en-US" sz="36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407368" y="798322"/>
            <a:ext cx="11089232" cy="3888432"/>
          </a:xfrm>
        </p:spPr>
        <p:txBody>
          <a:bodyPr/>
          <a:lstStyle/>
          <a:p>
            <a:pPr algn="just"/>
            <a:r>
              <a:rPr lang="en-GB" dirty="0" smtClean="0">
                <a:latin typeface="Cambria" panose="02040503050406030204" pitchFamily="18" charset="0"/>
                <a:ea typeface="Cambria" panose="02040503050406030204" pitchFamily="18" charset="0"/>
              </a:rPr>
              <a:t>For compiling the </a:t>
            </a:r>
            <a:r>
              <a:rPr lang="en-GB" dirty="0" err="1" smtClean="0">
                <a:latin typeface="Cambria" panose="02040503050406030204" pitchFamily="18" charset="0"/>
                <a:ea typeface="Cambria" panose="02040503050406030204" pitchFamily="18" charset="0"/>
              </a:rPr>
              <a:t>Servlet</a:t>
            </a:r>
            <a:r>
              <a:rPr lang="en-GB" dirty="0" smtClean="0">
                <a:latin typeface="Cambria" panose="02040503050406030204" pitchFamily="18" charset="0"/>
                <a:ea typeface="Cambria" panose="02040503050406030204" pitchFamily="18" charset="0"/>
              </a:rPr>
              <a:t>, jar file is required to be loaded. Different Servers provide different jar files:</a:t>
            </a:r>
          </a:p>
          <a:p>
            <a:pPr algn="just"/>
            <a:r>
              <a:rPr lang="en-GB" dirty="0" smtClean="0">
                <a:latin typeface="Cambria" panose="02040503050406030204" pitchFamily="18" charset="0"/>
                <a:ea typeface="Cambria" panose="02040503050406030204" pitchFamily="18" charset="0"/>
              </a:rPr>
              <a:t>Two ways to load the jar file</a:t>
            </a:r>
          </a:p>
          <a:p>
            <a:pPr marL="514350" indent="-514350" algn="just">
              <a:buFont typeface="+mj-lt"/>
              <a:buAutoNum type="arabicPeriod"/>
            </a:pPr>
            <a:r>
              <a:rPr lang="en-GB" dirty="0" smtClean="0">
                <a:latin typeface="Cambria" panose="02040503050406030204" pitchFamily="18" charset="0"/>
                <a:ea typeface="Cambria" panose="02040503050406030204" pitchFamily="18" charset="0"/>
              </a:rPr>
              <a:t>set </a:t>
            </a:r>
            <a:r>
              <a:rPr lang="en-GB" dirty="0" err="1" smtClean="0">
                <a:latin typeface="Cambria" panose="02040503050406030204" pitchFamily="18" charset="0"/>
                <a:ea typeface="Cambria" panose="02040503050406030204" pitchFamily="18" charset="0"/>
              </a:rPr>
              <a:t>classpath</a:t>
            </a:r>
            <a:endParaRPr lang="en-GB" dirty="0" smtClean="0">
              <a:latin typeface="Cambria" panose="02040503050406030204" pitchFamily="18" charset="0"/>
              <a:ea typeface="Cambria" panose="02040503050406030204" pitchFamily="18" charset="0"/>
            </a:endParaRPr>
          </a:p>
          <a:p>
            <a:pPr marL="514350" indent="-514350" algn="just">
              <a:buFont typeface="+mj-lt"/>
              <a:buAutoNum type="arabicPeriod"/>
            </a:pPr>
            <a:r>
              <a:rPr lang="en-GB" dirty="0" smtClean="0">
                <a:latin typeface="Cambria" panose="02040503050406030204" pitchFamily="18" charset="0"/>
                <a:ea typeface="Cambria" panose="02040503050406030204" pitchFamily="18" charset="0"/>
              </a:rPr>
              <a:t>paste the jar file in JRE/lib/ext folder</a:t>
            </a:r>
          </a:p>
          <a:p>
            <a:pPr algn="just"/>
            <a:r>
              <a:rPr lang="en-GB" dirty="0" smtClean="0">
                <a:latin typeface="Cambria" panose="02040503050406030204" pitchFamily="18" charset="0"/>
                <a:ea typeface="Cambria" panose="02040503050406030204" pitchFamily="18" charset="0"/>
              </a:rPr>
              <a:t>Put the java file in any folder. After compiling the java file, paste the class file of </a:t>
            </a:r>
            <a:r>
              <a:rPr lang="en-GB" dirty="0" err="1" smtClean="0">
                <a:latin typeface="Cambria" panose="02040503050406030204" pitchFamily="18" charset="0"/>
                <a:ea typeface="Cambria" panose="02040503050406030204" pitchFamily="18" charset="0"/>
              </a:rPr>
              <a:t>servlet</a:t>
            </a:r>
            <a:r>
              <a:rPr lang="en-GB" dirty="0" smtClean="0">
                <a:latin typeface="Cambria" panose="02040503050406030204" pitchFamily="18" charset="0"/>
                <a:ea typeface="Cambria" panose="02040503050406030204" pitchFamily="18" charset="0"/>
              </a:rPr>
              <a:t> in </a:t>
            </a:r>
            <a:r>
              <a:rPr lang="en-GB" b="1" dirty="0" smtClean="0">
                <a:latin typeface="Cambria" panose="02040503050406030204" pitchFamily="18" charset="0"/>
                <a:ea typeface="Cambria" panose="02040503050406030204" pitchFamily="18" charset="0"/>
              </a:rPr>
              <a:t>WEB-INF/classes</a:t>
            </a:r>
            <a:r>
              <a:rPr lang="en-GB" dirty="0" smtClean="0">
                <a:latin typeface="Cambria" panose="02040503050406030204" pitchFamily="18" charset="0"/>
                <a:ea typeface="Cambria" panose="02040503050406030204" pitchFamily="18" charset="0"/>
              </a:rPr>
              <a:t> directory.</a:t>
            </a:r>
          </a:p>
          <a:p>
            <a:pPr algn="just"/>
            <a:endParaRPr lang="en-US"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27</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00" y="195915"/>
            <a:ext cx="11180168" cy="568790"/>
          </a:xfrm>
        </p:spPr>
        <p:txBody>
          <a:bodyPr/>
          <a:lstStyle/>
          <a:p>
            <a:r>
              <a:rPr lang="en-GB" sz="3600" b="1" dirty="0" smtClean="0">
                <a:solidFill>
                  <a:schemeClr val="accent5"/>
                </a:solidFill>
                <a:latin typeface="Cambria" panose="02040503050406030204" pitchFamily="18" charset="0"/>
                <a:ea typeface="Cambria" panose="02040503050406030204" pitchFamily="18" charset="0"/>
              </a:rPr>
              <a:t/>
            </a:r>
            <a:br>
              <a:rPr lang="en-GB" sz="3600" b="1" dirty="0" smtClean="0">
                <a:solidFill>
                  <a:schemeClr val="accent5"/>
                </a:solidFill>
                <a:latin typeface="Cambria" panose="02040503050406030204" pitchFamily="18" charset="0"/>
                <a:ea typeface="Cambria" panose="02040503050406030204" pitchFamily="18" charset="0"/>
              </a:rPr>
            </a:br>
            <a:r>
              <a:rPr lang="en-GB" sz="3600" b="1" dirty="0" smtClean="0">
                <a:solidFill>
                  <a:schemeClr val="accent5"/>
                </a:solidFill>
                <a:latin typeface="Cambria" panose="02040503050406030204" pitchFamily="18" charset="0"/>
                <a:ea typeface="Cambria" panose="02040503050406030204" pitchFamily="18" charset="0"/>
              </a:rPr>
              <a:t>4. Create the deployment descriptor (web.xml file)</a:t>
            </a:r>
            <a:br>
              <a:rPr lang="en-GB" sz="3600" b="1" dirty="0" smtClean="0">
                <a:solidFill>
                  <a:schemeClr val="accent5"/>
                </a:solidFill>
                <a:latin typeface="Cambria" panose="02040503050406030204" pitchFamily="18" charset="0"/>
                <a:ea typeface="Cambria" panose="02040503050406030204" pitchFamily="18" charset="0"/>
              </a:rPr>
            </a:br>
            <a:endParaRPr lang="en-US" sz="36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478160" y="980728"/>
            <a:ext cx="10730408" cy="3153532"/>
          </a:xfrm>
        </p:spPr>
        <p:txBody>
          <a:bodyPr/>
          <a:lstStyle/>
          <a:p>
            <a:pPr algn="just"/>
            <a:r>
              <a:rPr lang="en-GB" dirty="0" smtClean="0">
                <a:latin typeface="Cambria" panose="02040503050406030204" pitchFamily="18" charset="0"/>
                <a:ea typeface="Cambria" panose="02040503050406030204" pitchFamily="18" charset="0"/>
              </a:rPr>
              <a:t>The </a:t>
            </a:r>
            <a:r>
              <a:rPr lang="en-GB" b="1" dirty="0" smtClean="0">
                <a:latin typeface="Cambria" panose="02040503050406030204" pitchFamily="18" charset="0"/>
                <a:ea typeface="Cambria" panose="02040503050406030204" pitchFamily="18" charset="0"/>
              </a:rPr>
              <a:t>deployment descriptor</a:t>
            </a:r>
            <a:r>
              <a:rPr lang="en-GB" dirty="0" smtClean="0">
                <a:latin typeface="Cambria" panose="02040503050406030204" pitchFamily="18" charset="0"/>
                <a:ea typeface="Cambria" panose="02040503050406030204" pitchFamily="18" charset="0"/>
              </a:rPr>
              <a:t> is an xml file, from which Web Container gets the information about the servlet to be invoked.</a:t>
            </a:r>
          </a:p>
          <a:p>
            <a:pPr algn="just"/>
            <a:r>
              <a:rPr lang="en-GB" dirty="0" smtClean="0">
                <a:latin typeface="Cambria" panose="02040503050406030204" pitchFamily="18" charset="0"/>
                <a:ea typeface="Cambria" panose="02040503050406030204" pitchFamily="18" charset="0"/>
              </a:rPr>
              <a:t>The web container uses the Parser to get the information from the web.xml file. There are many xml parsers such as SAX, DOM and Pull.</a:t>
            </a:r>
          </a:p>
          <a:p>
            <a:pPr algn="just"/>
            <a:r>
              <a:rPr lang="en-GB" dirty="0" smtClean="0">
                <a:latin typeface="Cambria" panose="02040503050406030204" pitchFamily="18" charset="0"/>
                <a:ea typeface="Cambria" panose="02040503050406030204" pitchFamily="18" charset="0"/>
              </a:rPr>
              <a:t>There are many elements in the web.xml file. Here is given some necessary elements to run the simple </a:t>
            </a:r>
            <a:r>
              <a:rPr lang="en-GB" dirty="0" err="1" smtClean="0">
                <a:latin typeface="Cambria" panose="02040503050406030204" pitchFamily="18" charset="0"/>
                <a:ea typeface="Cambria" panose="02040503050406030204" pitchFamily="18" charset="0"/>
              </a:rPr>
              <a:t>servlet</a:t>
            </a:r>
            <a:r>
              <a:rPr lang="en-GB" dirty="0" smtClean="0">
                <a:latin typeface="Cambria" panose="02040503050406030204" pitchFamily="18" charset="0"/>
                <a:ea typeface="Cambria" panose="02040503050406030204" pitchFamily="18" charset="0"/>
              </a:rPr>
              <a:t> program.</a:t>
            </a:r>
          </a:p>
          <a:p>
            <a:pPr algn="just"/>
            <a:endParaRPr lang="en-US"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28</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3352" y="260648"/>
            <a:ext cx="10801200" cy="576064"/>
          </a:xfrm>
        </p:spPr>
        <p:txBody>
          <a:bodyPr/>
          <a:lstStyle/>
          <a:p>
            <a:r>
              <a:rPr lang="en-GB" sz="4000" b="1" dirty="0" smtClean="0">
                <a:solidFill>
                  <a:schemeClr val="accent5"/>
                </a:solidFill>
                <a:latin typeface="Cambria" panose="02040503050406030204" pitchFamily="18" charset="0"/>
                <a:ea typeface="Cambria" panose="02040503050406030204" pitchFamily="18" charset="0"/>
              </a:rPr>
              <a:t>5. Description of the elements of web.xml file</a:t>
            </a:r>
            <a:endParaRPr lang="en-GB" sz="40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479230" y="692696"/>
            <a:ext cx="11449417" cy="4968552"/>
          </a:xfrm>
        </p:spPr>
        <p:txBody>
          <a:bodyPr/>
          <a:lstStyle/>
          <a:p>
            <a:pPr algn="just"/>
            <a:r>
              <a:rPr lang="en-US" sz="2400" b="1" u="sng" dirty="0" smtClean="0">
                <a:latin typeface="Cambria" panose="02040503050406030204" pitchFamily="18" charset="0"/>
                <a:ea typeface="Cambria" panose="02040503050406030204" pitchFamily="18" charset="0"/>
              </a:rPr>
              <a:t>web.xml file</a:t>
            </a:r>
            <a:endParaRPr lang="en-US" sz="2400" u="sng" dirty="0" smtClean="0">
              <a:latin typeface="Cambria" panose="02040503050406030204" pitchFamily="18" charset="0"/>
              <a:ea typeface="Cambria" panose="02040503050406030204" pitchFamily="18" charset="0"/>
            </a:endParaRPr>
          </a:p>
          <a:p>
            <a:pPr algn="just">
              <a:spcBef>
                <a:spcPts val="0"/>
              </a:spcBef>
              <a:buNone/>
            </a:pPr>
            <a:r>
              <a:rPr lang="en-US" sz="1800" b="1" dirty="0" smtClean="0">
                <a:latin typeface="Cambria" panose="02040503050406030204" pitchFamily="18" charset="0"/>
                <a:ea typeface="Cambria" panose="02040503050406030204" pitchFamily="18" charset="0"/>
              </a:rPr>
              <a:t>&lt;web-app&gt;</a:t>
            </a:r>
            <a:r>
              <a:rPr lang="en-US" sz="1800" dirty="0" smtClean="0">
                <a:latin typeface="Cambria" panose="02040503050406030204" pitchFamily="18" charset="0"/>
                <a:ea typeface="Cambria" panose="02040503050406030204" pitchFamily="18" charset="0"/>
              </a:rPr>
              <a:t>  </a:t>
            </a:r>
          </a:p>
          <a:p>
            <a:pPr algn="just">
              <a:spcBef>
                <a:spcPts val="0"/>
              </a:spcBef>
              <a:buNone/>
            </a:pPr>
            <a:r>
              <a:rPr lang="en-US" sz="1800" b="1" dirty="0" smtClean="0">
                <a:latin typeface="Cambria" panose="02040503050406030204" pitchFamily="18" charset="0"/>
                <a:ea typeface="Cambria" panose="02040503050406030204" pitchFamily="18" charset="0"/>
              </a:rPr>
              <a:t>       &lt;servlet&gt;</a:t>
            </a:r>
            <a:r>
              <a:rPr lang="en-US" sz="1800" dirty="0" smtClean="0">
                <a:latin typeface="Cambria" panose="02040503050406030204" pitchFamily="18" charset="0"/>
                <a:ea typeface="Cambria" panose="02040503050406030204" pitchFamily="18" charset="0"/>
              </a:rPr>
              <a:t>  </a:t>
            </a:r>
          </a:p>
          <a:p>
            <a:pPr algn="just">
              <a:spcBef>
                <a:spcPts val="0"/>
              </a:spcBef>
              <a:buNone/>
            </a:pPr>
            <a:r>
              <a:rPr lang="en-US" sz="1800" b="1" dirty="0" smtClean="0">
                <a:latin typeface="Cambria" panose="02040503050406030204" pitchFamily="18" charset="0"/>
                <a:ea typeface="Cambria" panose="02040503050406030204" pitchFamily="18" charset="0"/>
              </a:rPr>
              <a:t>               &lt;servlet-name&gt;</a:t>
            </a:r>
            <a:r>
              <a:rPr lang="en-US" sz="1800" dirty="0" smtClean="0">
                <a:latin typeface="Cambria" panose="02040503050406030204" pitchFamily="18" charset="0"/>
                <a:ea typeface="Cambria" panose="02040503050406030204" pitchFamily="18" charset="0"/>
              </a:rPr>
              <a:t>Servlet Name</a:t>
            </a:r>
            <a:r>
              <a:rPr lang="en-US" sz="1800" b="1" dirty="0" smtClean="0">
                <a:latin typeface="Cambria" panose="02040503050406030204" pitchFamily="18" charset="0"/>
                <a:ea typeface="Cambria" panose="02040503050406030204" pitchFamily="18" charset="0"/>
              </a:rPr>
              <a:t>&lt;/servlet-name&gt;</a:t>
            </a:r>
            <a:r>
              <a:rPr lang="en-US" sz="1800" dirty="0" smtClean="0">
                <a:latin typeface="Cambria" panose="02040503050406030204" pitchFamily="18" charset="0"/>
                <a:ea typeface="Cambria" panose="02040503050406030204" pitchFamily="18" charset="0"/>
              </a:rPr>
              <a:t>  </a:t>
            </a:r>
          </a:p>
          <a:p>
            <a:pPr algn="just">
              <a:spcBef>
                <a:spcPts val="0"/>
              </a:spcBef>
              <a:buNone/>
            </a:pPr>
            <a:r>
              <a:rPr lang="en-US" sz="1800" b="1" dirty="0" smtClean="0">
                <a:latin typeface="Cambria" panose="02040503050406030204" pitchFamily="18" charset="0"/>
                <a:ea typeface="Cambria" panose="02040503050406030204" pitchFamily="18" charset="0"/>
              </a:rPr>
              <a:t>               &lt;servlet-class&gt;</a:t>
            </a:r>
            <a:r>
              <a:rPr lang="en-US" sz="1800" dirty="0" smtClean="0">
                <a:latin typeface="Cambria" panose="02040503050406030204" pitchFamily="18" charset="0"/>
                <a:ea typeface="Cambria" panose="02040503050406030204" pitchFamily="18" charset="0"/>
              </a:rPr>
              <a:t>DemoServlet</a:t>
            </a:r>
            <a:r>
              <a:rPr lang="en-US" sz="1800" b="1" dirty="0" smtClean="0">
                <a:latin typeface="Cambria" panose="02040503050406030204" pitchFamily="18" charset="0"/>
                <a:ea typeface="Cambria" panose="02040503050406030204" pitchFamily="18" charset="0"/>
              </a:rPr>
              <a:t>&lt;/servlet-class&gt;</a:t>
            </a:r>
            <a:r>
              <a:rPr lang="en-US" sz="1800" dirty="0" smtClean="0">
                <a:latin typeface="Cambria" panose="02040503050406030204" pitchFamily="18" charset="0"/>
                <a:ea typeface="Cambria" panose="02040503050406030204" pitchFamily="18" charset="0"/>
              </a:rPr>
              <a:t>  </a:t>
            </a:r>
          </a:p>
          <a:p>
            <a:pPr algn="just">
              <a:spcBef>
                <a:spcPts val="0"/>
              </a:spcBef>
              <a:buNone/>
            </a:pPr>
            <a:r>
              <a:rPr lang="en-US" sz="1800" b="1" dirty="0" smtClean="0">
                <a:latin typeface="Cambria" panose="02040503050406030204" pitchFamily="18" charset="0"/>
                <a:ea typeface="Cambria" panose="02040503050406030204" pitchFamily="18" charset="0"/>
              </a:rPr>
              <a:t>        &lt;/servlet&gt;</a:t>
            </a:r>
            <a:r>
              <a:rPr lang="en-US" sz="1800" dirty="0" smtClean="0">
                <a:latin typeface="Cambria" panose="02040503050406030204" pitchFamily="18" charset="0"/>
                <a:ea typeface="Cambria" panose="02040503050406030204" pitchFamily="18" charset="0"/>
              </a:rPr>
              <a:t>  </a:t>
            </a:r>
          </a:p>
          <a:p>
            <a:pPr algn="just">
              <a:spcBef>
                <a:spcPts val="0"/>
              </a:spcBef>
              <a:buNone/>
            </a:pP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&lt;servlet-mapping&gt;</a:t>
            </a:r>
            <a:r>
              <a:rPr lang="en-US" sz="1800" dirty="0" smtClean="0">
                <a:latin typeface="Cambria" panose="02040503050406030204" pitchFamily="18" charset="0"/>
                <a:ea typeface="Cambria" panose="02040503050406030204" pitchFamily="18" charset="0"/>
              </a:rPr>
              <a:t>  </a:t>
            </a:r>
          </a:p>
          <a:p>
            <a:pPr algn="just">
              <a:spcBef>
                <a:spcPts val="0"/>
              </a:spcBef>
              <a:buNone/>
            </a:pPr>
            <a:r>
              <a:rPr lang="en-US" sz="1800" b="1" dirty="0" smtClean="0">
                <a:latin typeface="Cambria" panose="02040503050406030204" pitchFamily="18" charset="0"/>
                <a:ea typeface="Cambria" panose="02040503050406030204" pitchFamily="18" charset="0"/>
              </a:rPr>
              <a:t>       &lt;servlet-name&gt;</a:t>
            </a:r>
            <a:r>
              <a:rPr lang="en-US" sz="1800" dirty="0" smtClean="0">
                <a:latin typeface="Cambria" panose="02040503050406030204" pitchFamily="18" charset="0"/>
                <a:ea typeface="Cambria" panose="02040503050406030204" pitchFamily="18" charset="0"/>
              </a:rPr>
              <a:t>Servlet Namel</a:t>
            </a:r>
            <a:r>
              <a:rPr lang="en-US" sz="1800" b="1" dirty="0" smtClean="0">
                <a:latin typeface="Cambria" panose="02040503050406030204" pitchFamily="18" charset="0"/>
                <a:ea typeface="Cambria" panose="02040503050406030204" pitchFamily="18" charset="0"/>
              </a:rPr>
              <a:t>&lt;/servlet-name&gt;</a:t>
            </a:r>
            <a:r>
              <a:rPr lang="en-US" sz="1800" dirty="0" smtClean="0">
                <a:latin typeface="Cambria" panose="02040503050406030204" pitchFamily="18" charset="0"/>
                <a:ea typeface="Cambria" panose="02040503050406030204" pitchFamily="18" charset="0"/>
              </a:rPr>
              <a:t>  </a:t>
            </a:r>
          </a:p>
          <a:p>
            <a:pPr algn="just">
              <a:spcBef>
                <a:spcPts val="0"/>
              </a:spcBef>
              <a:buNone/>
            </a:pPr>
            <a:r>
              <a:rPr lang="en-US" sz="1800" b="1" dirty="0" smtClean="0">
                <a:latin typeface="Cambria" panose="02040503050406030204" pitchFamily="18" charset="0"/>
                <a:ea typeface="Cambria" panose="02040503050406030204" pitchFamily="18" charset="0"/>
              </a:rPr>
              <a:t>        &lt;/servlet-mapping&gt;</a:t>
            </a:r>
            <a:r>
              <a:rPr lang="en-US" sz="1800" dirty="0" smtClean="0">
                <a:latin typeface="Cambria" panose="02040503050406030204" pitchFamily="18" charset="0"/>
                <a:ea typeface="Cambria" panose="02040503050406030204" pitchFamily="18" charset="0"/>
              </a:rPr>
              <a:t>  </a:t>
            </a:r>
          </a:p>
          <a:p>
            <a:pPr algn="just">
              <a:spcBef>
                <a:spcPts val="0"/>
              </a:spcBef>
              <a:buNone/>
            </a:pPr>
            <a:r>
              <a:rPr lang="en-US" sz="1800" b="1" dirty="0" smtClean="0">
                <a:latin typeface="Cambria" panose="02040503050406030204" pitchFamily="18" charset="0"/>
                <a:ea typeface="Cambria" panose="02040503050406030204" pitchFamily="18" charset="0"/>
              </a:rPr>
              <a:t>&lt;/web-app&gt;</a:t>
            </a:r>
            <a:r>
              <a:rPr lang="en-US" sz="1800" dirty="0" smtClean="0">
                <a:latin typeface="Cambria" panose="02040503050406030204" pitchFamily="18" charset="0"/>
                <a:ea typeface="Cambria" panose="02040503050406030204" pitchFamily="18" charset="0"/>
              </a:rPr>
              <a:t>  </a:t>
            </a:r>
          </a:p>
          <a:p>
            <a:pPr algn="just">
              <a:spcBef>
                <a:spcPts val="0"/>
              </a:spcBef>
              <a:buNone/>
            </a:pPr>
            <a:r>
              <a:rPr lang="en-GB" sz="2400" b="1" dirty="0" smtClean="0">
                <a:latin typeface="Cambria" panose="02040503050406030204" pitchFamily="18" charset="0"/>
                <a:ea typeface="Cambria" panose="02040503050406030204" pitchFamily="18" charset="0"/>
              </a:rPr>
              <a:t>&lt;web-app&gt;</a:t>
            </a:r>
            <a:r>
              <a:rPr lang="en-GB" sz="2400" dirty="0" smtClean="0">
                <a:latin typeface="Cambria" panose="02040503050406030204" pitchFamily="18" charset="0"/>
                <a:ea typeface="Cambria" panose="02040503050406030204" pitchFamily="18" charset="0"/>
              </a:rPr>
              <a:t> represents the whole application.</a:t>
            </a:r>
          </a:p>
          <a:p>
            <a:pPr algn="just">
              <a:spcBef>
                <a:spcPts val="0"/>
              </a:spcBef>
              <a:buNone/>
            </a:pPr>
            <a:r>
              <a:rPr lang="en-GB" sz="2400" b="1" dirty="0" smtClean="0">
                <a:latin typeface="Cambria" panose="02040503050406030204" pitchFamily="18" charset="0"/>
                <a:ea typeface="Cambria" panose="02040503050406030204" pitchFamily="18" charset="0"/>
              </a:rPr>
              <a:t>&lt;servlet&gt;</a:t>
            </a:r>
            <a:r>
              <a:rPr lang="en-GB" sz="2400" dirty="0" smtClean="0">
                <a:latin typeface="Cambria" panose="02040503050406030204" pitchFamily="18" charset="0"/>
                <a:ea typeface="Cambria" panose="02040503050406030204" pitchFamily="18" charset="0"/>
              </a:rPr>
              <a:t> is sub element of &lt;web-app&gt; and represents the servlet.</a:t>
            </a:r>
          </a:p>
          <a:p>
            <a:pPr algn="just">
              <a:spcBef>
                <a:spcPts val="0"/>
              </a:spcBef>
              <a:buNone/>
            </a:pPr>
            <a:r>
              <a:rPr lang="en-GB" sz="2400" b="1" dirty="0" smtClean="0">
                <a:latin typeface="Cambria" panose="02040503050406030204" pitchFamily="18" charset="0"/>
                <a:ea typeface="Cambria" panose="02040503050406030204" pitchFamily="18" charset="0"/>
              </a:rPr>
              <a:t>&lt;servlet-name&gt;</a:t>
            </a:r>
            <a:r>
              <a:rPr lang="en-GB" sz="2400" dirty="0" smtClean="0">
                <a:latin typeface="Cambria" panose="02040503050406030204" pitchFamily="18" charset="0"/>
                <a:ea typeface="Cambria" panose="02040503050406030204" pitchFamily="18" charset="0"/>
              </a:rPr>
              <a:t> is sub element of &lt;servlet&gt; represents the name of the servlet.</a:t>
            </a:r>
          </a:p>
          <a:p>
            <a:pPr algn="just">
              <a:spcBef>
                <a:spcPts val="0"/>
              </a:spcBef>
              <a:buNone/>
            </a:pPr>
            <a:r>
              <a:rPr lang="en-GB" sz="2400" b="1" dirty="0" smtClean="0">
                <a:latin typeface="Cambria" panose="02040503050406030204" pitchFamily="18" charset="0"/>
                <a:ea typeface="Cambria" panose="02040503050406030204" pitchFamily="18" charset="0"/>
              </a:rPr>
              <a:t>&lt;servlet-class&gt;</a:t>
            </a:r>
            <a:r>
              <a:rPr lang="en-GB" sz="2400" dirty="0" smtClean="0">
                <a:latin typeface="Cambria" panose="02040503050406030204" pitchFamily="18" charset="0"/>
                <a:ea typeface="Cambria" panose="02040503050406030204" pitchFamily="18" charset="0"/>
              </a:rPr>
              <a:t> is sub element of &lt;servlet&gt; represents the class of the servlet.</a:t>
            </a:r>
          </a:p>
          <a:p>
            <a:pPr algn="just">
              <a:spcBef>
                <a:spcPts val="0"/>
              </a:spcBef>
              <a:buNone/>
            </a:pPr>
            <a:r>
              <a:rPr lang="en-GB" sz="2400" b="1" dirty="0" smtClean="0">
                <a:latin typeface="Cambria" panose="02040503050406030204" pitchFamily="18" charset="0"/>
                <a:ea typeface="Cambria" panose="02040503050406030204" pitchFamily="18" charset="0"/>
              </a:rPr>
              <a:t>&lt;servlet-mapping&gt;</a:t>
            </a:r>
            <a:r>
              <a:rPr lang="en-GB" sz="2400" dirty="0" smtClean="0">
                <a:latin typeface="Cambria" panose="02040503050406030204" pitchFamily="18" charset="0"/>
                <a:ea typeface="Cambria" panose="02040503050406030204" pitchFamily="18" charset="0"/>
              </a:rPr>
              <a:t> is sub element of &lt;web-app&gt;. It is used to map the servlet.</a:t>
            </a:r>
          </a:p>
          <a:p>
            <a:pPr algn="just">
              <a:spcBef>
                <a:spcPts val="0"/>
              </a:spcBef>
              <a:buNone/>
            </a:pPr>
            <a:r>
              <a:rPr lang="en-GB" sz="2400" b="1" dirty="0" smtClean="0">
                <a:latin typeface="Cambria" panose="02040503050406030204" pitchFamily="18" charset="0"/>
                <a:ea typeface="Cambria" panose="02040503050406030204" pitchFamily="18" charset="0"/>
              </a:rPr>
              <a:t>&lt;url-pattern&gt;</a:t>
            </a:r>
            <a:r>
              <a:rPr lang="en-GB" sz="2400" dirty="0" smtClean="0">
                <a:latin typeface="Cambria" panose="02040503050406030204" pitchFamily="18" charset="0"/>
                <a:ea typeface="Cambria" panose="02040503050406030204" pitchFamily="18" charset="0"/>
              </a:rPr>
              <a:t> is sub element of &lt;servlet-mapping&gt;. This pattern is used at client side to invoke the </a:t>
            </a:r>
            <a:r>
              <a:rPr lang="en-GB" sz="2400" dirty="0" err="1" smtClean="0">
                <a:latin typeface="Cambria" panose="02040503050406030204" pitchFamily="18" charset="0"/>
                <a:ea typeface="Cambria" panose="02040503050406030204" pitchFamily="18" charset="0"/>
              </a:rPr>
              <a:t>servlet</a:t>
            </a:r>
            <a:r>
              <a:rPr lang="en-GB" sz="2400" dirty="0" smtClean="0">
                <a:latin typeface="Cambria" panose="02040503050406030204" pitchFamily="18" charset="0"/>
                <a:ea typeface="Cambria" panose="02040503050406030204" pitchFamily="18" charset="0"/>
              </a:rPr>
              <a:t>.</a:t>
            </a:r>
          </a:p>
          <a:p>
            <a:pPr algn="just">
              <a:spcBef>
                <a:spcPts val="0"/>
              </a:spcBef>
            </a:pPr>
            <a:endParaRPr lang="en-US" sz="24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29</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36" y="8348"/>
            <a:ext cx="9361040" cy="432048"/>
          </a:xfrm>
        </p:spPr>
        <p:txBody>
          <a:bodyPr/>
          <a:lstStyle/>
          <a:p>
            <a:r>
              <a:rPr lang="en-GB" sz="3600" b="1" dirty="0" smtClean="0">
                <a:solidFill>
                  <a:schemeClr val="accent5"/>
                </a:solidFill>
                <a:latin typeface="Cambria" panose="02040503050406030204" pitchFamily="18" charset="0"/>
                <a:ea typeface="Cambria" panose="02040503050406030204" pitchFamily="18" charset="0"/>
              </a:rPr>
              <a:t>6. Start the Server and deploy the project</a:t>
            </a:r>
            <a:endParaRPr lang="en-GB" sz="36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269086" y="620688"/>
            <a:ext cx="11659561" cy="4824536"/>
          </a:xfrm>
        </p:spPr>
        <p:txBody>
          <a:bodyPr/>
          <a:lstStyle/>
          <a:p>
            <a:pPr algn="just"/>
            <a:r>
              <a:rPr lang="en-GB" sz="2200" dirty="0" smtClean="0">
                <a:latin typeface="Cambria" panose="02040503050406030204" pitchFamily="18" charset="0"/>
                <a:ea typeface="Cambria" panose="02040503050406030204" pitchFamily="18" charset="0"/>
              </a:rPr>
              <a:t>To start Apache Tomcat server, double click on the startup.bat file under apache-tomcat/bin directory.</a:t>
            </a:r>
          </a:p>
          <a:p>
            <a:pPr algn="just"/>
            <a:r>
              <a:rPr lang="en-GB" sz="2200" dirty="0" smtClean="0">
                <a:latin typeface="Cambria" panose="02040503050406030204" pitchFamily="18" charset="0"/>
                <a:ea typeface="Cambria" panose="02040503050406030204" pitchFamily="18" charset="0"/>
              </a:rPr>
              <a:t>One Time Configuration for Apache Tomcat Server</a:t>
            </a:r>
          </a:p>
          <a:p>
            <a:pPr algn="just"/>
            <a:r>
              <a:rPr lang="en-GB" sz="2200" dirty="0" smtClean="0">
                <a:latin typeface="Cambria" panose="02040503050406030204" pitchFamily="18" charset="0"/>
                <a:ea typeface="Cambria" panose="02040503050406030204" pitchFamily="18" charset="0"/>
              </a:rPr>
              <a:t>You need to perform 2 tasks:</a:t>
            </a:r>
          </a:p>
          <a:p>
            <a:pPr algn="just"/>
            <a:r>
              <a:rPr lang="en-GB" sz="2200" dirty="0" smtClean="0">
                <a:latin typeface="Cambria" panose="02040503050406030204" pitchFamily="18" charset="0"/>
                <a:ea typeface="Cambria" panose="02040503050406030204" pitchFamily="18" charset="0"/>
              </a:rPr>
              <a:t>set JAVA_HOME or JRE_HOME in environment variable (It is required to start server).</a:t>
            </a:r>
          </a:p>
          <a:p>
            <a:pPr algn="just"/>
            <a:r>
              <a:rPr lang="en-GB" sz="2200" dirty="0" smtClean="0">
                <a:latin typeface="Cambria" panose="02040503050406030204" pitchFamily="18" charset="0"/>
                <a:ea typeface="Cambria" panose="02040503050406030204" pitchFamily="18" charset="0"/>
              </a:rPr>
              <a:t>Change the port number of tomcat (optional). It is required if another server is running on same port (8080).</a:t>
            </a:r>
          </a:p>
          <a:p>
            <a:pPr algn="just"/>
            <a:r>
              <a:rPr lang="en-GB" sz="2200" dirty="0" smtClean="0">
                <a:latin typeface="Cambria" panose="02040503050406030204" pitchFamily="18" charset="0"/>
                <a:ea typeface="Cambria" panose="02040503050406030204" pitchFamily="18" charset="0"/>
              </a:rPr>
              <a:t>1) How to set JAVA_HOME in environment variable?</a:t>
            </a:r>
          </a:p>
          <a:p>
            <a:pPr algn="just"/>
            <a:r>
              <a:rPr lang="en-GB" sz="2200" dirty="0" smtClean="0">
                <a:latin typeface="Cambria" panose="02040503050406030204" pitchFamily="18" charset="0"/>
                <a:ea typeface="Cambria" panose="02040503050406030204" pitchFamily="18" charset="0"/>
              </a:rPr>
              <a:t>To start Apache Tomcat server JAVA_HOME and JRE_HOME must be set in Environment variables.</a:t>
            </a:r>
          </a:p>
          <a:p>
            <a:pPr algn="just"/>
            <a:r>
              <a:rPr lang="en-GB" sz="2200" dirty="0" smtClean="0">
                <a:latin typeface="Cambria" panose="02040503050406030204" pitchFamily="18" charset="0"/>
                <a:ea typeface="Cambria" panose="02040503050406030204" pitchFamily="18" charset="0"/>
              </a:rPr>
              <a:t>Go to My Computer properties -&gt; Click on advanced tab then environment variables -&gt; Click on the new tab of user variable -&gt; Write JAVA_HOME in variable name and paste the path of </a:t>
            </a:r>
            <a:r>
              <a:rPr lang="en-GB" sz="2200" dirty="0" err="1" smtClean="0">
                <a:latin typeface="Cambria" panose="02040503050406030204" pitchFamily="18" charset="0"/>
                <a:ea typeface="Cambria" panose="02040503050406030204" pitchFamily="18" charset="0"/>
              </a:rPr>
              <a:t>jdk</a:t>
            </a:r>
            <a:r>
              <a:rPr lang="en-GB" sz="2200" dirty="0" smtClean="0">
                <a:latin typeface="Cambria" panose="02040503050406030204" pitchFamily="18" charset="0"/>
                <a:ea typeface="Cambria" panose="02040503050406030204" pitchFamily="18" charset="0"/>
              </a:rPr>
              <a:t> folder in variable value -&gt; ok -&gt; ok -&gt; ok.</a:t>
            </a:r>
          </a:p>
          <a:p>
            <a:pPr algn="just"/>
            <a:endParaRPr lang="en-US" sz="22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30</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20735"/>
          </a:xfrm>
        </p:spPr>
        <p:txBody>
          <a:bodyPr/>
          <a:lstStyle/>
          <a:p>
            <a:r>
              <a:rPr lang="en-GB" dirty="0" smtClean="0"/>
              <a:t/>
            </a:r>
            <a:br>
              <a:rPr lang="en-GB" dirty="0" smtClean="0"/>
            </a:br>
            <a:r>
              <a:rPr lang="en-GB" dirty="0" smtClean="0"/>
              <a:t>How to access the </a:t>
            </a:r>
            <a:r>
              <a:rPr lang="en-GB" dirty="0" err="1" smtClean="0"/>
              <a:t>servlet</a:t>
            </a:r>
            <a:r>
              <a:rPr lang="en-GB" dirty="0" smtClean="0"/>
              <a:t/>
            </a:r>
            <a:br>
              <a:rPr lang="en-GB" dirty="0" smtClean="0"/>
            </a:br>
            <a:r>
              <a:rPr lang="en-US" dirty="0" smtClean="0"/>
              <a:t/>
            </a:r>
            <a:br>
              <a:rPr lang="en-US" dirty="0" smtClean="0"/>
            </a:br>
            <a:endParaRPr lang="en-US" dirty="0"/>
          </a:p>
        </p:txBody>
      </p:sp>
      <p:sp>
        <p:nvSpPr>
          <p:cNvPr id="3" name="Content Placeholder 2"/>
          <p:cNvSpPr>
            <a:spLocks noGrp="1"/>
          </p:cNvSpPr>
          <p:nvPr>
            <p:ph idx="1"/>
          </p:nvPr>
        </p:nvSpPr>
        <p:spPr>
          <a:xfrm>
            <a:off x="838200" y="1142984"/>
            <a:ext cx="10515600" cy="5033979"/>
          </a:xfrm>
        </p:spPr>
        <p:txBody>
          <a:bodyPr/>
          <a:lstStyle/>
          <a:p>
            <a:r>
              <a:rPr lang="en-US" dirty="0" smtClean="0"/>
              <a:t>http://localhost:8080/demo/welcome  </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31</a:t>
            </a:fld>
            <a:endParaRPr lang="en-US" altLang="en-US"/>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36" y="0"/>
            <a:ext cx="6552728" cy="615603"/>
          </a:xfrm>
        </p:spPr>
        <p:txBody>
          <a:bodyPr/>
          <a:lstStyle/>
          <a:p>
            <a:r>
              <a:rPr lang="en-US" sz="4000" b="1" dirty="0" smtClean="0">
                <a:solidFill>
                  <a:schemeClr val="accent1"/>
                </a:solidFill>
                <a:latin typeface="Cambria" panose="02040503050406030204" pitchFamily="18" charset="0"/>
                <a:ea typeface="Cambria" panose="02040503050406030204" pitchFamily="18" charset="0"/>
              </a:rPr>
              <a:t/>
            </a:r>
            <a:br>
              <a:rPr lang="en-US" sz="4000" b="1" dirty="0" smtClean="0">
                <a:solidFill>
                  <a:schemeClr val="accent1"/>
                </a:solidFill>
                <a:latin typeface="Cambria" panose="02040503050406030204" pitchFamily="18" charset="0"/>
                <a:ea typeface="Cambria" panose="02040503050406030204" pitchFamily="18" charset="0"/>
              </a:rPr>
            </a:br>
            <a:r>
              <a:rPr lang="en-US" sz="4000" b="1" dirty="0" smtClean="0">
                <a:solidFill>
                  <a:schemeClr val="accent1"/>
                </a:solidFill>
                <a:latin typeface="Cambria" panose="02040503050406030204" pitchFamily="18" charset="0"/>
                <a:ea typeface="Cambria" panose="02040503050406030204" pitchFamily="18" charset="0"/>
              </a:rPr>
              <a:t> ServletRequest Interface</a:t>
            </a:r>
            <a:br>
              <a:rPr lang="en-US" sz="4000" b="1" dirty="0" smtClean="0">
                <a:solidFill>
                  <a:schemeClr val="accent1"/>
                </a:solidFill>
                <a:latin typeface="Cambria" panose="02040503050406030204" pitchFamily="18" charset="0"/>
                <a:ea typeface="Cambria" panose="02040503050406030204" pitchFamily="18" charset="0"/>
              </a:rPr>
            </a:br>
            <a:endParaRPr lang="en-US" sz="4000" b="1" dirty="0">
              <a:solidFill>
                <a:schemeClr val="accent1"/>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551384" y="764704"/>
            <a:ext cx="11161240" cy="3888432"/>
          </a:xfrm>
        </p:spPr>
        <p:txBody>
          <a:bodyPr/>
          <a:lstStyle/>
          <a:p>
            <a:pPr algn="just"/>
            <a:r>
              <a:rPr lang="en-GB" dirty="0" smtClean="0">
                <a:latin typeface="Cambria" panose="02040503050406030204" pitchFamily="18" charset="0"/>
                <a:ea typeface="Cambria" panose="02040503050406030204" pitchFamily="18" charset="0"/>
              </a:rPr>
              <a:t>An object of ServletRequest is used to provide the client request information to a servlet such as content type, content length, parameter names and values, header information, attributes etc.</a:t>
            </a:r>
          </a:p>
          <a:p>
            <a:pPr algn="just">
              <a:buNone/>
            </a:pPr>
            <a:r>
              <a:rPr lang="en-GB" b="1" u="sng" dirty="0" smtClean="0">
                <a:latin typeface="Cambria" panose="02040503050406030204" pitchFamily="18" charset="0"/>
                <a:ea typeface="Cambria" panose="02040503050406030204" pitchFamily="18" charset="0"/>
              </a:rPr>
              <a:t>index.html</a:t>
            </a:r>
            <a:endParaRPr lang="en-GB" u="sng" dirty="0" smtClean="0">
              <a:latin typeface="Cambria" panose="02040503050406030204" pitchFamily="18" charset="0"/>
              <a:ea typeface="Cambria" panose="02040503050406030204" pitchFamily="18" charset="0"/>
            </a:endParaRPr>
          </a:p>
          <a:p>
            <a:pPr algn="just">
              <a:buNone/>
            </a:pPr>
            <a:r>
              <a:rPr lang="en-GB" dirty="0" smtClean="0">
                <a:latin typeface="Cambria" panose="02040503050406030204" pitchFamily="18" charset="0"/>
                <a:ea typeface="Cambria" panose="02040503050406030204" pitchFamily="18" charset="0"/>
              </a:rPr>
              <a:t>&lt;form action="welcome" method="get"&gt;  </a:t>
            </a:r>
          </a:p>
          <a:p>
            <a:pPr algn="just">
              <a:buNone/>
            </a:pPr>
            <a:r>
              <a:rPr lang="en-GB" dirty="0" smtClean="0">
                <a:latin typeface="Cambria" panose="02040503050406030204" pitchFamily="18" charset="0"/>
                <a:ea typeface="Cambria" panose="02040503050406030204" pitchFamily="18" charset="0"/>
              </a:rPr>
              <a:t>Enter your name&lt;input type="text" name="name"&gt;&lt;</a:t>
            </a:r>
            <a:r>
              <a:rPr lang="en-GB" dirty="0" err="1" smtClean="0">
                <a:latin typeface="Cambria" panose="02040503050406030204" pitchFamily="18" charset="0"/>
                <a:ea typeface="Cambria" panose="02040503050406030204" pitchFamily="18" charset="0"/>
              </a:rPr>
              <a:t>br</a:t>
            </a:r>
            <a:r>
              <a:rPr lang="en-GB" dirty="0" smtClean="0">
                <a:latin typeface="Cambria" panose="02040503050406030204" pitchFamily="18" charset="0"/>
                <a:ea typeface="Cambria" panose="02040503050406030204" pitchFamily="18" charset="0"/>
              </a:rPr>
              <a:t>&gt;  </a:t>
            </a:r>
          </a:p>
          <a:p>
            <a:pPr algn="just">
              <a:buNone/>
            </a:pPr>
            <a:r>
              <a:rPr lang="en-GB" dirty="0" smtClean="0">
                <a:latin typeface="Cambria" panose="02040503050406030204" pitchFamily="18" charset="0"/>
                <a:ea typeface="Cambria" panose="02040503050406030204" pitchFamily="18" charset="0"/>
              </a:rPr>
              <a:t>&lt;input type="submit" value="login"&gt;  </a:t>
            </a:r>
          </a:p>
          <a:p>
            <a:pPr algn="just">
              <a:buNone/>
            </a:pPr>
            <a:r>
              <a:rPr lang="en-GB" dirty="0" smtClean="0">
                <a:latin typeface="Cambria" panose="02040503050406030204" pitchFamily="18" charset="0"/>
                <a:ea typeface="Cambria" panose="02040503050406030204" pitchFamily="18" charset="0"/>
              </a:rPr>
              <a:t>&lt;/form&gt;  </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32</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1867"/>
            <a:ext cx="3169568" cy="543595"/>
          </a:xfrm>
        </p:spPr>
        <p:txBody>
          <a:bodyPr/>
          <a:lstStyle/>
          <a:p>
            <a:pPr algn="just"/>
            <a:r>
              <a:rPr lang="en-GB" sz="4000" b="1" dirty="0" smtClean="0">
                <a:solidFill>
                  <a:schemeClr val="accent1"/>
                </a:solidFill>
                <a:latin typeface="Cambria" panose="02040503050406030204" pitchFamily="18" charset="0"/>
                <a:ea typeface="Cambria" panose="02040503050406030204" pitchFamily="18" charset="0"/>
              </a:rPr>
              <a:t>Example</a:t>
            </a:r>
            <a:endParaRPr lang="en-US" sz="4000" b="1" dirty="0">
              <a:solidFill>
                <a:schemeClr val="accent1"/>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263352" y="764704"/>
            <a:ext cx="11521280" cy="4104456"/>
          </a:xfrm>
        </p:spPr>
        <p:txBody>
          <a:bodyPr/>
          <a:lstStyle/>
          <a:p>
            <a:r>
              <a:rPr lang="en-US" b="1" u="sng" dirty="0" smtClean="0">
                <a:latin typeface="Cambria" panose="02040503050406030204" pitchFamily="18" charset="0"/>
                <a:ea typeface="Cambria" panose="02040503050406030204" pitchFamily="18" charset="0"/>
              </a:rPr>
              <a:t>welcome.java</a:t>
            </a:r>
          </a:p>
          <a:p>
            <a:pPr marL="0" indent="0">
              <a:buNone/>
            </a:pPr>
            <a:endParaRPr lang="en-US" u="sng" dirty="0" smtClean="0">
              <a:latin typeface="Cambria" panose="02040503050406030204" pitchFamily="18" charset="0"/>
              <a:ea typeface="Cambria" panose="02040503050406030204" pitchFamily="18" charset="0"/>
            </a:endParaRPr>
          </a:p>
          <a:p>
            <a:pPr>
              <a:spcBef>
                <a:spcPts val="0"/>
              </a:spcBef>
              <a:buNone/>
            </a:pPr>
            <a:r>
              <a:rPr lang="en-US" sz="2000" b="1" dirty="0" smtClean="0">
                <a:latin typeface="Cambria" panose="02040503050406030204" pitchFamily="18" charset="0"/>
                <a:ea typeface="Cambria" panose="02040503050406030204" pitchFamily="18" charset="0"/>
              </a:rPr>
              <a:t>import</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javax.servlet.http</a:t>
            </a:r>
            <a:r>
              <a:rPr lang="en-US" sz="2000" dirty="0" smtClean="0">
                <a:latin typeface="Cambria" panose="02040503050406030204" pitchFamily="18" charset="0"/>
                <a:ea typeface="Cambria" panose="02040503050406030204" pitchFamily="18" charset="0"/>
              </a:rPr>
              <a:t>.*;  </a:t>
            </a:r>
          </a:p>
          <a:p>
            <a:pPr>
              <a:spcBef>
                <a:spcPts val="0"/>
              </a:spcBef>
              <a:buNone/>
            </a:pPr>
            <a:r>
              <a:rPr lang="en-US" sz="2000" b="1" dirty="0" smtClean="0">
                <a:latin typeface="Cambria" panose="02040503050406030204" pitchFamily="18" charset="0"/>
                <a:ea typeface="Cambria" panose="02040503050406030204" pitchFamily="18" charset="0"/>
              </a:rPr>
              <a:t>import</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javax.servlet</a:t>
            </a:r>
            <a:r>
              <a:rPr lang="en-US" sz="2000" dirty="0" smtClean="0">
                <a:latin typeface="Cambria" panose="02040503050406030204" pitchFamily="18" charset="0"/>
                <a:ea typeface="Cambria" panose="02040503050406030204" pitchFamily="18" charset="0"/>
              </a:rPr>
              <a:t>.*;  </a:t>
            </a:r>
          </a:p>
          <a:p>
            <a:pPr>
              <a:spcBef>
                <a:spcPts val="0"/>
              </a:spcBef>
              <a:buNone/>
            </a:pPr>
            <a:r>
              <a:rPr lang="en-US" sz="2000" b="1" dirty="0" smtClean="0">
                <a:latin typeface="Cambria" panose="02040503050406030204" pitchFamily="18" charset="0"/>
                <a:ea typeface="Cambria" panose="02040503050406030204" pitchFamily="18" charset="0"/>
              </a:rPr>
              <a:t>import</a:t>
            </a:r>
            <a:r>
              <a:rPr lang="en-US" sz="2000" dirty="0" smtClean="0">
                <a:latin typeface="Cambria" panose="02040503050406030204" pitchFamily="18" charset="0"/>
                <a:ea typeface="Cambria" panose="02040503050406030204" pitchFamily="18" charset="0"/>
              </a:rPr>
              <a:t> java.io.*;  </a:t>
            </a:r>
          </a:p>
          <a:p>
            <a:pPr>
              <a:spcBef>
                <a:spcPts val="0"/>
              </a:spcBef>
              <a:buNone/>
            </a:pPr>
            <a:r>
              <a:rPr lang="en-US" sz="2000" b="1" dirty="0" smtClean="0">
                <a:latin typeface="Cambria" panose="02040503050406030204" pitchFamily="18" charset="0"/>
                <a:ea typeface="Cambria" panose="02040503050406030204" pitchFamily="18" charset="0"/>
              </a:rPr>
              <a:t>public</a:t>
            </a: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class</a:t>
            </a:r>
            <a:r>
              <a:rPr lang="en-US" sz="2000" smtClean="0">
                <a:latin typeface="Cambria" panose="02040503050406030204" pitchFamily="18" charset="0"/>
                <a:ea typeface="Cambria" panose="02040503050406030204" pitchFamily="18" charset="0"/>
              </a:rPr>
              <a:t> welcome </a:t>
            </a:r>
            <a:r>
              <a:rPr lang="en-US" sz="2000" b="1" smtClean="0">
                <a:latin typeface="Cambria" panose="02040503050406030204" pitchFamily="18" charset="0"/>
                <a:ea typeface="Cambria" panose="02040503050406030204" pitchFamily="18" charset="0"/>
              </a:rPr>
              <a:t>extends</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HttpServlet</a:t>
            </a:r>
            <a:r>
              <a:rPr lang="en-US" sz="2000" dirty="0" smtClean="0">
                <a:latin typeface="Cambria" panose="02040503050406030204" pitchFamily="18" charset="0"/>
                <a:ea typeface="Cambria" panose="02040503050406030204" pitchFamily="18" charset="0"/>
              </a:rPr>
              <a:t>   {  </a:t>
            </a:r>
          </a:p>
          <a:p>
            <a:pPr>
              <a:spcBef>
                <a:spcPts val="0"/>
              </a:spcBef>
              <a:buNone/>
            </a:pPr>
            <a:r>
              <a:rPr lang="en-US" sz="2000" b="1" dirty="0" smtClean="0">
                <a:latin typeface="Cambria" panose="02040503050406030204" pitchFamily="18" charset="0"/>
                <a:ea typeface="Cambria" panose="02040503050406030204" pitchFamily="18" charset="0"/>
              </a:rPr>
              <a:t>           public</a:t>
            </a: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void</a:t>
            </a:r>
            <a:r>
              <a:rPr lang="en-US" sz="2000" dirty="0" smtClean="0">
                <a:latin typeface="Cambria" panose="02040503050406030204" pitchFamily="18" charset="0"/>
                <a:ea typeface="Cambria" panose="02040503050406030204" pitchFamily="18" charset="0"/>
              </a:rPr>
              <a:t> doGet(HttpServletRequest req,HttpServletResponse res)  </a:t>
            </a:r>
            <a:r>
              <a:rPr lang="en-US" sz="2000" b="1" dirty="0" smtClean="0">
                <a:latin typeface="Cambria" panose="02040503050406030204" pitchFamily="18" charset="0"/>
                <a:ea typeface="Cambria" panose="02040503050406030204" pitchFamily="18" charset="0"/>
              </a:rPr>
              <a:t>throws</a:t>
            </a:r>
            <a:r>
              <a:rPr lang="en-US" sz="2000" dirty="0" smtClean="0">
                <a:latin typeface="Cambria" panose="02040503050406030204" pitchFamily="18" charset="0"/>
                <a:ea typeface="Cambria" panose="02040503050406030204" pitchFamily="18" charset="0"/>
              </a:rPr>
              <a:t> ServletException, IOException    {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res.setContentType</a:t>
            </a:r>
            <a:r>
              <a:rPr lang="en-US" sz="2000" dirty="0" smtClean="0">
                <a:latin typeface="Cambria" panose="02040503050406030204" pitchFamily="18" charset="0"/>
                <a:ea typeface="Cambria" panose="02040503050406030204" pitchFamily="18" charset="0"/>
              </a:rPr>
              <a:t>("text/html");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PrintWriter</a:t>
            </a:r>
            <a:r>
              <a:rPr lang="en-US" sz="2000" dirty="0" smtClean="0">
                <a:latin typeface="Cambria" panose="02040503050406030204" pitchFamily="18" charset="0"/>
                <a:ea typeface="Cambria" panose="02040503050406030204" pitchFamily="18" charset="0"/>
              </a:rPr>
              <a:t> pw=</a:t>
            </a:r>
            <a:r>
              <a:rPr lang="en-US" sz="2000" dirty="0" err="1" smtClean="0">
                <a:latin typeface="Cambria" panose="02040503050406030204" pitchFamily="18" charset="0"/>
                <a:ea typeface="Cambria" panose="02040503050406030204" pitchFamily="18" charset="0"/>
              </a:rPr>
              <a:t>res.getWriter</a:t>
            </a:r>
            <a:r>
              <a:rPr lang="en-US" sz="2000" dirty="0" smtClean="0">
                <a:latin typeface="Cambria" panose="02040503050406030204" pitchFamily="18" charset="0"/>
                <a:ea typeface="Cambria" panose="02040503050406030204" pitchFamily="18" charset="0"/>
              </a:rPr>
              <a:t>();  </a:t>
            </a:r>
          </a:p>
          <a:p>
            <a:pPr>
              <a:spcBef>
                <a:spcPts val="0"/>
              </a:spcBef>
              <a:buNone/>
            </a:pPr>
            <a:r>
              <a:rPr lang="en-US" sz="2000" dirty="0" smtClean="0">
                <a:latin typeface="Cambria" panose="02040503050406030204" pitchFamily="18" charset="0"/>
                <a:ea typeface="Cambria" panose="02040503050406030204" pitchFamily="18" charset="0"/>
              </a:rPr>
              <a:t>             String name=</a:t>
            </a:r>
            <a:r>
              <a:rPr lang="en-US" sz="2000" dirty="0" err="1" smtClean="0">
                <a:latin typeface="Cambria" panose="02040503050406030204" pitchFamily="18" charset="0"/>
                <a:ea typeface="Cambria" panose="02040503050406030204" pitchFamily="18" charset="0"/>
              </a:rPr>
              <a:t>req.getParameter</a:t>
            </a:r>
            <a:r>
              <a:rPr lang="en-US" sz="2000" dirty="0" smtClean="0">
                <a:latin typeface="Cambria" panose="02040503050406030204" pitchFamily="18" charset="0"/>
                <a:ea typeface="Cambria" panose="02040503050406030204" pitchFamily="18" charset="0"/>
              </a:rPr>
              <a:t>("name");//will return value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pw.println</a:t>
            </a:r>
            <a:r>
              <a:rPr lang="en-US" sz="2000" dirty="0" smtClean="0">
                <a:latin typeface="Cambria" panose="02040503050406030204" pitchFamily="18" charset="0"/>
                <a:ea typeface="Cambria" panose="02040503050406030204" pitchFamily="18" charset="0"/>
              </a:rPr>
              <a:t>("Welcome "+name);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pw.close</a:t>
            </a:r>
            <a:r>
              <a:rPr lang="en-US" sz="2000" dirty="0" smtClean="0">
                <a:latin typeface="Cambria" panose="02040503050406030204" pitchFamily="18" charset="0"/>
                <a:ea typeface="Cambria" panose="02040503050406030204" pitchFamily="18" charset="0"/>
              </a:rPr>
              <a:t>();  </a:t>
            </a:r>
          </a:p>
          <a:p>
            <a:pPr>
              <a:spcBef>
                <a:spcPts val="0"/>
              </a:spcBef>
              <a:buNone/>
            </a:pPr>
            <a:r>
              <a:rPr lang="en-US" sz="2000" dirty="0" smtClean="0">
                <a:latin typeface="Cambria" panose="02040503050406030204" pitchFamily="18" charset="0"/>
                <a:ea typeface="Cambria" panose="02040503050406030204" pitchFamily="18" charset="0"/>
              </a:rPr>
              <a:t>       }</a:t>
            </a:r>
          </a:p>
          <a:p>
            <a:pPr>
              <a:spcBef>
                <a:spcPts val="0"/>
              </a:spcBef>
              <a:buNone/>
            </a:pPr>
            <a:r>
              <a:rPr lang="en-US" sz="2000" dirty="0" smtClean="0">
                <a:latin typeface="Cambria" panose="02040503050406030204" pitchFamily="18" charset="0"/>
                <a:ea typeface="Cambria" panose="02040503050406030204" pitchFamily="18" charset="0"/>
              </a:rPr>
              <a:t>}</a:t>
            </a:r>
          </a:p>
          <a:p>
            <a:pPr>
              <a:spcBef>
                <a:spcPts val="0"/>
              </a:spcBef>
              <a:buNone/>
            </a:pPr>
            <a:r>
              <a:rPr lang="en-US" sz="2000" dirty="0" smtClean="0">
                <a:latin typeface="Cambria" panose="02040503050406030204" pitchFamily="18" charset="0"/>
                <a:ea typeface="Cambria" panose="02040503050406030204" pitchFamily="18" charset="0"/>
              </a:rPr>
              <a:t>  </a:t>
            </a:r>
          </a:p>
          <a:p>
            <a:pPr>
              <a:spcBef>
                <a:spcPts val="0"/>
              </a:spcBef>
            </a:pPr>
            <a:endParaRPr lang="en-US" sz="20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33</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5360" y="1"/>
            <a:ext cx="6912768" cy="620687"/>
          </a:xfrm>
        </p:spPr>
        <p:txBody>
          <a:bodyPr/>
          <a:lstStyle/>
          <a:p>
            <a:r>
              <a:rPr lang="en-US" sz="3600" b="1" dirty="0" smtClean="0">
                <a:solidFill>
                  <a:schemeClr val="accent5"/>
                </a:solidFill>
                <a:latin typeface="Cambria" panose="02040503050406030204" pitchFamily="18" charset="0"/>
                <a:ea typeface="Cambria" panose="02040503050406030204" pitchFamily="18" charset="0"/>
              </a:rPr>
              <a:t>RequestDispatcher in Servlet</a:t>
            </a:r>
            <a:endParaRPr lang="en-US" sz="36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191344" y="620688"/>
            <a:ext cx="11809312" cy="5112568"/>
          </a:xfrm>
        </p:spPr>
        <p:txBody>
          <a:bodyPr/>
          <a:lstStyle/>
          <a:p>
            <a:pPr algn="just"/>
            <a:r>
              <a:rPr lang="en-GB" sz="2400" dirty="0" smtClean="0">
                <a:latin typeface="Cambria" panose="02040503050406030204" pitchFamily="18" charset="0"/>
                <a:ea typeface="Cambria" panose="02040503050406030204" pitchFamily="18" charset="0"/>
              </a:rPr>
              <a:t>The </a:t>
            </a:r>
            <a:r>
              <a:rPr lang="en-GB" sz="2400" dirty="0" err="1" smtClean="0">
                <a:latin typeface="Cambria" panose="02040503050406030204" pitchFamily="18" charset="0"/>
                <a:ea typeface="Cambria" panose="02040503050406030204" pitchFamily="18" charset="0"/>
              </a:rPr>
              <a:t>RequestDispatcher</a:t>
            </a:r>
            <a:r>
              <a:rPr lang="en-GB" sz="2400" dirty="0" smtClean="0">
                <a:latin typeface="Cambria" panose="02040503050406030204" pitchFamily="18" charset="0"/>
                <a:ea typeface="Cambria" panose="02040503050406030204" pitchFamily="18" charset="0"/>
              </a:rPr>
              <a:t> interface provides the facility of dispatching the request to another resource it may be html, </a:t>
            </a:r>
            <a:r>
              <a:rPr lang="en-GB" sz="2400" dirty="0" err="1" smtClean="0">
                <a:latin typeface="Cambria" panose="02040503050406030204" pitchFamily="18" charset="0"/>
                <a:ea typeface="Cambria" panose="02040503050406030204" pitchFamily="18" charset="0"/>
              </a:rPr>
              <a:t>servlet</a:t>
            </a:r>
            <a:r>
              <a:rPr lang="en-GB" sz="2400" dirty="0" smtClean="0">
                <a:latin typeface="Cambria" panose="02040503050406030204" pitchFamily="18" charset="0"/>
                <a:ea typeface="Cambria" panose="02040503050406030204" pitchFamily="18" charset="0"/>
              </a:rPr>
              <a:t> or </a:t>
            </a:r>
            <a:r>
              <a:rPr lang="en-GB" sz="2400" dirty="0" err="1" smtClean="0">
                <a:latin typeface="Cambria" panose="02040503050406030204" pitchFamily="18" charset="0"/>
                <a:ea typeface="Cambria" panose="02040503050406030204" pitchFamily="18" charset="0"/>
              </a:rPr>
              <a:t>jsp</a:t>
            </a:r>
            <a:r>
              <a:rPr lang="en-GB" sz="2400" dirty="0" smtClean="0">
                <a:latin typeface="Cambria" panose="02040503050406030204" pitchFamily="18" charset="0"/>
                <a:ea typeface="Cambria" panose="02040503050406030204" pitchFamily="18" charset="0"/>
              </a:rPr>
              <a:t>. This interface can also be used to include the content of another resource also. It is one of the way of </a:t>
            </a:r>
            <a:r>
              <a:rPr lang="en-GB" sz="2400" dirty="0" err="1" smtClean="0">
                <a:latin typeface="Cambria" panose="02040503050406030204" pitchFamily="18" charset="0"/>
                <a:ea typeface="Cambria" panose="02040503050406030204" pitchFamily="18" charset="0"/>
              </a:rPr>
              <a:t>servlet</a:t>
            </a:r>
            <a:r>
              <a:rPr lang="en-GB" sz="2400" dirty="0" smtClean="0">
                <a:latin typeface="Cambria" panose="02040503050406030204" pitchFamily="18" charset="0"/>
                <a:ea typeface="Cambria" panose="02040503050406030204" pitchFamily="18" charset="0"/>
              </a:rPr>
              <a:t> collaboration.</a:t>
            </a:r>
          </a:p>
          <a:p>
            <a:pPr algn="just"/>
            <a:r>
              <a:rPr lang="en-GB" sz="2400" dirty="0" smtClean="0">
                <a:latin typeface="Cambria" panose="02040503050406030204" pitchFamily="18" charset="0"/>
                <a:ea typeface="Cambria" panose="02040503050406030204" pitchFamily="18" charset="0"/>
              </a:rPr>
              <a:t>There are two methods defined in the </a:t>
            </a:r>
            <a:r>
              <a:rPr lang="en-GB" sz="2400" dirty="0" err="1" smtClean="0">
                <a:latin typeface="Cambria" panose="02040503050406030204" pitchFamily="18" charset="0"/>
                <a:ea typeface="Cambria" panose="02040503050406030204" pitchFamily="18" charset="0"/>
              </a:rPr>
              <a:t>RequestDispatcher</a:t>
            </a:r>
            <a:r>
              <a:rPr lang="en-GB" sz="2400" dirty="0" smtClean="0">
                <a:latin typeface="Cambria" panose="02040503050406030204" pitchFamily="18" charset="0"/>
                <a:ea typeface="Cambria" panose="02040503050406030204" pitchFamily="18" charset="0"/>
              </a:rPr>
              <a:t> interface.</a:t>
            </a:r>
          </a:p>
          <a:p>
            <a:pPr algn="just"/>
            <a:r>
              <a:rPr lang="en-US" sz="2400" u="sng" dirty="0" smtClean="0">
                <a:latin typeface="Cambria" panose="02040503050406030204" pitchFamily="18" charset="0"/>
                <a:ea typeface="Cambria" panose="02040503050406030204" pitchFamily="18" charset="0"/>
              </a:rPr>
              <a:t>Methods of </a:t>
            </a:r>
            <a:r>
              <a:rPr lang="en-US" sz="2400" u="sng" dirty="0" err="1" smtClean="0">
                <a:latin typeface="Cambria" panose="02040503050406030204" pitchFamily="18" charset="0"/>
                <a:ea typeface="Cambria" panose="02040503050406030204" pitchFamily="18" charset="0"/>
              </a:rPr>
              <a:t>RequestDispatcher</a:t>
            </a:r>
            <a:r>
              <a:rPr lang="en-US" sz="2400" u="sng" dirty="0" smtClean="0">
                <a:latin typeface="Cambria" panose="02040503050406030204" pitchFamily="18" charset="0"/>
                <a:ea typeface="Cambria" panose="02040503050406030204" pitchFamily="18" charset="0"/>
              </a:rPr>
              <a:t> interface</a:t>
            </a:r>
          </a:p>
          <a:p>
            <a:pPr algn="just"/>
            <a:r>
              <a:rPr lang="en-US" sz="2400" dirty="0" smtClean="0">
                <a:latin typeface="Cambria" panose="02040503050406030204" pitchFamily="18" charset="0"/>
                <a:ea typeface="Cambria" panose="02040503050406030204" pitchFamily="18" charset="0"/>
              </a:rPr>
              <a:t>The </a:t>
            </a:r>
            <a:r>
              <a:rPr lang="en-US" sz="2400" dirty="0" err="1" smtClean="0">
                <a:latin typeface="Cambria" panose="02040503050406030204" pitchFamily="18" charset="0"/>
                <a:ea typeface="Cambria" panose="02040503050406030204" pitchFamily="18" charset="0"/>
              </a:rPr>
              <a:t>RequestDispatcher</a:t>
            </a:r>
            <a:r>
              <a:rPr lang="en-US" sz="2400" dirty="0" smtClean="0">
                <a:latin typeface="Cambria" panose="02040503050406030204" pitchFamily="18" charset="0"/>
                <a:ea typeface="Cambria" panose="02040503050406030204" pitchFamily="18" charset="0"/>
              </a:rPr>
              <a:t> interface provides two methods. They are:</a:t>
            </a:r>
          </a:p>
          <a:p>
            <a:pPr algn="just"/>
            <a:r>
              <a:rPr lang="en-US" sz="2400" b="1" dirty="0" smtClean="0">
                <a:latin typeface="Cambria" panose="02040503050406030204" pitchFamily="18" charset="0"/>
                <a:ea typeface="Cambria" panose="02040503050406030204" pitchFamily="18" charset="0"/>
              </a:rPr>
              <a:t>public void forward(ServletRequest request,ServletResponse response)throws ServletException, IOException: </a:t>
            </a:r>
            <a:r>
              <a:rPr lang="en-US" sz="2400" dirty="0" smtClean="0">
                <a:latin typeface="Cambria" panose="02040503050406030204" pitchFamily="18" charset="0"/>
                <a:ea typeface="Cambria" panose="02040503050406030204" pitchFamily="18" charset="0"/>
              </a:rPr>
              <a:t>Forwards a request from a servlet to another resource (servlet, JSP file, or HTML file) on the server.</a:t>
            </a:r>
          </a:p>
          <a:p>
            <a:pPr algn="just"/>
            <a:r>
              <a:rPr lang="en-US" sz="2400" b="1" dirty="0" smtClean="0">
                <a:latin typeface="Cambria" panose="02040503050406030204" pitchFamily="18" charset="0"/>
                <a:ea typeface="Cambria" panose="02040503050406030204" pitchFamily="18" charset="0"/>
              </a:rPr>
              <a:t>public void include(ServletRequest request,ServletResponse response)throws ServletException, IOException: </a:t>
            </a:r>
            <a:r>
              <a:rPr lang="en-US" sz="2400" dirty="0" smtClean="0">
                <a:latin typeface="Cambria" panose="02040503050406030204" pitchFamily="18" charset="0"/>
                <a:ea typeface="Cambria" panose="02040503050406030204" pitchFamily="18" charset="0"/>
              </a:rPr>
              <a:t>Includes the content of a resource (servlet, JSP page, or HTML file) in the response.</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34</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5360" y="149896"/>
            <a:ext cx="4998380" cy="623562"/>
          </a:xfrm>
        </p:spPr>
        <p:txBody>
          <a:bodyPr/>
          <a:lstStyle/>
          <a:p>
            <a:r>
              <a:rPr lang="en-GB" sz="4000" b="1" dirty="0" smtClean="0">
                <a:solidFill>
                  <a:schemeClr val="accent5"/>
                </a:solidFill>
                <a:latin typeface="Cambria" panose="02040503050406030204" pitchFamily="18" charset="0"/>
                <a:ea typeface="Cambria" panose="02040503050406030204" pitchFamily="18" charset="0"/>
              </a:rPr>
              <a:t>forward method</a:t>
            </a:r>
            <a:endParaRPr lang="en-US" sz="4000" b="1" dirty="0">
              <a:solidFill>
                <a:schemeClr val="accent5"/>
              </a:solidFill>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35</a:t>
            </a:fld>
            <a:endParaRPr lang="en-US" altLang="en-US">
              <a:latin typeface="Cambria" panose="02040503050406030204" pitchFamily="18" charset="0"/>
              <a:ea typeface="Cambria" panose="02040503050406030204" pitchFamily="18" charset="0"/>
            </a:endParaRPr>
          </a:p>
        </p:txBody>
      </p:sp>
      <p:pic>
        <p:nvPicPr>
          <p:cNvPr id="5" name="Content Placeholder 4" descr="forward() method of RequestDispatcher interface"/>
          <p:cNvPicPr>
            <a:picLocks noGrp="1"/>
          </p:cNvPicPr>
          <p:nvPr>
            <p:ph idx="1"/>
          </p:nvPr>
        </p:nvPicPr>
        <p:blipFill>
          <a:blip r:embed="rId2"/>
          <a:srcRect/>
          <a:stretch>
            <a:fillRect/>
          </a:stretch>
        </p:blipFill>
        <p:spPr bwMode="auto">
          <a:xfrm>
            <a:off x="2639616" y="1807324"/>
            <a:ext cx="6429375" cy="3657600"/>
          </a:xfrm>
          <a:prstGeom prst="rect">
            <a:avLst/>
          </a:prstGeom>
          <a:noFill/>
          <a:ln w="9525">
            <a:noFill/>
            <a:miter lim="800000"/>
            <a:headEnd/>
            <a:tailEnd/>
          </a:ln>
        </p:spPr>
      </p:pic>
      <p:sp>
        <p:nvSpPr>
          <p:cNvPr id="6" name="Rectangle 5"/>
          <p:cNvSpPr/>
          <p:nvPr/>
        </p:nvSpPr>
        <p:spPr>
          <a:xfrm>
            <a:off x="551384" y="943099"/>
            <a:ext cx="10363085" cy="707886"/>
          </a:xfrm>
          <a:prstGeom prst="rect">
            <a:avLst/>
          </a:prstGeom>
        </p:spPr>
        <p:txBody>
          <a:bodyPr wrap="square">
            <a:spAutoFit/>
          </a:bodyPr>
          <a:lstStyle/>
          <a:p>
            <a:r>
              <a:rPr lang="en-GB" sz="2000" dirty="0" smtClean="0">
                <a:latin typeface="Cambria" panose="02040503050406030204" pitchFamily="18" charset="0"/>
                <a:ea typeface="Cambria" panose="02040503050406030204" pitchFamily="18" charset="0"/>
              </a:rPr>
              <a:t>response of second </a:t>
            </a:r>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 is sent to the client. Response of the first </a:t>
            </a:r>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 is not displayed to the user</a:t>
            </a:r>
            <a:endParaRPr lang="en-US" sz="2000" dirty="0">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3352" y="84977"/>
            <a:ext cx="4874629" cy="662782"/>
          </a:xfrm>
        </p:spPr>
        <p:txBody>
          <a:bodyPr/>
          <a:lstStyle/>
          <a:p>
            <a:r>
              <a:rPr lang="en-GB" sz="4000" b="1" dirty="0">
                <a:solidFill>
                  <a:schemeClr val="accent5"/>
                </a:solidFill>
                <a:latin typeface="Cambria" panose="02040503050406030204" pitchFamily="18" charset="0"/>
                <a:ea typeface="Cambria" panose="02040503050406030204" pitchFamily="18" charset="0"/>
              </a:rPr>
              <a:t>i</a:t>
            </a:r>
            <a:r>
              <a:rPr lang="en-GB" sz="4000" b="1" dirty="0" smtClean="0">
                <a:solidFill>
                  <a:schemeClr val="accent5"/>
                </a:solidFill>
                <a:latin typeface="Cambria" panose="02040503050406030204" pitchFamily="18" charset="0"/>
                <a:ea typeface="Cambria" panose="02040503050406030204" pitchFamily="18" charset="0"/>
              </a:rPr>
              <a:t>nclude method</a:t>
            </a:r>
            <a:endParaRPr lang="en-US" sz="40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358491" y="907321"/>
            <a:ext cx="11089232" cy="893737"/>
          </a:xfrm>
        </p:spPr>
        <p:txBody>
          <a:bodyPr/>
          <a:lstStyle/>
          <a:p>
            <a:pPr algn="just"/>
            <a:r>
              <a:rPr lang="en-GB" dirty="0" smtClean="0">
                <a:latin typeface="Cambria" panose="02040503050406030204" pitchFamily="18" charset="0"/>
                <a:ea typeface="Cambria" panose="02040503050406030204" pitchFamily="18" charset="0"/>
              </a:rPr>
              <a:t>response of second </a:t>
            </a:r>
            <a:r>
              <a:rPr lang="en-GB" dirty="0" err="1" smtClean="0">
                <a:latin typeface="Cambria" panose="02040503050406030204" pitchFamily="18" charset="0"/>
                <a:ea typeface="Cambria" panose="02040503050406030204" pitchFamily="18" charset="0"/>
              </a:rPr>
              <a:t>servlet</a:t>
            </a:r>
            <a:r>
              <a:rPr lang="en-GB" dirty="0" smtClean="0">
                <a:latin typeface="Cambria" panose="02040503050406030204" pitchFamily="18" charset="0"/>
                <a:ea typeface="Cambria" panose="02040503050406030204" pitchFamily="18" charset="0"/>
              </a:rPr>
              <a:t> is included in the response of the first </a:t>
            </a:r>
            <a:r>
              <a:rPr lang="en-GB" dirty="0" err="1" smtClean="0">
                <a:latin typeface="Cambria" panose="02040503050406030204" pitchFamily="18" charset="0"/>
                <a:ea typeface="Cambria" panose="02040503050406030204" pitchFamily="18" charset="0"/>
              </a:rPr>
              <a:t>servlet</a:t>
            </a:r>
            <a:r>
              <a:rPr lang="en-GB" dirty="0" smtClean="0">
                <a:latin typeface="Cambria" panose="02040503050406030204" pitchFamily="18" charset="0"/>
                <a:ea typeface="Cambria" panose="02040503050406030204" pitchFamily="18" charset="0"/>
              </a:rPr>
              <a:t> that is being sent to the client. </a:t>
            </a:r>
            <a:endParaRPr lang="en-US"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36</a:t>
            </a:fld>
            <a:endParaRPr lang="en-US" altLang="en-US">
              <a:latin typeface="Cambria" panose="02040503050406030204" pitchFamily="18" charset="0"/>
              <a:ea typeface="Cambria" panose="02040503050406030204" pitchFamily="18" charset="0"/>
            </a:endParaRPr>
          </a:p>
        </p:txBody>
      </p:sp>
      <p:pic>
        <p:nvPicPr>
          <p:cNvPr id="5" name="Picture 4" descr="include() method of RequestDispatcher interface"/>
          <p:cNvPicPr/>
          <p:nvPr/>
        </p:nvPicPr>
        <p:blipFill>
          <a:blip r:embed="rId2"/>
          <a:srcRect/>
          <a:stretch>
            <a:fillRect/>
          </a:stretch>
        </p:blipFill>
        <p:spPr bwMode="auto">
          <a:xfrm>
            <a:off x="2063552" y="1814360"/>
            <a:ext cx="6900890" cy="385293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36" y="0"/>
            <a:ext cx="10515600" cy="849297"/>
          </a:xfrm>
        </p:spPr>
        <p:txBody>
          <a:bodyPr/>
          <a:lstStyle/>
          <a:p>
            <a:r>
              <a:rPr lang="en-GB" sz="4000" b="1" dirty="0" smtClean="0">
                <a:solidFill>
                  <a:schemeClr val="accent5"/>
                </a:solidFill>
                <a:latin typeface="Cambria" panose="02040503050406030204" pitchFamily="18" charset="0"/>
                <a:ea typeface="Cambria" panose="02040503050406030204" pitchFamily="18" charset="0"/>
              </a:rPr>
              <a:t/>
            </a:r>
            <a:br>
              <a:rPr lang="en-GB" sz="4000" b="1" dirty="0" smtClean="0">
                <a:solidFill>
                  <a:schemeClr val="accent5"/>
                </a:solidFill>
                <a:latin typeface="Cambria" panose="02040503050406030204" pitchFamily="18" charset="0"/>
                <a:ea typeface="Cambria" panose="02040503050406030204" pitchFamily="18" charset="0"/>
              </a:rPr>
            </a:br>
            <a:r>
              <a:rPr lang="en-GB" sz="4000" b="1" dirty="0" smtClean="0">
                <a:solidFill>
                  <a:schemeClr val="accent5"/>
                </a:solidFill>
                <a:latin typeface="Cambria" panose="02040503050406030204" pitchFamily="18" charset="0"/>
                <a:ea typeface="Cambria" panose="02040503050406030204" pitchFamily="18" charset="0"/>
              </a:rPr>
              <a:t>How to get the object of </a:t>
            </a:r>
            <a:r>
              <a:rPr lang="en-GB" sz="4000" b="1" dirty="0" err="1" smtClean="0">
                <a:solidFill>
                  <a:schemeClr val="accent5"/>
                </a:solidFill>
                <a:latin typeface="Cambria" panose="02040503050406030204" pitchFamily="18" charset="0"/>
                <a:ea typeface="Cambria" panose="02040503050406030204" pitchFamily="18" charset="0"/>
              </a:rPr>
              <a:t>RequestDispatcher</a:t>
            </a:r>
            <a:r>
              <a:rPr lang="en-GB" sz="4000" b="1" dirty="0" smtClean="0">
                <a:solidFill>
                  <a:schemeClr val="accent5"/>
                </a:solidFill>
                <a:latin typeface="Cambria" panose="02040503050406030204" pitchFamily="18" charset="0"/>
                <a:ea typeface="Cambria" panose="02040503050406030204" pitchFamily="18" charset="0"/>
              </a:rPr>
              <a:t/>
            </a:r>
            <a:br>
              <a:rPr lang="en-GB" sz="4000" b="1" dirty="0" smtClean="0">
                <a:solidFill>
                  <a:schemeClr val="accent5"/>
                </a:solidFill>
                <a:latin typeface="Cambria" panose="02040503050406030204" pitchFamily="18" charset="0"/>
                <a:ea typeface="Cambria" panose="02040503050406030204" pitchFamily="18" charset="0"/>
              </a:rPr>
            </a:br>
            <a:endParaRPr lang="en-US" sz="40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335360" y="980728"/>
            <a:ext cx="11377264" cy="3947855"/>
          </a:xfrm>
        </p:spPr>
        <p:txBody>
          <a:bodyPr/>
          <a:lstStyle/>
          <a:p>
            <a:pPr algn="just"/>
            <a:r>
              <a:rPr lang="en-US" sz="2400" dirty="0" smtClean="0">
                <a:latin typeface="Cambria" panose="02040503050406030204" pitchFamily="18" charset="0"/>
                <a:ea typeface="Cambria" panose="02040503050406030204" pitchFamily="18" charset="0"/>
              </a:rPr>
              <a:t>The getRequestDispatcher() method of ServletRequest interface returns the object of RequestDispatcher.</a:t>
            </a:r>
          </a:p>
          <a:p>
            <a:pPr algn="just"/>
            <a:r>
              <a:rPr lang="en-US" sz="2400" dirty="0" smtClean="0">
                <a:latin typeface="Cambria" panose="02040503050406030204" pitchFamily="18" charset="0"/>
                <a:ea typeface="Cambria" panose="02040503050406030204" pitchFamily="18" charset="0"/>
              </a:rPr>
              <a:t>Syntax of </a:t>
            </a:r>
            <a:r>
              <a:rPr lang="en-US" sz="2400" dirty="0" err="1" smtClean="0">
                <a:latin typeface="Cambria" panose="02040503050406030204" pitchFamily="18" charset="0"/>
                <a:ea typeface="Cambria" panose="02040503050406030204" pitchFamily="18" charset="0"/>
              </a:rPr>
              <a:t>getRequestDispatcher</a:t>
            </a:r>
            <a:r>
              <a:rPr lang="en-US" sz="2400" dirty="0" smtClean="0">
                <a:latin typeface="Cambria" panose="02040503050406030204" pitchFamily="18" charset="0"/>
                <a:ea typeface="Cambria" panose="02040503050406030204" pitchFamily="18" charset="0"/>
              </a:rPr>
              <a:t> method</a:t>
            </a:r>
          </a:p>
          <a:p>
            <a:pPr marL="0" indent="0" algn="just">
              <a:buNone/>
            </a:pPr>
            <a:r>
              <a:rPr lang="en-US" sz="2400" b="1" dirty="0" smtClean="0">
                <a:latin typeface="Cambria" panose="02040503050406030204" pitchFamily="18" charset="0"/>
                <a:ea typeface="Cambria" panose="02040503050406030204" pitchFamily="18" charset="0"/>
              </a:rPr>
              <a:t>   public</a:t>
            </a:r>
            <a:r>
              <a:rPr lang="en-US" sz="2400" dirty="0" smtClean="0">
                <a:latin typeface="Cambria" panose="02040503050406030204" pitchFamily="18" charset="0"/>
                <a:ea typeface="Cambria" panose="02040503050406030204" pitchFamily="18" charset="0"/>
              </a:rPr>
              <a:t> RequestDispatcher getRequestDispatcher(String resource);  </a:t>
            </a:r>
          </a:p>
          <a:p>
            <a:pPr algn="just"/>
            <a:r>
              <a:rPr lang="en-US" sz="2400" dirty="0" smtClean="0">
                <a:latin typeface="Cambria" panose="02040503050406030204" pitchFamily="18" charset="0"/>
                <a:ea typeface="Cambria" panose="02040503050406030204" pitchFamily="18" charset="0"/>
              </a:rPr>
              <a:t>Example of using </a:t>
            </a:r>
            <a:r>
              <a:rPr lang="en-US" sz="2400" dirty="0" err="1" smtClean="0">
                <a:latin typeface="Cambria" panose="02040503050406030204" pitchFamily="18" charset="0"/>
                <a:ea typeface="Cambria" panose="02040503050406030204" pitchFamily="18" charset="0"/>
              </a:rPr>
              <a:t>getRequestDispatcher</a:t>
            </a:r>
            <a:r>
              <a:rPr lang="en-US" sz="2400" dirty="0" smtClean="0">
                <a:latin typeface="Cambria" panose="02040503050406030204" pitchFamily="18" charset="0"/>
                <a:ea typeface="Cambria" panose="02040503050406030204" pitchFamily="18" charset="0"/>
              </a:rPr>
              <a:t> method</a:t>
            </a:r>
          </a:p>
          <a:p>
            <a:pPr algn="just"/>
            <a:r>
              <a:rPr lang="en-US" sz="2400" dirty="0" err="1" smtClean="0">
                <a:latin typeface="Cambria" panose="02040503050406030204" pitchFamily="18" charset="0"/>
                <a:ea typeface="Cambria" panose="02040503050406030204" pitchFamily="18" charset="0"/>
              </a:rPr>
              <a:t>RequestDispatcher</a:t>
            </a:r>
            <a:r>
              <a:rPr lang="en-US" sz="2400" dirty="0" smtClean="0">
                <a:latin typeface="Cambria" panose="02040503050406030204" pitchFamily="18" charset="0"/>
                <a:ea typeface="Cambria" panose="02040503050406030204" pitchFamily="18" charset="0"/>
              </a:rPr>
              <a:t> rd=</a:t>
            </a:r>
            <a:r>
              <a:rPr lang="en-US" sz="2400" dirty="0" err="1" smtClean="0">
                <a:latin typeface="Cambria" panose="02040503050406030204" pitchFamily="18" charset="0"/>
                <a:ea typeface="Cambria" panose="02040503050406030204" pitchFamily="18" charset="0"/>
              </a:rPr>
              <a:t>request.getRequestDispatcher</a:t>
            </a:r>
            <a:r>
              <a:rPr lang="en-US" sz="2400" dirty="0" smtClean="0">
                <a:latin typeface="Cambria" panose="02040503050406030204" pitchFamily="18" charset="0"/>
                <a:ea typeface="Cambria" panose="02040503050406030204" pitchFamily="18" charset="0"/>
              </a:rPr>
              <a:t>("servlet2");  </a:t>
            </a:r>
          </a:p>
          <a:p>
            <a:pPr algn="just"/>
            <a:r>
              <a:rPr lang="en-US" sz="2400" dirty="0" smtClean="0">
                <a:latin typeface="Cambria" panose="02040503050406030204" pitchFamily="18" charset="0"/>
                <a:ea typeface="Cambria" panose="02040503050406030204" pitchFamily="18" charset="0"/>
              </a:rPr>
              <a:t>//servlet2 is the </a:t>
            </a:r>
            <a:r>
              <a:rPr lang="en-US" sz="2400" dirty="0" err="1" smtClean="0">
                <a:latin typeface="Cambria" panose="02040503050406030204" pitchFamily="18" charset="0"/>
                <a:ea typeface="Cambria" panose="02040503050406030204" pitchFamily="18" charset="0"/>
              </a:rPr>
              <a:t>url</a:t>
            </a:r>
            <a:r>
              <a:rPr lang="en-US" sz="2400" dirty="0" smtClean="0">
                <a:latin typeface="Cambria" panose="02040503050406030204" pitchFamily="18" charset="0"/>
                <a:ea typeface="Cambria" panose="02040503050406030204" pitchFamily="18" charset="0"/>
              </a:rPr>
              <a:t>-pattern of the second </a:t>
            </a:r>
            <a:r>
              <a:rPr lang="en-US" sz="2400" dirty="0" err="1" smtClean="0">
                <a:latin typeface="Cambria" panose="02040503050406030204" pitchFamily="18" charset="0"/>
                <a:ea typeface="Cambria" panose="02040503050406030204" pitchFamily="18" charset="0"/>
              </a:rPr>
              <a:t>servlet</a:t>
            </a:r>
            <a:r>
              <a:rPr lang="en-US" sz="2400" dirty="0" smtClean="0">
                <a:latin typeface="Cambria" panose="02040503050406030204" pitchFamily="18" charset="0"/>
                <a:ea typeface="Cambria" panose="02040503050406030204" pitchFamily="18" charset="0"/>
              </a:rPr>
              <a:t>  </a:t>
            </a:r>
          </a:p>
          <a:p>
            <a:pPr algn="just"/>
            <a:r>
              <a:rPr lang="en-US" sz="2400" dirty="0" err="1" smtClean="0">
                <a:latin typeface="Cambria" panose="02040503050406030204" pitchFamily="18" charset="0"/>
                <a:ea typeface="Cambria" panose="02040503050406030204" pitchFamily="18" charset="0"/>
              </a:rPr>
              <a:t>rd.forward</a:t>
            </a:r>
            <a:r>
              <a:rPr lang="en-US" sz="2400" dirty="0" smtClean="0">
                <a:latin typeface="Cambria" panose="02040503050406030204" pitchFamily="18" charset="0"/>
                <a:ea typeface="Cambria" panose="02040503050406030204" pitchFamily="18" charset="0"/>
              </a:rPr>
              <a:t>(request, response);//method may be include or forward  </a:t>
            </a:r>
          </a:p>
          <a:p>
            <a:pPr algn="just"/>
            <a:endParaRPr lang="en-US" sz="24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37</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36" y="116632"/>
            <a:ext cx="8958820" cy="479546"/>
          </a:xfrm>
        </p:spPr>
        <p:txBody>
          <a:bodyPr/>
          <a:lstStyle/>
          <a:p>
            <a:r>
              <a:rPr lang="en-US" sz="3600" b="1" dirty="0" smtClean="0">
                <a:solidFill>
                  <a:schemeClr val="accent5"/>
                </a:solidFill>
                <a:latin typeface="Cambria" panose="02040503050406030204" pitchFamily="18" charset="0"/>
                <a:ea typeface="Cambria" panose="02040503050406030204" pitchFamily="18" charset="0"/>
              </a:rPr>
              <a:t/>
            </a:r>
            <a:br>
              <a:rPr lang="en-US" sz="3600" b="1" dirty="0" smtClean="0">
                <a:solidFill>
                  <a:schemeClr val="accent5"/>
                </a:solidFill>
                <a:latin typeface="Cambria" panose="02040503050406030204" pitchFamily="18" charset="0"/>
                <a:ea typeface="Cambria" panose="02040503050406030204" pitchFamily="18" charset="0"/>
              </a:rPr>
            </a:br>
            <a:r>
              <a:rPr lang="en-US" sz="3600" b="1" dirty="0" smtClean="0">
                <a:solidFill>
                  <a:schemeClr val="accent5"/>
                </a:solidFill>
                <a:latin typeface="Cambria" panose="02040503050406030204" pitchFamily="18" charset="0"/>
                <a:ea typeface="Cambria" panose="02040503050406030204" pitchFamily="18" charset="0"/>
              </a:rPr>
              <a:t>Example of RequestDispatcher interface</a:t>
            </a:r>
            <a:r>
              <a:rPr lang="en-GB" sz="3600" b="1" dirty="0" smtClean="0">
                <a:solidFill>
                  <a:schemeClr val="accent5"/>
                </a:solidFill>
                <a:latin typeface="Cambria" panose="02040503050406030204" pitchFamily="18" charset="0"/>
                <a:ea typeface="Cambria" panose="02040503050406030204" pitchFamily="18" charset="0"/>
              </a:rPr>
              <a:t/>
            </a:r>
            <a:br>
              <a:rPr lang="en-GB" sz="3600" b="1" dirty="0" smtClean="0">
                <a:solidFill>
                  <a:schemeClr val="accent5"/>
                </a:solidFill>
                <a:latin typeface="Cambria" panose="02040503050406030204" pitchFamily="18" charset="0"/>
                <a:ea typeface="Cambria" panose="02040503050406030204" pitchFamily="18" charset="0"/>
              </a:rPr>
            </a:br>
            <a:endParaRPr lang="en-US" sz="36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335360" y="764705"/>
            <a:ext cx="11521280" cy="4032448"/>
          </a:xfrm>
        </p:spPr>
        <p:txBody>
          <a:bodyPr/>
          <a:lstStyle/>
          <a:p>
            <a:pPr algn="just"/>
            <a:r>
              <a:rPr lang="en-GB" sz="2400" dirty="0" smtClean="0">
                <a:latin typeface="Cambria" panose="02040503050406030204" pitchFamily="18" charset="0"/>
                <a:ea typeface="Cambria" panose="02040503050406030204" pitchFamily="18" charset="0"/>
              </a:rPr>
              <a:t>In this example,  validating the password entered by the user. If password is </a:t>
            </a:r>
            <a:r>
              <a:rPr lang="en-GB" sz="2400" dirty="0" err="1" smtClean="0">
                <a:latin typeface="Cambria" panose="02040503050406030204" pitchFamily="18" charset="0"/>
                <a:ea typeface="Cambria" panose="02040503050406030204" pitchFamily="18" charset="0"/>
              </a:rPr>
              <a:t>servlet</a:t>
            </a:r>
            <a:r>
              <a:rPr lang="en-GB" sz="2400" dirty="0" smtClean="0">
                <a:latin typeface="Cambria" panose="02040503050406030204" pitchFamily="18" charset="0"/>
                <a:ea typeface="Cambria" panose="02040503050406030204" pitchFamily="18" charset="0"/>
              </a:rPr>
              <a:t>, it will forward the request to the </a:t>
            </a:r>
            <a:r>
              <a:rPr lang="en-GB" sz="2400" dirty="0" err="1" smtClean="0">
                <a:latin typeface="Cambria" panose="02040503050406030204" pitchFamily="18" charset="0"/>
                <a:ea typeface="Cambria" panose="02040503050406030204" pitchFamily="18" charset="0"/>
              </a:rPr>
              <a:t>WelcomeServlet</a:t>
            </a:r>
            <a:r>
              <a:rPr lang="en-GB" sz="2400" dirty="0" smtClean="0">
                <a:latin typeface="Cambria" panose="02040503050406030204" pitchFamily="18" charset="0"/>
                <a:ea typeface="Cambria" panose="02040503050406030204" pitchFamily="18" charset="0"/>
              </a:rPr>
              <a:t>, otherwise will show an error message: sorry username or password error!. In this program, we are checking for hardcoded information.</a:t>
            </a:r>
          </a:p>
          <a:p>
            <a:pPr algn="just"/>
            <a:r>
              <a:rPr lang="en-GB" sz="2400" b="1" dirty="0" smtClean="0">
                <a:latin typeface="Cambria" panose="02040503050406030204" pitchFamily="18" charset="0"/>
                <a:ea typeface="Cambria" panose="02040503050406030204" pitchFamily="18" charset="0"/>
              </a:rPr>
              <a:t>index.html file:</a:t>
            </a:r>
            <a:r>
              <a:rPr lang="en-GB" sz="2400" dirty="0" smtClean="0">
                <a:latin typeface="Cambria" panose="02040503050406030204" pitchFamily="18" charset="0"/>
                <a:ea typeface="Cambria" panose="02040503050406030204" pitchFamily="18" charset="0"/>
              </a:rPr>
              <a:t> for getting input from the user.</a:t>
            </a:r>
          </a:p>
          <a:p>
            <a:pPr algn="just"/>
            <a:r>
              <a:rPr lang="en-GB" sz="2400" b="1" dirty="0" smtClean="0">
                <a:latin typeface="Cambria" panose="02040503050406030204" pitchFamily="18" charset="0"/>
                <a:ea typeface="Cambria" panose="02040503050406030204" pitchFamily="18" charset="0"/>
              </a:rPr>
              <a:t>Login.java file:</a:t>
            </a:r>
            <a:r>
              <a:rPr lang="en-GB" sz="2400" dirty="0" smtClean="0">
                <a:latin typeface="Cambria" panose="02040503050406030204" pitchFamily="18" charset="0"/>
                <a:ea typeface="Cambria" panose="02040503050406030204" pitchFamily="18" charset="0"/>
              </a:rPr>
              <a:t> a </a:t>
            </a:r>
            <a:r>
              <a:rPr lang="en-GB" sz="2400" dirty="0" err="1" smtClean="0">
                <a:latin typeface="Cambria" panose="02040503050406030204" pitchFamily="18" charset="0"/>
                <a:ea typeface="Cambria" panose="02040503050406030204" pitchFamily="18" charset="0"/>
              </a:rPr>
              <a:t>servlet</a:t>
            </a:r>
            <a:r>
              <a:rPr lang="en-GB" sz="2400" dirty="0" smtClean="0">
                <a:latin typeface="Cambria" panose="02040503050406030204" pitchFamily="18" charset="0"/>
                <a:ea typeface="Cambria" panose="02040503050406030204" pitchFamily="18" charset="0"/>
              </a:rPr>
              <a:t> class for processing the response. If password is servlet, it will forward the request to the welcome servlet.</a:t>
            </a:r>
          </a:p>
          <a:p>
            <a:pPr algn="just"/>
            <a:r>
              <a:rPr lang="en-GB" sz="2400" b="1" dirty="0" smtClean="0">
                <a:latin typeface="Cambria" panose="02040503050406030204" pitchFamily="18" charset="0"/>
                <a:ea typeface="Cambria" panose="02040503050406030204" pitchFamily="18" charset="0"/>
              </a:rPr>
              <a:t>WelcomeServlet.java file:</a:t>
            </a:r>
            <a:r>
              <a:rPr lang="en-GB" sz="2400" dirty="0" smtClean="0">
                <a:latin typeface="Cambria" panose="02040503050406030204" pitchFamily="18" charset="0"/>
                <a:ea typeface="Cambria" panose="02040503050406030204" pitchFamily="18" charset="0"/>
              </a:rPr>
              <a:t> a </a:t>
            </a:r>
            <a:r>
              <a:rPr lang="en-GB" sz="2400" dirty="0" err="1" smtClean="0">
                <a:latin typeface="Cambria" panose="02040503050406030204" pitchFamily="18" charset="0"/>
                <a:ea typeface="Cambria" panose="02040503050406030204" pitchFamily="18" charset="0"/>
              </a:rPr>
              <a:t>servlet</a:t>
            </a:r>
            <a:r>
              <a:rPr lang="en-GB" sz="2400" dirty="0" smtClean="0">
                <a:latin typeface="Cambria" panose="02040503050406030204" pitchFamily="18" charset="0"/>
                <a:ea typeface="Cambria" panose="02040503050406030204" pitchFamily="18" charset="0"/>
              </a:rPr>
              <a:t> class for displaying the welcome message.</a:t>
            </a:r>
          </a:p>
          <a:p>
            <a:pPr algn="just"/>
            <a:r>
              <a:rPr lang="en-GB" sz="2400" b="1" dirty="0" smtClean="0">
                <a:latin typeface="Cambria" panose="02040503050406030204" pitchFamily="18" charset="0"/>
                <a:ea typeface="Cambria" panose="02040503050406030204" pitchFamily="18" charset="0"/>
              </a:rPr>
              <a:t>web.xml file:</a:t>
            </a:r>
            <a:r>
              <a:rPr lang="en-GB" sz="2400" dirty="0" smtClean="0">
                <a:latin typeface="Cambria" panose="02040503050406030204" pitchFamily="18" charset="0"/>
                <a:ea typeface="Cambria" panose="02040503050406030204" pitchFamily="18" charset="0"/>
              </a:rPr>
              <a:t> a deployment descriptor file that contains the information about the </a:t>
            </a:r>
            <a:r>
              <a:rPr lang="en-GB" sz="2400" dirty="0" err="1" smtClean="0">
                <a:latin typeface="Cambria" panose="02040503050406030204" pitchFamily="18" charset="0"/>
                <a:ea typeface="Cambria" panose="02040503050406030204" pitchFamily="18" charset="0"/>
              </a:rPr>
              <a:t>servlet</a:t>
            </a:r>
            <a:r>
              <a:rPr lang="en-GB" sz="2400" dirty="0" smtClean="0">
                <a:latin typeface="Cambria" panose="02040503050406030204" pitchFamily="18" charset="0"/>
                <a:ea typeface="Cambria" panose="02040503050406030204" pitchFamily="18" charset="0"/>
              </a:rPr>
              <a:t>.</a:t>
            </a:r>
          </a:p>
          <a:p>
            <a:pPr algn="just"/>
            <a:endParaRPr lang="en-US" sz="24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38</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3352" y="116632"/>
            <a:ext cx="3889648" cy="504056"/>
          </a:xfrm>
        </p:spPr>
        <p:txBody>
          <a:bodyPr/>
          <a:lstStyle/>
          <a:p>
            <a:r>
              <a:rPr lang="en-GB" sz="4000" b="1" dirty="0" smtClean="0">
                <a:latin typeface="Cambria" panose="02040503050406030204" pitchFamily="18" charset="0"/>
                <a:ea typeface="Cambria" panose="02040503050406030204" pitchFamily="18" charset="0"/>
              </a:rPr>
              <a:t> Example</a:t>
            </a:r>
            <a:endParaRPr lang="en-US" sz="4000" b="1"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39</a:t>
            </a:fld>
            <a:endParaRPr lang="en-US" altLang="en-US"/>
          </a:p>
        </p:txBody>
      </p:sp>
      <p:pic>
        <p:nvPicPr>
          <p:cNvPr id="5" name="Content Placeholder 4" descr="RequestDispatcher interface"/>
          <p:cNvPicPr>
            <a:picLocks noGrp="1"/>
          </p:cNvPicPr>
          <p:nvPr>
            <p:ph idx="1"/>
          </p:nvPr>
        </p:nvPicPr>
        <p:blipFill>
          <a:blip r:embed="rId2"/>
          <a:srcRect/>
          <a:stretch>
            <a:fillRect/>
          </a:stretch>
        </p:blipFill>
        <p:spPr bwMode="auto">
          <a:xfrm>
            <a:off x="2208176" y="1052736"/>
            <a:ext cx="6915150" cy="37623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36" y="116633"/>
            <a:ext cx="2592288" cy="360040"/>
          </a:xfrm>
        </p:spPr>
        <p:txBody>
          <a:bodyPr/>
          <a:lstStyle/>
          <a:p>
            <a:pPr algn="just"/>
            <a:r>
              <a:rPr lang="en-GB" sz="3600" b="1" dirty="0" smtClean="0">
                <a:solidFill>
                  <a:schemeClr val="accent5"/>
                </a:solidFill>
                <a:latin typeface="Cambria" panose="02040503050406030204" pitchFamily="18" charset="0"/>
                <a:ea typeface="Cambria" panose="02040503050406030204" pitchFamily="18" charset="0"/>
              </a:rPr>
              <a:t>Example</a:t>
            </a:r>
            <a:endParaRPr lang="en-US" sz="36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134797" y="1412776"/>
            <a:ext cx="4364449" cy="1985264"/>
          </a:xfrm>
        </p:spPr>
        <p:txBody>
          <a:bodyPr/>
          <a:lstStyle/>
          <a:p>
            <a:pPr algn="just"/>
            <a:r>
              <a:rPr lang="en-US" sz="2000" b="1" dirty="0" smtClean="0">
                <a:latin typeface="Cambria" panose="02040503050406030204" pitchFamily="18" charset="0"/>
                <a:ea typeface="Cambria" panose="02040503050406030204" pitchFamily="18" charset="0"/>
              </a:rPr>
              <a:t>index.html</a:t>
            </a:r>
            <a:endParaRPr lang="en-US" sz="2000" dirty="0" smtClean="0">
              <a:latin typeface="Cambria" panose="02040503050406030204" pitchFamily="18" charset="0"/>
              <a:ea typeface="Cambria" panose="02040503050406030204" pitchFamily="18" charset="0"/>
            </a:endParaRPr>
          </a:p>
          <a:p>
            <a:pPr algn="just">
              <a:spcBef>
                <a:spcPts val="0"/>
              </a:spcBef>
              <a:buNone/>
            </a:pPr>
            <a:r>
              <a:rPr lang="en-US" sz="1600" dirty="0" smtClean="0">
                <a:latin typeface="Cambria" panose="02040503050406030204" pitchFamily="18" charset="0"/>
                <a:ea typeface="Cambria" panose="02040503050406030204" pitchFamily="18" charset="0"/>
              </a:rPr>
              <a:t>&lt;form action="servlet1" method="post"&gt;  </a:t>
            </a:r>
          </a:p>
          <a:p>
            <a:pPr algn="just">
              <a:spcBef>
                <a:spcPts val="0"/>
              </a:spcBef>
              <a:buNone/>
            </a:pPr>
            <a:r>
              <a:rPr lang="en-US" sz="1600" dirty="0" smtClean="0">
                <a:latin typeface="Cambria" panose="02040503050406030204" pitchFamily="18" charset="0"/>
                <a:ea typeface="Cambria" panose="02040503050406030204" pitchFamily="18" charset="0"/>
              </a:rPr>
              <a:t>Name:&lt;input type="text" name="</a:t>
            </a:r>
            <a:r>
              <a:rPr lang="en-US" sz="1600" dirty="0" err="1" smtClean="0">
                <a:latin typeface="Cambria" panose="02040503050406030204" pitchFamily="18" charset="0"/>
                <a:ea typeface="Cambria" panose="02040503050406030204" pitchFamily="18" charset="0"/>
              </a:rPr>
              <a:t>userName</a:t>
            </a:r>
            <a:r>
              <a:rPr lang="en-US" sz="1600" dirty="0" smtClean="0">
                <a:latin typeface="Cambria" panose="02040503050406030204" pitchFamily="18" charset="0"/>
                <a:ea typeface="Cambria" panose="02040503050406030204" pitchFamily="18" charset="0"/>
              </a:rPr>
              <a:t>"/&gt;&lt;</a:t>
            </a:r>
            <a:r>
              <a:rPr lang="en-US" sz="1600" dirty="0" err="1" smtClean="0">
                <a:latin typeface="Cambria" panose="02040503050406030204" pitchFamily="18" charset="0"/>
                <a:ea typeface="Cambria" panose="02040503050406030204" pitchFamily="18" charset="0"/>
              </a:rPr>
              <a:t>br</a:t>
            </a:r>
            <a:r>
              <a:rPr lang="en-US" sz="1600" dirty="0" smtClean="0">
                <a:latin typeface="Cambria" panose="02040503050406030204" pitchFamily="18" charset="0"/>
                <a:ea typeface="Cambria" panose="02040503050406030204" pitchFamily="18" charset="0"/>
              </a:rPr>
              <a:t>/&gt;  </a:t>
            </a:r>
          </a:p>
          <a:p>
            <a:pPr algn="just">
              <a:spcBef>
                <a:spcPts val="0"/>
              </a:spcBef>
              <a:buNone/>
            </a:pPr>
            <a:r>
              <a:rPr lang="en-US" sz="1600" dirty="0" smtClean="0">
                <a:latin typeface="Cambria" panose="02040503050406030204" pitchFamily="18" charset="0"/>
                <a:ea typeface="Cambria" panose="02040503050406030204" pitchFamily="18" charset="0"/>
              </a:rPr>
              <a:t>Password:&lt;input type="password" name="</a:t>
            </a:r>
            <a:r>
              <a:rPr lang="en-US" sz="1600" dirty="0" err="1" smtClean="0">
                <a:latin typeface="Cambria" panose="02040503050406030204" pitchFamily="18" charset="0"/>
                <a:ea typeface="Cambria" panose="02040503050406030204" pitchFamily="18" charset="0"/>
              </a:rPr>
              <a:t>userPass</a:t>
            </a:r>
            <a:r>
              <a:rPr lang="en-US" sz="1600" dirty="0" smtClean="0">
                <a:latin typeface="Cambria" panose="02040503050406030204" pitchFamily="18" charset="0"/>
                <a:ea typeface="Cambria" panose="02040503050406030204" pitchFamily="18" charset="0"/>
              </a:rPr>
              <a:t>"/&gt;&lt;</a:t>
            </a:r>
            <a:r>
              <a:rPr lang="en-US" sz="1600" dirty="0" err="1" smtClean="0">
                <a:latin typeface="Cambria" panose="02040503050406030204" pitchFamily="18" charset="0"/>
                <a:ea typeface="Cambria" panose="02040503050406030204" pitchFamily="18" charset="0"/>
              </a:rPr>
              <a:t>br</a:t>
            </a:r>
            <a:r>
              <a:rPr lang="en-US" sz="1600" dirty="0" smtClean="0">
                <a:latin typeface="Cambria" panose="02040503050406030204" pitchFamily="18" charset="0"/>
                <a:ea typeface="Cambria" panose="02040503050406030204" pitchFamily="18" charset="0"/>
              </a:rPr>
              <a:t>/&gt;  </a:t>
            </a:r>
          </a:p>
          <a:p>
            <a:pPr algn="just">
              <a:spcBef>
                <a:spcPts val="0"/>
              </a:spcBef>
              <a:buNone/>
            </a:pPr>
            <a:r>
              <a:rPr lang="en-US" sz="1600" dirty="0" smtClean="0">
                <a:latin typeface="Cambria" panose="02040503050406030204" pitchFamily="18" charset="0"/>
                <a:ea typeface="Cambria" panose="02040503050406030204" pitchFamily="18" charset="0"/>
              </a:rPr>
              <a:t>&lt;input type="submit" value="login"/&gt;  </a:t>
            </a:r>
          </a:p>
          <a:p>
            <a:pPr algn="just">
              <a:spcBef>
                <a:spcPts val="0"/>
              </a:spcBef>
              <a:buNone/>
            </a:pPr>
            <a:r>
              <a:rPr lang="en-US" sz="1600" dirty="0" smtClean="0">
                <a:latin typeface="Cambria" panose="02040503050406030204" pitchFamily="18" charset="0"/>
                <a:ea typeface="Cambria" panose="02040503050406030204" pitchFamily="18" charset="0"/>
              </a:rPr>
              <a:t>&lt;/form&gt;  </a:t>
            </a:r>
          </a:p>
          <a:p>
            <a:pPr marL="0" indent="0" algn="just">
              <a:buNone/>
            </a:pPr>
            <a:r>
              <a:rPr lang="en-US" sz="1600" dirty="0" smtClean="0">
                <a:latin typeface="Cambria" panose="02040503050406030204" pitchFamily="18" charset="0"/>
                <a:ea typeface="Cambria" panose="02040503050406030204" pitchFamily="18" charset="0"/>
              </a:rPr>
              <a:t>  </a:t>
            </a:r>
          </a:p>
          <a:p>
            <a:pPr algn="just"/>
            <a:endParaRPr lang="en-US" sz="20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40</a:t>
            </a:fld>
            <a:endParaRPr lang="en-US" altLang="en-US">
              <a:latin typeface="Cambria" panose="02040503050406030204" pitchFamily="18" charset="0"/>
              <a:ea typeface="Cambria" panose="02040503050406030204" pitchFamily="18" charset="0"/>
            </a:endParaRPr>
          </a:p>
        </p:txBody>
      </p:sp>
      <p:sp>
        <p:nvSpPr>
          <p:cNvPr id="5" name="Rectangle 4"/>
          <p:cNvSpPr/>
          <p:nvPr/>
        </p:nvSpPr>
        <p:spPr>
          <a:xfrm>
            <a:off x="4499246" y="116633"/>
            <a:ext cx="7824192" cy="6063198"/>
          </a:xfrm>
          <a:prstGeom prst="rect">
            <a:avLst/>
          </a:prstGeom>
        </p:spPr>
        <p:txBody>
          <a:bodyPr wrap="square">
            <a:spAutoFit/>
          </a:bodyPr>
          <a:lstStyle/>
          <a:p>
            <a:pPr marL="0" indent="0" algn="just">
              <a:buNone/>
            </a:pPr>
            <a:r>
              <a:rPr lang="en-US" sz="2000" b="1" dirty="0">
                <a:latin typeface="Cambria" panose="02040503050406030204" pitchFamily="18" charset="0"/>
                <a:ea typeface="Cambria" panose="02040503050406030204" pitchFamily="18" charset="0"/>
              </a:rPr>
              <a:t>Login.java</a:t>
            </a:r>
            <a:endParaRPr lang="en-US" sz="2000" dirty="0">
              <a:latin typeface="Cambria" panose="02040503050406030204" pitchFamily="18" charset="0"/>
              <a:ea typeface="Cambria" panose="02040503050406030204" pitchFamily="18" charset="0"/>
            </a:endParaRPr>
          </a:p>
          <a:p>
            <a:pPr algn="just">
              <a:spcBef>
                <a:spcPts val="0"/>
              </a:spcBef>
              <a:buNone/>
            </a:pPr>
            <a:r>
              <a:rPr lang="en-US" sz="1600" b="1" dirty="0">
                <a:latin typeface="Cambria" panose="02040503050406030204" pitchFamily="18" charset="0"/>
                <a:ea typeface="Cambria" panose="02040503050406030204" pitchFamily="18" charset="0"/>
              </a:rPr>
              <a:t>import</a:t>
            </a:r>
            <a:r>
              <a:rPr lang="en-US" sz="1600" dirty="0">
                <a:latin typeface="Cambria" panose="02040503050406030204" pitchFamily="18" charset="0"/>
                <a:ea typeface="Cambria" panose="02040503050406030204" pitchFamily="18" charset="0"/>
              </a:rPr>
              <a:t> java.io.*;  </a:t>
            </a:r>
          </a:p>
          <a:p>
            <a:pPr algn="just">
              <a:spcBef>
                <a:spcPts val="0"/>
              </a:spcBef>
              <a:buNone/>
            </a:pPr>
            <a:r>
              <a:rPr lang="en-US" sz="1600" b="1" dirty="0">
                <a:latin typeface="Cambria" panose="02040503050406030204" pitchFamily="18" charset="0"/>
                <a:ea typeface="Cambria" panose="02040503050406030204" pitchFamily="18" charset="0"/>
              </a:rPr>
              <a:t>import</a:t>
            </a:r>
            <a:r>
              <a:rPr lang="en-US" sz="1600" dirty="0">
                <a:latin typeface="Cambria" panose="02040503050406030204" pitchFamily="18" charset="0"/>
                <a:ea typeface="Cambria" panose="02040503050406030204" pitchFamily="18" charset="0"/>
              </a:rPr>
              <a:t> javax.servlet.*;  </a:t>
            </a:r>
          </a:p>
          <a:p>
            <a:pPr algn="just">
              <a:spcBef>
                <a:spcPts val="0"/>
              </a:spcBef>
              <a:buNone/>
            </a:pPr>
            <a:r>
              <a:rPr lang="en-US" sz="1600" b="1" dirty="0">
                <a:latin typeface="Cambria" panose="02040503050406030204" pitchFamily="18" charset="0"/>
                <a:ea typeface="Cambria" panose="02040503050406030204" pitchFamily="18" charset="0"/>
              </a:rPr>
              <a:t>import</a:t>
            </a:r>
            <a:r>
              <a:rPr lang="en-US" sz="1600" dirty="0">
                <a:latin typeface="Cambria" panose="02040503050406030204" pitchFamily="18" charset="0"/>
                <a:ea typeface="Cambria" panose="02040503050406030204" pitchFamily="18" charset="0"/>
              </a:rPr>
              <a:t> javax.servlet.http.*;  </a:t>
            </a:r>
          </a:p>
          <a:p>
            <a:pPr algn="just">
              <a:spcBef>
                <a:spcPts val="0"/>
              </a:spcBef>
              <a:buNone/>
            </a:pPr>
            <a:r>
              <a:rPr lang="en-US" sz="1600" dirty="0">
                <a:latin typeface="Cambria" panose="02040503050406030204" pitchFamily="18" charset="0"/>
                <a:ea typeface="Cambria" panose="02040503050406030204" pitchFamily="18" charset="0"/>
              </a:rPr>
              <a:t> </a:t>
            </a:r>
          </a:p>
          <a:p>
            <a:pPr algn="just">
              <a:spcBef>
                <a:spcPts val="0"/>
              </a:spcBef>
              <a:buNone/>
            </a:pPr>
            <a:r>
              <a:rPr lang="en-US" sz="1600" b="1" dirty="0">
                <a:latin typeface="Cambria" panose="02040503050406030204" pitchFamily="18" charset="0"/>
                <a:ea typeface="Cambria" panose="02040503050406030204" pitchFamily="18" charset="0"/>
              </a:rPr>
              <a:t>public </a:t>
            </a:r>
            <a:r>
              <a:rPr lang="en-US" sz="1600" dirty="0">
                <a:latin typeface="Cambria" panose="02040503050406030204" pitchFamily="18" charset="0"/>
                <a:ea typeface="Cambria" panose="02040503050406030204" pitchFamily="18" charset="0"/>
              </a:rPr>
              <a:t> </a:t>
            </a:r>
            <a:r>
              <a:rPr lang="en-US" sz="1600" b="1" dirty="0">
                <a:latin typeface="Cambria" panose="02040503050406030204" pitchFamily="18" charset="0"/>
                <a:ea typeface="Cambria" panose="02040503050406030204" pitchFamily="18" charset="0"/>
              </a:rPr>
              <a:t>class</a:t>
            </a:r>
            <a:r>
              <a:rPr lang="en-US" sz="1600" dirty="0">
                <a:latin typeface="Cambria" panose="02040503050406030204" pitchFamily="18" charset="0"/>
                <a:ea typeface="Cambria" panose="02040503050406030204" pitchFamily="18" charset="0"/>
              </a:rPr>
              <a:t> Login </a:t>
            </a:r>
            <a:r>
              <a:rPr lang="en-US" sz="1600" b="1" dirty="0">
                <a:latin typeface="Cambria" panose="02040503050406030204" pitchFamily="18" charset="0"/>
                <a:ea typeface="Cambria" panose="02040503050406030204" pitchFamily="18" charset="0"/>
              </a:rPr>
              <a:t>extends</a:t>
            </a:r>
            <a:r>
              <a:rPr lang="en-US" sz="1600" dirty="0">
                <a:latin typeface="Cambria" panose="02040503050406030204" pitchFamily="18" charset="0"/>
                <a:ea typeface="Cambria" panose="02040503050406030204" pitchFamily="18" charset="0"/>
              </a:rPr>
              <a:t> HttpServlet {  </a:t>
            </a:r>
          </a:p>
          <a:p>
            <a:pPr algn="just">
              <a:spcBef>
                <a:spcPts val="0"/>
              </a:spcBef>
              <a:buNone/>
            </a:pPr>
            <a:r>
              <a:rPr lang="en-US" sz="1600" dirty="0">
                <a:latin typeface="Cambria" panose="02040503050406030204" pitchFamily="18" charset="0"/>
                <a:ea typeface="Cambria" panose="02040503050406030204" pitchFamily="18" charset="0"/>
              </a:rPr>
              <a:t>           </a:t>
            </a:r>
            <a:r>
              <a:rPr lang="en-US" sz="1600" b="1" dirty="0">
                <a:latin typeface="Cambria" panose="02040503050406030204" pitchFamily="18" charset="0"/>
                <a:ea typeface="Cambria" panose="02040503050406030204" pitchFamily="18" charset="0"/>
              </a:rPr>
              <a:t>public</a:t>
            </a:r>
            <a:r>
              <a:rPr lang="en-US" sz="1600" dirty="0">
                <a:latin typeface="Cambria" panose="02040503050406030204" pitchFamily="18" charset="0"/>
                <a:ea typeface="Cambria" panose="02040503050406030204" pitchFamily="18" charset="0"/>
              </a:rPr>
              <a:t> </a:t>
            </a:r>
            <a:r>
              <a:rPr lang="en-US" sz="1600" b="1" dirty="0">
                <a:latin typeface="Cambria" panose="02040503050406030204" pitchFamily="18" charset="0"/>
                <a:ea typeface="Cambria" panose="02040503050406030204" pitchFamily="18" charset="0"/>
              </a:rPr>
              <a:t>void</a:t>
            </a:r>
            <a:r>
              <a:rPr lang="en-US" sz="1600" dirty="0">
                <a:latin typeface="Cambria" panose="02040503050406030204" pitchFamily="18" charset="0"/>
                <a:ea typeface="Cambria" panose="02040503050406030204" pitchFamily="18" charset="0"/>
              </a:rPr>
              <a:t> doPost(HttpServletRequest request, HttpServletResponse response</a:t>
            </a:r>
            <a:r>
              <a:rPr lang="en-US" sz="1600" dirty="0" smtClean="0">
                <a:latin typeface="Cambria" panose="02040503050406030204" pitchFamily="18" charset="0"/>
                <a:ea typeface="Cambria" panose="02040503050406030204" pitchFamily="18" charset="0"/>
              </a:rPr>
              <a:t>)</a:t>
            </a:r>
            <a:r>
              <a:rPr lang="en-US" sz="1600" dirty="0">
                <a:latin typeface="Cambria" panose="02040503050406030204" pitchFamily="18" charset="0"/>
                <a:ea typeface="Cambria" panose="02040503050406030204" pitchFamily="18" charset="0"/>
              </a:rPr>
              <a:t>  </a:t>
            </a:r>
            <a:r>
              <a:rPr lang="en-US" sz="1600" b="1" dirty="0">
                <a:latin typeface="Cambria" panose="02040503050406030204" pitchFamily="18" charset="0"/>
                <a:ea typeface="Cambria" panose="02040503050406030204" pitchFamily="18" charset="0"/>
              </a:rPr>
              <a:t>throws</a:t>
            </a:r>
            <a:r>
              <a:rPr lang="en-US" sz="1600" dirty="0">
                <a:latin typeface="Cambria" panose="02040503050406030204" pitchFamily="18" charset="0"/>
                <a:ea typeface="Cambria" panose="02040503050406030204" pitchFamily="18" charset="0"/>
              </a:rPr>
              <a:t> ServletException, IOException {  </a:t>
            </a:r>
          </a:p>
          <a:p>
            <a:pPr algn="just">
              <a:spcBef>
                <a:spcPts val="0"/>
              </a:spcBef>
              <a:buNone/>
            </a:pPr>
            <a:r>
              <a:rPr lang="en-US" sz="1600" dirty="0">
                <a:latin typeface="Cambria" panose="02040503050406030204" pitchFamily="18" charset="0"/>
                <a:ea typeface="Cambria" panose="02040503050406030204" pitchFamily="18" charset="0"/>
              </a:rPr>
              <a:t>                  response.setContentType("text/html");  </a:t>
            </a:r>
          </a:p>
          <a:p>
            <a:pPr algn="just">
              <a:spcBef>
                <a:spcPts val="0"/>
              </a:spcBef>
              <a:buNone/>
            </a:pPr>
            <a:r>
              <a:rPr lang="en-US" sz="1600" dirty="0">
                <a:latin typeface="Cambria" panose="02040503050406030204" pitchFamily="18" charset="0"/>
                <a:ea typeface="Cambria" panose="02040503050406030204" pitchFamily="18" charset="0"/>
              </a:rPr>
              <a:t>                  PrintWriter out = response.getWriter();  </a:t>
            </a:r>
          </a:p>
          <a:p>
            <a:pPr algn="just">
              <a:spcBef>
                <a:spcPts val="0"/>
              </a:spcBef>
              <a:buNone/>
            </a:pPr>
            <a:r>
              <a:rPr lang="en-US" sz="1600" dirty="0">
                <a:latin typeface="Cambria" panose="02040503050406030204" pitchFamily="18" charset="0"/>
                <a:ea typeface="Cambria" panose="02040503050406030204" pitchFamily="18" charset="0"/>
              </a:rPr>
              <a:t>                   String n=request.getParameter("userName");  </a:t>
            </a:r>
          </a:p>
          <a:p>
            <a:pPr algn="just">
              <a:spcBef>
                <a:spcPts val="0"/>
              </a:spcBef>
              <a:buNone/>
            </a:pPr>
            <a:r>
              <a:rPr lang="en-US" sz="1600" dirty="0">
                <a:latin typeface="Cambria" panose="02040503050406030204" pitchFamily="18" charset="0"/>
                <a:ea typeface="Cambria" panose="02040503050406030204" pitchFamily="18" charset="0"/>
              </a:rPr>
              <a:t>                   String p=request.getParameter("userPass");  </a:t>
            </a:r>
          </a:p>
          <a:p>
            <a:pPr algn="just">
              <a:spcBef>
                <a:spcPts val="0"/>
              </a:spcBef>
              <a:buNone/>
            </a:pPr>
            <a:r>
              <a:rPr lang="en-US" sz="1600" dirty="0">
                <a:latin typeface="Cambria" panose="02040503050406030204" pitchFamily="18" charset="0"/>
                <a:ea typeface="Cambria" panose="02040503050406030204" pitchFamily="18" charset="0"/>
              </a:rPr>
              <a:t>                   </a:t>
            </a:r>
            <a:r>
              <a:rPr lang="en-US" sz="1600" b="1" dirty="0">
                <a:latin typeface="Cambria" panose="02040503050406030204" pitchFamily="18" charset="0"/>
                <a:ea typeface="Cambria" panose="02040503050406030204" pitchFamily="18" charset="0"/>
              </a:rPr>
              <a:t>if</a:t>
            </a:r>
            <a:r>
              <a:rPr lang="en-US" sz="1600" dirty="0">
                <a:latin typeface="Cambria" panose="02040503050406030204" pitchFamily="18" charset="0"/>
                <a:ea typeface="Cambria" panose="02040503050406030204" pitchFamily="18" charset="0"/>
              </a:rPr>
              <a:t>(p.equals("servlet") {  </a:t>
            </a:r>
          </a:p>
          <a:p>
            <a:pPr algn="just">
              <a:spcBef>
                <a:spcPts val="0"/>
              </a:spcBef>
              <a:buNone/>
            </a:pPr>
            <a:r>
              <a:rPr lang="en-US" sz="1600" dirty="0">
                <a:latin typeface="Cambria" panose="02040503050406030204" pitchFamily="18" charset="0"/>
                <a:ea typeface="Cambria" panose="02040503050406030204" pitchFamily="18" charset="0"/>
              </a:rPr>
              <a:t>                         RequestDispatcher rd=request.getRequestDispatcher</a:t>
            </a:r>
            <a:r>
              <a:rPr lang="en-US" sz="1600" dirty="0" smtClean="0">
                <a:latin typeface="Cambria" panose="02040503050406030204" pitchFamily="18" charset="0"/>
                <a:ea typeface="Cambria" panose="02040503050406030204" pitchFamily="18" charset="0"/>
              </a:rPr>
              <a:t>(“</a:t>
            </a:r>
            <a:r>
              <a:rPr lang="en-US" sz="1600" b="1" dirty="0" smtClean="0">
                <a:latin typeface="Cambria" panose="02040503050406030204" pitchFamily="18" charset="0"/>
                <a:ea typeface="Cambria" panose="02040503050406030204" pitchFamily="18" charset="0"/>
              </a:rPr>
              <a:t>WelcomeServlet</a:t>
            </a:r>
            <a:r>
              <a:rPr lang="en-US" sz="1600" dirty="0" smtClean="0">
                <a:latin typeface="Cambria" panose="02040503050406030204" pitchFamily="18" charset="0"/>
                <a:ea typeface="Cambria" panose="02040503050406030204" pitchFamily="18" charset="0"/>
              </a:rPr>
              <a:t>");</a:t>
            </a:r>
            <a:r>
              <a:rPr lang="en-US" sz="1600" dirty="0">
                <a:latin typeface="Cambria" panose="02040503050406030204" pitchFamily="18" charset="0"/>
                <a:ea typeface="Cambria" panose="02040503050406030204" pitchFamily="18" charset="0"/>
              </a:rPr>
              <a:t>  </a:t>
            </a:r>
          </a:p>
          <a:p>
            <a:pPr algn="just">
              <a:spcBef>
                <a:spcPts val="0"/>
              </a:spcBef>
              <a:buNone/>
            </a:pPr>
            <a:r>
              <a:rPr lang="en-US" sz="1600" dirty="0">
                <a:latin typeface="Cambria" panose="02040503050406030204" pitchFamily="18" charset="0"/>
                <a:ea typeface="Cambria" panose="02040503050406030204" pitchFamily="18" charset="0"/>
              </a:rPr>
              <a:t>                         rd.forward(request, response);  </a:t>
            </a:r>
          </a:p>
          <a:p>
            <a:pPr algn="just">
              <a:spcBef>
                <a:spcPts val="0"/>
              </a:spcBef>
              <a:buNone/>
            </a:pPr>
            <a:r>
              <a:rPr lang="en-US" sz="1600" dirty="0">
                <a:latin typeface="Cambria" panose="02040503050406030204" pitchFamily="18" charset="0"/>
                <a:ea typeface="Cambria" panose="02040503050406030204" pitchFamily="18" charset="0"/>
              </a:rPr>
              <a:t>                    }  </a:t>
            </a:r>
          </a:p>
          <a:p>
            <a:pPr algn="just">
              <a:spcBef>
                <a:spcPts val="0"/>
              </a:spcBef>
              <a:buNone/>
            </a:pPr>
            <a:r>
              <a:rPr lang="en-US" sz="1600" dirty="0">
                <a:latin typeface="Cambria" panose="02040503050406030204" pitchFamily="18" charset="0"/>
                <a:ea typeface="Cambria" panose="02040503050406030204" pitchFamily="18" charset="0"/>
              </a:rPr>
              <a:t>                  </a:t>
            </a:r>
            <a:r>
              <a:rPr lang="en-US" sz="1600" b="1" dirty="0">
                <a:latin typeface="Cambria" panose="02040503050406030204" pitchFamily="18" charset="0"/>
                <a:ea typeface="Cambria" panose="02040503050406030204" pitchFamily="18" charset="0"/>
              </a:rPr>
              <a:t>else </a:t>
            </a:r>
            <a:r>
              <a:rPr lang="en-US" sz="1600" dirty="0">
                <a:latin typeface="Cambria" panose="02040503050406030204" pitchFamily="18" charset="0"/>
                <a:ea typeface="Cambria" panose="02040503050406030204" pitchFamily="18" charset="0"/>
              </a:rPr>
              <a:t>{  </a:t>
            </a:r>
          </a:p>
          <a:p>
            <a:pPr algn="just">
              <a:spcBef>
                <a:spcPts val="0"/>
              </a:spcBef>
              <a:buNone/>
            </a:pPr>
            <a:r>
              <a:rPr lang="en-US" sz="1600" dirty="0">
                <a:latin typeface="Cambria" panose="02040503050406030204" pitchFamily="18" charset="0"/>
                <a:ea typeface="Cambria" panose="02040503050406030204" pitchFamily="18" charset="0"/>
              </a:rPr>
              <a:t>                         out.print("Sorry </a:t>
            </a:r>
            <a:r>
              <a:rPr lang="en-US" sz="1600" dirty="0" smtClean="0">
                <a:latin typeface="Cambria" panose="02040503050406030204" pitchFamily="18" charset="0"/>
                <a:ea typeface="Cambria" panose="02040503050406030204" pitchFamily="18" charset="0"/>
              </a:rPr>
              <a:t>Password</a:t>
            </a:r>
            <a:r>
              <a:rPr lang="en-US" sz="1600" dirty="0">
                <a:latin typeface="Cambria" panose="02040503050406030204" pitchFamily="18" charset="0"/>
                <a:ea typeface="Cambria" panose="02040503050406030204" pitchFamily="18" charset="0"/>
              </a:rPr>
              <a:t> Error!");  </a:t>
            </a:r>
          </a:p>
          <a:p>
            <a:pPr algn="just">
              <a:spcBef>
                <a:spcPts val="0"/>
              </a:spcBef>
              <a:buNone/>
            </a:pPr>
            <a:r>
              <a:rPr lang="en-US" sz="1600" dirty="0">
                <a:latin typeface="Cambria" panose="02040503050406030204" pitchFamily="18" charset="0"/>
                <a:ea typeface="Cambria" panose="02040503050406030204" pitchFamily="18" charset="0"/>
              </a:rPr>
              <a:t>                         RequestDispatcher rd=request.getRequestDispatcher("/index.html");  </a:t>
            </a:r>
          </a:p>
          <a:p>
            <a:pPr algn="just">
              <a:spcBef>
                <a:spcPts val="0"/>
              </a:spcBef>
              <a:buNone/>
            </a:pPr>
            <a:r>
              <a:rPr lang="en-US" sz="1600" dirty="0">
                <a:latin typeface="Cambria" panose="02040503050406030204" pitchFamily="18" charset="0"/>
                <a:ea typeface="Cambria" panose="02040503050406030204" pitchFamily="18" charset="0"/>
              </a:rPr>
              <a:t>                        rd.include(request, response);  </a:t>
            </a:r>
          </a:p>
          <a:p>
            <a:pPr algn="just">
              <a:spcBef>
                <a:spcPts val="0"/>
              </a:spcBef>
              <a:buNone/>
            </a:pPr>
            <a:r>
              <a:rPr lang="en-US" sz="1600" dirty="0">
                <a:latin typeface="Cambria" panose="02040503050406030204" pitchFamily="18" charset="0"/>
                <a:ea typeface="Cambria" panose="02040503050406030204" pitchFamily="18" charset="0"/>
              </a:rPr>
              <a:t>                 }  </a:t>
            </a:r>
          </a:p>
          <a:p>
            <a:pPr algn="just">
              <a:spcBef>
                <a:spcPts val="0"/>
              </a:spcBef>
              <a:buNone/>
            </a:pPr>
            <a:r>
              <a:rPr lang="en-US" sz="1600" dirty="0">
                <a:latin typeface="Cambria" panose="02040503050406030204" pitchFamily="18" charset="0"/>
                <a:ea typeface="Cambria" panose="02040503050406030204" pitchFamily="18" charset="0"/>
              </a:rPr>
              <a:t>         }  </a:t>
            </a:r>
          </a:p>
          <a:p>
            <a:pPr algn="just">
              <a:spcBef>
                <a:spcPts val="0"/>
              </a:spcBef>
              <a:buNone/>
            </a:pPr>
            <a:r>
              <a:rPr lang="en-US" sz="1600" dirty="0">
                <a:latin typeface="Cambria" panose="02040503050406030204" pitchFamily="18" charset="0"/>
                <a:ea typeface="Cambria" panose="02040503050406030204" pitchFamily="18" charset="0"/>
              </a:rPr>
              <a:t>  }</a:t>
            </a:r>
            <a:endParaRPr lang="en-US" sz="1600"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7803"/>
            <a:ext cx="2377480" cy="471587"/>
          </a:xfrm>
        </p:spPr>
        <p:txBody>
          <a:bodyPr/>
          <a:lstStyle/>
          <a:p>
            <a:r>
              <a:rPr lang="en-GB" sz="3600" b="1" dirty="0" smtClean="0">
                <a:solidFill>
                  <a:schemeClr val="accent5"/>
                </a:solidFill>
                <a:latin typeface="Cambria" panose="02040503050406030204" pitchFamily="18" charset="0"/>
                <a:ea typeface="Cambria" panose="02040503050406030204" pitchFamily="18" charset="0"/>
              </a:rPr>
              <a:t>Example</a:t>
            </a:r>
            <a:endParaRPr lang="en-US" sz="36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119336" y="489548"/>
            <a:ext cx="5616624" cy="4351338"/>
          </a:xfrm>
        </p:spPr>
        <p:txBody>
          <a:bodyPr/>
          <a:lstStyle/>
          <a:p>
            <a:r>
              <a:rPr lang="en-US" sz="2000" b="1" u="sng" dirty="0" smtClean="0">
                <a:latin typeface="Cambria" panose="02040503050406030204" pitchFamily="18" charset="0"/>
                <a:ea typeface="Cambria" panose="02040503050406030204" pitchFamily="18" charset="0"/>
              </a:rPr>
              <a:t>WelcomeServlet.java</a:t>
            </a:r>
            <a:endParaRPr lang="en-US" sz="2000" u="sng" dirty="0" smtClean="0">
              <a:latin typeface="Cambria" panose="02040503050406030204" pitchFamily="18" charset="0"/>
              <a:ea typeface="Cambria" panose="02040503050406030204" pitchFamily="18" charset="0"/>
            </a:endParaRPr>
          </a:p>
          <a:p>
            <a:pPr>
              <a:spcBef>
                <a:spcPts val="0"/>
              </a:spcBef>
              <a:buNone/>
            </a:pPr>
            <a:r>
              <a:rPr lang="en-US" sz="1600" b="1" dirty="0" smtClean="0">
                <a:latin typeface="Cambria" panose="02040503050406030204" pitchFamily="18" charset="0"/>
                <a:ea typeface="Cambria" panose="02040503050406030204" pitchFamily="18" charset="0"/>
              </a:rPr>
              <a:t>import</a:t>
            </a:r>
            <a:r>
              <a:rPr lang="en-US" sz="1600" dirty="0" smtClean="0">
                <a:latin typeface="Cambria" panose="02040503050406030204" pitchFamily="18" charset="0"/>
                <a:ea typeface="Cambria" panose="02040503050406030204" pitchFamily="18" charset="0"/>
              </a:rPr>
              <a:t> java.io.*;  </a:t>
            </a:r>
          </a:p>
          <a:p>
            <a:pPr>
              <a:spcBef>
                <a:spcPts val="0"/>
              </a:spcBef>
              <a:buNone/>
            </a:pPr>
            <a:r>
              <a:rPr lang="en-US" sz="1600" b="1" dirty="0" smtClean="0">
                <a:latin typeface="Cambria" panose="02040503050406030204" pitchFamily="18" charset="0"/>
                <a:ea typeface="Cambria" panose="02040503050406030204" pitchFamily="18" charset="0"/>
              </a:rPr>
              <a:t>import</a:t>
            </a:r>
            <a:r>
              <a:rPr lang="en-US" sz="1600" dirty="0" smtClean="0">
                <a:latin typeface="Cambria" panose="02040503050406030204" pitchFamily="18" charset="0"/>
                <a:ea typeface="Cambria" panose="02040503050406030204" pitchFamily="18" charset="0"/>
              </a:rPr>
              <a:t> </a:t>
            </a:r>
            <a:r>
              <a:rPr lang="en-US" sz="1600" dirty="0" err="1" smtClean="0">
                <a:latin typeface="Cambria" panose="02040503050406030204" pitchFamily="18" charset="0"/>
                <a:ea typeface="Cambria" panose="02040503050406030204" pitchFamily="18" charset="0"/>
              </a:rPr>
              <a:t>javax.servlet</a:t>
            </a:r>
            <a:r>
              <a:rPr lang="en-US" sz="1600" dirty="0" smtClean="0">
                <a:latin typeface="Cambria" panose="02040503050406030204" pitchFamily="18" charset="0"/>
                <a:ea typeface="Cambria" panose="02040503050406030204" pitchFamily="18" charset="0"/>
              </a:rPr>
              <a:t>.*;  </a:t>
            </a:r>
          </a:p>
          <a:p>
            <a:pPr>
              <a:spcBef>
                <a:spcPts val="0"/>
              </a:spcBef>
              <a:buNone/>
            </a:pPr>
            <a:r>
              <a:rPr lang="en-US" sz="1600" b="1" dirty="0" smtClean="0">
                <a:latin typeface="Cambria" panose="02040503050406030204" pitchFamily="18" charset="0"/>
                <a:ea typeface="Cambria" panose="02040503050406030204" pitchFamily="18" charset="0"/>
              </a:rPr>
              <a:t>import</a:t>
            </a:r>
            <a:r>
              <a:rPr lang="en-US" sz="1600" dirty="0" smtClean="0">
                <a:latin typeface="Cambria" panose="02040503050406030204" pitchFamily="18" charset="0"/>
                <a:ea typeface="Cambria" panose="02040503050406030204" pitchFamily="18" charset="0"/>
              </a:rPr>
              <a:t> </a:t>
            </a:r>
            <a:r>
              <a:rPr lang="en-US" sz="1600" dirty="0" err="1" smtClean="0">
                <a:latin typeface="Cambria" panose="02040503050406030204" pitchFamily="18" charset="0"/>
                <a:ea typeface="Cambria" panose="02040503050406030204" pitchFamily="18" charset="0"/>
              </a:rPr>
              <a:t>javax.servlet.http</a:t>
            </a:r>
            <a:r>
              <a:rPr lang="en-US" sz="1600" dirty="0" smtClean="0">
                <a:latin typeface="Cambria" panose="02040503050406030204" pitchFamily="18" charset="0"/>
                <a:ea typeface="Cambria" panose="02040503050406030204" pitchFamily="18" charset="0"/>
              </a:rPr>
              <a:t>.*;  </a:t>
            </a:r>
          </a:p>
          <a:p>
            <a:pPr>
              <a:spcBef>
                <a:spcPts val="0"/>
              </a:spcBef>
              <a:buNone/>
            </a:pPr>
            <a:r>
              <a:rPr lang="en-US" sz="1600" dirty="0" smtClean="0">
                <a:latin typeface="Cambria" panose="02040503050406030204" pitchFamily="18" charset="0"/>
                <a:ea typeface="Cambria" panose="02040503050406030204" pitchFamily="18" charset="0"/>
              </a:rPr>
              <a:t>  </a:t>
            </a:r>
          </a:p>
          <a:p>
            <a:pPr>
              <a:spcBef>
                <a:spcPts val="0"/>
              </a:spcBef>
              <a:buNone/>
            </a:pPr>
            <a:r>
              <a:rPr lang="en-US" sz="1600" b="1" dirty="0" smtClean="0">
                <a:latin typeface="Cambria" panose="02040503050406030204" pitchFamily="18" charset="0"/>
                <a:ea typeface="Cambria" panose="02040503050406030204" pitchFamily="18" charset="0"/>
              </a:rPr>
              <a:t>public</a:t>
            </a:r>
            <a:r>
              <a:rPr lang="en-US" sz="1600" dirty="0" smtClean="0">
                <a:latin typeface="Cambria" panose="02040503050406030204" pitchFamily="18" charset="0"/>
                <a:ea typeface="Cambria" panose="02040503050406030204" pitchFamily="18" charset="0"/>
              </a:rPr>
              <a:t> </a:t>
            </a:r>
            <a:r>
              <a:rPr lang="en-US" sz="1600" b="1" dirty="0" smtClean="0">
                <a:latin typeface="Cambria" panose="02040503050406030204" pitchFamily="18" charset="0"/>
                <a:ea typeface="Cambria" panose="02040503050406030204" pitchFamily="18" charset="0"/>
              </a:rPr>
              <a:t>class</a:t>
            </a:r>
            <a:r>
              <a:rPr lang="en-US" sz="1600" dirty="0" smtClean="0">
                <a:latin typeface="Cambria" panose="02040503050406030204" pitchFamily="18" charset="0"/>
                <a:ea typeface="Cambria" panose="02040503050406030204" pitchFamily="18" charset="0"/>
              </a:rPr>
              <a:t> WelcomeServlet </a:t>
            </a:r>
            <a:r>
              <a:rPr lang="en-US" sz="1600" b="1" dirty="0" smtClean="0">
                <a:latin typeface="Cambria" panose="02040503050406030204" pitchFamily="18" charset="0"/>
                <a:ea typeface="Cambria" panose="02040503050406030204" pitchFamily="18" charset="0"/>
              </a:rPr>
              <a:t>extends</a:t>
            </a:r>
            <a:r>
              <a:rPr lang="en-US" sz="1600" dirty="0" smtClean="0">
                <a:latin typeface="Cambria" panose="02040503050406030204" pitchFamily="18" charset="0"/>
                <a:ea typeface="Cambria" panose="02040503050406030204" pitchFamily="18" charset="0"/>
              </a:rPr>
              <a:t> HttpServlet {    </a:t>
            </a:r>
          </a:p>
          <a:p>
            <a:pPr>
              <a:spcBef>
                <a:spcPts val="0"/>
              </a:spcBef>
              <a:buNone/>
            </a:pPr>
            <a:r>
              <a:rPr lang="en-US" sz="1600" dirty="0" smtClean="0">
                <a:latin typeface="Cambria" panose="02040503050406030204" pitchFamily="18" charset="0"/>
                <a:ea typeface="Cambria" panose="02040503050406030204" pitchFamily="18" charset="0"/>
              </a:rPr>
              <a:t>   </a:t>
            </a:r>
            <a:r>
              <a:rPr lang="en-US" sz="1600" b="1" dirty="0" smtClean="0">
                <a:latin typeface="Cambria" panose="02040503050406030204" pitchFamily="18" charset="0"/>
                <a:ea typeface="Cambria" panose="02040503050406030204" pitchFamily="18" charset="0"/>
              </a:rPr>
              <a:t>public</a:t>
            </a:r>
            <a:r>
              <a:rPr lang="en-US" sz="1600" dirty="0" smtClean="0">
                <a:latin typeface="Cambria" panose="02040503050406030204" pitchFamily="18" charset="0"/>
                <a:ea typeface="Cambria" panose="02040503050406030204" pitchFamily="18" charset="0"/>
              </a:rPr>
              <a:t> </a:t>
            </a:r>
            <a:r>
              <a:rPr lang="en-US" sz="1600" b="1" dirty="0" smtClean="0">
                <a:latin typeface="Cambria" panose="02040503050406030204" pitchFamily="18" charset="0"/>
                <a:ea typeface="Cambria" panose="02040503050406030204" pitchFamily="18" charset="0"/>
              </a:rPr>
              <a:t>void</a:t>
            </a:r>
            <a:r>
              <a:rPr lang="en-US" sz="1600" dirty="0" smtClean="0">
                <a:latin typeface="Cambria" panose="02040503050406030204" pitchFamily="18" charset="0"/>
                <a:ea typeface="Cambria" panose="02040503050406030204" pitchFamily="18" charset="0"/>
              </a:rPr>
              <a:t> </a:t>
            </a:r>
            <a:r>
              <a:rPr lang="en-US" sz="1600" dirty="0" err="1" smtClean="0">
                <a:latin typeface="Cambria" panose="02040503050406030204" pitchFamily="18" charset="0"/>
                <a:ea typeface="Cambria" panose="02040503050406030204" pitchFamily="18" charset="0"/>
              </a:rPr>
              <a:t>doPost</a:t>
            </a:r>
            <a:r>
              <a:rPr lang="en-US" sz="1600" dirty="0" smtClean="0">
                <a:latin typeface="Cambria" panose="02040503050406030204" pitchFamily="18" charset="0"/>
                <a:ea typeface="Cambria" panose="02040503050406030204" pitchFamily="18" charset="0"/>
              </a:rPr>
              <a:t>(</a:t>
            </a:r>
            <a:r>
              <a:rPr lang="en-US" sz="1600" dirty="0" err="1" smtClean="0">
                <a:latin typeface="Cambria" panose="02040503050406030204" pitchFamily="18" charset="0"/>
                <a:ea typeface="Cambria" panose="02040503050406030204" pitchFamily="18" charset="0"/>
              </a:rPr>
              <a:t>HttpServletRequest</a:t>
            </a:r>
            <a:r>
              <a:rPr lang="en-US" sz="1600" dirty="0" smtClean="0">
                <a:latin typeface="Cambria" panose="02040503050406030204" pitchFamily="18" charset="0"/>
                <a:ea typeface="Cambria" panose="02040503050406030204" pitchFamily="18" charset="0"/>
              </a:rPr>
              <a:t> request, </a:t>
            </a:r>
            <a:r>
              <a:rPr lang="en-US" sz="1600" dirty="0" err="1" smtClean="0">
                <a:latin typeface="Cambria" panose="02040503050406030204" pitchFamily="18" charset="0"/>
                <a:ea typeface="Cambria" panose="02040503050406030204" pitchFamily="18" charset="0"/>
              </a:rPr>
              <a:t>HttpServletRespose</a:t>
            </a:r>
            <a:r>
              <a:rPr lang="en-US" sz="1600" dirty="0" smtClean="0">
                <a:latin typeface="Cambria" panose="02040503050406030204" pitchFamily="18" charset="0"/>
                <a:ea typeface="Cambria" panose="02040503050406030204" pitchFamily="18" charset="0"/>
              </a:rPr>
              <a:t> response)  </a:t>
            </a:r>
          </a:p>
          <a:p>
            <a:pPr>
              <a:spcBef>
                <a:spcPts val="0"/>
              </a:spcBef>
              <a:buNone/>
            </a:pPr>
            <a:r>
              <a:rPr lang="en-US" sz="1600" dirty="0" smtClean="0">
                <a:latin typeface="Cambria" panose="02040503050406030204" pitchFamily="18" charset="0"/>
                <a:ea typeface="Cambria" panose="02040503050406030204" pitchFamily="18" charset="0"/>
              </a:rPr>
              <a:t>        </a:t>
            </a:r>
            <a:r>
              <a:rPr lang="en-US" sz="1600" b="1" dirty="0" smtClean="0">
                <a:latin typeface="Cambria" panose="02040503050406030204" pitchFamily="18" charset="0"/>
                <a:ea typeface="Cambria" panose="02040503050406030204" pitchFamily="18" charset="0"/>
              </a:rPr>
              <a:t>throws</a:t>
            </a:r>
            <a:r>
              <a:rPr lang="en-US" sz="1600" dirty="0" smtClean="0">
                <a:latin typeface="Cambria" panose="02040503050406030204" pitchFamily="18" charset="0"/>
                <a:ea typeface="Cambria" panose="02040503050406030204" pitchFamily="18" charset="0"/>
              </a:rPr>
              <a:t> ServletException, IOException {    </a:t>
            </a:r>
          </a:p>
          <a:p>
            <a:pPr>
              <a:spcBef>
                <a:spcPts val="0"/>
              </a:spcBef>
              <a:buNone/>
            </a:pPr>
            <a:r>
              <a:rPr lang="en-US" sz="1600" dirty="0" smtClean="0">
                <a:latin typeface="Cambria" panose="02040503050406030204" pitchFamily="18" charset="0"/>
                <a:ea typeface="Cambria" panose="02040503050406030204" pitchFamily="18" charset="0"/>
              </a:rPr>
              <a:t>    </a:t>
            </a:r>
            <a:r>
              <a:rPr lang="en-US" sz="1600" dirty="0" err="1" smtClean="0">
                <a:latin typeface="Cambria" panose="02040503050406030204" pitchFamily="18" charset="0"/>
                <a:ea typeface="Cambria" panose="02040503050406030204" pitchFamily="18" charset="0"/>
              </a:rPr>
              <a:t>response.setContentType</a:t>
            </a:r>
            <a:r>
              <a:rPr lang="en-US" sz="1600" dirty="0" smtClean="0">
                <a:latin typeface="Cambria" panose="02040503050406030204" pitchFamily="18" charset="0"/>
                <a:ea typeface="Cambria" panose="02040503050406030204" pitchFamily="18" charset="0"/>
              </a:rPr>
              <a:t>("text/html");  </a:t>
            </a:r>
          </a:p>
          <a:p>
            <a:pPr>
              <a:spcBef>
                <a:spcPts val="0"/>
              </a:spcBef>
              <a:buNone/>
            </a:pPr>
            <a:r>
              <a:rPr lang="en-US" sz="1600" dirty="0" smtClean="0">
                <a:latin typeface="Cambria" panose="02040503050406030204" pitchFamily="18" charset="0"/>
                <a:ea typeface="Cambria" panose="02040503050406030204" pitchFamily="18" charset="0"/>
              </a:rPr>
              <a:t>    PrintWriter out = response.getWriter();            </a:t>
            </a:r>
          </a:p>
          <a:p>
            <a:pPr>
              <a:spcBef>
                <a:spcPts val="0"/>
              </a:spcBef>
              <a:buNone/>
            </a:pPr>
            <a:r>
              <a:rPr lang="en-US" sz="1600" dirty="0" smtClean="0">
                <a:latin typeface="Cambria" panose="02040503050406030204" pitchFamily="18" charset="0"/>
                <a:ea typeface="Cambria" panose="02040503050406030204" pitchFamily="18" charset="0"/>
              </a:rPr>
              <a:t>    String n=</a:t>
            </a:r>
            <a:r>
              <a:rPr lang="en-US" sz="1600" dirty="0" err="1" smtClean="0">
                <a:latin typeface="Cambria" panose="02040503050406030204" pitchFamily="18" charset="0"/>
                <a:ea typeface="Cambria" panose="02040503050406030204" pitchFamily="18" charset="0"/>
              </a:rPr>
              <a:t>request.getParameter</a:t>
            </a:r>
            <a:r>
              <a:rPr lang="en-US" sz="1600" dirty="0" smtClean="0">
                <a:latin typeface="Cambria" panose="02040503050406030204" pitchFamily="18" charset="0"/>
                <a:ea typeface="Cambria" panose="02040503050406030204" pitchFamily="18" charset="0"/>
              </a:rPr>
              <a:t>("</a:t>
            </a:r>
            <a:r>
              <a:rPr lang="en-US" sz="1600" dirty="0" err="1" smtClean="0">
                <a:latin typeface="Cambria" panose="02040503050406030204" pitchFamily="18" charset="0"/>
                <a:ea typeface="Cambria" panose="02040503050406030204" pitchFamily="18" charset="0"/>
              </a:rPr>
              <a:t>userName</a:t>
            </a:r>
            <a:r>
              <a:rPr lang="en-US" sz="1600" dirty="0" smtClean="0">
                <a:latin typeface="Cambria" panose="02040503050406030204" pitchFamily="18" charset="0"/>
                <a:ea typeface="Cambria" panose="02040503050406030204" pitchFamily="18" charset="0"/>
              </a:rPr>
              <a:t>");  </a:t>
            </a:r>
          </a:p>
          <a:p>
            <a:pPr>
              <a:spcBef>
                <a:spcPts val="0"/>
              </a:spcBef>
              <a:buNone/>
            </a:pPr>
            <a:r>
              <a:rPr lang="en-US" sz="1600" dirty="0" smtClean="0">
                <a:latin typeface="Cambria" panose="02040503050406030204" pitchFamily="18" charset="0"/>
                <a:ea typeface="Cambria" panose="02040503050406030204" pitchFamily="18" charset="0"/>
              </a:rPr>
              <a:t>    </a:t>
            </a:r>
            <a:r>
              <a:rPr lang="en-US" sz="1600" dirty="0" err="1" smtClean="0">
                <a:latin typeface="Cambria" panose="02040503050406030204" pitchFamily="18" charset="0"/>
                <a:ea typeface="Cambria" panose="02040503050406030204" pitchFamily="18" charset="0"/>
              </a:rPr>
              <a:t>out.print</a:t>
            </a:r>
            <a:r>
              <a:rPr lang="en-US" sz="1600" dirty="0" smtClean="0">
                <a:latin typeface="Cambria" panose="02040503050406030204" pitchFamily="18" charset="0"/>
                <a:ea typeface="Cambria" panose="02040503050406030204" pitchFamily="18" charset="0"/>
              </a:rPr>
              <a:t>("Welcome "+n);  </a:t>
            </a:r>
          </a:p>
          <a:p>
            <a:pPr>
              <a:spcBef>
                <a:spcPts val="0"/>
              </a:spcBef>
              <a:buNone/>
            </a:pPr>
            <a:r>
              <a:rPr lang="en-US" sz="1600" dirty="0" smtClean="0">
                <a:latin typeface="Cambria" panose="02040503050406030204" pitchFamily="18" charset="0"/>
                <a:ea typeface="Cambria" panose="02040503050406030204" pitchFamily="18" charset="0"/>
              </a:rPr>
              <a:t>    }    </a:t>
            </a:r>
          </a:p>
          <a:p>
            <a:pPr>
              <a:spcBef>
                <a:spcPts val="0"/>
              </a:spcBef>
              <a:buNone/>
            </a:pPr>
            <a:r>
              <a:rPr lang="en-US" sz="1600" dirty="0" smtClean="0">
                <a:latin typeface="Cambria" panose="02040503050406030204" pitchFamily="18" charset="0"/>
                <a:ea typeface="Cambria" panose="02040503050406030204" pitchFamily="18" charset="0"/>
              </a:rPr>
              <a:t>}  </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41</a:t>
            </a:fld>
            <a:endParaRPr lang="en-US" altLang="en-US">
              <a:latin typeface="Cambria" panose="02040503050406030204" pitchFamily="18" charset="0"/>
              <a:ea typeface="Cambria" panose="02040503050406030204" pitchFamily="18" charset="0"/>
            </a:endParaRPr>
          </a:p>
        </p:txBody>
      </p:sp>
      <p:sp>
        <p:nvSpPr>
          <p:cNvPr id="5" name="Rectangle 4"/>
          <p:cNvSpPr/>
          <p:nvPr/>
        </p:nvSpPr>
        <p:spPr>
          <a:xfrm>
            <a:off x="6457256" y="0"/>
            <a:ext cx="4896544" cy="6001643"/>
          </a:xfrm>
          <a:prstGeom prst="rect">
            <a:avLst/>
          </a:prstGeom>
        </p:spPr>
        <p:txBody>
          <a:bodyPr wrap="square">
            <a:spAutoFit/>
          </a:bodyPr>
          <a:lstStyle/>
          <a:p>
            <a:pPr>
              <a:spcBef>
                <a:spcPts val="0"/>
              </a:spcBef>
              <a:buNone/>
            </a:pPr>
            <a:r>
              <a:rPr lang="en-US" sz="1600" b="1" u="sng" dirty="0">
                <a:latin typeface="Cambria" panose="02040503050406030204" pitchFamily="18" charset="0"/>
                <a:ea typeface="Cambria" panose="02040503050406030204" pitchFamily="18" charset="0"/>
              </a:rPr>
              <a:t>web.xml</a:t>
            </a:r>
            <a:endParaRPr lang="en-US" sz="1600" u="sng" dirty="0">
              <a:latin typeface="Cambria" panose="02040503050406030204" pitchFamily="18" charset="0"/>
              <a:ea typeface="Cambria" panose="02040503050406030204" pitchFamily="18" charset="0"/>
            </a:endParaRPr>
          </a:p>
          <a:p>
            <a:pPr>
              <a:spcBef>
                <a:spcPts val="0"/>
              </a:spcBef>
              <a:buNone/>
            </a:pPr>
            <a:r>
              <a:rPr lang="en-US" sz="1600" dirty="0">
                <a:latin typeface="Cambria" panose="02040503050406030204" pitchFamily="18" charset="0"/>
                <a:ea typeface="Cambria" panose="02040503050406030204" pitchFamily="18" charset="0"/>
              </a:rPr>
              <a:t>&lt;web-app&gt;  </a:t>
            </a:r>
          </a:p>
          <a:p>
            <a:pPr>
              <a:spcBef>
                <a:spcPts val="0"/>
              </a:spcBef>
              <a:buNone/>
            </a:pPr>
            <a:r>
              <a:rPr lang="en-US" sz="1600" dirty="0">
                <a:latin typeface="Cambria" panose="02040503050406030204" pitchFamily="18" charset="0"/>
                <a:ea typeface="Cambria" panose="02040503050406030204" pitchFamily="18" charset="0"/>
              </a:rPr>
              <a:t> &lt;servlet&gt;  </a:t>
            </a:r>
          </a:p>
          <a:p>
            <a:pPr>
              <a:spcBef>
                <a:spcPts val="0"/>
              </a:spcBef>
              <a:buNone/>
            </a:pPr>
            <a:r>
              <a:rPr lang="en-US" sz="1600" dirty="0">
                <a:latin typeface="Cambria" panose="02040503050406030204" pitchFamily="18" charset="0"/>
                <a:ea typeface="Cambria" panose="02040503050406030204" pitchFamily="18" charset="0"/>
              </a:rPr>
              <a:t>    &lt;servlet-name&gt;Login&lt;/servlet-name&gt;  </a:t>
            </a:r>
          </a:p>
          <a:p>
            <a:pPr>
              <a:spcBef>
                <a:spcPts val="0"/>
              </a:spcBef>
              <a:buNone/>
            </a:pPr>
            <a:r>
              <a:rPr lang="en-US" sz="1600" dirty="0">
                <a:latin typeface="Cambria" panose="02040503050406030204" pitchFamily="18" charset="0"/>
                <a:ea typeface="Cambria" panose="02040503050406030204" pitchFamily="18" charset="0"/>
              </a:rPr>
              <a:t>    &lt;servlet-</a:t>
            </a:r>
            <a:r>
              <a:rPr lang="en-US" sz="1600" b="1" dirty="0">
                <a:latin typeface="Cambria" panose="02040503050406030204" pitchFamily="18" charset="0"/>
                <a:ea typeface="Cambria" panose="02040503050406030204" pitchFamily="18" charset="0"/>
              </a:rPr>
              <a:t>class</a:t>
            </a:r>
            <a:r>
              <a:rPr lang="en-US" sz="1600" dirty="0">
                <a:latin typeface="Cambria" panose="02040503050406030204" pitchFamily="18" charset="0"/>
                <a:ea typeface="Cambria" panose="02040503050406030204" pitchFamily="18" charset="0"/>
              </a:rPr>
              <a:t>&gt;Login&lt;/servlet-</a:t>
            </a:r>
            <a:r>
              <a:rPr lang="en-US" sz="1600" b="1" dirty="0">
                <a:latin typeface="Cambria" panose="02040503050406030204" pitchFamily="18" charset="0"/>
                <a:ea typeface="Cambria" panose="02040503050406030204" pitchFamily="18" charset="0"/>
              </a:rPr>
              <a:t>class</a:t>
            </a:r>
            <a:r>
              <a:rPr lang="en-US" sz="1600" dirty="0">
                <a:latin typeface="Cambria" panose="02040503050406030204" pitchFamily="18" charset="0"/>
                <a:ea typeface="Cambria" panose="02040503050406030204" pitchFamily="18" charset="0"/>
              </a:rPr>
              <a:t>&gt;  </a:t>
            </a:r>
          </a:p>
          <a:p>
            <a:pPr>
              <a:spcBef>
                <a:spcPts val="0"/>
              </a:spcBef>
              <a:buNone/>
            </a:pPr>
            <a:r>
              <a:rPr lang="en-US" sz="1600" dirty="0">
                <a:latin typeface="Cambria" panose="02040503050406030204" pitchFamily="18" charset="0"/>
                <a:ea typeface="Cambria" panose="02040503050406030204" pitchFamily="18" charset="0"/>
              </a:rPr>
              <a:t>  &lt;/servlet&gt;  </a:t>
            </a:r>
          </a:p>
          <a:p>
            <a:pPr>
              <a:spcBef>
                <a:spcPts val="0"/>
              </a:spcBef>
              <a:buNone/>
            </a:pPr>
            <a:r>
              <a:rPr lang="en-US" sz="1600" dirty="0">
                <a:latin typeface="Cambria" panose="02040503050406030204" pitchFamily="18" charset="0"/>
                <a:ea typeface="Cambria" panose="02040503050406030204" pitchFamily="18" charset="0"/>
              </a:rPr>
              <a:t>  &lt;servlet&gt;  </a:t>
            </a:r>
          </a:p>
          <a:p>
            <a:pPr>
              <a:spcBef>
                <a:spcPts val="0"/>
              </a:spcBef>
              <a:buNone/>
            </a:pPr>
            <a:r>
              <a:rPr lang="en-US" sz="1600" dirty="0">
                <a:latin typeface="Cambria" panose="02040503050406030204" pitchFamily="18" charset="0"/>
                <a:ea typeface="Cambria" panose="02040503050406030204" pitchFamily="18" charset="0"/>
              </a:rPr>
              <a:t>    &lt;servlet-name&gt;WelcomeServlet&lt;/servlet-name&gt;  </a:t>
            </a:r>
          </a:p>
          <a:p>
            <a:pPr>
              <a:spcBef>
                <a:spcPts val="0"/>
              </a:spcBef>
              <a:buNone/>
            </a:pPr>
            <a:r>
              <a:rPr lang="en-US" sz="1600" dirty="0">
                <a:latin typeface="Cambria" panose="02040503050406030204" pitchFamily="18" charset="0"/>
                <a:ea typeface="Cambria" panose="02040503050406030204" pitchFamily="18" charset="0"/>
              </a:rPr>
              <a:t>    &lt;servlet-</a:t>
            </a:r>
            <a:r>
              <a:rPr lang="en-US" sz="1600" b="1" dirty="0">
                <a:latin typeface="Cambria" panose="02040503050406030204" pitchFamily="18" charset="0"/>
                <a:ea typeface="Cambria" panose="02040503050406030204" pitchFamily="18" charset="0"/>
              </a:rPr>
              <a:t>class</a:t>
            </a:r>
            <a:r>
              <a:rPr lang="en-US" sz="1600" dirty="0">
                <a:latin typeface="Cambria" panose="02040503050406030204" pitchFamily="18" charset="0"/>
                <a:ea typeface="Cambria" panose="02040503050406030204" pitchFamily="18" charset="0"/>
              </a:rPr>
              <a:t>&gt;WelcomeServlet&lt;/servlet-</a:t>
            </a:r>
            <a:r>
              <a:rPr lang="en-US" sz="1600" b="1" dirty="0">
                <a:latin typeface="Cambria" panose="02040503050406030204" pitchFamily="18" charset="0"/>
                <a:ea typeface="Cambria" panose="02040503050406030204" pitchFamily="18" charset="0"/>
              </a:rPr>
              <a:t>class</a:t>
            </a:r>
            <a:r>
              <a:rPr lang="en-US" sz="1600" dirty="0">
                <a:latin typeface="Cambria" panose="02040503050406030204" pitchFamily="18" charset="0"/>
                <a:ea typeface="Cambria" panose="02040503050406030204" pitchFamily="18" charset="0"/>
              </a:rPr>
              <a:t>&gt;  </a:t>
            </a:r>
          </a:p>
          <a:p>
            <a:pPr>
              <a:spcBef>
                <a:spcPts val="0"/>
              </a:spcBef>
              <a:buNone/>
            </a:pPr>
            <a:r>
              <a:rPr lang="en-US" sz="1600" dirty="0">
                <a:latin typeface="Cambria" panose="02040503050406030204" pitchFamily="18" charset="0"/>
                <a:ea typeface="Cambria" panose="02040503050406030204" pitchFamily="18" charset="0"/>
              </a:rPr>
              <a:t>  &lt;/servlet&gt;    </a:t>
            </a:r>
          </a:p>
          <a:p>
            <a:pPr>
              <a:spcBef>
                <a:spcPts val="0"/>
              </a:spcBef>
              <a:buNone/>
            </a:pPr>
            <a:r>
              <a:rPr lang="en-US" sz="1600" dirty="0">
                <a:latin typeface="Cambria" panose="02040503050406030204" pitchFamily="18" charset="0"/>
                <a:ea typeface="Cambria" panose="02040503050406030204" pitchFamily="18" charset="0"/>
              </a:rPr>
              <a:t>  </a:t>
            </a:r>
          </a:p>
          <a:p>
            <a:pPr>
              <a:spcBef>
                <a:spcPts val="0"/>
              </a:spcBef>
              <a:buNone/>
            </a:pPr>
            <a:r>
              <a:rPr lang="en-US" sz="1600" dirty="0">
                <a:latin typeface="Cambria" panose="02040503050406030204" pitchFamily="18" charset="0"/>
                <a:ea typeface="Cambria" panose="02040503050406030204" pitchFamily="18" charset="0"/>
              </a:rPr>
              <a:t>  &lt;servlet-mapping&gt;  </a:t>
            </a:r>
          </a:p>
          <a:p>
            <a:pPr>
              <a:spcBef>
                <a:spcPts val="0"/>
              </a:spcBef>
              <a:buNone/>
            </a:pPr>
            <a:r>
              <a:rPr lang="en-US" sz="1600" dirty="0">
                <a:latin typeface="Cambria" panose="02040503050406030204" pitchFamily="18" charset="0"/>
                <a:ea typeface="Cambria" panose="02040503050406030204" pitchFamily="18" charset="0"/>
              </a:rPr>
              <a:t>    &lt;servlet-name&gt;Login&lt;/servlet-name&gt;  </a:t>
            </a:r>
          </a:p>
          <a:p>
            <a:pPr>
              <a:spcBef>
                <a:spcPts val="0"/>
              </a:spcBef>
              <a:buNone/>
            </a:pPr>
            <a:r>
              <a:rPr lang="en-US" sz="1600" dirty="0">
                <a:latin typeface="Cambria" panose="02040503050406030204" pitchFamily="18" charset="0"/>
                <a:ea typeface="Cambria" panose="02040503050406030204" pitchFamily="18" charset="0"/>
              </a:rPr>
              <a:t>    &lt;url-pattern&gt;/servlet1&lt;/url-pattern&gt;  </a:t>
            </a:r>
          </a:p>
          <a:p>
            <a:pPr>
              <a:spcBef>
                <a:spcPts val="0"/>
              </a:spcBef>
              <a:buNone/>
            </a:pPr>
            <a:r>
              <a:rPr lang="en-US" sz="1600" dirty="0">
                <a:latin typeface="Cambria" panose="02040503050406030204" pitchFamily="18" charset="0"/>
                <a:ea typeface="Cambria" panose="02040503050406030204" pitchFamily="18" charset="0"/>
              </a:rPr>
              <a:t>  &lt;/servlet-mapping&gt;  </a:t>
            </a:r>
          </a:p>
          <a:p>
            <a:pPr>
              <a:spcBef>
                <a:spcPts val="0"/>
              </a:spcBef>
              <a:buNone/>
            </a:pPr>
            <a:r>
              <a:rPr lang="en-US" sz="1600" dirty="0">
                <a:latin typeface="Cambria" panose="02040503050406030204" pitchFamily="18" charset="0"/>
                <a:ea typeface="Cambria" panose="02040503050406030204" pitchFamily="18" charset="0"/>
              </a:rPr>
              <a:t>  &lt;servlet-mapping&gt;  </a:t>
            </a:r>
          </a:p>
          <a:p>
            <a:pPr>
              <a:spcBef>
                <a:spcPts val="0"/>
              </a:spcBef>
              <a:buNone/>
            </a:pPr>
            <a:r>
              <a:rPr lang="en-US" sz="1600" dirty="0">
                <a:latin typeface="Cambria" panose="02040503050406030204" pitchFamily="18" charset="0"/>
                <a:ea typeface="Cambria" panose="02040503050406030204" pitchFamily="18" charset="0"/>
              </a:rPr>
              <a:t>    &lt;servlet-name&gt;WelcomeServlet&lt;/servlet-name&gt;  </a:t>
            </a:r>
          </a:p>
          <a:p>
            <a:pPr>
              <a:spcBef>
                <a:spcPts val="0"/>
              </a:spcBef>
              <a:buNone/>
            </a:pPr>
            <a:r>
              <a:rPr lang="en-US" sz="1600" dirty="0">
                <a:latin typeface="Cambria" panose="02040503050406030204" pitchFamily="18" charset="0"/>
                <a:ea typeface="Cambria" panose="02040503050406030204" pitchFamily="18" charset="0"/>
              </a:rPr>
              <a:t>    &lt;url-pattern&gt;/servlet2&lt;/url-pattern&gt;  </a:t>
            </a:r>
          </a:p>
          <a:p>
            <a:pPr>
              <a:spcBef>
                <a:spcPts val="0"/>
              </a:spcBef>
              <a:buNone/>
            </a:pPr>
            <a:r>
              <a:rPr lang="en-US" sz="1600" dirty="0">
                <a:latin typeface="Cambria" panose="02040503050406030204" pitchFamily="18" charset="0"/>
                <a:ea typeface="Cambria" panose="02040503050406030204" pitchFamily="18" charset="0"/>
              </a:rPr>
              <a:t>  &lt;/servlet-mapping&gt;  </a:t>
            </a:r>
          </a:p>
          <a:p>
            <a:pPr>
              <a:spcBef>
                <a:spcPts val="0"/>
              </a:spcBef>
              <a:buNone/>
            </a:pPr>
            <a:r>
              <a:rPr lang="en-US" sz="1600" dirty="0">
                <a:latin typeface="Cambria" panose="02040503050406030204" pitchFamily="18" charset="0"/>
                <a:ea typeface="Cambria" panose="02040503050406030204" pitchFamily="18" charset="0"/>
              </a:rPr>
              <a:t>  </a:t>
            </a:r>
          </a:p>
          <a:p>
            <a:pPr>
              <a:spcBef>
                <a:spcPts val="0"/>
              </a:spcBef>
              <a:buNone/>
            </a:pPr>
            <a:r>
              <a:rPr lang="en-US" sz="1600" dirty="0">
                <a:latin typeface="Cambria" panose="02040503050406030204" pitchFamily="18" charset="0"/>
                <a:ea typeface="Cambria" panose="02040503050406030204" pitchFamily="18" charset="0"/>
              </a:rPr>
              <a:t>  &lt;welcome-file-list&gt;  </a:t>
            </a:r>
          </a:p>
          <a:p>
            <a:pPr>
              <a:spcBef>
                <a:spcPts val="0"/>
              </a:spcBef>
              <a:buNone/>
            </a:pPr>
            <a:r>
              <a:rPr lang="en-US" sz="1600" dirty="0">
                <a:latin typeface="Cambria" panose="02040503050406030204" pitchFamily="18" charset="0"/>
                <a:ea typeface="Cambria" panose="02040503050406030204" pitchFamily="18" charset="0"/>
              </a:rPr>
              <a:t>   &lt;welcome-file&gt;index.html&lt;/welcome-file&gt;  </a:t>
            </a:r>
          </a:p>
          <a:p>
            <a:pPr>
              <a:spcBef>
                <a:spcPts val="0"/>
              </a:spcBef>
              <a:buNone/>
            </a:pPr>
            <a:r>
              <a:rPr lang="en-US" sz="1600" dirty="0">
                <a:latin typeface="Cambria" panose="02040503050406030204" pitchFamily="18" charset="0"/>
                <a:ea typeface="Cambria" panose="02040503050406030204" pitchFamily="18" charset="0"/>
              </a:rPr>
              <a:t>  &lt;/welcome-file-list&gt;  </a:t>
            </a:r>
          </a:p>
          <a:p>
            <a:pPr>
              <a:spcBef>
                <a:spcPts val="0"/>
              </a:spcBef>
              <a:buNone/>
            </a:pPr>
            <a:r>
              <a:rPr lang="en-US" sz="1600" dirty="0">
                <a:latin typeface="Cambria" panose="02040503050406030204" pitchFamily="18" charset="0"/>
                <a:ea typeface="Cambria" panose="02040503050406030204" pitchFamily="18" charset="0"/>
              </a:rPr>
              <a:t>&lt;/web-app</a:t>
            </a:r>
            <a:r>
              <a:rPr lang="en-US" sz="1600" dirty="0" smtClean="0">
                <a:latin typeface="Cambria" panose="02040503050406030204" pitchFamily="18" charset="0"/>
                <a:ea typeface="Cambria" panose="02040503050406030204" pitchFamily="18" charset="0"/>
              </a:rPr>
              <a:t>&gt;</a:t>
            </a:r>
            <a:endParaRPr lang="en-US" sz="1600" dirty="0">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344" y="188640"/>
            <a:ext cx="5760640" cy="504056"/>
          </a:xfrm>
        </p:spPr>
        <p:txBody>
          <a:bodyPr/>
          <a:lstStyle/>
          <a:p>
            <a:r>
              <a:rPr lang="en-US" sz="3600" b="1" dirty="0" smtClean="0">
                <a:solidFill>
                  <a:schemeClr val="accent5"/>
                </a:solidFill>
                <a:latin typeface="Cambria" panose="02040503050406030204" pitchFamily="18" charset="0"/>
                <a:ea typeface="Cambria" panose="02040503050406030204" pitchFamily="18" charset="0"/>
              </a:rPr>
              <a:t>SendRedirect in servlet</a:t>
            </a:r>
            <a:endParaRPr lang="en-US" sz="36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407368" y="980729"/>
            <a:ext cx="10946432" cy="3096344"/>
          </a:xfrm>
        </p:spPr>
        <p:txBody>
          <a:bodyPr/>
          <a:lstStyle/>
          <a:p>
            <a:pPr algn="just"/>
            <a:r>
              <a:rPr lang="en-GB" dirty="0" smtClean="0">
                <a:latin typeface="Cambria" panose="02040503050406030204" pitchFamily="18" charset="0"/>
                <a:ea typeface="Cambria" panose="02040503050406030204" pitchFamily="18" charset="0"/>
              </a:rPr>
              <a:t>The </a:t>
            </a:r>
            <a:r>
              <a:rPr lang="en-GB" b="1" dirty="0" err="1" smtClean="0">
                <a:latin typeface="Cambria" panose="02040503050406030204" pitchFamily="18" charset="0"/>
                <a:ea typeface="Cambria" panose="02040503050406030204" pitchFamily="18" charset="0"/>
              </a:rPr>
              <a:t>sendRedirect</a:t>
            </a:r>
            <a:r>
              <a:rPr lang="en-GB" b="1" dirty="0" smtClean="0">
                <a:latin typeface="Cambria" panose="02040503050406030204" pitchFamily="18" charset="0"/>
                <a:ea typeface="Cambria" panose="02040503050406030204" pitchFamily="18" charset="0"/>
              </a:rPr>
              <a:t>()</a:t>
            </a:r>
            <a:r>
              <a:rPr lang="en-GB" dirty="0" smtClean="0">
                <a:latin typeface="Cambria" panose="02040503050406030204" pitchFamily="18" charset="0"/>
                <a:ea typeface="Cambria" panose="02040503050406030204" pitchFamily="18" charset="0"/>
              </a:rPr>
              <a:t> method of </a:t>
            </a:r>
            <a:r>
              <a:rPr lang="en-GB" b="1" dirty="0" err="1" smtClean="0">
                <a:latin typeface="Cambria" panose="02040503050406030204" pitchFamily="18" charset="0"/>
                <a:ea typeface="Cambria" panose="02040503050406030204" pitchFamily="18" charset="0"/>
              </a:rPr>
              <a:t>HttpServletResponse</a:t>
            </a:r>
            <a:r>
              <a:rPr lang="en-GB" dirty="0" smtClean="0">
                <a:latin typeface="Cambria" panose="02040503050406030204" pitchFamily="18" charset="0"/>
                <a:ea typeface="Cambria" panose="02040503050406030204" pitchFamily="18" charset="0"/>
              </a:rPr>
              <a:t> interface can be used to redirect response to another resource, it may be </a:t>
            </a:r>
            <a:r>
              <a:rPr lang="en-GB" dirty="0" err="1" smtClean="0">
                <a:latin typeface="Cambria" panose="02040503050406030204" pitchFamily="18" charset="0"/>
                <a:ea typeface="Cambria" panose="02040503050406030204" pitchFamily="18" charset="0"/>
              </a:rPr>
              <a:t>servlet</a:t>
            </a:r>
            <a:r>
              <a:rPr lang="en-GB" dirty="0" smtClean="0">
                <a:latin typeface="Cambria" panose="02040503050406030204" pitchFamily="18" charset="0"/>
                <a:ea typeface="Cambria" panose="02040503050406030204" pitchFamily="18" charset="0"/>
              </a:rPr>
              <a:t>, </a:t>
            </a:r>
            <a:r>
              <a:rPr lang="en-GB" dirty="0" err="1" smtClean="0">
                <a:latin typeface="Cambria" panose="02040503050406030204" pitchFamily="18" charset="0"/>
                <a:ea typeface="Cambria" panose="02040503050406030204" pitchFamily="18" charset="0"/>
              </a:rPr>
              <a:t>jsp</a:t>
            </a:r>
            <a:r>
              <a:rPr lang="en-GB" dirty="0" smtClean="0">
                <a:latin typeface="Cambria" panose="02040503050406030204" pitchFamily="18" charset="0"/>
                <a:ea typeface="Cambria" panose="02040503050406030204" pitchFamily="18" charset="0"/>
              </a:rPr>
              <a:t> or html file.</a:t>
            </a:r>
          </a:p>
          <a:p>
            <a:pPr algn="just"/>
            <a:r>
              <a:rPr lang="en-GB" dirty="0" smtClean="0">
                <a:latin typeface="Cambria" panose="02040503050406030204" pitchFamily="18" charset="0"/>
                <a:ea typeface="Cambria" panose="02040503050406030204" pitchFamily="18" charset="0"/>
              </a:rPr>
              <a:t>It accepts relative as well as absolute URL.</a:t>
            </a:r>
          </a:p>
          <a:p>
            <a:pPr algn="just"/>
            <a:r>
              <a:rPr lang="en-GB" dirty="0" smtClean="0">
                <a:latin typeface="Cambria" panose="02040503050406030204" pitchFamily="18" charset="0"/>
                <a:ea typeface="Cambria" panose="02040503050406030204" pitchFamily="18" charset="0"/>
              </a:rPr>
              <a:t>It works at client side because it uses the url bar of the browser to make another request. </a:t>
            </a:r>
            <a:endParaRPr lang="en-US"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42</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59" y="31685"/>
            <a:ext cx="2377480" cy="543595"/>
          </a:xfrm>
        </p:spPr>
        <p:txBody>
          <a:bodyPr/>
          <a:lstStyle/>
          <a:p>
            <a:r>
              <a:rPr lang="en-GB" sz="3600" b="1" dirty="0" smtClean="0">
                <a:solidFill>
                  <a:schemeClr val="accent5"/>
                </a:solidFill>
                <a:latin typeface="Cambria" panose="02040503050406030204" pitchFamily="18" charset="0"/>
                <a:ea typeface="Cambria" panose="02040503050406030204" pitchFamily="18" charset="0"/>
              </a:rPr>
              <a:t/>
            </a:r>
            <a:br>
              <a:rPr lang="en-GB" sz="3600" b="1" dirty="0" smtClean="0">
                <a:solidFill>
                  <a:schemeClr val="accent5"/>
                </a:solidFill>
                <a:latin typeface="Cambria" panose="02040503050406030204" pitchFamily="18" charset="0"/>
                <a:ea typeface="Cambria" panose="02040503050406030204" pitchFamily="18" charset="0"/>
              </a:rPr>
            </a:br>
            <a:r>
              <a:rPr lang="en-GB" sz="3600" b="1" dirty="0" smtClean="0">
                <a:solidFill>
                  <a:schemeClr val="accent5"/>
                </a:solidFill>
                <a:latin typeface="Cambria" panose="02040503050406030204" pitchFamily="18" charset="0"/>
                <a:ea typeface="Cambria" panose="02040503050406030204" pitchFamily="18" charset="0"/>
              </a:rPr>
              <a:t>Example</a:t>
            </a:r>
            <a:br>
              <a:rPr lang="en-GB" sz="3600" b="1" dirty="0" smtClean="0">
                <a:solidFill>
                  <a:schemeClr val="accent5"/>
                </a:solidFill>
                <a:latin typeface="Cambria" panose="02040503050406030204" pitchFamily="18" charset="0"/>
                <a:ea typeface="Cambria" panose="02040503050406030204" pitchFamily="18" charset="0"/>
              </a:rPr>
            </a:br>
            <a:endParaRPr lang="en-US" sz="36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191344" y="609139"/>
            <a:ext cx="6912768" cy="4351338"/>
          </a:xfrm>
        </p:spPr>
        <p:txBody>
          <a:bodyPr/>
          <a:lstStyle/>
          <a:p>
            <a:pPr>
              <a:spcBef>
                <a:spcPts val="0"/>
              </a:spcBef>
            </a:pPr>
            <a:r>
              <a:rPr lang="en-US" sz="1800" b="1" u="sng" dirty="0" smtClean="0">
                <a:latin typeface="Cambria" panose="02040503050406030204" pitchFamily="18" charset="0"/>
                <a:ea typeface="Cambria" panose="02040503050406030204" pitchFamily="18" charset="0"/>
              </a:rPr>
              <a:t>DemoServlet.java</a:t>
            </a:r>
            <a:endParaRPr lang="en-GB" sz="1800" b="1" u="sng" dirty="0" smtClean="0">
              <a:latin typeface="Cambria" panose="02040503050406030204" pitchFamily="18" charset="0"/>
              <a:ea typeface="Cambria" panose="02040503050406030204" pitchFamily="18" charset="0"/>
            </a:endParaRPr>
          </a:p>
          <a:p>
            <a:pPr>
              <a:spcBef>
                <a:spcPts val="0"/>
              </a:spcBef>
              <a:buNone/>
            </a:pPr>
            <a:r>
              <a:rPr lang="en-GB" sz="1800" dirty="0" smtClean="0">
                <a:latin typeface="Cambria" panose="02040503050406030204" pitchFamily="18" charset="0"/>
                <a:ea typeface="Cambria" panose="02040503050406030204" pitchFamily="18" charset="0"/>
              </a:rPr>
              <a:t> </a:t>
            </a:r>
            <a:r>
              <a:rPr lang="en-GB" sz="1800" b="1" dirty="0" smtClean="0">
                <a:latin typeface="Cambria" panose="02040503050406030204" pitchFamily="18" charset="0"/>
                <a:ea typeface="Cambria" panose="02040503050406030204" pitchFamily="18" charset="0"/>
              </a:rPr>
              <a:t>import</a:t>
            </a:r>
            <a:r>
              <a:rPr lang="en-GB" sz="1800" dirty="0" smtClean="0">
                <a:latin typeface="Cambria" panose="02040503050406030204" pitchFamily="18" charset="0"/>
                <a:ea typeface="Cambria" panose="02040503050406030204" pitchFamily="18" charset="0"/>
              </a:rPr>
              <a:t> java.io.*;  </a:t>
            </a:r>
          </a:p>
          <a:p>
            <a:pPr>
              <a:spcBef>
                <a:spcPts val="0"/>
              </a:spcBef>
              <a:buNone/>
            </a:pPr>
            <a:r>
              <a:rPr lang="en-GB" sz="1800" b="1" dirty="0" smtClean="0">
                <a:latin typeface="Cambria" panose="02040503050406030204" pitchFamily="18" charset="0"/>
                <a:ea typeface="Cambria" panose="02040503050406030204" pitchFamily="18" charset="0"/>
              </a:rPr>
              <a:t>import</a:t>
            </a:r>
            <a:r>
              <a:rPr lang="en-GB" sz="1800" dirty="0" smtClean="0">
                <a:latin typeface="Cambria" panose="02040503050406030204" pitchFamily="18" charset="0"/>
                <a:ea typeface="Cambria" panose="02040503050406030204" pitchFamily="18" charset="0"/>
              </a:rPr>
              <a:t> </a:t>
            </a:r>
            <a:r>
              <a:rPr lang="en-GB" sz="1800" dirty="0" err="1" smtClean="0">
                <a:latin typeface="Cambria" panose="02040503050406030204" pitchFamily="18" charset="0"/>
                <a:ea typeface="Cambria" panose="02040503050406030204" pitchFamily="18" charset="0"/>
              </a:rPr>
              <a:t>javax.servlet</a:t>
            </a:r>
            <a:r>
              <a:rPr lang="en-GB" sz="1800" dirty="0" smtClean="0">
                <a:latin typeface="Cambria" panose="02040503050406030204" pitchFamily="18" charset="0"/>
                <a:ea typeface="Cambria" panose="02040503050406030204" pitchFamily="18" charset="0"/>
              </a:rPr>
              <a:t>.*;  </a:t>
            </a:r>
          </a:p>
          <a:p>
            <a:pPr>
              <a:spcBef>
                <a:spcPts val="0"/>
              </a:spcBef>
              <a:buNone/>
            </a:pPr>
            <a:r>
              <a:rPr lang="en-GB" sz="1800" b="1" dirty="0" smtClean="0">
                <a:latin typeface="Cambria" panose="02040503050406030204" pitchFamily="18" charset="0"/>
                <a:ea typeface="Cambria" panose="02040503050406030204" pitchFamily="18" charset="0"/>
              </a:rPr>
              <a:t>import</a:t>
            </a:r>
            <a:r>
              <a:rPr lang="en-GB" sz="1800" dirty="0" smtClean="0">
                <a:latin typeface="Cambria" panose="02040503050406030204" pitchFamily="18" charset="0"/>
                <a:ea typeface="Cambria" panose="02040503050406030204" pitchFamily="18" charset="0"/>
              </a:rPr>
              <a:t> </a:t>
            </a:r>
            <a:r>
              <a:rPr lang="en-GB" sz="1800" dirty="0" err="1" smtClean="0">
                <a:latin typeface="Cambria" panose="02040503050406030204" pitchFamily="18" charset="0"/>
                <a:ea typeface="Cambria" panose="02040503050406030204" pitchFamily="18" charset="0"/>
              </a:rPr>
              <a:t>javax.servlet.http</a:t>
            </a:r>
            <a:r>
              <a:rPr lang="en-GB" sz="1800" dirty="0" smtClean="0">
                <a:latin typeface="Cambria" panose="02040503050406030204" pitchFamily="18" charset="0"/>
                <a:ea typeface="Cambria" panose="02040503050406030204" pitchFamily="18" charset="0"/>
              </a:rPr>
              <a:t>.*;  </a:t>
            </a:r>
          </a:p>
          <a:p>
            <a:pPr>
              <a:spcBef>
                <a:spcPts val="0"/>
              </a:spcBef>
              <a:buNone/>
            </a:pPr>
            <a:r>
              <a:rPr lang="en-GB" sz="1800" dirty="0" smtClean="0">
                <a:latin typeface="Cambria" panose="02040503050406030204" pitchFamily="18" charset="0"/>
                <a:ea typeface="Cambria" panose="02040503050406030204" pitchFamily="18" charset="0"/>
              </a:rPr>
              <a:t>  </a:t>
            </a:r>
          </a:p>
          <a:p>
            <a:pPr>
              <a:spcBef>
                <a:spcPts val="0"/>
              </a:spcBef>
              <a:buNone/>
            </a:pPr>
            <a:r>
              <a:rPr lang="en-GB" sz="1800" b="1" dirty="0" smtClean="0">
                <a:latin typeface="Cambria" panose="02040503050406030204" pitchFamily="18" charset="0"/>
                <a:ea typeface="Cambria" panose="02040503050406030204" pitchFamily="18" charset="0"/>
              </a:rPr>
              <a:t>public</a:t>
            </a:r>
            <a:r>
              <a:rPr lang="en-GB" sz="1800" dirty="0" smtClean="0">
                <a:latin typeface="Cambria" panose="02040503050406030204" pitchFamily="18" charset="0"/>
                <a:ea typeface="Cambria" panose="02040503050406030204" pitchFamily="18" charset="0"/>
              </a:rPr>
              <a:t> </a:t>
            </a:r>
            <a:r>
              <a:rPr lang="en-GB" sz="1800" b="1" dirty="0" smtClean="0">
                <a:latin typeface="Cambria" panose="02040503050406030204" pitchFamily="18" charset="0"/>
                <a:ea typeface="Cambria" panose="02040503050406030204" pitchFamily="18" charset="0"/>
              </a:rPr>
              <a:t>class</a:t>
            </a:r>
            <a:r>
              <a:rPr lang="en-GB" sz="1800" dirty="0" smtClean="0">
                <a:latin typeface="Cambria" panose="02040503050406030204" pitchFamily="18" charset="0"/>
                <a:ea typeface="Cambria" panose="02040503050406030204" pitchFamily="18" charset="0"/>
              </a:rPr>
              <a:t> </a:t>
            </a:r>
            <a:r>
              <a:rPr lang="en-GB" sz="1800" dirty="0" err="1" smtClean="0">
                <a:latin typeface="Cambria" panose="02040503050406030204" pitchFamily="18" charset="0"/>
                <a:ea typeface="Cambria" panose="02040503050406030204" pitchFamily="18" charset="0"/>
              </a:rPr>
              <a:t>DemoServlet</a:t>
            </a:r>
            <a:r>
              <a:rPr lang="en-GB" sz="1800" dirty="0" smtClean="0">
                <a:latin typeface="Cambria" panose="02040503050406030204" pitchFamily="18" charset="0"/>
                <a:ea typeface="Cambria" panose="02040503050406030204" pitchFamily="18" charset="0"/>
              </a:rPr>
              <a:t> </a:t>
            </a:r>
            <a:r>
              <a:rPr lang="en-GB" sz="1800" b="1" dirty="0" smtClean="0">
                <a:latin typeface="Cambria" panose="02040503050406030204" pitchFamily="18" charset="0"/>
                <a:ea typeface="Cambria" panose="02040503050406030204" pitchFamily="18" charset="0"/>
              </a:rPr>
              <a:t>extends</a:t>
            </a:r>
            <a:r>
              <a:rPr lang="en-GB" sz="1800" dirty="0" smtClean="0">
                <a:latin typeface="Cambria" panose="02040503050406030204" pitchFamily="18" charset="0"/>
                <a:ea typeface="Cambria" panose="02040503050406030204" pitchFamily="18" charset="0"/>
              </a:rPr>
              <a:t> </a:t>
            </a:r>
            <a:r>
              <a:rPr lang="en-GB" sz="1800" dirty="0" err="1" smtClean="0">
                <a:latin typeface="Cambria" panose="02040503050406030204" pitchFamily="18" charset="0"/>
                <a:ea typeface="Cambria" panose="02040503050406030204" pitchFamily="18" charset="0"/>
              </a:rPr>
              <a:t>HttpServlet</a:t>
            </a:r>
            <a:r>
              <a:rPr lang="en-GB" sz="1800" dirty="0" smtClean="0">
                <a:latin typeface="Cambria" panose="02040503050406030204" pitchFamily="18" charset="0"/>
                <a:ea typeface="Cambria" panose="02040503050406030204" pitchFamily="18" charset="0"/>
              </a:rPr>
              <a:t>{  </a:t>
            </a:r>
          </a:p>
          <a:p>
            <a:pPr>
              <a:spcBef>
                <a:spcPts val="0"/>
              </a:spcBef>
              <a:buNone/>
            </a:pPr>
            <a:r>
              <a:rPr lang="en-GB" sz="1800" b="1" dirty="0" smtClean="0">
                <a:latin typeface="Cambria" panose="02040503050406030204" pitchFamily="18" charset="0"/>
                <a:ea typeface="Cambria" panose="02040503050406030204" pitchFamily="18" charset="0"/>
              </a:rPr>
              <a:t>public</a:t>
            </a:r>
            <a:r>
              <a:rPr lang="en-GB" sz="1800" dirty="0" smtClean="0">
                <a:latin typeface="Cambria" panose="02040503050406030204" pitchFamily="18" charset="0"/>
                <a:ea typeface="Cambria" panose="02040503050406030204" pitchFamily="18" charset="0"/>
              </a:rPr>
              <a:t> </a:t>
            </a:r>
            <a:r>
              <a:rPr lang="en-GB" sz="1800" b="1" dirty="0" smtClean="0">
                <a:latin typeface="Cambria" panose="02040503050406030204" pitchFamily="18" charset="0"/>
                <a:ea typeface="Cambria" panose="02040503050406030204" pitchFamily="18" charset="0"/>
              </a:rPr>
              <a:t>void</a:t>
            </a:r>
            <a:r>
              <a:rPr lang="en-GB" sz="1800" dirty="0" smtClean="0">
                <a:latin typeface="Cambria" panose="02040503050406030204" pitchFamily="18" charset="0"/>
                <a:ea typeface="Cambria" panose="02040503050406030204" pitchFamily="18" charset="0"/>
              </a:rPr>
              <a:t> doGet(HttpServletRequest req,HttpServletResponse res </a:t>
            </a:r>
          </a:p>
          <a:p>
            <a:pPr>
              <a:spcBef>
                <a:spcPts val="0"/>
              </a:spcBef>
              <a:buNone/>
            </a:pPr>
            <a:r>
              <a:rPr lang="en-GB" sz="1800" b="1" dirty="0" smtClean="0">
                <a:latin typeface="Cambria" panose="02040503050406030204" pitchFamily="18" charset="0"/>
                <a:ea typeface="Cambria" panose="02040503050406030204" pitchFamily="18" charset="0"/>
              </a:rPr>
              <a:t>throws</a:t>
            </a:r>
            <a:r>
              <a:rPr lang="en-GB" sz="1800" dirty="0" smtClean="0">
                <a:latin typeface="Cambria" panose="02040503050406030204" pitchFamily="18" charset="0"/>
                <a:ea typeface="Cambria" panose="02040503050406030204" pitchFamily="18" charset="0"/>
              </a:rPr>
              <a:t> ServletException,IOException  {</a:t>
            </a:r>
          </a:p>
          <a:p>
            <a:pPr>
              <a:spcBef>
                <a:spcPts val="0"/>
              </a:spcBef>
              <a:buNone/>
            </a:pPr>
            <a:r>
              <a:rPr lang="en-GB" sz="1800" dirty="0" err="1" smtClean="0">
                <a:latin typeface="Cambria" panose="02040503050406030204" pitchFamily="18" charset="0"/>
                <a:ea typeface="Cambria" panose="02040503050406030204" pitchFamily="18" charset="0"/>
              </a:rPr>
              <a:t>res.setContentType</a:t>
            </a:r>
            <a:r>
              <a:rPr lang="en-GB" sz="1800" dirty="0" smtClean="0">
                <a:latin typeface="Cambria" panose="02040503050406030204" pitchFamily="18" charset="0"/>
                <a:ea typeface="Cambria" panose="02040503050406030204" pitchFamily="18" charset="0"/>
              </a:rPr>
              <a:t>("text/html");  </a:t>
            </a:r>
          </a:p>
          <a:p>
            <a:pPr>
              <a:spcBef>
                <a:spcPts val="0"/>
              </a:spcBef>
              <a:buNone/>
            </a:pPr>
            <a:r>
              <a:rPr lang="en-GB" sz="1800" dirty="0" err="1" smtClean="0">
                <a:latin typeface="Cambria" panose="02040503050406030204" pitchFamily="18" charset="0"/>
                <a:ea typeface="Cambria" panose="02040503050406030204" pitchFamily="18" charset="0"/>
              </a:rPr>
              <a:t>PrintWriter</a:t>
            </a:r>
            <a:r>
              <a:rPr lang="en-GB" sz="1800" dirty="0" smtClean="0">
                <a:latin typeface="Cambria" panose="02040503050406030204" pitchFamily="18" charset="0"/>
                <a:ea typeface="Cambria" panose="02040503050406030204" pitchFamily="18" charset="0"/>
              </a:rPr>
              <a:t> </a:t>
            </a:r>
            <a:r>
              <a:rPr lang="en-GB" sz="1800" dirty="0" err="1" smtClean="0">
                <a:latin typeface="Cambria" panose="02040503050406030204" pitchFamily="18" charset="0"/>
                <a:ea typeface="Cambria" panose="02040503050406030204" pitchFamily="18" charset="0"/>
              </a:rPr>
              <a:t>pw</a:t>
            </a:r>
            <a:r>
              <a:rPr lang="en-GB" sz="1800" dirty="0" smtClean="0">
                <a:latin typeface="Cambria" panose="02040503050406030204" pitchFamily="18" charset="0"/>
                <a:ea typeface="Cambria" panose="02040503050406030204" pitchFamily="18" charset="0"/>
              </a:rPr>
              <a:t>=</a:t>
            </a:r>
            <a:r>
              <a:rPr lang="en-GB" sz="1800" dirty="0" err="1" smtClean="0">
                <a:latin typeface="Cambria" panose="02040503050406030204" pitchFamily="18" charset="0"/>
                <a:ea typeface="Cambria" panose="02040503050406030204" pitchFamily="18" charset="0"/>
              </a:rPr>
              <a:t>res.getWriter</a:t>
            </a:r>
            <a:r>
              <a:rPr lang="en-GB" sz="1800" dirty="0" smtClean="0">
                <a:latin typeface="Cambria" panose="02040503050406030204" pitchFamily="18" charset="0"/>
                <a:ea typeface="Cambria" panose="02040503050406030204" pitchFamily="18" charset="0"/>
              </a:rPr>
              <a:t>();  </a:t>
            </a:r>
          </a:p>
          <a:p>
            <a:pPr>
              <a:spcBef>
                <a:spcPts val="0"/>
              </a:spcBef>
              <a:buNone/>
            </a:pPr>
            <a:r>
              <a:rPr lang="en-GB" sz="1800" dirty="0" smtClean="0">
                <a:latin typeface="Cambria" panose="02040503050406030204" pitchFamily="18" charset="0"/>
                <a:ea typeface="Cambria" panose="02040503050406030204" pitchFamily="18" charset="0"/>
              </a:rPr>
              <a:t>  </a:t>
            </a:r>
          </a:p>
          <a:p>
            <a:pPr>
              <a:spcBef>
                <a:spcPts val="0"/>
              </a:spcBef>
              <a:buNone/>
            </a:pPr>
            <a:r>
              <a:rPr lang="en-GB" sz="1800" dirty="0" err="1" smtClean="0">
                <a:latin typeface="Cambria" panose="02040503050406030204" pitchFamily="18" charset="0"/>
                <a:ea typeface="Cambria" panose="02040503050406030204" pitchFamily="18" charset="0"/>
              </a:rPr>
              <a:t>response.sendRedirect</a:t>
            </a:r>
            <a:r>
              <a:rPr lang="en-GB" sz="1800" dirty="0" smtClean="0">
                <a:latin typeface="Cambria" panose="02040503050406030204" pitchFamily="18" charset="0"/>
                <a:ea typeface="Cambria" panose="02040503050406030204" pitchFamily="18" charset="0"/>
              </a:rPr>
              <a:t>("http://www.google.com");  </a:t>
            </a:r>
          </a:p>
          <a:p>
            <a:pPr>
              <a:spcBef>
                <a:spcPts val="0"/>
              </a:spcBef>
              <a:buNone/>
            </a:pPr>
            <a:r>
              <a:rPr lang="en-GB" sz="1800" dirty="0" smtClean="0">
                <a:latin typeface="Cambria" panose="02040503050406030204" pitchFamily="18" charset="0"/>
                <a:ea typeface="Cambria" panose="02040503050406030204" pitchFamily="18" charset="0"/>
              </a:rPr>
              <a:t>  </a:t>
            </a:r>
          </a:p>
          <a:p>
            <a:pPr>
              <a:spcBef>
                <a:spcPts val="0"/>
              </a:spcBef>
              <a:buNone/>
            </a:pPr>
            <a:r>
              <a:rPr lang="en-GB" sz="1800" dirty="0" err="1" smtClean="0">
                <a:latin typeface="Cambria" panose="02040503050406030204" pitchFamily="18" charset="0"/>
                <a:ea typeface="Cambria" panose="02040503050406030204" pitchFamily="18" charset="0"/>
              </a:rPr>
              <a:t>pw.close</a:t>
            </a:r>
            <a:r>
              <a:rPr lang="en-GB" sz="1800" dirty="0" smtClean="0">
                <a:latin typeface="Cambria" panose="02040503050406030204" pitchFamily="18" charset="0"/>
                <a:ea typeface="Cambria" panose="02040503050406030204" pitchFamily="18" charset="0"/>
              </a:rPr>
              <a:t>();  </a:t>
            </a:r>
          </a:p>
          <a:p>
            <a:pPr>
              <a:spcBef>
                <a:spcPts val="0"/>
              </a:spcBef>
              <a:buNone/>
            </a:pPr>
            <a:r>
              <a:rPr lang="en-GB" sz="1800" dirty="0" smtClean="0">
                <a:latin typeface="Cambria" panose="02040503050406030204" pitchFamily="18" charset="0"/>
                <a:ea typeface="Cambria" panose="02040503050406030204" pitchFamily="18" charset="0"/>
              </a:rPr>
              <a:t>}}  </a:t>
            </a:r>
          </a:p>
          <a:p>
            <a:pPr>
              <a:spcBef>
                <a:spcPts val="0"/>
              </a:spcBef>
              <a:buNone/>
            </a:pPr>
            <a:r>
              <a:rPr lang="en-GB" sz="1800" dirty="0" smtClean="0">
                <a:latin typeface="Cambria" panose="02040503050406030204" pitchFamily="18" charset="0"/>
                <a:ea typeface="Cambria" panose="02040503050406030204" pitchFamily="18" charset="0"/>
              </a:rPr>
              <a:t>Creating custom </a:t>
            </a:r>
            <a:r>
              <a:rPr lang="en-GB" sz="1800" dirty="0" err="1" smtClean="0">
                <a:latin typeface="Cambria" panose="02040503050406030204" pitchFamily="18" charset="0"/>
                <a:ea typeface="Cambria" panose="02040503050406030204" pitchFamily="18" charset="0"/>
              </a:rPr>
              <a:t>google</a:t>
            </a:r>
            <a:r>
              <a:rPr lang="en-GB" sz="1800" dirty="0" smtClean="0">
                <a:latin typeface="Cambria" panose="02040503050406030204" pitchFamily="18" charset="0"/>
                <a:ea typeface="Cambria" panose="02040503050406030204" pitchFamily="18" charset="0"/>
              </a:rPr>
              <a:t> search using </a:t>
            </a:r>
            <a:r>
              <a:rPr lang="en-GB" sz="1800" dirty="0" err="1" smtClean="0">
                <a:latin typeface="Cambria" panose="02040503050406030204" pitchFamily="18" charset="0"/>
                <a:ea typeface="Cambria" panose="02040503050406030204" pitchFamily="18" charset="0"/>
              </a:rPr>
              <a:t>sendRedirect</a:t>
            </a:r>
            <a:endParaRPr lang="en-GB" sz="1800" dirty="0" smtClean="0">
              <a:latin typeface="Cambria" panose="02040503050406030204" pitchFamily="18" charset="0"/>
              <a:ea typeface="Cambria" panose="02040503050406030204" pitchFamily="18" charset="0"/>
            </a:endParaRPr>
          </a:p>
          <a:p>
            <a:pPr>
              <a:spcBef>
                <a:spcPts val="0"/>
              </a:spcBef>
              <a:buNone/>
            </a:pPr>
            <a:r>
              <a:rPr lang="en-GB" sz="1800" dirty="0" smtClean="0">
                <a:latin typeface="Cambria" panose="02040503050406030204" pitchFamily="18" charset="0"/>
                <a:ea typeface="Cambria" panose="02040503050406030204" pitchFamily="18" charset="0"/>
              </a:rPr>
              <a:t>In this example, we are using </a:t>
            </a:r>
            <a:r>
              <a:rPr lang="en-GB" sz="1800" dirty="0" err="1" smtClean="0">
                <a:latin typeface="Cambria" panose="02040503050406030204" pitchFamily="18" charset="0"/>
                <a:ea typeface="Cambria" panose="02040503050406030204" pitchFamily="18" charset="0"/>
              </a:rPr>
              <a:t>sendRedirect</a:t>
            </a:r>
            <a:r>
              <a:rPr lang="en-GB" sz="1800" dirty="0" smtClean="0">
                <a:latin typeface="Cambria" panose="02040503050406030204" pitchFamily="18" charset="0"/>
                <a:ea typeface="Cambria" panose="02040503050406030204" pitchFamily="18" charset="0"/>
              </a:rPr>
              <a:t> method to send request to </a:t>
            </a:r>
            <a:r>
              <a:rPr lang="en-GB" sz="1800" dirty="0" err="1" smtClean="0">
                <a:latin typeface="Cambria" panose="02040503050406030204" pitchFamily="18" charset="0"/>
                <a:ea typeface="Cambria" panose="02040503050406030204" pitchFamily="18" charset="0"/>
              </a:rPr>
              <a:t>google</a:t>
            </a:r>
            <a:r>
              <a:rPr lang="en-GB" sz="1800" dirty="0" smtClean="0">
                <a:latin typeface="Cambria" panose="02040503050406030204" pitchFamily="18" charset="0"/>
                <a:ea typeface="Cambria" panose="02040503050406030204" pitchFamily="18" charset="0"/>
              </a:rPr>
              <a:t> server with the request data.</a:t>
            </a:r>
          </a:p>
          <a:p>
            <a:pPr>
              <a:spcBef>
                <a:spcPts val="0"/>
              </a:spcBef>
            </a:pPr>
            <a:r>
              <a:rPr lang="en-GB" sz="1800" dirty="0" smtClean="0">
                <a:latin typeface="Cambria" panose="02040503050406030204" pitchFamily="18" charset="0"/>
                <a:ea typeface="Cambria" panose="02040503050406030204" pitchFamily="18" charset="0"/>
              </a:rPr>
              <a:t> </a:t>
            </a:r>
          </a:p>
          <a:p>
            <a:endParaRPr lang="en-GB" sz="2400" dirty="0" smtClean="0">
              <a:latin typeface="Cambria" panose="02040503050406030204" pitchFamily="18" charset="0"/>
              <a:ea typeface="Cambria" panose="02040503050406030204" pitchFamily="18" charset="0"/>
            </a:endParaRPr>
          </a:p>
          <a:p>
            <a:endParaRPr lang="en-US" sz="24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43</a:t>
            </a:fld>
            <a:endParaRPr lang="en-US" altLang="en-US">
              <a:latin typeface="Cambria" panose="02040503050406030204" pitchFamily="18" charset="0"/>
              <a:ea typeface="Cambria" panose="02040503050406030204" pitchFamily="18" charset="0"/>
            </a:endParaRPr>
          </a:p>
        </p:txBody>
      </p:sp>
      <p:sp>
        <p:nvSpPr>
          <p:cNvPr id="5" name="Rectangle 4"/>
          <p:cNvSpPr/>
          <p:nvPr/>
        </p:nvSpPr>
        <p:spPr>
          <a:xfrm>
            <a:off x="7320136" y="522650"/>
            <a:ext cx="4778424" cy="4524315"/>
          </a:xfrm>
          <a:prstGeom prst="rect">
            <a:avLst/>
          </a:prstGeom>
        </p:spPr>
        <p:txBody>
          <a:bodyPr wrap="square">
            <a:spAutoFit/>
          </a:bodyPr>
          <a:lstStyle/>
          <a:p>
            <a:pPr>
              <a:spcBef>
                <a:spcPts val="0"/>
              </a:spcBef>
            </a:pPr>
            <a:r>
              <a:rPr lang="en-GB" b="1" i="1" u="sng" dirty="0">
                <a:latin typeface="Cambria" panose="02040503050406030204" pitchFamily="18" charset="0"/>
                <a:ea typeface="Cambria" panose="02040503050406030204" pitchFamily="18" charset="0"/>
              </a:rPr>
              <a:t>index.html</a:t>
            </a:r>
          </a:p>
          <a:p>
            <a:pPr>
              <a:spcBef>
                <a:spcPts val="0"/>
              </a:spcBef>
              <a:buNone/>
            </a:pPr>
            <a:r>
              <a:rPr lang="en-GB" dirty="0">
                <a:latin typeface="Cambria" panose="02040503050406030204" pitchFamily="18" charset="0"/>
                <a:ea typeface="Cambria" panose="02040503050406030204" pitchFamily="18" charset="0"/>
              </a:rPr>
              <a:t>&lt;!DOCTYPE html</a:t>
            </a:r>
            <a:r>
              <a:rPr lang="en-GB" b="1" dirty="0">
                <a:latin typeface="Cambria" panose="02040503050406030204" pitchFamily="18" charset="0"/>
                <a:ea typeface="Cambria" panose="02040503050406030204" pitchFamily="18" charset="0"/>
              </a:rPr>
              <a:t>&gt;</a:t>
            </a:r>
            <a:r>
              <a:rPr lang="en-GB" dirty="0">
                <a:latin typeface="Cambria" panose="02040503050406030204" pitchFamily="18" charset="0"/>
                <a:ea typeface="Cambria" panose="02040503050406030204" pitchFamily="18" charset="0"/>
              </a:rPr>
              <a:t>  </a:t>
            </a:r>
          </a:p>
          <a:p>
            <a:pPr>
              <a:spcBef>
                <a:spcPts val="0"/>
              </a:spcBef>
              <a:buNone/>
            </a:pPr>
            <a:r>
              <a:rPr lang="en-GB" b="1" dirty="0">
                <a:latin typeface="Cambria" panose="02040503050406030204" pitchFamily="18" charset="0"/>
                <a:ea typeface="Cambria" panose="02040503050406030204" pitchFamily="18" charset="0"/>
              </a:rPr>
              <a:t>&lt;html&gt;</a:t>
            </a:r>
            <a:r>
              <a:rPr lang="en-GB" dirty="0">
                <a:latin typeface="Cambria" panose="02040503050406030204" pitchFamily="18" charset="0"/>
                <a:ea typeface="Cambria" panose="02040503050406030204" pitchFamily="18" charset="0"/>
              </a:rPr>
              <a:t>  </a:t>
            </a:r>
          </a:p>
          <a:p>
            <a:pPr>
              <a:spcBef>
                <a:spcPts val="0"/>
              </a:spcBef>
              <a:buNone/>
            </a:pPr>
            <a:r>
              <a:rPr lang="en-GB" b="1" dirty="0">
                <a:latin typeface="Cambria" panose="02040503050406030204" pitchFamily="18" charset="0"/>
                <a:ea typeface="Cambria" panose="02040503050406030204" pitchFamily="18" charset="0"/>
              </a:rPr>
              <a:t>&lt;head&gt;</a:t>
            </a:r>
            <a:r>
              <a:rPr lang="en-GB" dirty="0">
                <a:latin typeface="Cambria" panose="02040503050406030204" pitchFamily="18" charset="0"/>
                <a:ea typeface="Cambria" panose="02040503050406030204" pitchFamily="18" charset="0"/>
              </a:rPr>
              <a:t>  </a:t>
            </a:r>
          </a:p>
          <a:p>
            <a:pPr>
              <a:spcBef>
                <a:spcPts val="0"/>
              </a:spcBef>
              <a:buNone/>
            </a:pPr>
            <a:r>
              <a:rPr lang="en-GB" b="1" dirty="0">
                <a:latin typeface="Cambria" panose="02040503050406030204" pitchFamily="18" charset="0"/>
                <a:ea typeface="Cambria" panose="02040503050406030204" pitchFamily="18" charset="0"/>
              </a:rPr>
              <a:t>&lt;meta</a:t>
            </a:r>
            <a:r>
              <a:rPr lang="en-GB" dirty="0">
                <a:latin typeface="Cambria" panose="02040503050406030204" pitchFamily="18" charset="0"/>
                <a:ea typeface="Cambria" panose="02040503050406030204" pitchFamily="18" charset="0"/>
              </a:rPr>
              <a:t> charset="ISO-8859-1"</a:t>
            </a:r>
            <a:r>
              <a:rPr lang="en-GB" b="1" dirty="0">
                <a:latin typeface="Cambria" panose="02040503050406030204" pitchFamily="18" charset="0"/>
                <a:ea typeface="Cambria" panose="02040503050406030204" pitchFamily="18" charset="0"/>
              </a:rPr>
              <a:t>&gt;</a:t>
            </a:r>
            <a:r>
              <a:rPr lang="en-GB" dirty="0">
                <a:latin typeface="Cambria" panose="02040503050406030204" pitchFamily="18" charset="0"/>
                <a:ea typeface="Cambria" panose="02040503050406030204" pitchFamily="18" charset="0"/>
              </a:rPr>
              <a:t>  </a:t>
            </a:r>
          </a:p>
          <a:p>
            <a:pPr>
              <a:spcBef>
                <a:spcPts val="0"/>
              </a:spcBef>
              <a:buNone/>
            </a:pPr>
            <a:r>
              <a:rPr lang="en-GB" b="1" dirty="0">
                <a:latin typeface="Cambria" panose="02040503050406030204" pitchFamily="18" charset="0"/>
                <a:ea typeface="Cambria" panose="02040503050406030204" pitchFamily="18" charset="0"/>
              </a:rPr>
              <a:t>&lt;title&gt;</a:t>
            </a:r>
            <a:r>
              <a:rPr lang="en-GB" dirty="0">
                <a:latin typeface="Cambria" panose="02040503050406030204" pitchFamily="18" charset="0"/>
                <a:ea typeface="Cambria" panose="02040503050406030204" pitchFamily="18" charset="0"/>
              </a:rPr>
              <a:t>sendRedirect example</a:t>
            </a:r>
            <a:r>
              <a:rPr lang="en-GB" b="1" dirty="0">
                <a:latin typeface="Cambria" panose="02040503050406030204" pitchFamily="18" charset="0"/>
                <a:ea typeface="Cambria" panose="02040503050406030204" pitchFamily="18" charset="0"/>
              </a:rPr>
              <a:t>&lt;/title&gt;</a:t>
            </a:r>
            <a:r>
              <a:rPr lang="en-GB" dirty="0">
                <a:latin typeface="Cambria" panose="02040503050406030204" pitchFamily="18" charset="0"/>
                <a:ea typeface="Cambria" panose="02040503050406030204" pitchFamily="18" charset="0"/>
              </a:rPr>
              <a:t>  </a:t>
            </a:r>
          </a:p>
          <a:p>
            <a:pPr>
              <a:spcBef>
                <a:spcPts val="0"/>
              </a:spcBef>
              <a:buNone/>
            </a:pPr>
            <a:r>
              <a:rPr lang="en-GB" b="1" dirty="0">
                <a:latin typeface="Cambria" panose="02040503050406030204" pitchFamily="18" charset="0"/>
                <a:ea typeface="Cambria" panose="02040503050406030204" pitchFamily="18" charset="0"/>
              </a:rPr>
              <a:t>&lt;/head&gt;</a:t>
            </a:r>
            <a:r>
              <a:rPr lang="en-GB" dirty="0">
                <a:latin typeface="Cambria" panose="02040503050406030204" pitchFamily="18" charset="0"/>
                <a:ea typeface="Cambria" panose="02040503050406030204" pitchFamily="18" charset="0"/>
              </a:rPr>
              <a:t>  </a:t>
            </a:r>
          </a:p>
          <a:p>
            <a:pPr>
              <a:spcBef>
                <a:spcPts val="0"/>
              </a:spcBef>
              <a:buNone/>
            </a:pPr>
            <a:r>
              <a:rPr lang="en-GB" b="1" dirty="0">
                <a:latin typeface="Cambria" panose="02040503050406030204" pitchFamily="18" charset="0"/>
                <a:ea typeface="Cambria" panose="02040503050406030204" pitchFamily="18" charset="0"/>
              </a:rPr>
              <a:t>&lt;body&gt;</a:t>
            </a:r>
            <a:r>
              <a:rPr lang="en-GB" dirty="0">
                <a:latin typeface="Cambria" panose="02040503050406030204" pitchFamily="18" charset="0"/>
                <a:ea typeface="Cambria" panose="02040503050406030204" pitchFamily="18" charset="0"/>
              </a:rPr>
              <a:t>  </a:t>
            </a:r>
          </a:p>
          <a:p>
            <a:pPr>
              <a:spcBef>
                <a:spcPts val="0"/>
              </a:spcBef>
              <a:buNone/>
            </a:pPr>
            <a:r>
              <a:rPr lang="en-GB" dirty="0">
                <a:latin typeface="Cambria" panose="02040503050406030204" pitchFamily="18" charset="0"/>
                <a:ea typeface="Cambria" panose="02040503050406030204" pitchFamily="18" charset="0"/>
              </a:rPr>
              <a:t>  </a:t>
            </a:r>
          </a:p>
          <a:p>
            <a:pPr>
              <a:spcBef>
                <a:spcPts val="0"/>
              </a:spcBef>
              <a:buNone/>
            </a:pPr>
            <a:r>
              <a:rPr lang="en-GB" b="1" dirty="0">
                <a:latin typeface="Cambria" panose="02040503050406030204" pitchFamily="18" charset="0"/>
                <a:ea typeface="Cambria" panose="02040503050406030204" pitchFamily="18" charset="0"/>
              </a:rPr>
              <a:t>&lt;form</a:t>
            </a:r>
            <a:r>
              <a:rPr lang="en-GB" dirty="0">
                <a:latin typeface="Cambria" panose="02040503050406030204" pitchFamily="18" charset="0"/>
                <a:ea typeface="Cambria" panose="02040503050406030204" pitchFamily="18" charset="0"/>
              </a:rPr>
              <a:t> action="MySearcher"</a:t>
            </a:r>
            <a:r>
              <a:rPr lang="en-GB" b="1" dirty="0">
                <a:latin typeface="Cambria" panose="02040503050406030204" pitchFamily="18" charset="0"/>
                <a:ea typeface="Cambria" panose="02040503050406030204" pitchFamily="18" charset="0"/>
              </a:rPr>
              <a:t>&gt;</a:t>
            </a:r>
            <a:r>
              <a:rPr lang="en-GB" dirty="0">
                <a:latin typeface="Cambria" panose="02040503050406030204" pitchFamily="18" charset="0"/>
                <a:ea typeface="Cambria" panose="02040503050406030204" pitchFamily="18" charset="0"/>
              </a:rPr>
              <a:t>  </a:t>
            </a:r>
          </a:p>
          <a:p>
            <a:pPr>
              <a:spcBef>
                <a:spcPts val="0"/>
              </a:spcBef>
              <a:buNone/>
            </a:pPr>
            <a:r>
              <a:rPr lang="en-GB" b="1" dirty="0">
                <a:latin typeface="Cambria" panose="02040503050406030204" pitchFamily="18" charset="0"/>
                <a:ea typeface="Cambria" panose="02040503050406030204" pitchFamily="18" charset="0"/>
              </a:rPr>
              <a:t>&lt;input</a:t>
            </a:r>
            <a:r>
              <a:rPr lang="en-GB" dirty="0">
                <a:latin typeface="Cambria" panose="02040503050406030204" pitchFamily="18" charset="0"/>
                <a:ea typeface="Cambria" panose="02040503050406030204" pitchFamily="18" charset="0"/>
              </a:rPr>
              <a:t> type="text" name="name"</a:t>
            </a:r>
            <a:r>
              <a:rPr lang="en-GB" b="1" dirty="0">
                <a:latin typeface="Cambria" panose="02040503050406030204" pitchFamily="18" charset="0"/>
                <a:ea typeface="Cambria" panose="02040503050406030204" pitchFamily="18" charset="0"/>
              </a:rPr>
              <a:t>&gt;</a:t>
            </a:r>
            <a:r>
              <a:rPr lang="en-GB" dirty="0">
                <a:latin typeface="Cambria" panose="02040503050406030204" pitchFamily="18" charset="0"/>
                <a:ea typeface="Cambria" panose="02040503050406030204" pitchFamily="18" charset="0"/>
              </a:rPr>
              <a:t>  </a:t>
            </a:r>
          </a:p>
          <a:p>
            <a:pPr>
              <a:spcBef>
                <a:spcPts val="0"/>
              </a:spcBef>
              <a:buNone/>
            </a:pPr>
            <a:r>
              <a:rPr lang="en-GB" b="1" dirty="0">
                <a:latin typeface="Cambria" panose="02040503050406030204" pitchFamily="18" charset="0"/>
                <a:ea typeface="Cambria" panose="02040503050406030204" pitchFamily="18" charset="0"/>
              </a:rPr>
              <a:t>&lt;input</a:t>
            </a:r>
            <a:r>
              <a:rPr lang="en-GB" dirty="0">
                <a:latin typeface="Cambria" panose="02040503050406030204" pitchFamily="18" charset="0"/>
                <a:ea typeface="Cambria" panose="02040503050406030204" pitchFamily="18" charset="0"/>
              </a:rPr>
              <a:t> type="submit" value="Google Search"</a:t>
            </a:r>
            <a:r>
              <a:rPr lang="en-GB" b="1" dirty="0">
                <a:latin typeface="Cambria" panose="02040503050406030204" pitchFamily="18" charset="0"/>
                <a:ea typeface="Cambria" panose="02040503050406030204" pitchFamily="18" charset="0"/>
              </a:rPr>
              <a:t>&gt;</a:t>
            </a:r>
            <a:r>
              <a:rPr lang="en-GB" dirty="0">
                <a:latin typeface="Cambria" panose="02040503050406030204" pitchFamily="18" charset="0"/>
                <a:ea typeface="Cambria" panose="02040503050406030204" pitchFamily="18" charset="0"/>
              </a:rPr>
              <a:t>  </a:t>
            </a:r>
          </a:p>
          <a:p>
            <a:pPr>
              <a:spcBef>
                <a:spcPts val="0"/>
              </a:spcBef>
              <a:buNone/>
            </a:pPr>
            <a:r>
              <a:rPr lang="en-GB" b="1" dirty="0">
                <a:latin typeface="Cambria" panose="02040503050406030204" pitchFamily="18" charset="0"/>
                <a:ea typeface="Cambria" panose="02040503050406030204" pitchFamily="18" charset="0"/>
              </a:rPr>
              <a:t>&lt;/form&gt;</a:t>
            </a:r>
            <a:r>
              <a:rPr lang="en-GB" dirty="0">
                <a:latin typeface="Cambria" panose="02040503050406030204" pitchFamily="18" charset="0"/>
                <a:ea typeface="Cambria" panose="02040503050406030204" pitchFamily="18" charset="0"/>
              </a:rPr>
              <a:t>    </a:t>
            </a:r>
          </a:p>
          <a:p>
            <a:pPr>
              <a:spcBef>
                <a:spcPts val="0"/>
              </a:spcBef>
              <a:buNone/>
            </a:pPr>
            <a:r>
              <a:rPr lang="en-GB" b="1" dirty="0">
                <a:latin typeface="Cambria" panose="02040503050406030204" pitchFamily="18" charset="0"/>
                <a:ea typeface="Cambria" panose="02040503050406030204" pitchFamily="18" charset="0"/>
              </a:rPr>
              <a:t>&lt;/body&gt;</a:t>
            </a:r>
            <a:r>
              <a:rPr lang="en-GB" dirty="0">
                <a:latin typeface="Cambria" panose="02040503050406030204" pitchFamily="18" charset="0"/>
                <a:ea typeface="Cambria" panose="02040503050406030204" pitchFamily="18" charset="0"/>
              </a:rPr>
              <a:t>  </a:t>
            </a:r>
          </a:p>
          <a:p>
            <a:pPr>
              <a:spcBef>
                <a:spcPts val="0"/>
              </a:spcBef>
              <a:buNone/>
            </a:pPr>
            <a:r>
              <a:rPr lang="en-GB" b="1" dirty="0">
                <a:latin typeface="Cambria" panose="02040503050406030204" pitchFamily="18" charset="0"/>
                <a:ea typeface="Cambria" panose="02040503050406030204" pitchFamily="18" charset="0"/>
              </a:rPr>
              <a:t>&lt;/html&gt;</a:t>
            </a:r>
            <a:r>
              <a:rPr lang="en-GB" dirty="0">
                <a:latin typeface="Cambria" panose="02040503050406030204" pitchFamily="18" charset="0"/>
                <a:ea typeface="Cambria" panose="02040503050406030204" pitchFamily="18" charset="0"/>
              </a:rPr>
              <a:t>  </a:t>
            </a: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58" y="31685"/>
            <a:ext cx="4360750" cy="543595"/>
          </a:xfrm>
        </p:spPr>
        <p:txBody>
          <a:bodyPr/>
          <a:lstStyle/>
          <a:p>
            <a:r>
              <a:rPr lang="en-GB" sz="3600" b="1" dirty="0" smtClean="0">
                <a:solidFill>
                  <a:schemeClr val="accent5"/>
                </a:solidFill>
                <a:latin typeface="Cambria" panose="02040503050406030204" pitchFamily="18" charset="0"/>
                <a:ea typeface="Cambria" panose="02040503050406030204" pitchFamily="18" charset="0"/>
              </a:rPr>
              <a:t/>
            </a:r>
            <a:br>
              <a:rPr lang="en-GB" sz="3600" b="1" dirty="0" smtClean="0">
                <a:solidFill>
                  <a:schemeClr val="accent5"/>
                </a:solidFill>
                <a:latin typeface="Cambria" panose="02040503050406030204" pitchFamily="18" charset="0"/>
                <a:ea typeface="Cambria" panose="02040503050406030204" pitchFamily="18" charset="0"/>
              </a:rPr>
            </a:br>
            <a:r>
              <a:rPr lang="en-GB" sz="3600" b="1" dirty="0" smtClean="0">
                <a:solidFill>
                  <a:schemeClr val="accent5"/>
                </a:solidFill>
                <a:latin typeface="Cambria" panose="02040503050406030204" pitchFamily="18" charset="0"/>
                <a:ea typeface="Cambria" panose="02040503050406030204" pitchFamily="18" charset="0"/>
              </a:rPr>
              <a:t>Example (contd...)</a:t>
            </a:r>
            <a:br>
              <a:rPr lang="en-GB" sz="3600" b="1" dirty="0" smtClean="0">
                <a:solidFill>
                  <a:schemeClr val="accent5"/>
                </a:solidFill>
                <a:latin typeface="Cambria" panose="02040503050406030204" pitchFamily="18" charset="0"/>
                <a:ea typeface="Cambria" panose="02040503050406030204" pitchFamily="18" charset="0"/>
              </a:rPr>
            </a:br>
            <a:endParaRPr lang="en-US" sz="3600" b="1" dirty="0">
              <a:solidFill>
                <a:schemeClr val="accent5"/>
              </a:solidFill>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44</a:t>
            </a:fld>
            <a:endParaRPr lang="en-US" altLang="en-US">
              <a:latin typeface="Cambria" panose="02040503050406030204" pitchFamily="18" charset="0"/>
              <a:ea typeface="Cambria" panose="02040503050406030204" pitchFamily="18" charset="0"/>
            </a:endParaRPr>
          </a:p>
        </p:txBody>
      </p:sp>
      <p:sp>
        <p:nvSpPr>
          <p:cNvPr id="7" name="Rectangle 6"/>
          <p:cNvSpPr/>
          <p:nvPr/>
        </p:nvSpPr>
        <p:spPr>
          <a:xfrm>
            <a:off x="2135560" y="581450"/>
            <a:ext cx="8856984" cy="4247317"/>
          </a:xfrm>
          <a:prstGeom prst="rect">
            <a:avLst/>
          </a:prstGeom>
        </p:spPr>
        <p:txBody>
          <a:bodyPr wrap="square">
            <a:spAutoFit/>
          </a:bodyPr>
          <a:lstStyle/>
          <a:p>
            <a:pPr>
              <a:spcBef>
                <a:spcPts val="0"/>
              </a:spcBef>
            </a:pPr>
            <a:r>
              <a:rPr lang="en-GB" b="1" i="1" u="sng" dirty="0">
                <a:latin typeface="Cambria" panose="02040503050406030204" pitchFamily="18" charset="0"/>
                <a:ea typeface="Cambria" panose="02040503050406030204" pitchFamily="18" charset="0"/>
              </a:rPr>
              <a:t>MySearcher.java</a:t>
            </a:r>
          </a:p>
          <a:p>
            <a:pPr>
              <a:spcBef>
                <a:spcPts val="0"/>
              </a:spcBef>
              <a:buNone/>
            </a:pPr>
            <a:r>
              <a:rPr lang="en-GB" b="1" dirty="0">
                <a:latin typeface="Cambria" panose="02040503050406030204" pitchFamily="18" charset="0"/>
                <a:ea typeface="Cambria" panose="02040503050406030204" pitchFamily="18" charset="0"/>
              </a:rPr>
              <a:t>import</a:t>
            </a:r>
            <a:r>
              <a:rPr lang="en-GB" dirty="0">
                <a:latin typeface="Cambria" panose="02040503050406030204" pitchFamily="18" charset="0"/>
                <a:ea typeface="Cambria" panose="02040503050406030204" pitchFamily="18" charset="0"/>
              </a:rPr>
              <a:t> java.io.IOException;  </a:t>
            </a:r>
          </a:p>
          <a:p>
            <a:pPr>
              <a:spcBef>
                <a:spcPts val="0"/>
              </a:spcBef>
              <a:buNone/>
            </a:pPr>
            <a:r>
              <a:rPr lang="en-GB" b="1" dirty="0">
                <a:latin typeface="Cambria" panose="02040503050406030204" pitchFamily="18" charset="0"/>
                <a:ea typeface="Cambria" panose="02040503050406030204" pitchFamily="18" charset="0"/>
              </a:rPr>
              <a:t>import</a:t>
            </a:r>
            <a:r>
              <a:rPr lang="en-GB" dirty="0">
                <a:latin typeface="Cambria" panose="02040503050406030204" pitchFamily="18" charset="0"/>
                <a:ea typeface="Cambria" panose="02040503050406030204" pitchFamily="18" charset="0"/>
              </a:rPr>
              <a:t> javax.servlet.ServletException;  </a:t>
            </a:r>
          </a:p>
          <a:p>
            <a:pPr>
              <a:spcBef>
                <a:spcPts val="0"/>
              </a:spcBef>
              <a:buNone/>
            </a:pPr>
            <a:r>
              <a:rPr lang="en-GB" b="1" dirty="0">
                <a:latin typeface="Cambria" panose="02040503050406030204" pitchFamily="18" charset="0"/>
                <a:ea typeface="Cambria" panose="02040503050406030204" pitchFamily="18" charset="0"/>
              </a:rPr>
              <a:t>import</a:t>
            </a:r>
            <a:r>
              <a:rPr lang="en-GB" dirty="0">
                <a:latin typeface="Cambria" panose="02040503050406030204" pitchFamily="18" charset="0"/>
                <a:ea typeface="Cambria" panose="02040503050406030204" pitchFamily="18" charset="0"/>
              </a:rPr>
              <a:t> javax.servlet.http.HttpServlet;  </a:t>
            </a:r>
          </a:p>
          <a:p>
            <a:pPr>
              <a:spcBef>
                <a:spcPts val="0"/>
              </a:spcBef>
              <a:buNone/>
            </a:pPr>
            <a:r>
              <a:rPr lang="en-GB" b="1" dirty="0">
                <a:latin typeface="Cambria" panose="02040503050406030204" pitchFamily="18" charset="0"/>
                <a:ea typeface="Cambria" panose="02040503050406030204" pitchFamily="18" charset="0"/>
              </a:rPr>
              <a:t>import</a:t>
            </a:r>
            <a:r>
              <a:rPr lang="en-GB" dirty="0">
                <a:latin typeface="Cambria" panose="02040503050406030204" pitchFamily="18" charset="0"/>
                <a:ea typeface="Cambria" panose="02040503050406030204" pitchFamily="18" charset="0"/>
              </a:rPr>
              <a:t> javax.servlet.http.HttpServletRequest;  </a:t>
            </a:r>
          </a:p>
          <a:p>
            <a:pPr>
              <a:spcBef>
                <a:spcPts val="0"/>
              </a:spcBef>
              <a:buNone/>
            </a:pPr>
            <a:r>
              <a:rPr lang="en-GB" b="1" dirty="0">
                <a:latin typeface="Cambria" panose="02040503050406030204" pitchFamily="18" charset="0"/>
                <a:ea typeface="Cambria" panose="02040503050406030204" pitchFamily="18" charset="0"/>
              </a:rPr>
              <a:t>import</a:t>
            </a:r>
            <a:r>
              <a:rPr lang="en-GB" dirty="0">
                <a:latin typeface="Cambria" panose="02040503050406030204" pitchFamily="18" charset="0"/>
                <a:ea typeface="Cambria" panose="02040503050406030204" pitchFamily="18" charset="0"/>
              </a:rPr>
              <a:t> javax.servlet.http.HttpServletResponse;  </a:t>
            </a:r>
          </a:p>
          <a:p>
            <a:pPr>
              <a:spcBef>
                <a:spcPts val="0"/>
              </a:spcBef>
              <a:buNone/>
            </a:pPr>
            <a:r>
              <a:rPr lang="en-GB" dirty="0">
                <a:latin typeface="Cambria" panose="02040503050406030204" pitchFamily="18" charset="0"/>
                <a:ea typeface="Cambria" panose="02040503050406030204" pitchFamily="18" charset="0"/>
              </a:rPr>
              <a:t>  </a:t>
            </a:r>
          </a:p>
          <a:p>
            <a:pPr>
              <a:spcBef>
                <a:spcPts val="0"/>
              </a:spcBef>
              <a:buNone/>
            </a:pPr>
            <a:r>
              <a:rPr lang="en-GB" b="1" dirty="0">
                <a:latin typeface="Cambria" panose="02040503050406030204" pitchFamily="18" charset="0"/>
                <a:ea typeface="Cambria" panose="02040503050406030204" pitchFamily="18" charset="0"/>
              </a:rPr>
              <a:t>public</a:t>
            </a:r>
            <a:r>
              <a:rPr lang="en-GB" dirty="0">
                <a:latin typeface="Cambria" panose="02040503050406030204" pitchFamily="18" charset="0"/>
                <a:ea typeface="Cambria" panose="02040503050406030204" pitchFamily="18" charset="0"/>
              </a:rPr>
              <a:t> </a:t>
            </a:r>
            <a:r>
              <a:rPr lang="en-GB" b="1" dirty="0">
                <a:latin typeface="Cambria" panose="02040503050406030204" pitchFamily="18" charset="0"/>
                <a:ea typeface="Cambria" panose="02040503050406030204" pitchFamily="18" charset="0"/>
              </a:rPr>
              <a:t>class</a:t>
            </a:r>
            <a:r>
              <a:rPr lang="en-GB" dirty="0">
                <a:latin typeface="Cambria" panose="02040503050406030204" pitchFamily="18" charset="0"/>
                <a:ea typeface="Cambria" panose="02040503050406030204" pitchFamily="18" charset="0"/>
              </a:rPr>
              <a:t> MySearcher </a:t>
            </a:r>
            <a:r>
              <a:rPr lang="en-GB" b="1" dirty="0">
                <a:latin typeface="Cambria" panose="02040503050406030204" pitchFamily="18" charset="0"/>
                <a:ea typeface="Cambria" panose="02040503050406030204" pitchFamily="18" charset="0"/>
              </a:rPr>
              <a:t>extends</a:t>
            </a:r>
            <a:r>
              <a:rPr lang="en-GB" dirty="0">
                <a:latin typeface="Cambria" panose="02040503050406030204" pitchFamily="18" charset="0"/>
                <a:ea typeface="Cambria" panose="02040503050406030204" pitchFamily="18" charset="0"/>
              </a:rPr>
              <a:t> HttpServlet {  </a:t>
            </a:r>
          </a:p>
          <a:p>
            <a:pPr>
              <a:spcBef>
                <a:spcPts val="0"/>
              </a:spcBef>
              <a:buNone/>
            </a:pPr>
            <a:r>
              <a:rPr lang="en-GB" dirty="0">
                <a:latin typeface="Cambria" panose="02040503050406030204" pitchFamily="18" charset="0"/>
                <a:ea typeface="Cambria" panose="02040503050406030204" pitchFamily="18" charset="0"/>
              </a:rPr>
              <a:t>    </a:t>
            </a:r>
            <a:r>
              <a:rPr lang="en-GB" b="1" dirty="0">
                <a:latin typeface="Cambria" panose="02040503050406030204" pitchFamily="18" charset="0"/>
                <a:ea typeface="Cambria" panose="02040503050406030204" pitchFamily="18" charset="0"/>
              </a:rPr>
              <a:t>protected</a:t>
            </a:r>
            <a:r>
              <a:rPr lang="en-GB" dirty="0">
                <a:latin typeface="Cambria" panose="02040503050406030204" pitchFamily="18" charset="0"/>
                <a:ea typeface="Cambria" panose="02040503050406030204" pitchFamily="18" charset="0"/>
              </a:rPr>
              <a:t> </a:t>
            </a:r>
            <a:r>
              <a:rPr lang="en-GB" b="1" dirty="0">
                <a:latin typeface="Cambria" panose="02040503050406030204" pitchFamily="18" charset="0"/>
                <a:ea typeface="Cambria" panose="02040503050406030204" pitchFamily="18" charset="0"/>
              </a:rPr>
              <a:t>void</a:t>
            </a:r>
            <a:r>
              <a:rPr lang="en-GB" dirty="0">
                <a:latin typeface="Cambria" panose="02040503050406030204" pitchFamily="18" charset="0"/>
                <a:ea typeface="Cambria" panose="02040503050406030204" pitchFamily="18" charset="0"/>
              </a:rPr>
              <a:t> doGet(HttpServletRequest request, HttpServletResponse response)  </a:t>
            </a:r>
          </a:p>
          <a:p>
            <a:pPr>
              <a:spcBef>
                <a:spcPts val="0"/>
              </a:spcBef>
              <a:buNone/>
            </a:pPr>
            <a:r>
              <a:rPr lang="en-GB" dirty="0">
                <a:latin typeface="Cambria" panose="02040503050406030204" pitchFamily="18" charset="0"/>
                <a:ea typeface="Cambria" panose="02040503050406030204" pitchFamily="18" charset="0"/>
              </a:rPr>
              <a:t>            </a:t>
            </a:r>
            <a:r>
              <a:rPr lang="en-GB" b="1" dirty="0">
                <a:latin typeface="Cambria" panose="02040503050406030204" pitchFamily="18" charset="0"/>
                <a:ea typeface="Cambria" panose="02040503050406030204" pitchFamily="18" charset="0"/>
              </a:rPr>
              <a:t>throws</a:t>
            </a:r>
            <a:r>
              <a:rPr lang="en-GB" dirty="0">
                <a:latin typeface="Cambria" panose="02040503050406030204" pitchFamily="18" charset="0"/>
                <a:ea typeface="Cambria" panose="02040503050406030204" pitchFamily="18" charset="0"/>
              </a:rPr>
              <a:t> ServletException, IOException {  </a:t>
            </a:r>
          </a:p>
          <a:p>
            <a:pPr>
              <a:spcBef>
                <a:spcPts val="0"/>
              </a:spcBef>
              <a:buNone/>
            </a:pPr>
            <a:r>
              <a:rPr lang="en-GB" dirty="0">
                <a:latin typeface="Cambria" panose="02040503050406030204" pitchFamily="18" charset="0"/>
                <a:ea typeface="Cambria" panose="02040503050406030204" pitchFamily="18" charset="0"/>
              </a:rPr>
              <a:t>  </a:t>
            </a:r>
          </a:p>
          <a:p>
            <a:pPr>
              <a:spcBef>
                <a:spcPts val="0"/>
              </a:spcBef>
              <a:buNone/>
            </a:pPr>
            <a:r>
              <a:rPr lang="en-GB" dirty="0">
                <a:latin typeface="Cambria" panose="02040503050406030204" pitchFamily="18" charset="0"/>
                <a:ea typeface="Cambria" panose="02040503050406030204" pitchFamily="18" charset="0"/>
              </a:rPr>
              <a:t>        String name=request.getParameter("name");  </a:t>
            </a:r>
          </a:p>
          <a:p>
            <a:pPr>
              <a:spcBef>
                <a:spcPts val="0"/>
              </a:spcBef>
              <a:buNone/>
            </a:pPr>
            <a:r>
              <a:rPr lang="en-GB" dirty="0">
                <a:latin typeface="Cambria" panose="02040503050406030204" pitchFamily="18" charset="0"/>
                <a:ea typeface="Cambria" panose="02040503050406030204" pitchFamily="18" charset="0"/>
              </a:rPr>
              <a:t>        response.sendRedirect("https://www.google.co.in/#q="+name);  </a:t>
            </a:r>
          </a:p>
          <a:p>
            <a:pPr>
              <a:spcBef>
                <a:spcPts val="0"/>
              </a:spcBef>
              <a:buNone/>
            </a:pPr>
            <a:r>
              <a:rPr lang="en-GB" dirty="0">
                <a:latin typeface="Cambria" panose="02040503050406030204" pitchFamily="18" charset="0"/>
                <a:ea typeface="Cambria" panose="02040503050406030204" pitchFamily="18" charset="0"/>
              </a:rPr>
              <a:t>    }  </a:t>
            </a:r>
          </a:p>
          <a:p>
            <a:pPr>
              <a:spcBef>
                <a:spcPts val="0"/>
              </a:spcBef>
              <a:buNone/>
            </a:pPr>
            <a:r>
              <a:rPr lang="en-GB" dirty="0">
                <a:latin typeface="Cambria" panose="02040503050406030204" pitchFamily="18" charset="0"/>
                <a:ea typeface="Cambria" panose="02040503050406030204" pitchFamily="18" charset="0"/>
              </a:rPr>
              <a:t>} </a:t>
            </a:r>
            <a:endParaRPr lang="en-US" dirty="0"/>
          </a:p>
        </p:txBody>
      </p:sp>
    </p:spTree>
    <p:extLst>
      <p:ext uri="{BB962C8B-B14F-4D97-AF65-F5344CB8AC3E}">
        <p14:creationId xmlns:p14="http://schemas.microsoft.com/office/powerpoint/2010/main" val="313369547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259" y="116632"/>
            <a:ext cx="8568952" cy="569882"/>
          </a:xfrm>
        </p:spPr>
        <p:txBody>
          <a:bodyPr/>
          <a:lstStyle/>
          <a:p>
            <a:r>
              <a:rPr lang="en-GB" sz="3600" b="1" dirty="0" smtClean="0">
                <a:solidFill>
                  <a:schemeClr val="accent5"/>
                </a:solidFill>
                <a:latin typeface="Cambria" panose="02040503050406030204" pitchFamily="18" charset="0"/>
                <a:ea typeface="Cambria" panose="02040503050406030204" pitchFamily="18" charset="0"/>
              </a:rPr>
              <a:t>Session Tracking/Session Management</a:t>
            </a:r>
            <a:endParaRPr lang="en-US" sz="36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191344" y="734859"/>
            <a:ext cx="7704856" cy="4206309"/>
          </a:xfrm>
        </p:spPr>
        <p:txBody>
          <a:bodyPr/>
          <a:lstStyle/>
          <a:p>
            <a:pPr algn="just"/>
            <a:r>
              <a:rPr lang="en-GB" sz="2200" dirty="0" smtClean="0">
                <a:latin typeface="Cambria" panose="02040503050406030204" pitchFamily="18" charset="0"/>
                <a:ea typeface="Cambria" panose="02040503050406030204" pitchFamily="18" charset="0"/>
              </a:rPr>
              <a:t>Session - a particular interval of time.</a:t>
            </a:r>
          </a:p>
          <a:p>
            <a:pPr algn="just"/>
            <a:r>
              <a:rPr lang="en-GB" sz="2200" b="1" dirty="0" smtClean="0">
                <a:latin typeface="Cambria" panose="02040503050406030204" pitchFamily="18" charset="0"/>
                <a:ea typeface="Cambria" panose="02040503050406030204" pitchFamily="18" charset="0"/>
              </a:rPr>
              <a:t>Session Tracking</a:t>
            </a:r>
            <a:r>
              <a:rPr lang="en-GB" sz="2200" dirty="0" smtClean="0">
                <a:latin typeface="Cambria" panose="02040503050406030204" pitchFamily="18" charset="0"/>
                <a:ea typeface="Cambria" panose="02040503050406030204" pitchFamily="18" charset="0"/>
              </a:rPr>
              <a:t> is a way to maintain state (data) of a user.</a:t>
            </a:r>
          </a:p>
          <a:p>
            <a:pPr algn="just"/>
            <a:r>
              <a:rPr lang="en-GB" sz="2200" dirty="0" smtClean="0">
                <a:latin typeface="Cambria" panose="02040503050406030204" pitchFamily="18" charset="0"/>
                <a:ea typeface="Cambria" panose="02040503050406030204" pitchFamily="18" charset="0"/>
              </a:rPr>
              <a:t>Http protocol is a stateless, so need to maintain state using session tracking techniques. Each time user requests to the server, server treats the request as the new request. So we need to maintain the state of a user to recognize to particular user.</a:t>
            </a:r>
          </a:p>
          <a:p>
            <a:pPr algn="just"/>
            <a:r>
              <a:rPr lang="en-GB" sz="2200" dirty="0" smtClean="0">
                <a:latin typeface="Cambria" panose="02040503050406030204" pitchFamily="18" charset="0"/>
                <a:ea typeface="Cambria" panose="02040503050406030204" pitchFamily="18" charset="0"/>
              </a:rPr>
              <a:t>HTTP is stateless that means each request is considered as the new request. It is shown in the figure given below:</a:t>
            </a:r>
          </a:p>
          <a:p>
            <a:pPr algn="just"/>
            <a:r>
              <a:rPr lang="en-GB" sz="2200" dirty="0" smtClean="0">
                <a:latin typeface="Cambria" panose="02040503050406030204" pitchFamily="18" charset="0"/>
                <a:ea typeface="Cambria" panose="02040503050406030204" pitchFamily="18" charset="0"/>
              </a:rPr>
              <a:t>Why use Session Tracking?</a:t>
            </a:r>
          </a:p>
          <a:p>
            <a:pPr marL="0" indent="0" algn="just">
              <a:buNone/>
            </a:pPr>
            <a:r>
              <a:rPr lang="en-GB" sz="2200" b="1" dirty="0" smtClean="0">
                <a:latin typeface="Cambria" panose="02040503050406030204" pitchFamily="18" charset="0"/>
                <a:ea typeface="Cambria" panose="02040503050406030204" pitchFamily="18" charset="0"/>
              </a:rPr>
              <a:t>	To recognize a particular user</a:t>
            </a:r>
            <a:endParaRPr lang="en-GB" sz="2200" dirty="0" smtClean="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45</a:t>
            </a:fld>
            <a:endParaRPr lang="en-US" altLang="en-US">
              <a:latin typeface="Cambria" panose="02040503050406030204" pitchFamily="18" charset="0"/>
              <a:ea typeface="Cambria" panose="02040503050406030204" pitchFamily="18" charset="0"/>
            </a:endParaRPr>
          </a:p>
        </p:txBody>
      </p:sp>
      <p:pic>
        <p:nvPicPr>
          <p:cNvPr id="5" name="Picture 4" descr="session tracking"/>
          <p:cNvPicPr/>
          <p:nvPr/>
        </p:nvPicPr>
        <p:blipFill>
          <a:blip r:embed="rId2"/>
          <a:srcRect/>
          <a:stretch>
            <a:fillRect/>
          </a:stretch>
        </p:blipFill>
        <p:spPr bwMode="auto">
          <a:xfrm>
            <a:off x="8040216" y="1196752"/>
            <a:ext cx="3678088" cy="244827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49297"/>
          </a:xfrm>
        </p:spPr>
        <p:txBody>
          <a:bodyPr/>
          <a:lstStyle/>
          <a:p>
            <a:r>
              <a:rPr lang="en-US" dirty="0" smtClean="0">
                <a:latin typeface="Cambria" panose="02040503050406030204" pitchFamily="18" charset="0"/>
                <a:ea typeface="Cambria" panose="02040503050406030204" pitchFamily="18" charset="0"/>
              </a:rPr>
              <a:t/>
            </a:r>
            <a:br>
              <a:rPr lang="en-US" dirty="0" smtClean="0">
                <a:latin typeface="Cambria" panose="02040503050406030204" pitchFamily="18" charset="0"/>
                <a:ea typeface="Cambria" panose="02040503050406030204" pitchFamily="18" charset="0"/>
              </a:rPr>
            </a:br>
            <a:r>
              <a:rPr lang="en-US" dirty="0" smtClean="0">
                <a:latin typeface="Cambria" panose="02040503050406030204" pitchFamily="18" charset="0"/>
                <a:ea typeface="Cambria" panose="02040503050406030204" pitchFamily="18" charset="0"/>
              </a:rPr>
              <a:t>Session Tracking Techniques</a:t>
            </a:r>
            <a:br>
              <a:rPr lang="en-US" dirty="0" smtClean="0">
                <a:latin typeface="Cambria" panose="02040503050406030204" pitchFamily="18" charset="0"/>
                <a:ea typeface="Cambria" panose="02040503050406030204" pitchFamily="18" charset="0"/>
              </a:rPr>
            </a:br>
            <a:r>
              <a:rPr lang="en-GB" dirty="0" smtClean="0">
                <a:latin typeface="Cambria" panose="02040503050406030204" pitchFamily="18" charset="0"/>
                <a:ea typeface="Cambria" panose="02040503050406030204" pitchFamily="18" charset="0"/>
              </a:rPr>
              <a:t/>
            </a:r>
            <a:br>
              <a:rPr lang="en-GB" dirty="0" smtClean="0">
                <a:latin typeface="Cambria" panose="02040503050406030204" pitchFamily="18" charset="0"/>
                <a:ea typeface="Cambria" panose="02040503050406030204" pitchFamily="18" charset="0"/>
              </a:rPr>
            </a:b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838200" y="1000108"/>
            <a:ext cx="10515600" cy="5176855"/>
          </a:xfrm>
        </p:spPr>
        <p:txBody>
          <a:bodyPr/>
          <a:lstStyle/>
          <a:p>
            <a:r>
              <a:rPr lang="en-GB" dirty="0" smtClean="0">
                <a:latin typeface="Cambria" panose="02040503050406030204" pitchFamily="18" charset="0"/>
                <a:ea typeface="Cambria" panose="02040503050406030204" pitchFamily="18" charset="0"/>
              </a:rPr>
              <a:t>There are four techniques used in Session tracking:</a:t>
            </a:r>
          </a:p>
          <a:p>
            <a:pPr marL="514350" indent="-514350">
              <a:buFont typeface="+mj-lt"/>
              <a:buAutoNum type="arabicPeriod"/>
            </a:pPr>
            <a:r>
              <a:rPr lang="en-GB" b="1" dirty="0" smtClean="0">
                <a:latin typeface="Cambria" panose="02040503050406030204" pitchFamily="18" charset="0"/>
                <a:ea typeface="Cambria" panose="02040503050406030204" pitchFamily="18" charset="0"/>
              </a:rPr>
              <a:t>Cookies</a:t>
            </a:r>
            <a:endParaRPr lang="en-GB" dirty="0" smtClean="0">
              <a:latin typeface="Cambria" panose="02040503050406030204" pitchFamily="18" charset="0"/>
              <a:ea typeface="Cambria" panose="02040503050406030204" pitchFamily="18" charset="0"/>
            </a:endParaRPr>
          </a:p>
          <a:p>
            <a:pPr marL="514350" indent="-514350">
              <a:buFont typeface="+mj-lt"/>
              <a:buAutoNum type="arabicPeriod"/>
            </a:pPr>
            <a:r>
              <a:rPr lang="en-GB" b="1" dirty="0" smtClean="0">
                <a:latin typeface="Cambria" panose="02040503050406030204" pitchFamily="18" charset="0"/>
                <a:ea typeface="Cambria" panose="02040503050406030204" pitchFamily="18" charset="0"/>
              </a:rPr>
              <a:t>Hidden Form Field</a:t>
            </a:r>
            <a:endParaRPr lang="en-GB" dirty="0" smtClean="0">
              <a:latin typeface="Cambria" panose="02040503050406030204" pitchFamily="18" charset="0"/>
              <a:ea typeface="Cambria" panose="02040503050406030204" pitchFamily="18" charset="0"/>
            </a:endParaRPr>
          </a:p>
          <a:p>
            <a:pPr marL="514350" indent="-514350">
              <a:buFont typeface="+mj-lt"/>
              <a:buAutoNum type="arabicPeriod"/>
            </a:pPr>
            <a:r>
              <a:rPr lang="en-GB" b="1" dirty="0" smtClean="0">
                <a:latin typeface="Cambria" panose="02040503050406030204" pitchFamily="18" charset="0"/>
                <a:ea typeface="Cambria" panose="02040503050406030204" pitchFamily="18" charset="0"/>
              </a:rPr>
              <a:t>URL Rewriting</a:t>
            </a:r>
            <a:endParaRPr lang="en-GB" dirty="0" smtClean="0">
              <a:latin typeface="Cambria" panose="02040503050406030204" pitchFamily="18" charset="0"/>
              <a:ea typeface="Cambria" panose="02040503050406030204" pitchFamily="18" charset="0"/>
            </a:endParaRPr>
          </a:p>
          <a:p>
            <a:pPr marL="514350" indent="-514350">
              <a:buFont typeface="+mj-lt"/>
              <a:buAutoNum type="arabicPeriod"/>
            </a:pPr>
            <a:r>
              <a:rPr lang="en-GB" b="1" dirty="0" err="1" smtClean="0">
                <a:latin typeface="Cambria" panose="02040503050406030204" pitchFamily="18" charset="0"/>
                <a:ea typeface="Cambria" panose="02040503050406030204" pitchFamily="18" charset="0"/>
              </a:rPr>
              <a:t>HttpSession</a:t>
            </a:r>
            <a:endParaRPr lang="en-GB" dirty="0" smtClean="0">
              <a:latin typeface="Cambria" panose="02040503050406030204" pitchFamily="18" charset="0"/>
              <a:ea typeface="Cambria" panose="02040503050406030204" pitchFamily="18" charset="0"/>
            </a:endParaRPr>
          </a:p>
          <a:p>
            <a:pPr>
              <a:buNone/>
            </a:pPr>
            <a:r>
              <a:rPr lang="en-GB" dirty="0" smtClean="0">
                <a:latin typeface="Cambria" panose="02040503050406030204" pitchFamily="18" charset="0"/>
                <a:ea typeface="Cambria" panose="02040503050406030204" pitchFamily="18" charset="0"/>
              </a:rPr>
              <a:t/>
            </a:r>
            <a:br>
              <a:rPr lang="en-GB" dirty="0" smtClean="0">
                <a:latin typeface="Cambria" panose="02040503050406030204" pitchFamily="18" charset="0"/>
                <a:ea typeface="Cambria" panose="02040503050406030204" pitchFamily="18" charset="0"/>
              </a:rPr>
            </a:br>
            <a:endParaRPr lang="en-US"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46</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36" y="116632"/>
            <a:ext cx="2665512" cy="471587"/>
          </a:xfrm>
        </p:spPr>
        <p:txBody>
          <a:bodyPr/>
          <a:lstStyle/>
          <a:p>
            <a:r>
              <a:rPr lang="en-GB" sz="4000" b="1" dirty="0" smtClean="0">
                <a:solidFill>
                  <a:srgbClr val="002060"/>
                </a:solidFill>
                <a:latin typeface="Cambria" panose="02040503050406030204" pitchFamily="18" charset="0"/>
                <a:ea typeface="Cambria" panose="02040503050406030204" pitchFamily="18" charset="0"/>
              </a:rPr>
              <a:t>Cookies</a:t>
            </a:r>
            <a:endParaRPr lang="en-US" sz="4000" b="1" dirty="0">
              <a:solidFill>
                <a:srgbClr val="00206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479376" y="839592"/>
            <a:ext cx="6336704" cy="4461616"/>
          </a:xfrm>
        </p:spPr>
        <p:txBody>
          <a:bodyPr/>
          <a:lstStyle/>
          <a:p>
            <a:pPr algn="just">
              <a:spcBef>
                <a:spcPts val="0"/>
              </a:spcBef>
              <a:buNone/>
            </a:pPr>
            <a:r>
              <a:rPr lang="en-GB" sz="2200" dirty="0" smtClean="0">
                <a:latin typeface="Cambria" panose="02040503050406030204" pitchFamily="18" charset="0"/>
                <a:ea typeface="Cambria" panose="02040503050406030204" pitchFamily="18" charset="0"/>
              </a:rPr>
              <a:t>A </a:t>
            </a:r>
            <a:r>
              <a:rPr lang="en-GB" sz="2200" b="1" dirty="0" smtClean="0">
                <a:latin typeface="Cambria" panose="02040503050406030204" pitchFamily="18" charset="0"/>
                <a:ea typeface="Cambria" panose="02040503050406030204" pitchFamily="18" charset="0"/>
              </a:rPr>
              <a:t>cookie</a:t>
            </a:r>
            <a:r>
              <a:rPr lang="en-GB" sz="2200" dirty="0" smtClean="0">
                <a:latin typeface="Cambria" panose="02040503050406030204" pitchFamily="18" charset="0"/>
                <a:ea typeface="Cambria" panose="02040503050406030204" pitchFamily="18" charset="0"/>
              </a:rPr>
              <a:t> is a small piece of information that is persisted between the multiple client requests.</a:t>
            </a:r>
          </a:p>
          <a:p>
            <a:pPr algn="just">
              <a:spcBef>
                <a:spcPts val="0"/>
              </a:spcBef>
              <a:buNone/>
            </a:pPr>
            <a:r>
              <a:rPr lang="en-GB" sz="2200" dirty="0" smtClean="0">
                <a:latin typeface="Cambria" panose="02040503050406030204" pitchFamily="18" charset="0"/>
                <a:ea typeface="Cambria" panose="02040503050406030204" pitchFamily="18" charset="0"/>
              </a:rPr>
              <a:t>A cookie has a name, a single value, and optional attributes such as a comment, path and domain qualifiers, a maximum age, and a version number.</a:t>
            </a:r>
          </a:p>
          <a:p>
            <a:pPr algn="just"/>
            <a:r>
              <a:rPr lang="en-GB" sz="2200" dirty="0" smtClean="0">
                <a:solidFill>
                  <a:srgbClr val="FF0000"/>
                </a:solidFill>
                <a:latin typeface="Cambria" panose="02040503050406030204" pitchFamily="18" charset="0"/>
                <a:ea typeface="Cambria" panose="02040503050406030204" pitchFamily="18" charset="0"/>
              </a:rPr>
              <a:t>How Cookie works?</a:t>
            </a:r>
          </a:p>
          <a:p>
            <a:pPr algn="just"/>
            <a:r>
              <a:rPr lang="en-GB" sz="2200" dirty="0" smtClean="0">
                <a:latin typeface="Cambria" panose="02040503050406030204" pitchFamily="18" charset="0"/>
                <a:ea typeface="Cambria" panose="02040503050406030204" pitchFamily="18" charset="0"/>
              </a:rPr>
              <a:t>By default, each request is considered as a new request. In cookies technique, we add cookie with response from the </a:t>
            </a:r>
            <a:r>
              <a:rPr lang="en-GB" sz="2200" dirty="0" err="1" smtClean="0">
                <a:latin typeface="Cambria" panose="02040503050406030204" pitchFamily="18" charset="0"/>
                <a:ea typeface="Cambria" panose="02040503050406030204" pitchFamily="18" charset="0"/>
              </a:rPr>
              <a:t>servlet</a:t>
            </a:r>
            <a:r>
              <a:rPr lang="en-GB" sz="2200" dirty="0" smtClean="0">
                <a:latin typeface="Cambria" panose="02040503050406030204" pitchFamily="18" charset="0"/>
                <a:ea typeface="Cambria" panose="02040503050406030204" pitchFamily="18" charset="0"/>
              </a:rPr>
              <a:t>. So cookie is stored in the cache of the browser. After that if request is sent by the user, cookie is added with request by default. Thus, we recognize the user as the old user.</a:t>
            </a:r>
          </a:p>
          <a:p>
            <a:pPr algn="just">
              <a:spcBef>
                <a:spcPts val="0"/>
              </a:spcBef>
              <a:buNone/>
            </a:pPr>
            <a:endParaRPr lang="en-US" sz="22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47</a:t>
            </a:fld>
            <a:endParaRPr lang="en-US" altLang="en-US">
              <a:latin typeface="Cambria" panose="02040503050406030204" pitchFamily="18" charset="0"/>
              <a:ea typeface="Cambria" panose="02040503050406030204" pitchFamily="18" charset="0"/>
            </a:endParaRPr>
          </a:p>
        </p:txBody>
      </p:sp>
      <p:pic>
        <p:nvPicPr>
          <p:cNvPr id="5" name="Picture 4" descr="cookies in servlet"/>
          <p:cNvPicPr/>
          <p:nvPr/>
        </p:nvPicPr>
        <p:blipFill>
          <a:blip r:embed="rId2"/>
          <a:srcRect/>
          <a:stretch>
            <a:fillRect/>
          </a:stretch>
        </p:blipFill>
        <p:spPr bwMode="auto">
          <a:xfrm>
            <a:off x="7248128" y="1412776"/>
            <a:ext cx="4592955" cy="146748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344" y="100381"/>
            <a:ext cx="4248472" cy="448299"/>
          </a:xfrm>
        </p:spPr>
        <p:txBody>
          <a:bodyPr/>
          <a:lstStyle/>
          <a:p>
            <a:r>
              <a:rPr lang="en-US" sz="4000" b="1" dirty="0" smtClean="0">
                <a:solidFill>
                  <a:srgbClr val="002060"/>
                </a:solidFill>
                <a:latin typeface="Cambria" panose="02040503050406030204" pitchFamily="18" charset="0"/>
                <a:ea typeface="Cambria" panose="02040503050406030204" pitchFamily="18" charset="0"/>
              </a:rPr>
              <a:t/>
            </a:r>
            <a:br>
              <a:rPr lang="en-US" sz="4000" b="1" dirty="0" smtClean="0">
                <a:solidFill>
                  <a:srgbClr val="002060"/>
                </a:solidFill>
                <a:latin typeface="Cambria" panose="02040503050406030204" pitchFamily="18" charset="0"/>
                <a:ea typeface="Cambria" panose="02040503050406030204" pitchFamily="18" charset="0"/>
              </a:rPr>
            </a:br>
            <a:r>
              <a:rPr lang="en-US" sz="4000" b="1" dirty="0" smtClean="0">
                <a:solidFill>
                  <a:srgbClr val="002060"/>
                </a:solidFill>
                <a:latin typeface="Cambria" panose="02040503050406030204" pitchFamily="18" charset="0"/>
                <a:ea typeface="Cambria" panose="02040503050406030204" pitchFamily="18" charset="0"/>
              </a:rPr>
              <a:t/>
            </a:r>
            <a:br>
              <a:rPr lang="en-US" sz="4000" b="1" dirty="0" smtClean="0">
                <a:solidFill>
                  <a:srgbClr val="002060"/>
                </a:solidFill>
                <a:latin typeface="Cambria" panose="02040503050406030204" pitchFamily="18" charset="0"/>
                <a:ea typeface="Cambria" panose="02040503050406030204" pitchFamily="18" charset="0"/>
              </a:rPr>
            </a:br>
            <a:r>
              <a:rPr lang="en-US" sz="4000" b="1" dirty="0" smtClean="0">
                <a:solidFill>
                  <a:srgbClr val="002060"/>
                </a:solidFill>
                <a:latin typeface="Cambria" panose="02040503050406030204" pitchFamily="18" charset="0"/>
                <a:ea typeface="Cambria" panose="02040503050406030204" pitchFamily="18" charset="0"/>
              </a:rPr>
              <a:t>Types of Cookie</a:t>
            </a:r>
            <a:br>
              <a:rPr lang="en-US" sz="4000" b="1" dirty="0" smtClean="0">
                <a:solidFill>
                  <a:srgbClr val="002060"/>
                </a:solidFill>
                <a:latin typeface="Cambria" panose="02040503050406030204" pitchFamily="18" charset="0"/>
                <a:ea typeface="Cambria" panose="02040503050406030204" pitchFamily="18" charset="0"/>
              </a:rPr>
            </a:br>
            <a:r>
              <a:rPr lang="en-US" sz="4000" b="1" dirty="0" smtClean="0">
                <a:solidFill>
                  <a:srgbClr val="002060"/>
                </a:solidFill>
                <a:latin typeface="Cambria" panose="02040503050406030204" pitchFamily="18" charset="0"/>
                <a:ea typeface="Cambria" panose="02040503050406030204" pitchFamily="18" charset="0"/>
              </a:rPr>
              <a:t/>
            </a:r>
            <a:br>
              <a:rPr lang="en-US" sz="4000" b="1" dirty="0" smtClean="0">
                <a:solidFill>
                  <a:srgbClr val="002060"/>
                </a:solidFill>
                <a:latin typeface="Cambria" panose="02040503050406030204" pitchFamily="18" charset="0"/>
                <a:ea typeface="Cambria" panose="02040503050406030204" pitchFamily="18" charset="0"/>
              </a:rPr>
            </a:br>
            <a:endParaRPr lang="en-US" sz="4000" b="1" dirty="0">
              <a:solidFill>
                <a:srgbClr val="00206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407368" y="548680"/>
            <a:ext cx="11377264" cy="4796163"/>
          </a:xfrm>
        </p:spPr>
        <p:txBody>
          <a:bodyPr/>
          <a:lstStyle/>
          <a:p>
            <a:pPr algn="just">
              <a:lnSpc>
                <a:spcPct val="100000"/>
              </a:lnSpc>
              <a:spcBef>
                <a:spcPts val="0"/>
              </a:spcBef>
              <a:buNone/>
            </a:pPr>
            <a:r>
              <a:rPr lang="en-GB" sz="2200" dirty="0" smtClean="0">
                <a:latin typeface="Cambria" panose="02040503050406030204" pitchFamily="18" charset="0"/>
                <a:ea typeface="Cambria" panose="02040503050406030204" pitchFamily="18" charset="0"/>
              </a:rPr>
              <a:t>There are 2 types of cookies in </a:t>
            </a:r>
            <a:r>
              <a:rPr lang="en-GB" sz="2200" dirty="0" err="1" smtClean="0">
                <a:latin typeface="Cambria" panose="02040503050406030204" pitchFamily="18" charset="0"/>
                <a:ea typeface="Cambria" panose="02040503050406030204" pitchFamily="18" charset="0"/>
              </a:rPr>
              <a:t>servlets</a:t>
            </a:r>
            <a:r>
              <a:rPr lang="en-GB" sz="2200" dirty="0" smtClean="0">
                <a:latin typeface="Cambria" panose="02040503050406030204" pitchFamily="18" charset="0"/>
                <a:ea typeface="Cambria" panose="02040503050406030204" pitchFamily="18" charset="0"/>
              </a:rPr>
              <a:t>.</a:t>
            </a:r>
          </a:p>
          <a:p>
            <a:pPr marL="514350" indent="-514350" algn="just">
              <a:lnSpc>
                <a:spcPct val="100000"/>
              </a:lnSpc>
              <a:spcBef>
                <a:spcPts val="0"/>
              </a:spcBef>
              <a:buFont typeface="+mj-lt"/>
              <a:buAutoNum type="arabicPeriod"/>
            </a:pPr>
            <a:r>
              <a:rPr lang="en-GB" sz="2200" dirty="0" smtClean="0">
                <a:latin typeface="Cambria" panose="02040503050406030204" pitchFamily="18" charset="0"/>
                <a:ea typeface="Cambria" panose="02040503050406030204" pitchFamily="18" charset="0"/>
              </a:rPr>
              <a:t>Non-persistent cookie</a:t>
            </a:r>
          </a:p>
          <a:p>
            <a:pPr marL="514350" indent="-514350" algn="just">
              <a:lnSpc>
                <a:spcPct val="100000"/>
              </a:lnSpc>
              <a:spcBef>
                <a:spcPts val="0"/>
              </a:spcBef>
              <a:buFont typeface="+mj-lt"/>
              <a:buAutoNum type="arabicPeriod"/>
            </a:pPr>
            <a:r>
              <a:rPr lang="en-GB" sz="2200" dirty="0" smtClean="0">
                <a:latin typeface="Cambria" panose="02040503050406030204" pitchFamily="18" charset="0"/>
                <a:ea typeface="Cambria" panose="02040503050406030204" pitchFamily="18" charset="0"/>
              </a:rPr>
              <a:t>Persistent cookie</a:t>
            </a:r>
          </a:p>
          <a:p>
            <a:pPr algn="just">
              <a:lnSpc>
                <a:spcPct val="100000"/>
              </a:lnSpc>
              <a:spcBef>
                <a:spcPts val="0"/>
              </a:spcBef>
            </a:pPr>
            <a:r>
              <a:rPr lang="en-GB" sz="2200" u="sng" dirty="0" smtClean="0">
                <a:latin typeface="Cambria" panose="02040503050406030204" pitchFamily="18" charset="0"/>
                <a:ea typeface="Cambria" panose="02040503050406030204" pitchFamily="18" charset="0"/>
              </a:rPr>
              <a:t>Non-persistent cookie</a:t>
            </a:r>
          </a:p>
          <a:p>
            <a:pPr algn="just">
              <a:lnSpc>
                <a:spcPct val="100000"/>
              </a:lnSpc>
              <a:spcBef>
                <a:spcPts val="0"/>
              </a:spcBef>
              <a:buNone/>
            </a:pPr>
            <a:r>
              <a:rPr lang="en-GB" sz="2200" dirty="0" smtClean="0">
                <a:latin typeface="Cambria" panose="02040503050406030204" pitchFamily="18" charset="0"/>
                <a:ea typeface="Cambria" panose="02040503050406030204" pitchFamily="18" charset="0"/>
              </a:rPr>
              <a:t>   It is </a:t>
            </a:r>
            <a:r>
              <a:rPr lang="en-GB" sz="2200" b="1" dirty="0" smtClean="0">
                <a:latin typeface="Cambria" panose="02040503050406030204" pitchFamily="18" charset="0"/>
                <a:ea typeface="Cambria" panose="02040503050406030204" pitchFamily="18" charset="0"/>
              </a:rPr>
              <a:t>valid for single session</a:t>
            </a:r>
            <a:r>
              <a:rPr lang="en-GB" sz="2200" dirty="0" smtClean="0">
                <a:latin typeface="Cambria" panose="02040503050406030204" pitchFamily="18" charset="0"/>
                <a:ea typeface="Cambria" panose="02040503050406030204" pitchFamily="18" charset="0"/>
              </a:rPr>
              <a:t> only. It is removed each time when user closes the browser.</a:t>
            </a:r>
          </a:p>
          <a:p>
            <a:pPr algn="just">
              <a:lnSpc>
                <a:spcPct val="100000"/>
              </a:lnSpc>
              <a:spcBef>
                <a:spcPts val="0"/>
              </a:spcBef>
            </a:pPr>
            <a:r>
              <a:rPr lang="en-GB" sz="2200" u="sng" dirty="0" smtClean="0">
                <a:latin typeface="Cambria" panose="02040503050406030204" pitchFamily="18" charset="0"/>
                <a:ea typeface="Cambria" panose="02040503050406030204" pitchFamily="18" charset="0"/>
              </a:rPr>
              <a:t>Persistent cookie</a:t>
            </a:r>
          </a:p>
          <a:p>
            <a:pPr algn="just">
              <a:lnSpc>
                <a:spcPct val="100000"/>
              </a:lnSpc>
              <a:spcBef>
                <a:spcPts val="0"/>
              </a:spcBef>
              <a:buNone/>
            </a:pPr>
            <a:r>
              <a:rPr lang="en-GB" sz="2200" dirty="0" smtClean="0">
                <a:latin typeface="Cambria" panose="02040503050406030204" pitchFamily="18" charset="0"/>
                <a:ea typeface="Cambria" panose="02040503050406030204" pitchFamily="18" charset="0"/>
              </a:rPr>
              <a:t>   It is </a:t>
            </a:r>
            <a:r>
              <a:rPr lang="en-GB" sz="2200" b="1" dirty="0" smtClean="0">
                <a:latin typeface="Cambria" panose="02040503050406030204" pitchFamily="18" charset="0"/>
                <a:ea typeface="Cambria" panose="02040503050406030204" pitchFamily="18" charset="0"/>
              </a:rPr>
              <a:t>valid for multiple sessions</a:t>
            </a:r>
            <a:r>
              <a:rPr lang="en-GB" sz="2200" dirty="0" smtClean="0">
                <a:latin typeface="Cambria" panose="02040503050406030204" pitchFamily="18" charset="0"/>
                <a:ea typeface="Cambria" panose="02040503050406030204" pitchFamily="18" charset="0"/>
              </a:rPr>
              <a:t>. It is not removed each time when user closes the browser. It is removed only if user logout or </a:t>
            </a:r>
            <a:r>
              <a:rPr lang="en-GB" sz="2200" dirty="0" err="1" smtClean="0">
                <a:latin typeface="Cambria" panose="02040503050406030204" pitchFamily="18" charset="0"/>
                <a:ea typeface="Cambria" panose="02040503050406030204" pitchFamily="18" charset="0"/>
              </a:rPr>
              <a:t>signout</a:t>
            </a:r>
            <a:r>
              <a:rPr lang="en-GB" sz="2200" dirty="0" smtClean="0">
                <a:latin typeface="Cambria" panose="02040503050406030204" pitchFamily="18" charset="0"/>
                <a:ea typeface="Cambria" panose="02040503050406030204" pitchFamily="18" charset="0"/>
              </a:rPr>
              <a:t>.</a:t>
            </a:r>
          </a:p>
          <a:p>
            <a:pPr algn="just">
              <a:lnSpc>
                <a:spcPct val="100000"/>
              </a:lnSpc>
              <a:spcBef>
                <a:spcPts val="0"/>
              </a:spcBef>
            </a:pPr>
            <a:r>
              <a:rPr lang="en-GB" sz="2200" b="1" u="sng" dirty="0" smtClean="0">
                <a:latin typeface="Cambria" panose="02040503050406030204" pitchFamily="18" charset="0"/>
                <a:ea typeface="Cambria" panose="02040503050406030204" pitchFamily="18" charset="0"/>
              </a:rPr>
              <a:t>Advantage of Cookies</a:t>
            </a:r>
          </a:p>
          <a:p>
            <a:pPr algn="just">
              <a:lnSpc>
                <a:spcPct val="100000"/>
              </a:lnSpc>
              <a:spcBef>
                <a:spcPts val="0"/>
              </a:spcBef>
            </a:pPr>
            <a:r>
              <a:rPr lang="en-GB" sz="2200" dirty="0" smtClean="0">
                <a:latin typeface="Cambria" panose="02040503050406030204" pitchFamily="18" charset="0"/>
                <a:ea typeface="Cambria" panose="02040503050406030204" pitchFamily="18" charset="0"/>
              </a:rPr>
              <a:t>Simplest technique of maintaining the state.</a:t>
            </a:r>
          </a:p>
          <a:p>
            <a:pPr algn="just">
              <a:lnSpc>
                <a:spcPct val="100000"/>
              </a:lnSpc>
              <a:spcBef>
                <a:spcPts val="0"/>
              </a:spcBef>
            </a:pPr>
            <a:r>
              <a:rPr lang="en-GB" sz="2200" dirty="0" smtClean="0">
                <a:latin typeface="Cambria" panose="02040503050406030204" pitchFamily="18" charset="0"/>
                <a:ea typeface="Cambria" panose="02040503050406030204" pitchFamily="18" charset="0"/>
              </a:rPr>
              <a:t>Cookies are maintained at client side.</a:t>
            </a:r>
          </a:p>
          <a:p>
            <a:pPr algn="just">
              <a:lnSpc>
                <a:spcPct val="100000"/>
              </a:lnSpc>
              <a:spcBef>
                <a:spcPts val="0"/>
              </a:spcBef>
            </a:pPr>
            <a:r>
              <a:rPr lang="en-GB" sz="2200" b="1" u="sng" dirty="0" smtClean="0">
                <a:latin typeface="Cambria" panose="02040503050406030204" pitchFamily="18" charset="0"/>
                <a:ea typeface="Cambria" panose="02040503050406030204" pitchFamily="18" charset="0"/>
              </a:rPr>
              <a:t>Disadvantage of Cookies</a:t>
            </a:r>
          </a:p>
          <a:p>
            <a:pPr algn="just">
              <a:lnSpc>
                <a:spcPct val="100000"/>
              </a:lnSpc>
              <a:spcBef>
                <a:spcPts val="0"/>
              </a:spcBef>
            </a:pPr>
            <a:r>
              <a:rPr lang="en-GB" sz="2200" dirty="0" smtClean="0">
                <a:latin typeface="Cambria" panose="02040503050406030204" pitchFamily="18" charset="0"/>
                <a:ea typeface="Cambria" panose="02040503050406030204" pitchFamily="18" charset="0"/>
              </a:rPr>
              <a:t>It will not work, if cookie is disabled from the browser.</a:t>
            </a:r>
          </a:p>
          <a:p>
            <a:pPr algn="just">
              <a:lnSpc>
                <a:spcPct val="100000"/>
              </a:lnSpc>
              <a:spcBef>
                <a:spcPts val="0"/>
              </a:spcBef>
            </a:pPr>
            <a:r>
              <a:rPr lang="en-GB" sz="2200" dirty="0" smtClean="0">
                <a:latin typeface="Cambria" panose="02040503050406030204" pitchFamily="18" charset="0"/>
                <a:ea typeface="Cambria" panose="02040503050406030204" pitchFamily="18" charset="0"/>
              </a:rPr>
              <a:t>Only textual information can be set in Cookie object.</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48</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36" y="69239"/>
            <a:ext cx="7200800" cy="576970"/>
          </a:xfrm>
        </p:spPr>
        <p:txBody>
          <a:bodyPr/>
          <a:lstStyle/>
          <a:p>
            <a:r>
              <a:rPr lang="en-GB" sz="3600" b="1" dirty="0" smtClean="0">
                <a:solidFill>
                  <a:srgbClr val="002060"/>
                </a:solidFill>
                <a:latin typeface="Cambria" panose="02040503050406030204" pitchFamily="18" charset="0"/>
                <a:ea typeface="Cambria" panose="02040503050406030204" pitchFamily="18" charset="0"/>
              </a:rPr>
              <a:t>How to create/delete/get/cookie</a:t>
            </a:r>
            <a:endParaRPr lang="en-US" sz="3600" b="1" dirty="0">
              <a:solidFill>
                <a:srgbClr val="002060"/>
              </a:solidFill>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49</a:t>
            </a:fld>
            <a:endParaRPr lang="en-US" altLang="en-US">
              <a:latin typeface="Cambria" panose="02040503050406030204" pitchFamily="18" charset="0"/>
              <a:ea typeface="Cambria" panose="02040503050406030204" pitchFamily="18" charset="0"/>
            </a:endParaRPr>
          </a:p>
        </p:txBody>
      </p:sp>
      <p:sp>
        <p:nvSpPr>
          <p:cNvPr id="6" name="Content Placeholder 5"/>
          <p:cNvSpPr>
            <a:spLocks noGrp="1"/>
          </p:cNvSpPr>
          <p:nvPr>
            <p:ph idx="1"/>
          </p:nvPr>
        </p:nvSpPr>
        <p:spPr>
          <a:xfrm>
            <a:off x="479376" y="646209"/>
            <a:ext cx="11161240" cy="4727007"/>
          </a:xfrm>
        </p:spPr>
        <p:txBody>
          <a:bodyPr/>
          <a:lstStyle/>
          <a:p>
            <a:pPr marL="0" indent="0">
              <a:lnSpc>
                <a:spcPct val="100000"/>
              </a:lnSpc>
              <a:spcBef>
                <a:spcPts val="0"/>
              </a:spcBef>
              <a:buNone/>
            </a:pPr>
            <a:r>
              <a:rPr lang="en-GB" sz="2200" b="1" u="sng" dirty="0" smtClean="0">
                <a:latin typeface="Cambria" panose="02040503050406030204" pitchFamily="18" charset="0"/>
                <a:ea typeface="Cambria" panose="02040503050406030204" pitchFamily="18" charset="0"/>
              </a:rPr>
              <a:t>create cookie.</a:t>
            </a:r>
          </a:p>
          <a:p>
            <a:pPr marL="0" indent="0">
              <a:lnSpc>
                <a:spcPct val="100000"/>
              </a:lnSpc>
              <a:spcBef>
                <a:spcPts val="0"/>
              </a:spcBef>
              <a:buNone/>
            </a:pPr>
            <a:r>
              <a:rPr lang="en-GB" sz="2200" dirty="0" smtClean="0">
                <a:latin typeface="Cambria" panose="02040503050406030204" pitchFamily="18" charset="0"/>
                <a:ea typeface="Cambria" panose="02040503050406030204" pitchFamily="18" charset="0"/>
              </a:rPr>
              <a:t>Cookie ck=</a:t>
            </a:r>
            <a:r>
              <a:rPr lang="en-GB" sz="2200" b="1" dirty="0" smtClean="0">
                <a:latin typeface="Cambria" panose="02040503050406030204" pitchFamily="18" charset="0"/>
                <a:ea typeface="Cambria" panose="02040503050406030204" pitchFamily="18" charset="0"/>
              </a:rPr>
              <a:t>new</a:t>
            </a:r>
            <a:r>
              <a:rPr lang="en-GB" sz="2200" dirty="0" smtClean="0">
                <a:latin typeface="Cambria" panose="02040503050406030204" pitchFamily="18" charset="0"/>
                <a:ea typeface="Cambria" panose="02040503050406030204" pitchFamily="18" charset="0"/>
              </a:rPr>
              <a:t> Cookie("user", “Rahul");//creating cookie object  </a:t>
            </a:r>
          </a:p>
          <a:p>
            <a:pPr marL="0" indent="0">
              <a:lnSpc>
                <a:spcPct val="100000"/>
              </a:lnSpc>
              <a:spcBef>
                <a:spcPts val="0"/>
              </a:spcBef>
              <a:buNone/>
            </a:pPr>
            <a:r>
              <a:rPr lang="en-GB" sz="2200" dirty="0" smtClean="0">
                <a:latin typeface="Cambria" panose="02040503050406030204" pitchFamily="18" charset="0"/>
                <a:ea typeface="Cambria" panose="02040503050406030204" pitchFamily="18" charset="0"/>
              </a:rPr>
              <a:t>response.addCookie(ck);//adding cookie in the response </a:t>
            </a:r>
          </a:p>
          <a:p>
            <a:pPr marL="0" indent="0">
              <a:lnSpc>
                <a:spcPct val="100000"/>
              </a:lnSpc>
              <a:spcBef>
                <a:spcPts val="0"/>
              </a:spcBef>
              <a:buNone/>
            </a:pPr>
            <a:r>
              <a:rPr lang="en-GB" sz="2200" dirty="0" smtClean="0">
                <a:latin typeface="Cambria" panose="02040503050406030204" pitchFamily="18" charset="0"/>
                <a:ea typeface="Cambria" panose="02040503050406030204" pitchFamily="18" charset="0"/>
              </a:rPr>
              <a:t> </a:t>
            </a:r>
            <a:r>
              <a:rPr lang="en-GB" sz="2200" u="sng" dirty="0" smtClean="0">
                <a:latin typeface="Cambria" panose="02040503050406030204" pitchFamily="18" charset="0"/>
                <a:ea typeface="Cambria" panose="02040503050406030204" pitchFamily="18" charset="0"/>
              </a:rPr>
              <a:t>delete Cookie</a:t>
            </a:r>
            <a:endParaRPr lang="en-GB" sz="2200" dirty="0" smtClean="0">
              <a:latin typeface="Cambria" panose="02040503050406030204" pitchFamily="18" charset="0"/>
              <a:ea typeface="Cambria" panose="02040503050406030204" pitchFamily="18" charset="0"/>
            </a:endParaRPr>
          </a:p>
          <a:p>
            <a:pPr marL="0" indent="0">
              <a:lnSpc>
                <a:spcPct val="100000"/>
              </a:lnSpc>
              <a:spcBef>
                <a:spcPts val="0"/>
              </a:spcBef>
              <a:buNone/>
            </a:pPr>
            <a:r>
              <a:rPr lang="en-GB" sz="2200" dirty="0" smtClean="0">
                <a:latin typeface="Cambria" panose="02040503050406030204" pitchFamily="18" charset="0"/>
                <a:ea typeface="Cambria" panose="02040503050406030204" pitchFamily="18" charset="0"/>
              </a:rPr>
              <a:t> It is mainly used to logout or signout the user.</a:t>
            </a:r>
          </a:p>
          <a:p>
            <a:pPr marL="0" indent="0">
              <a:lnSpc>
                <a:spcPct val="100000"/>
              </a:lnSpc>
              <a:spcBef>
                <a:spcPts val="0"/>
              </a:spcBef>
              <a:buNone/>
            </a:pPr>
            <a:r>
              <a:rPr lang="en-GB" sz="2200" dirty="0" smtClean="0">
                <a:latin typeface="Cambria" panose="02040503050406030204" pitchFamily="18" charset="0"/>
                <a:ea typeface="Cambria" panose="02040503050406030204" pitchFamily="18" charset="0"/>
              </a:rPr>
              <a:t>Cookie ck=</a:t>
            </a:r>
            <a:r>
              <a:rPr lang="en-GB" sz="2200" b="1" dirty="0" smtClean="0">
                <a:latin typeface="Cambria" panose="02040503050406030204" pitchFamily="18" charset="0"/>
                <a:ea typeface="Cambria" panose="02040503050406030204" pitchFamily="18" charset="0"/>
              </a:rPr>
              <a:t>new</a:t>
            </a:r>
            <a:r>
              <a:rPr lang="en-GB" sz="2200" dirty="0" smtClean="0">
                <a:latin typeface="Cambria" panose="02040503050406030204" pitchFamily="18" charset="0"/>
                <a:ea typeface="Cambria" panose="02040503050406030204" pitchFamily="18" charset="0"/>
              </a:rPr>
              <a:t> Cookie("user", "");//deleting value of cookie  </a:t>
            </a:r>
          </a:p>
          <a:p>
            <a:pPr marL="0" indent="0">
              <a:lnSpc>
                <a:spcPct val="100000"/>
              </a:lnSpc>
              <a:spcBef>
                <a:spcPts val="0"/>
              </a:spcBef>
              <a:buNone/>
            </a:pPr>
            <a:r>
              <a:rPr lang="en-GB" sz="2200" dirty="0" smtClean="0">
                <a:latin typeface="Cambria" panose="02040503050406030204" pitchFamily="18" charset="0"/>
                <a:ea typeface="Cambria" panose="02040503050406030204" pitchFamily="18" charset="0"/>
              </a:rPr>
              <a:t>ck.setMaxAge(0);//changing the maximum age to 0 seconds  </a:t>
            </a:r>
          </a:p>
          <a:p>
            <a:pPr marL="0" indent="0">
              <a:lnSpc>
                <a:spcPct val="100000"/>
              </a:lnSpc>
              <a:spcBef>
                <a:spcPts val="0"/>
              </a:spcBef>
              <a:buNone/>
            </a:pPr>
            <a:r>
              <a:rPr lang="en-GB" sz="2200" dirty="0" smtClean="0">
                <a:latin typeface="Cambria" panose="02040503050406030204" pitchFamily="18" charset="0"/>
                <a:ea typeface="Cambria" panose="02040503050406030204" pitchFamily="18" charset="0"/>
              </a:rPr>
              <a:t>  </a:t>
            </a:r>
          </a:p>
          <a:p>
            <a:pPr marL="0" indent="0">
              <a:lnSpc>
                <a:spcPct val="100000"/>
              </a:lnSpc>
              <a:spcBef>
                <a:spcPts val="0"/>
              </a:spcBef>
              <a:buNone/>
            </a:pPr>
            <a:r>
              <a:rPr lang="en-GB" sz="2200" b="1" dirty="0" smtClean="0">
                <a:latin typeface="Cambria" panose="02040503050406030204" pitchFamily="18" charset="0"/>
                <a:ea typeface="Cambria" panose="02040503050406030204" pitchFamily="18" charset="0"/>
              </a:rPr>
              <a:t> </a:t>
            </a:r>
            <a:r>
              <a:rPr lang="en-GB" sz="2200" b="1" u="sng" dirty="0" smtClean="0">
                <a:latin typeface="Cambria" panose="02040503050406030204" pitchFamily="18" charset="0"/>
                <a:ea typeface="Cambria" panose="02040503050406030204" pitchFamily="18" charset="0"/>
              </a:rPr>
              <a:t>get Cookies</a:t>
            </a:r>
          </a:p>
          <a:p>
            <a:pPr marL="0" indent="0">
              <a:lnSpc>
                <a:spcPct val="100000"/>
              </a:lnSpc>
              <a:spcBef>
                <a:spcPts val="0"/>
              </a:spcBef>
              <a:buNone/>
            </a:pPr>
            <a:r>
              <a:rPr lang="en-GB" sz="2200" dirty="0" smtClean="0">
                <a:latin typeface="Cambria" panose="02040503050406030204" pitchFamily="18" charset="0"/>
                <a:ea typeface="Cambria" panose="02040503050406030204" pitchFamily="18" charset="0"/>
              </a:rPr>
              <a:t>to get all the cookies.</a:t>
            </a:r>
          </a:p>
          <a:p>
            <a:pPr>
              <a:lnSpc>
                <a:spcPct val="100000"/>
              </a:lnSpc>
              <a:spcBef>
                <a:spcPts val="0"/>
              </a:spcBef>
              <a:buNone/>
            </a:pPr>
            <a:r>
              <a:rPr lang="en-GB" sz="2200" dirty="0" smtClean="0">
                <a:latin typeface="Cambria" panose="02040503050406030204" pitchFamily="18" charset="0"/>
                <a:ea typeface="Cambria" panose="02040503050406030204" pitchFamily="18" charset="0"/>
              </a:rPr>
              <a:t>Cookie ck[]=request.getCookies();  </a:t>
            </a:r>
          </a:p>
          <a:p>
            <a:pPr>
              <a:lnSpc>
                <a:spcPct val="100000"/>
              </a:lnSpc>
              <a:spcBef>
                <a:spcPts val="0"/>
              </a:spcBef>
              <a:buNone/>
            </a:pPr>
            <a:r>
              <a:rPr lang="en-GB" sz="2200" b="1" dirty="0" smtClean="0">
                <a:latin typeface="Cambria" panose="02040503050406030204" pitchFamily="18" charset="0"/>
                <a:ea typeface="Cambria" panose="02040503050406030204" pitchFamily="18" charset="0"/>
              </a:rPr>
              <a:t>for</a:t>
            </a:r>
            <a:r>
              <a:rPr lang="en-GB" sz="2200" dirty="0" smtClean="0">
                <a:latin typeface="Cambria" panose="02040503050406030204" pitchFamily="18" charset="0"/>
                <a:ea typeface="Cambria" panose="02040503050406030204" pitchFamily="18" charset="0"/>
              </a:rPr>
              <a:t>(</a:t>
            </a:r>
            <a:r>
              <a:rPr lang="en-GB" sz="2200" b="1" dirty="0" smtClean="0">
                <a:latin typeface="Cambria" panose="02040503050406030204" pitchFamily="18" charset="0"/>
                <a:ea typeface="Cambria" panose="02040503050406030204" pitchFamily="18" charset="0"/>
              </a:rPr>
              <a:t>int</a:t>
            </a:r>
            <a:r>
              <a:rPr lang="en-GB" sz="2200" dirty="0" smtClean="0">
                <a:latin typeface="Cambria" panose="02040503050406030204" pitchFamily="18" charset="0"/>
                <a:ea typeface="Cambria" panose="02040503050406030204" pitchFamily="18" charset="0"/>
              </a:rPr>
              <a:t> i=0;i&lt;ck.length;i++){  </a:t>
            </a:r>
          </a:p>
          <a:p>
            <a:pPr>
              <a:lnSpc>
                <a:spcPct val="100000"/>
              </a:lnSpc>
              <a:spcBef>
                <a:spcPts val="0"/>
              </a:spcBef>
              <a:buNone/>
            </a:pPr>
            <a:r>
              <a:rPr lang="en-GB" sz="2200" dirty="0" smtClean="0">
                <a:latin typeface="Cambria" panose="02040503050406030204" pitchFamily="18" charset="0"/>
                <a:ea typeface="Cambria" panose="02040503050406030204" pitchFamily="18" charset="0"/>
              </a:rPr>
              <a:t> out.print("&lt;br&gt;"+ck[i].getName()+" "+ck[i].getValue());//printing name and value of cookie</a:t>
            </a:r>
          </a:p>
          <a:p>
            <a:pPr>
              <a:lnSpc>
                <a:spcPct val="100000"/>
              </a:lnSpc>
              <a:spcBef>
                <a:spcPts val="0"/>
              </a:spcBef>
              <a:buNone/>
            </a:pPr>
            <a:r>
              <a:rPr lang="en-GB" sz="2200" dirty="0" smtClean="0">
                <a:latin typeface="Cambria" panose="02040503050406030204" pitchFamily="18" charset="0"/>
                <a:ea typeface="Cambria" panose="02040503050406030204" pitchFamily="18" charset="0"/>
              </a:rPr>
              <a:t>}  </a:t>
            </a:r>
          </a:p>
          <a:p>
            <a:pPr>
              <a:lnSpc>
                <a:spcPct val="100000"/>
              </a:lnSpc>
              <a:spcBef>
                <a:spcPts val="0"/>
              </a:spcBef>
              <a:buNone/>
            </a:pPr>
            <a:r>
              <a:rPr lang="en-GB" sz="2200" dirty="0" smtClean="0">
                <a:latin typeface="Cambria" panose="02040503050406030204" pitchFamily="18" charset="0"/>
                <a:ea typeface="Cambria" panose="02040503050406030204" pitchFamily="18" charset="0"/>
              </a:rPr>
              <a:t/>
            </a:r>
            <a:br>
              <a:rPr lang="en-GB" sz="2200" dirty="0" smtClean="0">
                <a:latin typeface="Cambria" panose="02040503050406030204" pitchFamily="18" charset="0"/>
                <a:ea typeface="Cambria" panose="02040503050406030204" pitchFamily="18" charset="0"/>
              </a:rPr>
            </a:br>
            <a:endParaRPr lang="en-US" sz="2200" dirty="0">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344" y="188640"/>
            <a:ext cx="2665512" cy="543595"/>
          </a:xfrm>
        </p:spPr>
        <p:txBody>
          <a:bodyPr/>
          <a:lstStyle/>
          <a:p>
            <a:r>
              <a:rPr lang="en-GB" sz="4000" b="1" dirty="0" smtClean="0">
                <a:solidFill>
                  <a:srgbClr val="002060"/>
                </a:solidFill>
                <a:latin typeface="Cambria" panose="02040503050406030204" pitchFamily="18" charset="0"/>
                <a:ea typeface="Cambria" panose="02040503050406030204" pitchFamily="18" charset="0"/>
              </a:rPr>
              <a:t>Example</a:t>
            </a:r>
            <a:endParaRPr lang="en-US" sz="4000" b="1" dirty="0">
              <a:solidFill>
                <a:srgbClr val="00206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407368" y="895430"/>
            <a:ext cx="11089232" cy="1957506"/>
          </a:xfrm>
        </p:spPr>
        <p:txBody>
          <a:bodyPr/>
          <a:lstStyle/>
          <a:p>
            <a:pPr marL="0" indent="0" algn="just">
              <a:buNone/>
            </a:pPr>
            <a:r>
              <a:rPr lang="en-GB" dirty="0">
                <a:latin typeface="Cambria" panose="02040503050406030204" pitchFamily="18" charset="0"/>
                <a:ea typeface="Cambria" panose="02040503050406030204" pitchFamily="18" charset="0"/>
              </a:rPr>
              <a:t>S</a:t>
            </a:r>
            <a:r>
              <a:rPr lang="en-GB" dirty="0" smtClean="0">
                <a:latin typeface="Cambria" panose="02040503050406030204" pitchFamily="18" charset="0"/>
                <a:ea typeface="Cambria" panose="02040503050406030204" pitchFamily="18" charset="0"/>
              </a:rPr>
              <a:t>toring the name of the user in the cookie object and accessing it in another servlet. As we know well that session corresponds to the particular user. So if you access it from too many browsers with different values, you will get the different value.</a:t>
            </a:r>
          </a:p>
          <a:p>
            <a:pPr algn="just"/>
            <a:endParaRPr lang="en-US"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50</a:t>
            </a:fld>
            <a:endParaRPr lang="en-US" altLang="en-US">
              <a:latin typeface="Cambria" panose="02040503050406030204" pitchFamily="18" charset="0"/>
              <a:ea typeface="Cambria" panose="02040503050406030204" pitchFamily="18" charset="0"/>
            </a:endParaRPr>
          </a:p>
        </p:txBody>
      </p:sp>
      <p:pic>
        <p:nvPicPr>
          <p:cNvPr id="5" name="Picture 4" descr="cookies in session tracking"/>
          <p:cNvPicPr/>
          <p:nvPr/>
        </p:nvPicPr>
        <p:blipFill>
          <a:blip r:embed="rId2"/>
          <a:srcRect/>
          <a:stretch>
            <a:fillRect/>
          </a:stretch>
        </p:blipFill>
        <p:spPr bwMode="auto">
          <a:xfrm>
            <a:off x="2351584" y="2636912"/>
            <a:ext cx="6552728" cy="302433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3352" y="188641"/>
            <a:ext cx="2952328" cy="648072"/>
          </a:xfrm>
        </p:spPr>
        <p:txBody>
          <a:bodyPr/>
          <a:lstStyle/>
          <a:p>
            <a:r>
              <a:rPr lang="en-US" sz="4000" b="1" dirty="0" smtClean="0">
                <a:solidFill>
                  <a:srgbClr val="002060"/>
                </a:solidFill>
                <a:latin typeface="Cambria" panose="02040503050406030204" pitchFamily="18" charset="0"/>
                <a:ea typeface="Cambria" panose="02040503050406030204" pitchFamily="18" charset="0"/>
              </a:rPr>
              <a:t>index.html</a:t>
            </a:r>
            <a:endParaRPr lang="en-US" b="1" dirty="0">
              <a:solidFill>
                <a:srgbClr val="00206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767408" y="1052736"/>
            <a:ext cx="10370368" cy="2144280"/>
          </a:xfrm>
        </p:spPr>
        <p:txBody>
          <a:bodyPr/>
          <a:lstStyle/>
          <a:p>
            <a:r>
              <a:rPr lang="en-GB" dirty="0" smtClean="0">
                <a:latin typeface="Cambria" panose="02040503050406030204" pitchFamily="18" charset="0"/>
                <a:ea typeface="Cambria" panose="02040503050406030204" pitchFamily="18" charset="0"/>
              </a:rPr>
              <a:t>&lt;form action="servlet1" method="post"&gt;  </a:t>
            </a:r>
          </a:p>
          <a:p>
            <a:r>
              <a:rPr lang="en-GB" dirty="0" smtClean="0">
                <a:latin typeface="Cambria" panose="02040503050406030204" pitchFamily="18" charset="0"/>
                <a:ea typeface="Cambria" panose="02040503050406030204" pitchFamily="18" charset="0"/>
              </a:rPr>
              <a:t>Name:&lt;input type="text" name="</a:t>
            </a:r>
            <a:r>
              <a:rPr lang="en-GB" dirty="0" err="1" smtClean="0">
                <a:latin typeface="Cambria" panose="02040503050406030204" pitchFamily="18" charset="0"/>
                <a:ea typeface="Cambria" panose="02040503050406030204" pitchFamily="18" charset="0"/>
              </a:rPr>
              <a:t>userName</a:t>
            </a:r>
            <a:r>
              <a:rPr lang="en-GB" dirty="0" smtClean="0">
                <a:latin typeface="Cambria" panose="02040503050406030204" pitchFamily="18" charset="0"/>
                <a:ea typeface="Cambria" panose="02040503050406030204" pitchFamily="18" charset="0"/>
              </a:rPr>
              <a:t>"/&gt;&lt;</a:t>
            </a:r>
            <a:r>
              <a:rPr lang="en-GB" dirty="0" err="1" smtClean="0">
                <a:latin typeface="Cambria" panose="02040503050406030204" pitchFamily="18" charset="0"/>
                <a:ea typeface="Cambria" panose="02040503050406030204" pitchFamily="18" charset="0"/>
              </a:rPr>
              <a:t>br</a:t>
            </a:r>
            <a:r>
              <a:rPr lang="en-GB" dirty="0" smtClean="0">
                <a:latin typeface="Cambria" panose="02040503050406030204" pitchFamily="18" charset="0"/>
                <a:ea typeface="Cambria" panose="02040503050406030204" pitchFamily="18" charset="0"/>
              </a:rPr>
              <a:t>/&gt;  </a:t>
            </a:r>
          </a:p>
          <a:p>
            <a:r>
              <a:rPr lang="en-GB" dirty="0" smtClean="0">
                <a:latin typeface="Cambria" panose="02040503050406030204" pitchFamily="18" charset="0"/>
                <a:ea typeface="Cambria" panose="02040503050406030204" pitchFamily="18" charset="0"/>
              </a:rPr>
              <a:t>&lt;input type="submit" value="go"/&gt;  </a:t>
            </a:r>
          </a:p>
          <a:p>
            <a:r>
              <a:rPr lang="en-GB" dirty="0" smtClean="0">
                <a:latin typeface="Cambria" panose="02040503050406030204" pitchFamily="18" charset="0"/>
                <a:ea typeface="Cambria" panose="02040503050406030204" pitchFamily="18" charset="0"/>
              </a:rPr>
              <a:t>&lt;/form&gt;</a:t>
            </a:r>
          </a:p>
          <a:p>
            <a:endParaRPr lang="en-US"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51</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7368" y="0"/>
            <a:ext cx="10515600" cy="634983"/>
          </a:xfrm>
        </p:spPr>
        <p:txBody>
          <a:bodyPr/>
          <a:lstStyle/>
          <a:p>
            <a:r>
              <a:rPr lang="en-US" sz="4000" b="1" dirty="0" smtClean="0">
                <a:solidFill>
                  <a:srgbClr val="002060"/>
                </a:solidFill>
                <a:latin typeface="Cambria" panose="02040503050406030204" pitchFamily="18" charset="0"/>
                <a:ea typeface="Cambria" panose="02040503050406030204" pitchFamily="18" charset="0"/>
              </a:rPr>
              <a:t>FirstServlet.java</a:t>
            </a:r>
            <a:endParaRPr lang="en-US" sz="4000" b="1" dirty="0">
              <a:solidFill>
                <a:srgbClr val="00206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767408" y="634983"/>
            <a:ext cx="10297144" cy="6086492"/>
          </a:xfrm>
        </p:spPr>
        <p:txBody>
          <a:bodyPr/>
          <a:lstStyle/>
          <a:p>
            <a:pPr>
              <a:lnSpc>
                <a:spcPct val="100000"/>
              </a:lnSpc>
              <a:spcBef>
                <a:spcPts val="0"/>
              </a:spcBef>
              <a:buNone/>
            </a:pPr>
            <a:r>
              <a:rPr lang="en-US" sz="2000" b="1" dirty="0" smtClean="0">
                <a:latin typeface="Cambria" panose="02040503050406030204" pitchFamily="18" charset="0"/>
                <a:ea typeface="Cambria" panose="02040503050406030204" pitchFamily="18" charset="0"/>
              </a:rPr>
              <a:t>import</a:t>
            </a:r>
            <a:r>
              <a:rPr lang="en-US" sz="2000" dirty="0" smtClean="0">
                <a:latin typeface="Cambria" panose="02040503050406030204" pitchFamily="18" charset="0"/>
                <a:ea typeface="Cambria" panose="02040503050406030204" pitchFamily="18" charset="0"/>
              </a:rPr>
              <a:t> java.io.*;  </a:t>
            </a:r>
          </a:p>
          <a:p>
            <a:pPr>
              <a:lnSpc>
                <a:spcPct val="100000"/>
              </a:lnSpc>
              <a:spcBef>
                <a:spcPts val="0"/>
              </a:spcBef>
              <a:buNone/>
            </a:pPr>
            <a:r>
              <a:rPr lang="en-US" sz="2000" b="1" dirty="0" smtClean="0">
                <a:latin typeface="Cambria" panose="02040503050406030204" pitchFamily="18" charset="0"/>
                <a:ea typeface="Cambria" panose="02040503050406030204" pitchFamily="18" charset="0"/>
              </a:rPr>
              <a:t>import</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javax.servlet</a:t>
            </a:r>
            <a:r>
              <a:rPr lang="en-US" sz="2000" dirty="0" smtClean="0">
                <a:latin typeface="Cambria" panose="02040503050406030204" pitchFamily="18" charset="0"/>
                <a:ea typeface="Cambria" panose="02040503050406030204" pitchFamily="18" charset="0"/>
              </a:rPr>
              <a:t>.*;  </a:t>
            </a:r>
          </a:p>
          <a:p>
            <a:pPr>
              <a:lnSpc>
                <a:spcPct val="100000"/>
              </a:lnSpc>
              <a:spcBef>
                <a:spcPts val="0"/>
              </a:spcBef>
              <a:buNone/>
            </a:pPr>
            <a:r>
              <a:rPr lang="en-US" sz="2000" b="1" dirty="0" smtClean="0">
                <a:latin typeface="Cambria" panose="02040503050406030204" pitchFamily="18" charset="0"/>
                <a:ea typeface="Cambria" panose="02040503050406030204" pitchFamily="18" charset="0"/>
              </a:rPr>
              <a:t>import</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javax.servlet.http</a:t>
            </a:r>
            <a:r>
              <a:rPr lang="en-US" sz="2000" dirty="0" smtClean="0">
                <a:latin typeface="Cambria" panose="02040503050406030204" pitchFamily="18" charset="0"/>
                <a:ea typeface="Cambria" panose="02040503050406030204" pitchFamily="18" charset="0"/>
              </a:rPr>
              <a:t>.*;  </a:t>
            </a:r>
          </a:p>
          <a:p>
            <a:pPr>
              <a:lnSpc>
                <a:spcPct val="100000"/>
              </a:lnSpc>
              <a:spcBef>
                <a:spcPts val="0"/>
              </a:spcBef>
              <a:buNone/>
            </a:pPr>
            <a:r>
              <a:rPr lang="en-US" sz="2000" b="1" dirty="0" smtClean="0">
                <a:latin typeface="Cambria" panose="02040503050406030204" pitchFamily="18" charset="0"/>
                <a:ea typeface="Cambria" panose="02040503050406030204" pitchFamily="18" charset="0"/>
              </a:rPr>
              <a:t> public</a:t>
            </a: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class</a:t>
            </a:r>
            <a:r>
              <a:rPr lang="en-US" sz="2000" dirty="0" smtClean="0">
                <a:latin typeface="Cambria" panose="02040503050406030204" pitchFamily="18" charset="0"/>
                <a:ea typeface="Cambria" panose="02040503050406030204" pitchFamily="18" charset="0"/>
              </a:rPr>
              <a:t> FirstServlet </a:t>
            </a:r>
            <a:r>
              <a:rPr lang="en-US" sz="2000" b="1" dirty="0" smtClean="0">
                <a:latin typeface="Cambria" panose="02040503050406030204" pitchFamily="18" charset="0"/>
                <a:ea typeface="Cambria" panose="02040503050406030204" pitchFamily="18" charset="0"/>
              </a:rPr>
              <a:t>extends</a:t>
            </a:r>
            <a:r>
              <a:rPr lang="en-US" sz="2000" dirty="0" smtClean="0">
                <a:latin typeface="Cambria" panose="02040503050406030204" pitchFamily="18" charset="0"/>
                <a:ea typeface="Cambria" panose="02040503050406030204" pitchFamily="18" charset="0"/>
              </a:rPr>
              <a:t> HttpServlet {  </a:t>
            </a:r>
          </a:p>
          <a:p>
            <a:pPr>
              <a:lnSpc>
                <a:spcPct val="100000"/>
              </a:lnSpc>
              <a:spcBef>
                <a:spcPts val="0"/>
              </a:spcBef>
              <a:buNone/>
            </a:pP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public</a:t>
            </a: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void</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doPost</a:t>
            </a:r>
            <a:r>
              <a:rPr lang="en-US" sz="2000" dirty="0" smtClean="0">
                <a:latin typeface="Cambria" panose="02040503050406030204" pitchFamily="18" charset="0"/>
                <a:ea typeface="Cambria" panose="02040503050406030204" pitchFamily="18" charset="0"/>
              </a:rPr>
              <a:t>(</a:t>
            </a:r>
            <a:r>
              <a:rPr lang="en-US" sz="2000" dirty="0" err="1" smtClean="0">
                <a:latin typeface="Cambria" panose="02040503050406030204" pitchFamily="18" charset="0"/>
                <a:ea typeface="Cambria" panose="02040503050406030204" pitchFamily="18" charset="0"/>
              </a:rPr>
              <a:t>HttpServletRequest</a:t>
            </a:r>
            <a:r>
              <a:rPr lang="en-US" sz="2000" dirty="0" smtClean="0">
                <a:latin typeface="Cambria" panose="02040503050406030204" pitchFamily="18" charset="0"/>
                <a:ea typeface="Cambria" panose="02040503050406030204" pitchFamily="18" charset="0"/>
              </a:rPr>
              <a:t> request, </a:t>
            </a:r>
            <a:r>
              <a:rPr lang="en-US" sz="2000" dirty="0" err="1" smtClean="0">
                <a:latin typeface="Cambria" panose="02040503050406030204" pitchFamily="18" charset="0"/>
                <a:ea typeface="Cambria" panose="02040503050406030204" pitchFamily="18" charset="0"/>
              </a:rPr>
              <a:t>HttpServletResponse</a:t>
            </a:r>
            <a:r>
              <a:rPr lang="en-US" sz="2000" dirty="0" smtClean="0">
                <a:latin typeface="Cambria" panose="02040503050406030204" pitchFamily="18" charset="0"/>
                <a:ea typeface="Cambria" panose="02040503050406030204" pitchFamily="18" charset="0"/>
              </a:rPr>
              <a:t> response){  </a:t>
            </a:r>
          </a:p>
          <a:p>
            <a:pPr>
              <a:lnSpc>
                <a:spcPct val="100000"/>
              </a:lnSpc>
              <a:spcBef>
                <a:spcPts val="0"/>
              </a:spcBef>
              <a:buNone/>
            </a:pP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try</a:t>
            </a:r>
            <a:r>
              <a:rPr lang="en-US" sz="2000" dirty="0" smtClean="0">
                <a:latin typeface="Cambria" panose="02040503050406030204" pitchFamily="18" charset="0"/>
                <a:ea typeface="Cambria" panose="02040503050406030204" pitchFamily="18" charset="0"/>
              </a:rPr>
              <a:t>{  </a:t>
            </a:r>
          </a:p>
          <a:p>
            <a:pPr>
              <a:lnSpc>
                <a:spcPct val="100000"/>
              </a:lnSpc>
              <a:spcBef>
                <a:spcPts val="0"/>
              </a:spcBef>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response.setContentType</a:t>
            </a:r>
            <a:r>
              <a:rPr lang="en-US" sz="2000" dirty="0" smtClean="0">
                <a:latin typeface="Cambria" panose="02040503050406030204" pitchFamily="18" charset="0"/>
                <a:ea typeface="Cambria" panose="02040503050406030204" pitchFamily="18" charset="0"/>
              </a:rPr>
              <a:t>("text/html");  </a:t>
            </a:r>
          </a:p>
          <a:p>
            <a:pPr>
              <a:lnSpc>
                <a:spcPct val="100000"/>
              </a:lnSpc>
              <a:spcBef>
                <a:spcPts val="0"/>
              </a:spcBef>
              <a:buNone/>
            </a:pPr>
            <a:r>
              <a:rPr lang="en-US" sz="2000" dirty="0" smtClean="0">
                <a:latin typeface="Cambria" panose="02040503050406030204" pitchFamily="18" charset="0"/>
                <a:ea typeface="Cambria" panose="02040503050406030204" pitchFamily="18" charset="0"/>
              </a:rPr>
              <a:t>    PrintWriter out = response.getWriter();            </a:t>
            </a:r>
          </a:p>
          <a:p>
            <a:pPr>
              <a:lnSpc>
                <a:spcPct val="100000"/>
              </a:lnSpc>
              <a:spcBef>
                <a:spcPts val="0"/>
              </a:spcBef>
              <a:buNone/>
            </a:pPr>
            <a:r>
              <a:rPr lang="en-US" sz="2000" dirty="0" smtClean="0">
                <a:latin typeface="Cambria" panose="02040503050406030204" pitchFamily="18" charset="0"/>
                <a:ea typeface="Cambria" panose="02040503050406030204" pitchFamily="18" charset="0"/>
              </a:rPr>
              <a:t>    String n=</a:t>
            </a:r>
            <a:r>
              <a:rPr lang="en-US" sz="2000" dirty="0" err="1" smtClean="0">
                <a:latin typeface="Cambria" panose="02040503050406030204" pitchFamily="18" charset="0"/>
                <a:ea typeface="Cambria" panose="02040503050406030204" pitchFamily="18" charset="0"/>
              </a:rPr>
              <a:t>request.getParameter</a:t>
            </a:r>
            <a:r>
              <a:rPr lang="en-US" sz="2000" dirty="0" smtClean="0">
                <a:latin typeface="Cambria" panose="02040503050406030204" pitchFamily="18" charset="0"/>
                <a:ea typeface="Cambria" panose="02040503050406030204" pitchFamily="18" charset="0"/>
              </a:rPr>
              <a:t>("</a:t>
            </a:r>
            <a:r>
              <a:rPr lang="en-US" sz="2000" dirty="0" err="1" smtClean="0">
                <a:latin typeface="Cambria" panose="02040503050406030204" pitchFamily="18" charset="0"/>
                <a:ea typeface="Cambria" panose="02040503050406030204" pitchFamily="18" charset="0"/>
              </a:rPr>
              <a:t>userName</a:t>
            </a:r>
            <a:r>
              <a:rPr lang="en-US" sz="2000" dirty="0" smtClean="0">
                <a:latin typeface="Cambria" panose="02040503050406030204" pitchFamily="18" charset="0"/>
                <a:ea typeface="Cambria" panose="02040503050406030204" pitchFamily="18" charset="0"/>
              </a:rPr>
              <a:t>");  </a:t>
            </a:r>
          </a:p>
          <a:p>
            <a:pPr>
              <a:lnSpc>
                <a:spcPct val="100000"/>
              </a:lnSpc>
              <a:spcBef>
                <a:spcPts val="0"/>
              </a:spcBef>
              <a:buNone/>
            </a:pPr>
            <a:r>
              <a:rPr lang="en-US" sz="2000" dirty="0" smtClean="0">
                <a:latin typeface="Cambria" panose="02040503050406030204" pitchFamily="18" charset="0"/>
                <a:ea typeface="Cambria" panose="02040503050406030204" pitchFamily="18" charset="0"/>
              </a:rPr>
              <a:t>    out.print("Welcome "+n);    </a:t>
            </a:r>
          </a:p>
          <a:p>
            <a:pPr>
              <a:lnSpc>
                <a:spcPct val="100000"/>
              </a:lnSpc>
              <a:spcBef>
                <a:spcPts val="0"/>
              </a:spcBef>
              <a:buNone/>
            </a:pPr>
            <a:r>
              <a:rPr lang="en-US" sz="2000" dirty="0" smtClean="0">
                <a:latin typeface="Cambria" panose="02040503050406030204" pitchFamily="18" charset="0"/>
                <a:ea typeface="Cambria" panose="02040503050406030204" pitchFamily="18" charset="0"/>
              </a:rPr>
              <a:t>    Cookie ck=</a:t>
            </a:r>
            <a:r>
              <a:rPr lang="en-US" sz="2000" b="1" dirty="0" smtClean="0">
                <a:latin typeface="Cambria" panose="02040503050406030204" pitchFamily="18" charset="0"/>
                <a:ea typeface="Cambria" panose="02040503050406030204" pitchFamily="18" charset="0"/>
              </a:rPr>
              <a:t>new</a:t>
            </a:r>
            <a:r>
              <a:rPr lang="en-US" sz="2000" dirty="0" smtClean="0">
                <a:latin typeface="Cambria" panose="02040503050406030204" pitchFamily="18" charset="0"/>
                <a:ea typeface="Cambria" panose="02040503050406030204" pitchFamily="18" charset="0"/>
              </a:rPr>
              <a:t> Cookie("</a:t>
            </a:r>
            <a:r>
              <a:rPr lang="en-US" sz="2000" dirty="0" err="1" smtClean="0">
                <a:latin typeface="Cambria" panose="02040503050406030204" pitchFamily="18" charset="0"/>
                <a:ea typeface="Cambria" panose="02040503050406030204" pitchFamily="18" charset="0"/>
              </a:rPr>
              <a:t>uname",n</a:t>
            </a:r>
            <a:r>
              <a:rPr lang="en-US" sz="2000" dirty="0" smtClean="0">
                <a:latin typeface="Cambria" panose="02040503050406030204" pitchFamily="18" charset="0"/>
                <a:ea typeface="Cambria" panose="02040503050406030204" pitchFamily="18" charset="0"/>
              </a:rPr>
              <a:t>);//creating cookie object  </a:t>
            </a:r>
          </a:p>
          <a:p>
            <a:pPr>
              <a:lnSpc>
                <a:spcPct val="100000"/>
              </a:lnSpc>
              <a:spcBef>
                <a:spcPts val="0"/>
              </a:spcBef>
              <a:buNone/>
            </a:pPr>
            <a:r>
              <a:rPr lang="en-US" sz="2000" dirty="0" smtClean="0">
                <a:latin typeface="Cambria" panose="02040503050406030204" pitchFamily="18" charset="0"/>
                <a:ea typeface="Cambria" panose="02040503050406030204" pitchFamily="18" charset="0"/>
              </a:rPr>
              <a:t>    response.addCookie(ck);//adding cookie in the response    </a:t>
            </a:r>
          </a:p>
          <a:p>
            <a:pPr>
              <a:lnSpc>
                <a:spcPct val="100000"/>
              </a:lnSpc>
              <a:spcBef>
                <a:spcPts val="0"/>
              </a:spcBef>
              <a:buNone/>
            </a:pPr>
            <a:r>
              <a:rPr lang="en-US" sz="2000" dirty="0" smtClean="0">
                <a:latin typeface="Cambria" panose="02040503050406030204" pitchFamily="18" charset="0"/>
                <a:ea typeface="Cambria" panose="02040503050406030204" pitchFamily="18" charset="0"/>
              </a:rPr>
              <a:t>    //creating submit button  </a:t>
            </a:r>
          </a:p>
          <a:p>
            <a:pPr>
              <a:lnSpc>
                <a:spcPct val="100000"/>
              </a:lnSpc>
              <a:spcBef>
                <a:spcPts val="0"/>
              </a:spcBef>
              <a:buNone/>
            </a:pPr>
            <a:r>
              <a:rPr lang="en-US" sz="2000" dirty="0" smtClean="0">
                <a:latin typeface="Cambria" panose="02040503050406030204" pitchFamily="18" charset="0"/>
                <a:ea typeface="Cambria" panose="02040503050406030204" pitchFamily="18" charset="0"/>
              </a:rPr>
              <a:t>    out.print("&lt;form action=‘SecondServlet‘ method=‘post’&gt;");  </a:t>
            </a:r>
          </a:p>
          <a:p>
            <a:pPr>
              <a:lnSpc>
                <a:spcPct val="100000"/>
              </a:lnSpc>
              <a:spcBef>
                <a:spcPts val="0"/>
              </a:spcBef>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out.print</a:t>
            </a:r>
            <a:r>
              <a:rPr lang="en-US" sz="2000" dirty="0" smtClean="0">
                <a:latin typeface="Cambria" panose="02040503050406030204" pitchFamily="18" charset="0"/>
                <a:ea typeface="Cambria" panose="02040503050406030204" pitchFamily="18" charset="0"/>
              </a:rPr>
              <a:t>("&lt;input type='submit' value='go'&gt;");  </a:t>
            </a:r>
          </a:p>
          <a:p>
            <a:pPr>
              <a:lnSpc>
                <a:spcPct val="100000"/>
              </a:lnSpc>
              <a:spcBef>
                <a:spcPts val="0"/>
              </a:spcBef>
              <a:buNone/>
            </a:pPr>
            <a:r>
              <a:rPr lang="en-US" sz="2000" dirty="0" smtClean="0">
                <a:latin typeface="Cambria" panose="02040503050406030204" pitchFamily="18" charset="0"/>
                <a:ea typeface="Cambria" panose="02040503050406030204" pitchFamily="18" charset="0"/>
              </a:rPr>
              <a:t>    out.print("&lt;/form&gt;");            </a:t>
            </a:r>
          </a:p>
          <a:p>
            <a:pPr>
              <a:lnSpc>
                <a:spcPct val="100000"/>
              </a:lnSpc>
              <a:spcBef>
                <a:spcPts val="0"/>
              </a:spcBef>
              <a:buNone/>
            </a:pPr>
            <a:r>
              <a:rPr lang="en-US" sz="2000" dirty="0" smtClean="0">
                <a:latin typeface="Cambria" panose="02040503050406030204" pitchFamily="18" charset="0"/>
                <a:ea typeface="Cambria" panose="02040503050406030204" pitchFamily="18" charset="0"/>
              </a:rPr>
              <a:t>    out.close();    </a:t>
            </a:r>
          </a:p>
          <a:p>
            <a:pPr>
              <a:lnSpc>
                <a:spcPct val="100000"/>
              </a:lnSpc>
              <a:spcBef>
                <a:spcPts val="0"/>
              </a:spcBef>
              <a:buNone/>
            </a:pP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catch</a:t>
            </a:r>
            <a:r>
              <a:rPr lang="en-US" sz="2000" dirty="0" smtClean="0">
                <a:latin typeface="Cambria" panose="02040503050406030204" pitchFamily="18" charset="0"/>
                <a:ea typeface="Cambria" panose="02040503050406030204" pitchFamily="18" charset="0"/>
              </a:rPr>
              <a:t>(Exception e){</a:t>
            </a:r>
            <a:r>
              <a:rPr lang="en-US" sz="2000" dirty="0" err="1" smtClean="0">
                <a:latin typeface="Cambria" panose="02040503050406030204" pitchFamily="18" charset="0"/>
                <a:ea typeface="Cambria" panose="02040503050406030204" pitchFamily="18" charset="0"/>
              </a:rPr>
              <a:t>System.out.println</a:t>
            </a:r>
            <a:r>
              <a:rPr lang="en-US" sz="2000" dirty="0" smtClean="0">
                <a:latin typeface="Cambria" panose="02040503050406030204" pitchFamily="18" charset="0"/>
                <a:ea typeface="Cambria" panose="02040503050406030204" pitchFamily="18" charset="0"/>
              </a:rPr>
              <a:t>(e);}  </a:t>
            </a:r>
          </a:p>
          <a:p>
            <a:pPr>
              <a:lnSpc>
                <a:spcPct val="100000"/>
              </a:lnSpc>
              <a:spcBef>
                <a:spcPts val="0"/>
              </a:spcBef>
              <a:buNone/>
            </a:pPr>
            <a:r>
              <a:rPr lang="en-US" sz="2000" dirty="0" smtClean="0">
                <a:latin typeface="Cambria" panose="02040503050406030204" pitchFamily="18" charset="0"/>
                <a:ea typeface="Cambria" panose="02040503050406030204" pitchFamily="18" charset="0"/>
              </a:rPr>
              <a:t>  }  </a:t>
            </a:r>
          </a:p>
          <a:p>
            <a:pPr>
              <a:lnSpc>
                <a:spcPct val="100000"/>
              </a:lnSpc>
              <a:spcBef>
                <a:spcPts val="0"/>
              </a:spcBef>
              <a:buNone/>
            </a:pPr>
            <a:r>
              <a:rPr lang="en-US" sz="2000" dirty="0" smtClean="0">
                <a:latin typeface="Cambria" panose="02040503050406030204" pitchFamily="18" charset="0"/>
                <a:ea typeface="Cambria" panose="02040503050406030204" pitchFamily="18" charset="0"/>
              </a:rPr>
              <a:t>}  </a:t>
            </a:r>
          </a:p>
          <a:p>
            <a:pPr>
              <a:lnSpc>
                <a:spcPct val="100000"/>
              </a:lnSpc>
              <a:spcBef>
                <a:spcPts val="0"/>
              </a:spcBef>
            </a:pPr>
            <a:endParaRPr lang="en-US" sz="20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52</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344" y="188641"/>
            <a:ext cx="4752528" cy="504056"/>
          </a:xfrm>
        </p:spPr>
        <p:txBody>
          <a:bodyPr/>
          <a:lstStyle/>
          <a:p>
            <a:r>
              <a:rPr lang="en-US" sz="4000" b="1" dirty="0" smtClean="0">
                <a:solidFill>
                  <a:srgbClr val="002060"/>
                </a:solidFill>
                <a:latin typeface="Cambria" panose="02040503050406030204" pitchFamily="18" charset="0"/>
                <a:ea typeface="Cambria" panose="02040503050406030204" pitchFamily="18" charset="0"/>
              </a:rPr>
              <a:t/>
            </a:r>
            <a:br>
              <a:rPr lang="en-US" sz="4000" b="1" dirty="0" smtClean="0">
                <a:solidFill>
                  <a:srgbClr val="002060"/>
                </a:solidFill>
                <a:latin typeface="Cambria" panose="02040503050406030204" pitchFamily="18" charset="0"/>
                <a:ea typeface="Cambria" panose="02040503050406030204" pitchFamily="18" charset="0"/>
              </a:rPr>
            </a:br>
            <a:r>
              <a:rPr lang="en-US" sz="4000" b="1" dirty="0" smtClean="0">
                <a:solidFill>
                  <a:srgbClr val="002060"/>
                </a:solidFill>
                <a:latin typeface="Cambria" panose="02040503050406030204" pitchFamily="18" charset="0"/>
                <a:ea typeface="Cambria" panose="02040503050406030204" pitchFamily="18" charset="0"/>
              </a:rPr>
              <a:t>SecondServlet.java</a:t>
            </a:r>
            <a:r>
              <a:rPr lang="en-GB" sz="4000" b="1" dirty="0" smtClean="0">
                <a:solidFill>
                  <a:srgbClr val="002060"/>
                </a:solidFill>
                <a:latin typeface="Cambria" panose="02040503050406030204" pitchFamily="18" charset="0"/>
                <a:ea typeface="Cambria" panose="02040503050406030204" pitchFamily="18" charset="0"/>
              </a:rPr>
              <a:t/>
            </a:r>
            <a:br>
              <a:rPr lang="en-GB" sz="4000" b="1" dirty="0" smtClean="0">
                <a:solidFill>
                  <a:srgbClr val="002060"/>
                </a:solidFill>
                <a:latin typeface="Cambria" panose="02040503050406030204" pitchFamily="18" charset="0"/>
                <a:ea typeface="Cambria" panose="02040503050406030204" pitchFamily="18" charset="0"/>
              </a:rPr>
            </a:br>
            <a:endParaRPr lang="en-US" sz="4000" b="1" dirty="0">
              <a:solidFill>
                <a:srgbClr val="00206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767408" y="722567"/>
            <a:ext cx="9289032" cy="4362617"/>
          </a:xfrm>
        </p:spPr>
        <p:txBody>
          <a:bodyPr/>
          <a:lstStyle/>
          <a:p>
            <a:pPr>
              <a:lnSpc>
                <a:spcPct val="100000"/>
              </a:lnSpc>
              <a:spcBef>
                <a:spcPts val="0"/>
              </a:spcBef>
              <a:buNone/>
            </a:pPr>
            <a:r>
              <a:rPr lang="en-US" sz="2000" b="1" dirty="0" smtClean="0">
                <a:latin typeface="Cambria" panose="02040503050406030204" pitchFamily="18" charset="0"/>
                <a:ea typeface="Cambria" panose="02040503050406030204" pitchFamily="18" charset="0"/>
              </a:rPr>
              <a:t>import</a:t>
            </a:r>
            <a:r>
              <a:rPr lang="en-US" sz="2000" dirty="0" smtClean="0">
                <a:latin typeface="Cambria" panose="02040503050406030204" pitchFamily="18" charset="0"/>
                <a:ea typeface="Cambria" panose="02040503050406030204" pitchFamily="18" charset="0"/>
              </a:rPr>
              <a:t> java.io.*;  </a:t>
            </a:r>
          </a:p>
          <a:p>
            <a:pPr>
              <a:lnSpc>
                <a:spcPct val="100000"/>
              </a:lnSpc>
              <a:spcBef>
                <a:spcPts val="0"/>
              </a:spcBef>
              <a:buNone/>
            </a:pPr>
            <a:r>
              <a:rPr lang="en-US" sz="2000" b="1" dirty="0" smtClean="0">
                <a:latin typeface="Cambria" panose="02040503050406030204" pitchFamily="18" charset="0"/>
                <a:ea typeface="Cambria" panose="02040503050406030204" pitchFamily="18" charset="0"/>
              </a:rPr>
              <a:t>import</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javax.servlet</a:t>
            </a:r>
            <a:r>
              <a:rPr lang="en-US" sz="2000" dirty="0" smtClean="0">
                <a:latin typeface="Cambria" panose="02040503050406030204" pitchFamily="18" charset="0"/>
                <a:ea typeface="Cambria" panose="02040503050406030204" pitchFamily="18" charset="0"/>
              </a:rPr>
              <a:t>.*;  </a:t>
            </a:r>
          </a:p>
          <a:p>
            <a:pPr>
              <a:lnSpc>
                <a:spcPct val="100000"/>
              </a:lnSpc>
              <a:spcBef>
                <a:spcPts val="0"/>
              </a:spcBef>
              <a:buNone/>
            </a:pPr>
            <a:r>
              <a:rPr lang="en-US" sz="2000" b="1" dirty="0" smtClean="0">
                <a:latin typeface="Cambria" panose="02040503050406030204" pitchFamily="18" charset="0"/>
                <a:ea typeface="Cambria" panose="02040503050406030204" pitchFamily="18" charset="0"/>
              </a:rPr>
              <a:t>import</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javax.servlet.http</a:t>
            </a:r>
            <a:r>
              <a:rPr lang="en-US" sz="2000" dirty="0" smtClean="0">
                <a:latin typeface="Cambria" panose="02040503050406030204" pitchFamily="18" charset="0"/>
                <a:ea typeface="Cambria" panose="02040503050406030204" pitchFamily="18" charset="0"/>
              </a:rPr>
              <a:t>.*;  </a:t>
            </a:r>
          </a:p>
          <a:p>
            <a:pPr>
              <a:lnSpc>
                <a:spcPct val="100000"/>
              </a:lnSpc>
              <a:spcBef>
                <a:spcPts val="0"/>
              </a:spcBef>
              <a:buNone/>
            </a:pP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public</a:t>
            </a: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class</a:t>
            </a:r>
            <a:r>
              <a:rPr lang="en-US" sz="2000" dirty="0" smtClean="0">
                <a:latin typeface="Cambria" panose="02040503050406030204" pitchFamily="18" charset="0"/>
                <a:ea typeface="Cambria" panose="02040503050406030204" pitchFamily="18" charset="0"/>
              </a:rPr>
              <a:t> SecondServlet </a:t>
            </a:r>
            <a:r>
              <a:rPr lang="en-US" sz="2000" b="1" dirty="0" smtClean="0">
                <a:latin typeface="Cambria" panose="02040503050406030204" pitchFamily="18" charset="0"/>
                <a:ea typeface="Cambria" panose="02040503050406030204" pitchFamily="18" charset="0"/>
              </a:rPr>
              <a:t>extends</a:t>
            </a:r>
            <a:r>
              <a:rPr lang="en-US" sz="2000" dirty="0" smtClean="0">
                <a:latin typeface="Cambria" panose="02040503050406030204" pitchFamily="18" charset="0"/>
                <a:ea typeface="Cambria" panose="02040503050406030204" pitchFamily="18" charset="0"/>
              </a:rPr>
              <a:t> HttpServlet {  </a:t>
            </a:r>
          </a:p>
          <a:p>
            <a:pPr>
              <a:lnSpc>
                <a:spcPct val="100000"/>
              </a:lnSpc>
              <a:spcBef>
                <a:spcPts val="0"/>
              </a:spcBef>
              <a:buNone/>
            </a:pP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public</a:t>
            </a: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void</a:t>
            </a:r>
            <a:r>
              <a:rPr lang="en-US" sz="2000" dirty="0" smtClean="0">
                <a:latin typeface="Cambria" panose="02040503050406030204" pitchFamily="18" charset="0"/>
                <a:ea typeface="Cambria" panose="02040503050406030204" pitchFamily="18" charset="0"/>
              </a:rPr>
              <a:t> doPost(HttpServletRequest request, HttpServletResponse response){  </a:t>
            </a:r>
          </a:p>
          <a:p>
            <a:pPr>
              <a:lnSpc>
                <a:spcPct val="100000"/>
              </a:lnSpc>
              <a:spcBef>
                <a:spcPts val="0"/>
              </a:spcBef>
              <a:buNone/>
            </a:pP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try</a:t>
            </a:r>
            <a:r>
              <a:rPr lang="en-US" sz="2000" dirty="0" smtClean="0">
                <a:latin typeface="Cambria" panose="02040503050406030204" pitchFamily="18" charset="0"/>
                <a:ea typeface="Cambria" panose="02040503050406030204" pitchFamily="18" charset="0"/>
              </a:rPr>
              <a:t>{  </a:t>
            </a:r>
          </a:p>
          <a:p>
            <a:pPr>
              <a:lnSpc>
                <a:spcPct val="100000"/>
              </a:lnSpc>
              <a:spcBef>
                <a:spcPts val="0"/>
              </a:spcBef>
              <a:buNone/>
            </a:pPr>
            <a:r>
              <a:rPr lang="en-US" sz="2000" dirty="0" smtClean="0">
                <a:latin typeface="Cambria" panose="02040503050406030204" pitchFamily="18" charset="0"/>
                <a:ea typeface="Cambria" panose="02040503050406030204" pitchFamily="18" charset="0"/>
              </a:rPr>
              <a:t>    response.setContentType("text/html");  </a:t>
            </a:r>
          </a:p>
          <a:p>
            <a:pPr>
              <a:lnSpc>
                <a:spcPct val="100000"/>
              </a:lnSpc>
              <a:spcBef>
                <a:spcPts val="0"/>
              </a:spcBef>
              <a:buNone/>
            </a:pPr>
            <a:r>
              <a:rPr lang="en-US" sz="2000" dirty="0" smtClean="0">
                <a:latin typeface="Cambria" panose="02040503050406030204" pitchFamily="18" charset="0"/>
                <a:ea typeface="Cambria" panose="02040503050406030204" pitchFamily="18" charset="0"/>
              </a:rPr>
              <a:t>    PrintWriter out = response.getWriter();      </a:t>
            </a:r>
          </a:p>
          <a:p>
            <a:pPr>
              <a:lnSpc>
                <a:spcPct val="100000"/>
              </a:lnSpc>
              <a:spcBef>
                <a:spcPts val="0"/>
              </a:spcBef>
              <a:buNone/>
            </a:pPr>
            <a:r>
              <a:rPr lang="en-US" sz="2000" dirty="0" smtClean="0">
                <a:latin typeface="Cambria" panose="02040503050406030204" pitchFamily="18" charset="0"/>
                <a:ea typeface="Cambria" panose="02040503050406030204" pitchFamily="18" charset="0"/>
              </a:rPr>
              <a:t>    Cookie ck[]=</a:t>
            </a:r>
            <a:r>
              <a:rPr lang="en-US" sz="2000" dirty="0" err="1" smtClean="0">
                <a:latin typeface="Cambria" panose="02040503050406030204" pitchFamily="18" charset="0"/>
                <a:ea typeface="Cambria" panose="02040503050406030204" pitchFamily="18" charset="0"/>
              </a:rPr>
              <a:t>request.getCookies</a:t>
            </a:r>
            <a:r>
              <a:rPr lang="en-US" sz="2000" dirty="0" smtClean="0">
                <a:latin typeface="Cambria" panose="02040503050406030204" pitchFamily="18" charset="0"/>
                <a:ea typeface="Cambria" panose="02040503050406030204" pitchFamily="18" charset="0"/>
              </a:rPr>
              <a:t>();  </a:t>
            </a:r>
          </a:p>
          <a:p>
            <a:pPr>
              <a:lnSpc>
                <a:spcPct val="100000"/>
              </a:lnSpc>
              <a:spcBef>
                <a:spcPts val="0"/>
              </a:spcBef>
              <a:buNone/>
            </a:pPr>
            <a:r>
              <a:rPr lang="en-US" sz="2000" dirty="0" smtClean="0">
                <a:latin typeface="Cambria" panose="02040503050406030204" pitchFamily="18" charset="0"/>
                <a:ea typeface="Cambria" panose="02040503050406030204" pitchFamily="18" charset="0"/>
              </a:rPr>
              <a:t>    out.print("Hello "+ck[0].getValue());    </a:t>
            </a:r>
          </a:p>
          <a:p>
            <a:pPr>
              <a:lnSpc>
                <a:spcPct val="100000"/>
              </a:lnSpc>
              <a:spcBef>
                <a:spcPts val="0"/>
              </a:spcBef>
              <a:buNone/>
            </a:pPr>
            <a:r>
              <a:rPr lang="en-US" sz="2000" dirty="0" smtClean="0">
                <a:latin typeface="Cambria" panose="02040503050406030204" pitchFamily="18" charset="0"/>
                <a:ea typeface="Cambria" panose="02040503050406030204" pitchFamily="18" charset="0"/>
              </a:rPr>
              <a:t>    out.close();    </a:t>
            </a:r>
          </a:p>
          <a:p>
            <a:pPr>
              <a:lnSpc>
                <a:spcPct val="100000"/>
              </a:lnSpc>
              <a:spcBef>
                <a:spcPts val="0"/>
              </a:spcBef>
              <a:buNone/>
            </a:pP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catch</a:t>
            </a:r>
            <a:r>
              <a:rPr lang="en-US" sz="2000" dirty="0" smtClean="0">
                <a:latin typeface="Cambria" panose="02040503050406030204" pitchFamily="18" charset="0"/>
                <a:ea typeface="Cambria" panose="02040503050406030204" pitchFamily="18" charset="0"/>
              </a:rPr>
              <a:t>(Exception e){</a:t>
            </a:r>
            <a:r>
              <a:rPr lang="en-US" sz="2000" dirty="0" err="1" smtClean="0">
                <a:latin typeface="Cambria" panose="02040503050406030204" pitchFamily="18" charset="0"/>
                <a:ea typeface="Cambria" panose="02040503050406030204" pitchFamily="18" charset="0"/>
              </a:rPr>
              <a:t>System.out.println</a:t>
            </a:r>
            <a:r>
              <a:rPr lang="en-US" sz="2000" dirty="0" smtClean="0">
                <a:latin typeface="Cambria" panose="02040503050406030204" pitchFamily="18" charset="0"/>
                <a:ea typeface="Cambria" panose="02040503050406030204" pitchFamily="18" charset="0"/>
              </a:rPr>
              <a:t>(e);}  </a:t>
            </a:r>
          </a:p>
          <a:p>
            <a:pPr>
              <a:lnSpc>
                <a:spcPct val="100000"/>
              </a:lnSpc>
              <a:spcBef>
                <a:spcPts val="0"/>
              </a:spcBef>
              <a:buNone/>
            </a:pPr>
            <a:r>
              <a:rPr lang="en-US" sz="2000" dirty="0" smtClean="0">
                <a:latin typeface="Cambria" panose="02040503050406030204" pitchFamily="18" charset="0"/>
                <a:ea typeface="Cambria" panose="02040503050406030204" pitchFamily="18" charset="0"/>
              </a:rPr>
              <a:t>    } </a:t>
            </a:r>
          </a:p>
          <a:p>
            <a:pPr>
              <a:lnSpc>
                <a:spcPct val="100000"/>
              </a:lnSpc>
              <a:spcBef>
                <a:spcPts val="0"/>
              </a:spcBef>
              <a:buNone/>
            </a:pPr>
            <a:r>
              <a:rPr lang="en-US" sz="2000" dirty="0" smtClean="0">
                <a:latin typeface="Cambria" panose="02040503050406030204" pitchFamily="18" charset="0"/>
                <a:ea typeface="Cambria" panose="02040503050406030204" pitchFamily="18" charset="0"/>
              </a:rPr>
              <a:t>} </a:t>
            </a:r>
          </a:p>
          <a:p>
            <a:pPr>
              <a:lnSpc>
                <a:spcPct val="100000"/>
              </a:lnSpc>
              <a:spcBef>
                <a:spcPts val="0"/>
              </a:spcBef>
              <a:buNone/>
            </a:pPr>
            <a:r>
              <a:rPr lang="en-US" dirty="0" smtClean="0">
                <a:latin typeface="Cambria" panose="02040503050406030204" pitchFamily="18" charset="0"/>
                <a:ea typeface="Cambria" panose="02040503050406030204" pitchFamily="18" charset="0"/>
              </a:rPr>
              <a:t>      </a:t>
            </a:r>
          </a:p>
          <a:p>
            <a:pPr>
              <a:lnSpc>
                <a:spcPct val="100000"/>
              </a:lnSpc>
              <a:spcBef>
                <a:spcPts val="0"/>
              </a:spcBef>
              <a:buNone/>
            </a:pPr>
            <a:r>
              <a:rPr lang="en-US" dirty="0" smtClean="0">
                <a:latin typeface="Cambria" panose="02040503050406030204" pitchFamily="18" charset="0"/>
                <a:ea typeface="Cambria" panose="02040503050406030204" pitchFamily="18" charset="0"/>
              </a:rPr>
              <a:t>  </a:t>
            </a:r>
          </a:p>
          <a:p>
            <a:pPr>
              <a:lnSpc>
                <a:spcPct val="100000"/>
              </a:lnSpc>
              <a:spcBef>
                <a:spcPts val="0"/>
              </a:spcBef>
              <a:buNone/>
            </a:pPr>
            <a:r>
              <a:rPr lang="en-US" dirty="0" smtClean="0">
                <a:latin typeface="Cambria" panose="02040503050406030204" pitchFamily="18" charset="0"/>
                <a:ea typeface="Cambria" panose="02040503050406030204" pitchFamily="18" charset="0"/>
              </a:rPr>
              <a:t>  </a:t>
            </a:r>
            <a:endParaRPr lang="en-US"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53</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36" y="1"/>
            <a:ext cx="10441160" cy="548680"/>
          </a:xfrm>
        </p:spPr>
        <p:txBody>
          <a:bodyPr/>
          <a:lstStyle/>
          <a:p>
            <a:r>
              <a:rPr lang="en-GB" sz="4000" b="1" dirty="0" smtClean="0"/>
              <a:t/>
            </a:r>
            <a:br>
              <a:rPr lang="en-GB" sz="4000" b="1" dirty="0" smtClean="0"/>
            </a:br>
            <a:r>
              <a:rPr lang="en-US" sz="4000" b="1" dirty="0" smtClean="0"/>
              <a:t>web.xml</a:t>
            </a:r>
            <a:r>
              <a:rPr lang="en-GB" sz="4000" b="1" dirty="0" smtClean="0"/>
              <a:t/>
            </a:r>
            <a:br>
              <a:rPr lang="en-GB" sz="4000" b="1" dirty="0" smtClean="0"/>
            </a:br>
            <a:endParaRPr lang="en-US" sz="4000" b="1" dirty="0"/>
          </a:p>
        </p:txBody>
      </p:sp>
      <p:sp>
        <p:nvSpPr>
          <p:cNvPr id="3" name="Content Placeholder 2"/>
          <p:cNvSpPr>
            <a:spLocks noGrp="1"/>
          </p:cNvSpPr>
          <p:nvPr>
            <p:ph idx="1"/>
          </p:nvPr>
        </p:nvSpPr>
        <p:spPr>
          <a:xfrm>
            <a:off x="551384" y="476672"/>
            <a:ext cx="10657184" cy="6327575"/>
          </a:xfrm>
        </p:spPr>
        <p:txBody>
          <a:bodyPr/>
          <a:lstStyle/>
          <a:p>
            <a:pPr>
              <a:lnSpc>
                <a:spcPct val="100000"/>
              </a:lnSpc>
              <a:spcBef>
                <a:spcPts val="0"/>
              </a:spcBef>
              <a:buNone/>
            </a:pPr>
            <a:r>
              <a:rPr lang="en-US" sz="2000" dirty="0" smtClean="0"/>
              <a:t>https://www.javatpoint.com/servlet-login-and-logout-example-using-cookies</a:t>
            </a:r>
          </a:p>
          <a:p>
            <a:pPr>
              <a:lnSpc>
                <a:spcPct val="100000"/>
              </a:lnSpc>
              <a:spcBef>
                <a:spcPts val="0"/>
              </a:spcBef>
              <a:buNone/>
            </a:pPr>
            <a:r>
              <a:rPr lang="en-US" sz="2000" dirty="0" smtClean="0"/>
              <a:t>&lt;web-app&gt;   </a:t>
            </a:r>
          </a:p>
          <a:p>
            <a:pPr>
              <a:lnSpc>
                <a:spcPct val="100000"/>
              </a:lnSpc>
              <a:spcBef>
                <a:spcPts val="0"/>
              </a:spcBef>
              <a:buNone/>
            </a:pPr>
            <a:r>
              <a:rPr lang="en-US" sz="2000" dirty="0" smtClean="0"/>
              <a:t>&lt;</a:t>
            </a:r>
            <a:r>
              <a:rPr lang="en-US" sz="2000" dirty="0" err="1" smtClean="0"/>
              <a:t>servlet</a:t>
            </a:r>
            <a:r>
              <a:rPr lang="en-US" sz="2000" dirty="0" smtClean="0"/>
              <a:t>&gt;  </a:t>
            </a:r>
          </a:p>
          <a:p>
            <a:pPr>
              <a:lnSpc>
                <a:spcPct val="100000"/>
              </a:lnSpc>
              <a:spcBef>
                <a:spcPts val="0"/>
              </a:spcBef>
              <a:buNone/>
            </a:pPr>
            <a:r>
              <a:rPr lang="en-US" sz="2000" dirty="0" smtClean="0"/>
              <a:t>&lt;</a:t>
            </a:r>
            <a:r>
              <a:rPr lang="en-US" sz="2000" dirty="0" err="1" smtClean="0"/>
              <a:t>servlet</a:t>
            </a:r>
            <a:r>
              <a:rPr lang="en-US" sz="2000" dirty="0" smtClean="0"/>
              <a:t>-name&gt;s1&lt;/</a:t>
            </a:r>
            <a:r>
              <a:rPr lang="en-US" sz="2000" dirty="0" err="1" smtClean="0"/>
              <a:t>servlet</a:t>
            </a:r>
            <a:r>
              <a:rPr lang="en-US" sz="2000" dirty="0" smtClean="0"/>
              <a:t>-name&gt;  </a:t>
            </a:r>
          </a:p>
          <a:p>
            <a:pPr>
              <a:lnSpc>
                <a:spcPct val="100000"/>
              </a:lnSpc>
              <a:spcBef>
                <a:spcPts val="0"/>
              </a:spcBef>
              <a:buNone/>
            </a:pPr>
            <a:r>
              <a:rPr lang="en-US" sz="2000" dirty="0" smtClean="0"/>
              <a:t>&lt;</a:t>
            </a:r>
            <a:r>
              <a:rPr lang="en-US" sz="2000" dirty="0" err="1" smtClean="0"/>
              <a:t>servlet</a:t>
            </a:r>
            <a:r>
              <a:rPr lang="en-US" sz="2000" dirty="0" smtClean="0"/>
              <a:t>-</a:t>
            </a:r>
            <a:r>
              <a:rPr lang="en-US" sz="2000" b="1" dirty="0" smtClean="0"/>
              <a:t>class</a:t>
            </a:r>
            <a:r>
              <a:rPr lang="en-US" sz="2000" dirty="0" smtClean="0"/>
              <a:t>&gt;</a:t>
            </a:r>
            <a:r>
              <a:rPr lang="en-US" sz="2000" dirty="0" err="1" smtClean="0"/>
              <a:t>FirstServlet</a:t>
            </a:r>
            <a:r>
              <a:rPr lang="en-US" sz="2000" dirty="0" smtClean="0"/>
              <a:t>&lt;/</a:t>
            </a:r>
            <a:r>
              <a:rPr lang="en-US" sz="2000" dirty="0" err="1" smtClean="0"/>
              <a:t>servlet</a:t>
            </a:r>
            <a:r>
              <a:rPr lang="en-US" sz="2000" dirty="0" smtClean="0"/>
              <a:t>-</a:t>
            </a:r>
            <a:r>
              <a:rPr lang="en-US" sz="2000" b="1" dirty="0" smtClean="0"/>
              <a:t>class</a:t>
            </a:r>
            <a:r>
              <a:rPr lang="en-US" sz="2000" dirty="0" smtClean="0"/>
              <a:t>&gt;  </a:t>
            </a:r>
          </a:p>
          <a:p>
            <a:pPr>
              <a:lnSpc>
                <a:spcPct val="100000"/>
              </a:lnSpc>
              <a:spcBef>
                <a:spcPts val="0"/>
              </a:spcBef>
              <a:buNone/>
            </a:pPr>
            <a:r>
              <a:rPr lang="en-US" sz="2000" dirty="0" smtClean="0"/>
              <a:t>&lt;/</a:t>
            </a:r>
            <a:r>
              <a:rPr lang="en-US" sz="2000" dirty="0" err="1" smtClean="0"/>
              <a:t>servlet</a:t>
            </a:r>
            <a:r>
              <a:rPr lang="en-US" sz="2000" dirty="0" smtClean="0"/>
              <a:t>&gt;  </a:t>
            </a:r>
          </a:p>
          <a:p>
            <a:pPr>
              <a:lnSpc>
                <a:spcPct val="100000"/>
              </a:lnSpc>
              <a:spcBef>
                <a:spcPts val="0"/>
              </a:spcBef>
              <a:buNone/>
            </a:pPr>
            <a:r>
              <a:rPr lang="en-US" sz="2000" dirty="0" smtClean="0"/>
              <a:t>  </a:t>
            </a:r>
          </a:p>
          <a:p>
            <a:pPr>
              <a:lnSpc>
                <a:spcPct val="100000"/>
              </a:lnSpc>
              <a:spcBef>
                <a:spcPts val="0"/>
              </a:spcBef>
              <a:buNone/>
            </a:pPr>
            <a:r>
              <a:rPr lang="en-US" sz="2000" dirty="0" smtClean="0"/>
              <a:t>&lt;</a:t>
            </a:r>
            <a:r>
              <a:rPr lang="en-US" sz="2000" dirty="0" err="1" smtClean="0"/>
              <a:t>servlet</a:t>
            </a:r>
            <a:r>
              <a:rPr lang="en-US" sz="2000" dirty="0" smtClean="0"/>
              <a:t>-mapping&gt;  </a:t>
            </a:r>
          </a:p>
          <a:p>
            <a:pPr>
              <a:lnSpc>
                <a:spcPct val="100000"/>
              </a:lnSpc>
              <a:spcBef>
                <a:spcPts val="0"/>
              </a:spcBef>
              <a:buNone/>
            </a:pPr>
            <a:r>
              <a:rPr lang="en-US" sz="2000" dirty="0" smtClean="0"/>
              <a:t>&lt;</a:t>
            </a:r>
            <a:r>
              <a:rPr lang="en-US" sz="2000" dirty="0" err="1" smtClean="0"/>
              <a:t>servlet</a:t>
            </a:r>
            <a:r>
              <a:rPr lang="en-US" sz="2000" dirty="0" smtClean="0"/>
              <a:t>-name&gt;s1&lt;/</a:t>
            </a:r>
            <a:r>
              <a:rPr lang="en-US" sz="2000" dirty="0" err="1" smtClean="0"/>
              <a:t>servlet</a:t>
            </a:r>
            <a:r>
              <a:rPr lang="en-US" sz="2000" dirty="0" smtClean="0"/>
              <a:t>-name&gt;  </a:t>
            </a:r>
          </a:p>
          <a:p>
            <a:pPr>
              <a:lnSpc>
                <a:spcPct val="100000"/>
              </a:lnSpc>
              <a:spcBef>
                <a:spcPts val="0"/>
              </a:spcBef>
              <a:buNone/>
            </a:pPr>
            <a:r>
              <a:rPr lang="en-US" sz="2000" dirty="0" smtClean="0"/>
              <a:t>&lt;</a:t>
            </a:r>
            <a:r>
              <a:rPr lang="en-US" sz="2000" dirty="0" err="1" smtClean="0"/>
              <a:t>url</a:t>
            </a:r>
            <a:r>
              <a:rPr lang="en-US" sz="2000" dirty="0" smtClean="0"/>
              <a:t>-pattern&gt;/servlet1&lt;/</a:t>
            </a:r>
            <a:r>
              <a:rPr lang="en-US" sz="2000" dirty="0" err="1" smtClean="0"/>
              <a:t>url</a:t>
            </a:r>
            <a:r>
              <a:rPr lang="en-US" sz="2000" dirty="0" smtClean="0"/>
              <a:t>-pattern&gt;  </a:t>
            </a:r>
          </a:p>
          <a:p>
            <a:pPr>
              <a:lnSpc>
                <a:spcPct val="100000"/>
              </a:lnSpc>
              <a:spcBef>
                <a:spcPts val="0"/>
              </a:spcBef>
              <a:buNone/>
            </a:pPr>
            <a:r>
              <a:rPr lang="en-US" sz="2000" dirty="0" smtClean="0"/>
              <a:t>&lt;/</a:t>
            </a:r>
            <a:r>
              <a:rPr lang="en-US" sz="2000" dirty="0" err="1" smtClean="0"/>
              <a:t>servlet</a:t>
            </a:r>
            <a:r>
              <a:rPr lang="en-US" sz="2000" dirty="0" smtClean="0"/>
              <a:t>-mapping&gt;  </a:t>
            </a:r>
          </a:p>
          <a:p>
            <a:pPr>
              <a:lnSpc>
                <a:spcPct val="100000"/>
              </a:lnSpc>
              <a:spcBef>
                <a:spcPts val="0"/>
              </a:spcBef>
              <a:buNone/>
            </a:pPr>
            <a:r>
              <a:rPr lang="en-US" sz="2000" dirty="0" smtClean="0"/>
              <a:t>  </a:t>
            </a:r>
          </a:p>
          <a:p>
            <a:pPr>
              <a:lnSpc>
                <a:spcPct val="100000"/>
              </a:lnSpc>
              <a:spcBef>
                <a:spcPts val="0"/>
              </a:spcBef>
              <a:buNone/>
            </a:pPr>
            <a:r>
              <a:rPr lang="en-US" sz="2000" dirty="0" smtClean="0"/>
              <a:t>&lt;</a:t>
            </a:r>
            <a:r>
              <a:rPr lang="en-US" sz="2000" dirty="0" err="1" smtClean="0"/>
              <a:t>servlet</a:t>
            </a:r>
            <a:r>
              <a:rPr lang="en-US" sz="2000" dirty="0" smtClean="0"/>
              <a:t>&gt;  </a:t>
            </a:r>
          </a:p>
          <a:p>
            <a:pPr>
              <a:lnSpc>
                <a:spcPct val="100000"/>
              </a:lnSpc>
              <a:spcBef>
                <a:spcPts val="0"/>
              </a:spcBef>
              <a:buNone/>
            </a:pPr>
            <a:r>
              <a:rPr lang="en-US" sz="2000" dirty="0" smtClean="0"/>
              <a:t>&lt;</a:t>
            </a:r>
            <a:r>
              <a:rPr lang="en-US" sz="2000" dirty="0" err="1" smtClean="0"/>
              <a:t>servlet</a:t>
            </a:r>
            <a:r>
              <a:rPr lang="en-US" sz="2000" dirty="0" smtClean="0"/>
              <a:t>-name&gt;s2&lt;/</a:t>
            </a:r>
            <a:r>
              <a:rPr lang="en-US" sz="2000" dirty="0" err="1" smtClean="0"/>
              <a:t>servlet</a:t>
            </a:r>
            <a:r>
              <a:rPr lang="en-US" sz="2000" dirty="0" smtClean="0"/>
              <a:t>-name&gt;  </a:t>
            </a:r>
          </a:p>
          <a:p>
            <a:pPr>
              <a:lnSpc>
                <a:spcPct val="100000"/>
              </a:lnSpc>
              <a:spcBef>
                <a:spcPts val="0"/>
              </a:spcBef>
              <a:buNone/>
            </a:pPr>
            <a:r>
              <a:rPr lang="en-US" sz="2000" dirty="0" smtClean="0"/>
              <a:t>&lt;</a:t>
            </a:r>
            <a:r>
              <a:rPr lang="en-US" sz="2000" dirty="0" err="1" smtClean="0"/>
              <a:t>servlet</a:t>
            </a:r>
            <a:r>
              <a:rPr lang="en-US" sz="2000" dirty="0" smtClean="0"/>
              <a:t>-</a:t>
            </a:r>
            <a:r>
              <a:rPr lang="en-US" sz="2000" b="1" dirty="0" smtClean="0"/>
              <a:t>class</a:t>
            </a:r>
            <a:r>
              <a:rPr lang="en-US" sz="2000" dirty="0" smtClean="0"/>
              <a:t>&gt;</a:t>
            </a:r>
            <a:r>
              <a:rPr lang="en-US" sz="2000" dirty="0" err="1" smtClean="0"/>
              <a:t>SecondServlet</a:t>
            </a:r>
            <a:r>
              <a:rPr lang="en-US" sz="2000" dirty="0" smtClean="0"/>
              <a:t>&lt;/</a:t>
            </a:r>
            <a:r>
              <a:rPr lang="en-US" sz="2000" dirty="0" err="1" smtClean="0"/>
              <a:t>servlet</a:t>
            </a:r>
            <a:r>
              <a:rPr lang="en-US" sz="2000" dirty="0" smtClean="0"/>
              <a:t>-</a:t>
            </a:r>
            <a:r>
              <a:rPr lang="en-US" sz="2000" b="1" dirty="0" smtClean="0"/>
              <a:t>class</a:t>
            </a:r>
            <a:r>
              <a:rPr lang="en-US" sz="2000" dirty="0" smtClean="0"/>
              <a:t>&gt;  </a:t>
            </a:r>
          </a:p>
          <a:p>
            <a:pPr>
              <a:lnSpc>
                <a:spcPct val="100000"/>
              </a:lnSpc>
              <a:spcBef>
                <a:spcPts val="0"/>
              </a:spcBef>
              <a:buNone/>
            </a:pPr>
            <a:r>
              <a:rPr lang="en-US" sz="2000" dirty="0" smtClean="0"/>
              <a:t>&lt;/</a:t>
            </a:r>
            <a:r>
              <a:rPr lang="en-US" sz="2000" dirty="0" err="1" smtClean="0"/>
              <a:t>servlet</a:t>
            </a:r>
            <a:r>
              <a:rPr lang="en-US" sz="2000" dirty="0" smtClean="0"/>
              <a:t>&gt;  </a:t>
            </a:r>
          </a:p>
          <a:p>
            <a:pPr>
              <a:lnSpc>
                <a:spcPct val="100000"/>
              </a:lnSpc>
              <a:spcBef>
                <a:spcPts val="0"/>
              </a:spcBef>
              <a:buNone/>
            </a:pPr>
            <a:r>
              <a:rPr lang="en-US" sz="2000" dirty="0" smtClean="0"/>
              <a:t>  </a:t>
            </a:r>
          </a:p>
          <a:p>
            <a:pPr>
              <a:lnSpc>
                <a:spcPct val="100000"/>
              </a:lnSpc>
              <a:spcBef>
                <a:spcPts val="0"/>
              </a:spcBef>
              <a:buNone/>
            </a:pPr>
            <a:r>
              <a:rPr lang="en-US" sz="2000" dirty="0" smtClean="0"/>
              <a:t>&lt;</a:t>
            </a:r>
            <a:r>
              <a:rPr lang="en-US" sz="2000" dirty="0" err="1" smtClean="0"/>
              <a:t>servlet</a:t>
            </a:r>
            <a:r>
              <a:rPr lang="en-US" sz="2000" dirty="0" smtClean="0"/>
              <a:t>-mapping&gt;  </a:t>
            </a:r>
          </a:p>
          <a:p>
            <a:pPr>
              <a:lnSpc>
                <a:spcPct val="100000"/>
              </a:lnSpc>
              <a:spcBef>
                <a:spcPts val="0"/>
              </a:spcBef>
              <a:buNone/>
            </a:pPr>
            <a:r>
              <a:rPr lang="en-US" sz="2000" dirty="0" smtClean="0"/>
              <a:t>&lt;</a:t>
            </a:r>
            <a:r>
              <a:rPr lang="en-US" sz="2000" dirty="0" err="1" smtClean="0"/>
              <a:t>servlet</a:t>
            </a:r>
            <a:r>
              <a:rPr lang="en-US" sz="2000" dirty="0" smtClean="0"/>
              <a:t>-name&gt;s2&lt;/</a:t>
            </a:r>
            <a:r>
              <a:rPr lang="en-US" sz="2000" dirty="0" err="1" smtClean="0"/>
              <a:t>servlet</a:t>
            </a:r>
            <a:r>
              <a:rPr lang="en-US" sz="2000" dirty="0" smtClean="0"/>
              <a:t>-name&gt;  </a:t>
            </a:r>
          </a:p>
          <a:p>
            <a:pPr>
              <a:lnSpc>
                <a:spcPct val="100000"/>
              </a:lnSpc>
              <a:spcBef>
                <a:spcPts val="0"/>
              </a:spcBef>
              <a:buNone/>
            </a:pPr>
            <a:r>
              <a:rPr lang="en-US" sz="2000" dirty="0" smtClean="0"/>
              <a:t>&lt;</a:t>
            </a:r>
            <a:r>
              <a:rPr lang="en-US" sz="2000" dirty="0" err="1" smtClean="0"/>
              <a:t>url</a:t>
            </a:r>
            <a:r>
              <a:rPr lang="en-US" sz="2000" dirty="0" smtClean="0"/>
              <a:t>-pattern&gt;/servlet2&lt;/</a:t>
            </a:r>
            <a:r>
              <a:rPr lang="en-US" sz="2000" dirty="0" err="1" smtClean="0"/>
              <a:t>url</a:t>
            </a:r>
            <a:r>
              <a:rPr lang="en-US" sz="2000" dirty="0" smtClean="0"/>
              <a:t>-pattern&gt;  </a:t>
            </a:r>
          </a:p>
          <a:p>
            <a:pPr>
              <a:lnSpc>
                <a:spcPct val="100000"/>
              </a:lnSpc>
              <a:spcBef>
                <a:spcPts val="0"/>
              </a:spcBef>
              <a:buNone/>
            </a:pPr>
            <a:r>
              <a:rPr lang="en-US" sz="2000" dirty="0" smtClean="0"/>
              <a:t>&lt;/servlet-mapping&gt;  </a:t>
            </a:r>
          </a:p>
          <a:p>
            <a:pPr>
              <a:lnSpc>
                <a:spcPct val="100000"/>
              </a:lnSpc>
              <a:spcBef>
                <a:spcPts val="0"/>
              </a:spcBef>
              <a:buNone/>
            </a:pPr>
            <a:r>
              <a:rPr lang="en-US" sz="2000" dirty="0" smtClean="0"/>
              <a:t>&lt;/web-app&gt;  </a:t>
            </a:r>
          </a:p>
          <a:p>
            <a:pPr>
              <a:lnSpc>
                <a:spcPct val="100000"/>
              </a:lnSpc>
            </a:pPr>
            <a:endParaRPr lang="en-GB" dirty="0" smtClean="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54</a:t>
            </a:fld>
            <a:endParaRPr lang="en-US" altLang="en-US"/>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344" y="116633"/>
            <a:ext cx="4896544" cy="576064"/>
          </a:xfrm>
        </p:spPr>
        <p:txBody>
          <a:bodyPr/>
          <a:lstStyle/>
          <a:p>
            <a:r>
              <a:rPr lang="en-US" sz="4000" b="1" dirty="0" smtClean="0">
                <a:solidFill>
                  <a:srgbClr val="002060"/>
                </a:solidFill>
                <a:latin typeface="Cambria" panose="02040503050406030204" pitchFamily="18" charset="0"/>
                <a:ea typeface="Cambria" panose="02040503050406030204" pitchFamily="18" charset="0"/>
              </a:rPr>
              <a:t> Hidden Form Field</a:t>
            </a:r>
            <a:endParaRPr lang="en-US" sz="4000" b="1" dirty="0">
              <a:solidFill>
                <a:srgbClr val="00206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479376" y="836713"/>
            <a:ext cx="10874424" cy="4248472"/>
          </a:xfrm>
        </p:spPr>
        <p:txBody>
          <a:bodyPr/>
          <a:lstStyle/>
          <a:p>
            <a:pPr algn="just"/>
            <a:r>
              <a:rPr lang="en-GB" dirty="0" smtClean="0">
                <a:latin typeface="Cambria" panose="02040503050406030204" pitchFamily="18" charset="0"/>
                <a:ea typeface="Cambria" panose="02040503050406030204" pitchFamily="18" charset="0"/>
              </a:rPr>
              <a:t>In case of Hidden Form Field </a:t>
            </a:r>
            <a:r>
              <a:rPr lang="en-GB" b="1" dirty="0" smtClean="0">
                <a:latin typeface="Cambria" panose="02040503050406030204" pitchFamily="18" charset="0"/>
                <a:ea typeface="Cambria" panose="02040503050406030204" pitchFamily="18" charset="0"/>
              </a:rPr>
              <a:t>a hidden (invisible) textfield</a:t>
            </a:r>
            <a:r>
              <a:rPr lang="en-GB" dirty="0" smtClean="0">
                <a:latin typeface="Cambria" panose="02040503050406030204" pitchFamily="18" charset="0"/>
                <a:ea typeface="Cambria" panose="02040503050406030204" pitchFamily="18" charset="0"/>
              </a:rPr>
              <a:t> is used for maintaining the state of a user.</a:t>
            </a:r>
          </a:p>
          <a:p>
            <a:pPr algn="just"/>
            <a:r>
              <a:rPr lang="en-GB" dirty="0" smtClean="0">
                <a:latin typeface="Cambria" panose="02040503050406030204" pitchFamily="18" charset="0"/>
                <a:ea typeface="Cambria" panose="02040503050406030204" pitchFamily="18" charset="0"/>
              </a:rPr>
              <a:t>In such case, we store the information in the hidden field and get it from another </a:t>
            </a:r>
            <a:r>
              <a:rPr lang="en-GB" dirty="0" err="1" smtClean="0">
                <a:latin typeface="Cambria" panose="02040503050406030204" pitchFamily="18" charset="0"/>
                <a:ea typeface="Cambria" panose="02040503050406030204" pitchFamily="18" charset="0"/>
              </a:rPr>
              <a:t>servlet</a:t>
            </a:r>
            <a:r>
              <a:rPr lang="en-GB" dirty="0" smtClean="0">
                <a:latin typeface="Cambria" panose="02040503050406030204" pitchFamily="18" charset="0"/>
                <a:ea typeface="Cambria" panose="02040503050406030204" pitchFamily="18" charset="0"/>
              </a:rPr>
              <a:t>. This approach is better if we have to submit form in all the pages and we don't want to depend on the browser.</a:t>
            </a:r>
          </a:p>
          <a:p>
            <a:pPr algn="just"/>
            <a:r>
              <a:rPr lang="en-GB" dirty="0" smtClean="0">
                <a:latin typeface="Cambria" panose="02040503050406030204" pitchFamily="18" charset="0"/>
                <a:ea typeface="Cambria" panose="02040503050406030204" pitchFamily="18" charset="0"/>
              </a:rPr>
              <a:t>Let's see the code to store value in hidden field.</a:t>
            </a:r>
          </a:p>
          <a:p>
            <a:pPr algn="just"/>
            <a:r>
              <a:rPr lang="en-GB" dirty="0" smtClean="0">
                <a:latin typeface="Cambria" panose="02040503050406030204" pitchFamily="18" charset="0"/>
                <a:ea typeface="Cambria" panose="02040503050406030204" pitchFamily="18" charset="0"/>
              </a:rPr>
              <a:t>&lt;input type="hidden" name="uname" value=“Rahul"&gt;  </a:t>
            </a:r>
          </a:p>
          <a:p>
            <a:pPr algn="just"/>
            <a:r>
              <a:rPr lang="en-GB" dirty="0" smtClean="0">
                <a:latin typeface="Cambria" panose="02040503050406030204" pitchFamily="18" charset="0"/>
                <a:ea typeface="Cambria" panose="02040503050406030204" pitchFamily="18" charset="0"/>
              </a:rPr>
              <a:t>Here, uname is the hidden field name </a:t>
            </a:r>
            <a:r>
              <a:rPr lang="en-GB" smtClean="0">
                <a:latin typeface="Cambria" panose="02040503050406030204" pitchFamily="18" charset="0"/>
                <a:ea typeface="Cambria" panose="02040503050406030204" pitchFamily="18" charset="0"/>
              </a:rPr>
              <a:t>and Rahul </a:t>
            </a:r>
            <a:r>
              <a:rPr lang="en-GB" dirty="0" smtClean="0">
                <a:latin typeface="Cambria" panose="02040503050406030204" pitchFamily="18" charset="0"/>
                <a:ea typeface="Cambria" panose="02040503050406030204" pitchFamily="18" charset="0"/>
              </a:rPr>
              <a:t>is the hidden field value.</a:t>
            </a:r>
          </a:p>
          <a:p>
            <a:pPr algn="just"/>
            <a:endParaRPr lang="en-GB"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55</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19" y="51389"/>
            <a:ext cx="4291281" cy="641308"/>
          </a:xfrm>
        </p:spPr>
        <p:txBody>
          <a:bodyPr/>
          <a:lstStyle/>
          <a:p>
            <a:r>
              <a:rPr lang="en-GB" sz="4000" b="1" dirty="0" smtClean="0">
                <a:solidFill>
                  <a:srgbClr val="002060"/>
                </a:solidFill>
                <a:latin typeface="Cambria" panose="02040503050406030204" pitchFamily="18" charset="0"/>
                <a:ea typeface="Cambria" panose="02040503050406030204" pitchFamily="18" charset="0"/>
              </a:rPr>
              <a:t>Hidden Field</a:t>
            </a:r>
            <a:endParaRPr lang="en-US" sz="4000" b="1" dirty="0">
              <a:solidFill>
                <a:srgbClr val="00206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407368" y="836713"/>
            <a:ext cx="11233248" cy="3960439"/>
          </a:xfrm>
        </p:spPr>
        <p:txBody>
          <a:bodyPr/>
          <a:lstStyle/>
          <a:p>
            <a:pPr algn="just"/>
            <a:r>
              <a:rPr lang="en-GB" b="1" dirty="0" smtClean="0">
                <a:latin typeface="Cambria" panose="02040503050406030204" pitchFamily="18" charset="0"/>
                <a:ea typeface="Cambria" panose="02040503050406030204" pitchFamily="18" charset="0"/>
              </a:rPr>
              <a:t>Real application of hidden form field:</a:t>
            </a:r>
          </a:p>
          <a:p>
            <a:pPr lvl="1" algn="just"/>
            <a:r>
              <a:rPr lang="en-GB" dirty="0" smtClean="0">
                <a:latin typeface="Cambria" panose="02040503050406030204" pitchFamily="18" charset="0"/>
                <a:ea typeface="Cambria" panose="02040503050406030204" pitchFamily="18" charset="0"/>
              </a:rPr>
              <a:t>It is widely used in comment form of a website. In such case, we store page id or page name in the hidden field so that each page can be uniquely identified.</a:t>
            </a:r>
          </a:p>
          <a:p>
            <a:pPr algn="just"/>
            <a:r>
              <a:rPr lang="en-GB" b="1" dirty="0" smtClean="0">
                <a:latin typeface="Cambria" panose="02040503050406030204" pitchFamily="18" charset="0"/>
                <a:ea typeface="Cambria" panose="02040503050406030204" pitchFamily="18" charset="0"/>
              </a:rPr>
              <a:t>Advantage of Hidden Form Field:</a:t>
            </a:r>
            <a:endParaRPr lang="en-GB" b="1" dirty="0">
              <a:latin typeface="Cambria" panose="02040503050406030204" pitchFamily="18" charset="0"/>
              <a:ea typeface="Cambria" panose="02040503050406030204" pitchFamily="18" charset="0"/>
            </a:endParaRPr>
          </a:p>
          <a:p>
            <a:pPr lvl="1" algn="just"/>
            <a:r>
              <a:rPr lang="en-GB" dirty="0" smtClean="0">
                <a:latin typeface="Cambria" panose="02040503050406030204" pitchFamily="18" charset="0"/>
                <a:ea typeface="Cambria" panose="02040503050406030204" pitchFamily="18" charset="0"/>
              </a:rPr>
              <a:t>It will always work whether cookie is disabled or not.</a:t>
            </a:r>
          </a:p>
          <a:p>
            <a:pPr algn="just"/>
            <a:r>
              <a:rPr lang="en-GB" b="1" dirty="0" smtClean="0">
                <a:latin typeface="Cambria" panose="02040503050406030204" pitchFamily="18" charset="0"/>
                <a:ea typeface="Cambria" panose="02040503050406030204" pitchFamily="18" charset="0"/>
              </a:rPr>
              <a:t>Disadvantage of Hidden Form Field:</a:t>
            </a:r>
          </a:p>
          <a:p>
            <a:pPr lvl="1" algn="just"/>
            <a:r>
              <a:rPr lang="en-GB" dirty="0" smtClean="0">
                <a:latin typeface="Cambria" panose="02040503050406030204" pitchFamily="18" charset="0"/>
                <a:ea typeface="Cambria" panose="02040503050406030204" pitchFamily="18" charset="0"/>
              </a:rPr>
              <a:t>It is maintained at server side.</a:t>
            </a:r>
          </a:p>
          <a:p>
            <a:pPr lvl="1" algn="just"/>
            <a:r>
              <a:rPr lang="en-GB" dirty="0" smtClean="0">
                <a:latin typeface="Cambria" panose="02040503050406030204" pitchFamily="18" charset="0"/>
                <a:ea typeface="Cambria" panose="02040503050406030204" pitchFamily="18" charset="0"/>
              </a:rPr>
              <a:t>Extra form submission is required on each pages.</a:t>
            </a:r>
          </a:p>
          <a:p>
            <a:pPr lvl="1" algn="just"/>
            <a:r>
              <a:rPr lang="en-GB" dirty="0" smtClean="0">
                <a:latin typeface="Cambria" panose="02040503050406030204" pitchFamily="18" charset="0"/>
                <a:ea typeface="Cambria" panose="02040503050406030204" pitchFamily="18" charset="0"/>
              </a:rPr>
              <a:t>Only textual information can be used.</a:t>
            </a:r>
          </a:p>
          <a:p>
            <a:pPr algn="just"/>
            <a:endParaRPr lang="en-US"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56</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Example of using Hidden Form Field</a:t>
            </a:r>
            <a:endParaRPr lang="en-GB"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57</a:t>
            </a:fld>
            <a:endParaRPr lang="en-US" altLang="en-US"/>
          </a:p>
        </p:txBody>
      </p:sp>
      <p:pic>
        <p:nvPicPr>
          <p:cNvPr id="6" name="Content Placeholder 5" descr="Hidden Form Field in Servlet"/>
          <p:cNvPicPr>
            <a:picLocks noGrp="1"/>
          </p:cNvPicPr>
          <p:nvPr>
            <p:ph idx="1"/>
          </p:nvPr>
        </p:nvPicPr>
        <p:blipFill>
          <a:blip r:embed="rId2"/>
          <a:srcRect/>
          <a:stretch>
            <a:fillRect/>
          </a:stretch>
        </p:blipFill>
        <p:spPr bwMode="auto">
          <a:xfrm>
            <a:off x="2762250" y="2300288"/>
            <a:ext cx="6667500" cy="2933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344" y="32229"/>
            <a:ext cx="2665512" cy="399579"/>
          </a:xfrm>
        </p:spPr>
        <p:txBody>
          <a:bodyPr/>
          <a:lstStyle/>
          <a:p>
            <a:r>
              <a:rPr lang="en-US" sz="4000" b="1" dirty="0" smtClean="0">
                <a:solidFill>
                  <a:srgbClr val="002060"/>
                </a:solidFill>
                <a:latin typeface="Cambria" panose="02040503050406030204" pitchFamily="18" charset="0"/>
                <a:ea typeface="Cambria" panose="02040503050406030204" pitchFamily="18" charset="0"/>
              </a:rPr>
              <a:t>Example</a:t>
            </a:r>
            <a:endParaRPr lang="en-US" sz="4000" b="1" dirty="0">
              <a:solidFill>
                <a:srgbClr val="00206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184557" y="1196752"/>
            <a:ext cx="4039235" cy="1944216"/>
          </a:xfrm>
        </p:spPr>
        <p:txBody>
          <a:bodyPr/>
          <a:lstStyle/>
          <a:p>
            <a:pPr>
              <a:spcBef>
                <a:spcPts val="0"/>
              </a:spcBef>
              <a:buNone/>
            </a:pPr>
            <a:r>
              <a:rPr lang="en-US" sz="2000" dirty="0" smtClean="0">
                <a:latin typeface="Cambria" panose="02040503050406030204" pitchFamily="18" charset="0"/>
                <a:ea typeface="Cambria" panose="02040503050406030204" pitchFamily="18" charset="0"/>
              </a:rPr>
              <a:t>index.html</a:t>
            </a:r>
          </a:p>
          <a:p>
            <a:pPr>
              <a:spcBef>
                <a:spcPts val="0"/>
              </a:spcBef>
              <a:buNone/>
            </a:pPr>
            <a:r>
              <a:rPr lang="en-US" sz="2000" dirty="0" smtClean="0">
                <a:latin typeface="Cambria" panose="02040503050406030204" pitchFamily="18" charset="0"/>
                <a:ea typeface="Cambria" panose="02040503050406030204" pitchFamily="18" charset="0"/>
              </a:rPr>
              <a:t>&lt;form action="servlet1"&gt;  </a:t>
            </a:r>
          </a:p>
          <a:p>
            <a:pPr>
              <a:spcBef>
                <a:spcPts val="0"/>
              </a:spcBef>
              <a:buNone/>
            </a:pPr>
            <a:r>
              <a:rPr lang="en-US" sz="2000" dirty="0" smtClean="0">
                <a:latin typeface="Cambria" panose="02040503050406030204" pitchFamily="18" charset="0"/>
                <a:ea typeface="Cambria" panose="02040503050406030204" pitchFamily="18" charset="0"/>
              </a:rPr>
              <a:t>Name:&lt;input type="text" name="</a:t>
            </a:r>
            <a:r>
              <a:rPr lang="en-US" sz="2000" dirty="0" err="1" smtClean="0">
                <a:latin typeface="Cambria" panose="02040503050406030204" pitchFamily="18" charset="0"/>
                <a:ea typeface="Cambria" panose="02040503050406030204" pitchFamily="18" charset="0"/>
              </a:rPr>
              <a:t>userName</a:t>
            </a:r>
            <a:r>
              <a:rPr lang="en-US" sz="2000" dirty="0" smtClean="0">
                <a:latin typeface="Cambria" panose="02040503050406030204" pitchFamily="18" charset="0"/>
                <a:ea typeface="Cambria" panose="02040503050406030204" pitchFamily="18" charset="0"/>
              </a:rPr>
              <a:t>"/&gt;&lt;</a:t>
            </a:r>
            <a:r>
              <a:rPr lang="en-US" sz="2000" dirty="0" err="1" smtClean="0">
                <a:latin typeface="Cambria" panose="02040503050406030204" pitchFamily="18" charset="0"/>
                <a:ea typeface="Cambria" panose="02040503050406030204" pitchFamily="18" charset="0"/>
              </a:rPr>
              <a:t>br</a:t>
            </a:r>
            <a:r>
              <a:rPr lang="en-US" sz="2000" dirty="0" smtClean="0">
                <a:latin typeface="Cambria" panose="02040503050406030204" pitchFamily="18" charset="0"/>
                <a:ea typeface="Cambria" panose="02040503050406030204" pitchFamily="18" charset="0"/>
              </a:rPr>
              <a:t>/&gt;  </a:t>
            </a:r>
          </a:p>
          <a:p>
            <a:pPr>
              <a:spcBef>
                <a:spcPts val="0"/>
              </a:spcBef>
              <a:buNone/>
            </a:pPr>
            <a:r>
              <a:rPr lang="en-US" sz="2000" dirty="0" smtClean="0">
                <a:latin typeface="Cambria" panose="02040503050406030204" pitchFamily="18" charset="0"/>
                <a:ea typeface="Cambria" panose="02040503050406030204" pitchFamily="18" charset="0"/>
              </a:rPr>
              <a:t>&lt;input type="submit" value="go"/&gt;  </a:t>
            </a:r>
          </a:p>
          <a:p>
            <a:pPr>
              <a:spcBef>
                <a:spcPts val="0"/>
              </a:spcBef>
              <a:buNone/>
            </a:pPr>
            <a:r>
              <a:rPr lang="en-US" sz="2000" dirty="0" smtClean="0">
                <a:latin typeface="Cambria" panose="02040503050406030204" pitchFamily="18" charset="0"/>
                <a:ea typeface="Cambria" panose="02040503050406030204" pitchFamily="18" charset="0"/>
              </a:rPr>
              <a:t>&lt;/form&gt;  </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58</a:t>
            </a:fld>
            <a:endParaRPr lang="en-US" altLang="en-US">
              <a:latin typeface="Cambria" panose="02040503050406030204" pitchFamily="18" charset="0"/>
              <a:ea typeface="Cambria" panose="02040503050406030204" pitchFamily="18" charset="0"/>
            </a:endParaRPr>
          </a:p>
        </p:txBody>
      </p:sp>
      <p:sp>
        <p:nvSpPr>
          <p:cNvPr id="5" name="Rectangle 4"/>
          <p:cNvSpPr/>
          <p:nvPr/>
        </p:nvSpPr>
        <p:spPr>
          <a:xfrm>
            <a:off x="4655840" y="17602"/>
            <a:ext cx="7128792" cy="6186309"/>
          </a:xfrm>
          <a:prstGeom prst="rect">
            <a:avLst/>
          </a:prstGeom>
        </p:spPr>
        <p:txBody>
          <a:bodyPr wrap="square">
            <a:spAutoFit/>
          </a:bodyPr>
          <a:lstStyle/>
          <a:p>
            <a:pPr>
              <a:spcBef>
                <a:spcPts val="0"/>
              </a:spcBef>
              <a:buNone/>
            </a:pPr>
            <a:r>
              <a:rPr lang="en-US" dirty="0">
                <a:latin typeface="Cambria" panose="02040503050406030204" pitchFamily="18" charset="0"/>
                <a:ea typeface="Cambria" panose="02040503050406030204" pitchFamily="18" charset="0"/>
              </a:rPr>
              <a:t>FirstServlet.java</a:t>
            </a:r>
          </a:p>
          <a:p>
            <a:pPr>
              <a:spcBef>
                <a:spcPts val="0"/>
              </a:spcBef>
              <a:buNone/>
            </a:pPr>
            <a:r>
              <a:rPr lang="en-US" b="1" dirty="0">
                <a:latin typeface="Cambria" panose="02040503050406030204" pitchFamily="18" charset="0"/>
                <a:ea typeface="Cambria" panose="02040503050406030204" pitchFamily="18" charset="0"/>
              </a:rPr>
              <a:t>import</a:t>
            </a:r>
            <a:r>
              <a:rPr lang="en-US" dirty="0">
                <a:latin typeface="Cambria" panose="02040503050406030204" pitchFamily="18" charset="0"/>
                <a:ea typeface="Cambria" panose="02040503050406030204" pitchFamily="18" charset="0"/>
              </a:rPr>
              <a:t> java.io.*;  </a:t>
            </a:r>
          </a:p>
          <a:p>
            <a:pPr>
              <a:spcBef>
                <a:spcPts val="0"/>
              </a:spcBef>
              <a:buNone/>
            </a:pPr>
            <a:r>
              <a:rPr lang="en-US" b="1" dirty="0">
                <a:latin typeface="Cambria" panose="02040503050406030204" pitchFamily="18" charset="0"/>
                <a:ea typeface="Cambria" panose="02040503050406030204" pitchFamily="18" charset="0"/>
              </a:rPr>
              <a:t>import</a:t>
            </a:r>
            <a:r>
              <a:rPr lang="en-US" dirty="0">
                <a:latin typeface="Cambria" panose="02040503050406030204" pitchFamily="18" charset="0"/>
                <a:ea typeface="Cambria" panose="02040503050406030204" pitchFamily="18" charset="0"/>
              </a:rPr>
              <a:t> javax.servlet.*;  </a:t>
            </a:r>
          </a:p>
          <a:p>
            <a:pPr>
              <a:spcBef>
                <a:spcPts val="0"/>
              </a:spcBef>
              <a:buNone/>
            </a:pPr>
            <a:r>
              <a:rPr lang="en-US" b="1" dirty="0">
                <a:latin typeface="Cambria" panose="02040503050406030204" pitchFamily="18" charset="0"/>
                <a:ea typeface="Cambria" panose="02040503050406030204" pitchFamily="18" charset="0"/>
              </a:rPr>
              <a:t>import</a:t>
            </a:r>
            <a:r>
              <a:rPr lang="en-US" dirty="0">
                <a:latin typeface="Cambria" panose="02040503050406030204" pitchFamily="18" charset="0"/>
                <a:ea typeface="Cambria" panose="02040503050406030204" pitchFamily="18" charset="0"/>
              </a:rPr>
              <a:t> javax.servlet.http.*;  </a:t>
            </a:r>
          </a:p>
          <a:p>
            <a:pPr>
              <a:spcBef>
                <a:spcPts val="0"/>
              </a:spcBef>
              <a:buNone/>
            </a:pPr>
            <a:r>
              <a:rPr lang="en-US" dirty="0">
                <a:latin typeface="Cambria" panose="02040503050406030204" pitchFamily="18" charset="0"/>
                <a:ea typeface="Cambria" panose="02040503050406030204" pitchFamily="18" charset="0"/>
              </a:rPr>
              <a:t>  </a:t>
            </a:r>
          </a:p>
          <a:p>
            <a:pPr>
              <a:spcBef>
                <a:spcPts val="0"/>
              </a:spcBef>
              <a:buNone/>
            </a:pPr>
            <a:r>
              <a:rPr lang="en-US" b="1" dirty="0">
                <a:latin typeface="Cambria" panose="02040503050406030204" pitchFamily="18" charset="0"/>
                <a:ea typeface="Cambria" panose="02040503050406030204" pitchFamily="18" charset="0"/>
              </a:rPr>
              <a:t>public</a:t>
            </a:r>
            <a:r>
              <a:rPr lang="en-US" dirty="0">
                <a:latin typeface="Cambria" panose="02040503050406030204" pitchFamily="18" charset="0"/>
                <a:ea typeface="Cambria" panose="02040503050406030204" pitchFamily="18" charset="0"/>
              </a:rPr>
              <a:t> </a:t>
            </a:r>
            <a:r>
              <a:rPr lang="en-US" b="1" dirty="0">
                <a:latin typeface="Cambria" panose="02040503050406030204" pitchFamily="18" charset="0"/>
                <a:ea typeface="Cambria" panose="02040503050406030204" pitchFamily="18" charset="0"/>
              </a:rPr>
              <a:t>class</a:t>
            </a:r>
            <a:r>
              <a:rPr lang="en-US" dirty="0">
                <a:latin typeface="Cambria" panose="02040503050406030204" pitchFamily="18" charset="0"/>
                <a:ea typeface="Cambria" panose="02040503050406030204" pitchFamily="18" charset="0"/>
              </a:rPr>
              <a:t> FirstServlet </a:t>
            </a:r>
            <a:r>
              <a:rPr lang="en-US" b="1" dirty="0">
                <a:latin typeface="Cambria" panose="02040503050406030204" pitchFamily="18" charset="0"/>
                <a:ea typeface="Cambria" panose="02040503050406030204" pitchFamily="18" charset="0"/>
              </a:rPr>
              <a:t>extends</a:t>
            </a:r>
            <a:r>
              <a:rPr lang="en-US" dirty="0">
                <a:latin typeface="Cambria" panose="02040503050406030204" pitchFamily="18" charset="0"/>
                <a:ea typeface="Cambria" panose="02040503050406030204" pitchFamily="18" charset="0"/>
              </a:rPr>
              <a:t> HttpServlet {  </a:t>
            </a:r>
          </a:p>
          <a:p>
            <a:pPr>
              <a:spcBef>
                <a:spcPts val="0"/>
              </a:spcBef>
              <a:buNone/>
            </a:pPr>
            <a:r>
              <a:rPr lang="en-US" b="1" dirty="0">
                <a:latin typeface="Cambria" panose="02040503050406030204" pitchFamily="18" charset="0"/>
                <a:ea typeface="Cambria" panose="02040503050406030204" pitchFamily="18" charset="0"/>
              </a:rPr>
              <a:t>public</a:t>
            </a:r>
            <a:r>
              <a:rPr lang="en-US" dirty="0">
                <a:latin typeface="Cambria" panose="02040503050406030204" pitchFamily="18" charset="0"/>
                <a:ea typeface="Cambria" panose="02040503050406030204" pitchFamily="18" charset="0"/>
              </a:rPr>
              <a:t> </a:t>
            </a:r>
            <a:r>
              <a:rPr lang="en-US" b="1" dirty="0">
                <a:latin typeface="Cambria" panose="02040503050406030204" pitchFamily="18" charset="0"/>
                <a:ea typeface="Cambria" panose="02040503050406030204" pitchFamily="18" charset="0"/>
              </a:rPr>
              <a:t>void</a:t>
            </a:r>
            <a:r>
              <a:rPr lang="en-US" dirty="0">
                <a:latin typeface="Cambria" panose="02040503050406030204" pitchFamily="18" charset="0"/>
                <a:ea typeface="Cambria" panose="02040503050406030204" pitchFamily="18" charset="0"/>
              </a:rPr>
              <a:t> doGet(HttpServletRequest request, HttpServletResponse response){  </a:t>
            </a:r>
          </a:p>
          <a:p>
            <a:pPr>
              <a:spcBef>
                <a:spcPts val="0"/>
              </a:spcBef>
              <a:buNone/>
            </a:pPr>
            <a:r>
              <a:rPr lang="en-US" dirty="0">
                <a:latin typeface="Cambria" panose="02040503050406030204" pitchFamily="18" charset="0"/>
                <a:ea typeface="Cambria" panose="02040503050406030204" pitchFamily="18" charset="0"/>
              </a:rPr>
              <a:t>        </a:t>
            </a:r>
            <a:r>
              <a:rPr lang="en-US" b="1" dirty="0">
                <a:latin typeface="Cambria" panose="02040503050406030204" pitchFamily="18" charset="0"/>
                <a:ea typeface="Cambria" panose="02040503050406030204" pitchFamily="18" charset="0"/>
              </a:rPr>
              <a:t>try</a:t>
            </a:r>
            <a:r>
              <a:rPr lang="en-US" dirty="0">
                <a:latin typeface="Cambria" panose="02040503050406030204" pitchFamily="18" charset="0"/>
                <a:ea typeface="Cambria" panose="02040503050406030204" pitchFamily="18" charset="0"/>
              </a:rPr>
              <a:t>{    </a:t>
            </a:r>
          </a:p>
          <a:p>
            <a:pPr>
              <a:spcBef>
                <a:spcPts val="0"/>
              </a:spcBef>
              <a:buNone/>
            </a:pPr>
            <a:r>
              <a:rPr lang="en-US" dirty="0">
                <a:latin typeface="Cambria" panose="02040503050406030204" pitchFamily="18" charset="0"/>
                <a:ea typeface="Cambria" panose="02040503050406030204" pitchFamily="18" charset="0"/>
              </a:rPr>
              <a:t>        response.setContentType("text/html");  </a:t>
            </a:r>
          </a:p>
          <a:p>
            <a:pPr>
              <a:spcBef>
                <a:spcPts val="0"/>
              </a:spcBef>
              <a:buNone/>
            </a:pPr>
            <a:r>
              <a:rPr lang="en-US" dirty="0">
                <a:latin typeface="Cambria" panose="02040503050406030204" pitchFamily="18" charset="0"/>
                <a:ea typeface="Cambria" panose="02040503050406030204" pitchFamily="18" charset="0"/>
              </a:rPr>
              <a:t>        PrintWriter out = response.getWriter();            </a:t>
            </a:r>
          </a:p>
          <a:p>
            <a:pPr>
              <a:spcBef>
                <a:spcPts val="0"/>
              </a:spcBef>
              <a:buNone/>
            </a:pPr>
            <a:r>
              <a:rPr lang="en-US" dirty="0">
                <a:latin typeface="Cambria" panose="02040503050406030204" pitchFamily="18" charset="0"/>
                <a:ea typeface="Cambria" panose="02040503050406030204" pitchFamily="18" charset="0"/>
              </a:rPr>
              <a:t>        String n=request.getParameter("userName");  </a:t>
            </a:r>
          </a:p>
          <a:p>
            <a:pPr>
              <a:spcBef>
                <a:spcPts val="0"/>
              </a:spcBef>
              <a:buNone/>
            </a:pPr>
            <a:r>
              <a:rPr lang="en-US" dirty="0">
                <a:latin typeface="Cambria" panose="02040503050406030204" pitchFamily="18" charset="0"/>
                <a:ea typeface="Cambria" panose="02040503050406030204" pitchFamily="18" charset="0"/>
              </a:rPr>
              <a:t>        out.print("Welcome "+n);            </a:t>
            </a:r>
          </a:p>
          <a:p>
            <a:pPr>
              <a:spcBef>
                <a:spcPts val="0"/>
              </a:spcBef>
              <a:buNone/>
            </a:pPr>
            <a:r>
              <a:rPr lang="en-US" dirty="0">
                <a:latin typeface="Cambria" panose="02040503050406030204" pitchFamily="18" charset="0"/>
                <a:ea typeface="Cambria" panose="02040503050406030204" pitchFamily="18" charset="0"/>
              </a:rPr>
              <a:t>        //creating form that have invisible textfield  </a:t>
            </a:r>
          </a:p>
          <a:p>
            <a:pPr>
              <a:spcBef>
                <a:spcPts val="0"/>
              </a:spcBef>
              <a:buNone/>
            </a:pPr>
            <a:r>
              <a:rPr lang="en-US" dirty="0">
                <a:latin typeface="Cambria" panose="02040503050406030204" pitchFamily="18" charset="0"/>
                <a:ea typeface="Cambria" panose="02040503050406030204" pitchFamily="18" charset="0"/>
              </a:rPr>
              <a:t>        out.print("&lt;form action='servlet2'&gt;");  </a:t>
            </a:r>
          </a:p>
          <a:p>
            <a:pPr>
              <a:spcBef>
                <a:spcPts val="0"/>
              </a:spcBef>
              <a:buNone/>
            </a:pPr>
            <a:r>
              <a:rPr lang="en-US" dirty="0">
                <a:latin typeface="Cambria" panose="02040503050406030204" pitchFamily="18" charset="0"/>
                <a:ea typeface="Cambria" panose="02040503050406030204" pitchFamily="18" charset="0"/>
              </a:rPr>
              <a:t>        out.print("&lt;input type='hidden' name='uname' value='"+n+"'&gt;");  </a:t>
            </a:r>
          </a:p>
          <a:p>
            <a:pPr>
              <a:spcBef>
                <a:spcPts val="0"/>
              </a:spcBef>
              <a:buNone/>
            </a:pPr>
            <a:r>
              <a:rPr lang="en-US" dirty="0">
                <a:latin typeface="Cambria" panose="02040503050406030204" pitchFamily="18" charset="0"/>
                <a:ea typeface="Cambria" panose="02040503050406030204" pitchFamily="18" charset="0"/>
              </a:rPr>
              <a:t>        out.print("&lt;input type='submit' value='go'&gt;");  </a:t>
            </a:r>
          </a:p>
          <a:p>
            <a:pPr>
              <a:spcBef>
                <a:spcPts val="0"/>
              </a:spcBef>
              <a:buNone/>
            </a:pPr>
            <a:r>
              <a:rPr lang="en-US" dirty="0">
                <a:latin typeface="Cambria" panose="02040503050406030204" pitchFamily="18" charset="0"/>
                <a:ea typeface="Cambria" panose="02040503050406030204" pitchFamily="18" charset="0"/>
              </a:rPr>
              <a:t>        out.print("&lt;/form&gt;");  </a:t>
            </a:r>
          </a:p>
          <a:p>
            <a:pPr>
              <a:spcBef>
                <a:spcPts val="0"/>
              </a:spcBef>
              <a:buNone/>
            </a:pPr>
            <a:r>
              <a:rPr lang="en-US" dirty="0">
                <a:latin typeface="Cambria" panose="02040503050406030204" pitchFamily="18" charset="0"/>
                <a:ea typeface="Cambria" panose="02040503050406030204" pitchFamily="18" charset="0"/>
              </a:rPr>
              <a:t>        out.close();    </a:t>
            </a:r>
          </a:p>
          <a:p>
            <a:pPr>
              <a:spcBef>
                <a:spcPts val="0"/>
              </a:spcBef>
              <a:buNone/>
            </a:pPr>
            <a:r>
              <a:rPr lang="en-US" dirty="0">
                <a:latin typeface="Cambria" panose="02040503050406030204" pitchFamily="18" charset="0"/>
                <a:ea typeface="Cambria" panose="02040503050406030204" pitchFamily="18" charset="0"/>
              </a:rPr>
              <a:t>                }</a:t>
            </a:r>
            <a:r>
              <a:rPr lang="en-US" b="1" dirty="0">
                <a:latin typeface="Cambria" panose="02040503050406030204" pitchFamily="18" charset="0"/>
                <a:ea typeface="Cambria" panose="02040503050406030204" pitchFamily="18" charset="0"/>
              </a:rPr>
              <a:t>catch</a:t>
            </a:r>
            <a:r>
              <a:rPr lang="en-US" dirty="0">
                <a:latin typeface="Cambria" panose="02040503050406030204" pitchFamily="18" charset="0"/>
                <a:ea typeface="Cambria" panose="02040503050406030204" pitchFamily="18" charset="0"/>
              </a:rPr>
              <a:t>(Exception e){System.out.println(e);}  </a:t>
            </a:r>
          </a:p>
          <a:p>
            <a:pPr>
              <a:spcBef>
                <a:spcPts val="0"/>
              </a:spcBef>
              <a:buNone/>
            </a:pPr>
            <a:r>
              <a:rPr lang="en-US" dirty="0">
                <a:latin typeface="Cambria" panose="02040503050406030204" pitchFamily="18" charset="0"/>
                <a:ea typeface="Cambria" panose="02040503050406030204" pitchFamily="18" charset="0"/>
              </a:rPr>
              <a:t>    }    </a:t>
            </a:r>
          </a:p>
          <a:p>
            <a:pPr>
              <a:spcBef>
                <a:spcPts val="0"/>
              </a:spcBef>
              <a:buNone/>
            </a:pPr>
            <a:r>
              <a:rPr lang="en-US" dirty="0">
                <a:latin typeface="Cambria" panose="02040503050406030204" pitchFamily="18" charset="0"/>
                <a:ea typeface="Cambria" panose="02040503050406030204" pitchFamily="18" charset="0"/>
              </a:rPr>
              <a:t>}  </a:t>
            </a: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36" y="61117"/>
            <a:ext cx="2448272" cy="631579"/>
          </a:xfrm>
        </p:spPr>
        <p:txBody>
          <a:bodyPr/>
          <a:lstStyle/>
          <a:p>
            <a:r>
              <a:rPr lang="en-US" sz="4000" b="1" dirty="0" smtClean="0">
                <a:solidFill>
                  <a:srgbClr val="002060"/>
                </a:solidFill>
                <a:latin typeface="Cambria" panose="02040503050406030204" pitchFamily="18" charset="0"/>
                <a:ea typeface="Cambria" panose="02040503050406030204" pitchFamily="18" charset="0"/>
              </a:rPr>
              <a:t>Example</a:t>
            </a:r>
            <a:endParaRPr lang="en-US" sz="4000" b="1" dirty="0">
              <a:solidFill>
                <a:srgbClr val="00206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119336" y="692696"/>
            <a:ext cx="6624736" cy="4553308"/>
          </a:xfrm>
        </p:spPr>
        <p:txBody>
          <a:bodyPr/>
          <a:lstStyle/>
          <a:p>
            <a:r>
              <a:rPr lang="en-US" sz="1800" dirty="0" smtClean="0">
                <a:latin typeface="Cambria" panose="02040503050406030204" pitchFamily="18" charset="0"/>
                <a:ea typeface="Cambria" panose="02040503050406030204" pitchFamily="18" charset="0"/>
              </a:rPr>
              <a:t>SecondServlet.java</a:t>
            </a:r>
          </a:p>
          <a:p>
            <a:pPr>
              <a:spcBef>
                <a:spcPts val="0"/>
              </a:spcBef>
              <a:buNone/>
            </a:pPr>
            <a:r>
              <a:rPr lang="en-US" sz="1800" b="1" dirty="0" smtClean="0">
                <a:latin typeface="Cambria" panose="02040503050406030204" pitchFamily="18" charset="0"/>
                <a:ea typeface="Cambria" panose="02040503050406030204" pitchFamily="18" charset="0"/>
              </a:rPr>
              <a:t>import</a:t>
            </a:r>
            <a:r>
              <a:rPr lang="en-US" sz="1800" dirty="0" smtClean="0">
                <a:latin typeface="Cambria" panose="02040503050406030204" pitchFamily="18" charset="0"/>
                <a:ea typeface="Cambria" panose="02040503050406030204" pitchFamily="18" charset="0"/>
              </a:rPr>
              <a:t> java.io.*;  </a:t>
            </a:r>
          </a:p>
          <a:p>
            <a:pPr>
              <a:spcBef>
                <a:spcPts val="0"/>
              </a:spcBef>
              <a:buNone/>
            </a:pPr>
            <a:r>
              <a:rPr lang="en-US" sz="1800" b="1" dirty="0" smtClean="0">
                <a:latin typeface="Cambria" panose="02040503050406030204" pitchFamily="18" charset="0"/>
                <a:ea typeface="Cambria" panose="02040503050406030204" pitchFamily="18" charset="0"/>
              </a:rPr>
              <a:t>import</a:t>
            </a: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javax.servlet</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b="1" dirty="0" smtClean="0">
                <a:latin typeface="Cambria" panose="02040503050406030204" pitchFamily="18" charset="0"/>
                <a:ea typeface="Cambria" panose="02040503050406030204" pitchFamily="18" charset="0"/>
              </a:rPr>
              <a:t>import</a:t>
            </a: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javax.servlet.http</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b="1" dirty="0" smtClean="0">
                <a:latin typeface="Cambria" panose="02040503050406030204" pitchFamily="18" charset="0"/>
                <a:ea typeface="Cambria" panose="02040503050406030204" pitchFamily="18" charset="0"/>
              </a:rPr>
              <a:t>public</a:t>
            </a: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class</a:t>
            </a: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SecondServlet</a:t>
            </a: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extends</a:t>
            </a: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HttpServlet</a:t>
            </a:r>
            <a:r>
              <a:rPr lang="en-US" sz="1800" dirty="0" smtClean="0">
                <a:latin typeface="Cambria" panose="02040503050406030204" pitchFamily="18" charset="0"/>
                <a:ea typeface="Cambria" panose="02040503050406030204" pitchFamily="18" charset="0"/>
              </a:rPr>
              <a:t> {  </a:t>
            </a:r>
          </a:p>
          <a:p>
            <a:pPr>
              <a:spcBef>
                <a:spcPts val="0"/>
              </a:spcBef>
              <a:buNone/>
            </a:pPr>
            <a:r>
              <a:rPr lang="en-US" sz="1800" b="1" dirty="0" smtClean="0">
                <a:latin typeface="Cambria" panose="02040503050406030204" pitchFamily="18" charset="0"/>
                <a:ea typeface="Cambria" panose="02040503050406030204" pitchFamily="18" charset="0"/>
              </a:rPr>
              <a:t>public</a:t>
            </a: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void</a:t>
            </a: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doGet</a:t>
            </a:r>
            <a:r>
              <a:rPr lang="en-US" sz="1800" dirty="0" smtClean="0">
                <a:latin typeface="Cambria" panose="02040503050406030204" pitchFamily="18" charset="0"/>
                <a:ea typeface="Cambria" panose="02040503050406030204" pitchFamily="18" charset="0"/>
              </a:rPr>
              <a:t>(</a:t>
            </a:r>
            <a:r>
              <a:rPr lang="en-US" sz="1800" dirty="0" err="1" smtClean="0">
                <a:latin typeface="Cambria" panose="02040503050406030204" pitchFamily="18" charset="0"/>
                <a:ea typeface="Cambria" panose="02040503050406030204" pitchFamily="18" charset="0"/>
              </a:rPr>
              <a:t>HttpServletRequest</a:t>
            </a:r>
            <a:r>
              <a:rPr lang="en-US" sz="1800" dirty="0" smtClean="0">
                <a:latin typeface="Cambria" panose="02040503050406030204" pitchFamily="18" charset="0"/>
                <a:ea typeface="Cambria" panose="02040503050406030204" pitchFamily="18" charset="0"/>
              </a:rPr>
              <a:t> request, </a:t>
            </a:r>
            <a:r>
              <a:rPr lang="en-US" sz="1800" dirty="0" err="1" smtClean="0">
                <a:latin typeface="Cambria" panose="02040503050406030204" pitchFamily="18" charset="0"/>
                <a:ea typeface="Cambria" panose="02040503050406030204" pitchFamily="18" charset="0"/>
              </a:rPr>
              <a:t>HttpServletResponse</a:t>
            </a:r>
            <a:r>
              <a:rPr lang="en-US" sz="1800" dirty="0" smtClean="0">
                <a:latin typeface="Cambria" panose="02040503050406030204" pitchFamily="18" charset="0"/>
                <a:ea typeface="Cambria" panose="02040503050406030204" pitchFamily="18" charset="0"/>
              </a:rPr>
              <a:t> response)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try</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response.setContentType</a:t>
            </a:r>
            <a:r>
              <a:rPr lang="en-US" sz="1800" dirty="0" smtClean="0">
                <a:latin typeface="Cambria" panose="02040503050406030204" pitchFamily="18" charset="0"/>
                <a:ea typeface="Cambria" panose="02040503050406030204" pitchFamily="18" charset="0"/>
              </a:rPr>
              <a:t>("text/html");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PrintWriter</a:t>
            </a:r>
            <a:r>
              <a:rPr lang="en-US" sz="1800" dirty="0" smtClean="0">
                <a:latin typeface="Cambria" panose="02040503050406030204" pitchFamily="18" charset="0"/>
                <a:ea typeface="Cambria" panose="02040503050406030204" pitchFamily="18" charset="0"/>
              </a:rPr>
              <a:t> out = </a:t>
            </a:r>
            <a:r>
              <a:rPr lang="en-US" sz="1800" dirty="0" err="1" smtClean="0">
                <a:latin typeface="Cambria" panose="02040503050406030204" pitchFamily="18" charset="0"/>
                <a:ea typeface="Cambria" panose="02040503050406030204" pitchFamily="18" charset="0"/>
              </a:rPr>
              <a:t>response.getWriter</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//Getting the value from the hidden field  </a:t>
            </a:r>
          </a:p>
          <a:p>
            <a:pPr>
              <a:spcBef>
                <a:spcPts val="0"/>
              </a:spcBef>
              <a:buNone/>
            </a:pPr>
            <a:r>
              <a:rPr lang="en-US" sz="1800" dirty="0" smtClean="0">
                <a:latin typeface="Cambria" panose="02040503050406030204" pitchFamily="18" charset="0"/>
                <a:ea typeface="Cambria" panose="02040503050406030204" pitchFamily="18" charset="0"/>
              </a:rPr>
              <a:t>        String n=</a:t>
            </a:r>
            <a:r>
              <a:rPr lang="en-US" sz="1800" dirty="0" err="1" smtClean="0">
                <a:latin typeface="Cambria" panose="02040503050406030204" pitchFamily="18" charset="0"/>
                <a:ea typeface="Cambria" panose="02040503050406030204" pitchFamily="18" charset="0"/>
              </a:rPr>
              <a:t>request.getParameter</a:t>
            </a:r>
            <a:r>
              <a:rPr lang="en-US" sz="1800" dirty="0" smtClean="0">
                <a:latin typeface="Cambria" panose="02040503050406030204" pitchFamily="18" charset="0"/>
                <a:ea typeface="Cambria" panose="02040503050406030204" pitchFamily="18" charset="0"/>
              </a:rPr>
              <a:t>("</a:t>
            </a:r>
            <a:r>
              <a:rPr lang="en-US" sz="1800" dirty="0" err="1" smtClean="0">
                <a:latin typeface="Cambria" panose="02040503050406030204" pitchFamily="18" charset="0"/>
                <a:ea typeface="Cambria" panose="02040503050406030204" pitchFamily="18" charset="0"/>
              </a:rPr>
              <a:t>uname</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out.print</a:t>
            </a:r>
            <a:r>
              <a:rPr lang="en-US" sz="1800" dirty="0" smtClean="0">
                <a:latin typeface="Cambria" panose="02040503050406030204" pitchFamily="18" charset="0"/>
                <a:ea typeface="Cambria" panose="02040503050406030204" pitchFamily="18" charset="0"/>
              </a:rPr>
              <a:t>("Hello "+n);  </a:t>
            </a:r>
          </a:p>
          <a:p>
            <a:pPr>
              <a:spcBef>
                <a:spcPts val="0"/>
              </a:spcBef>
              <a:buNone/>
            </a:pP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out.close</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catch</a:t>
            </a:r>
            <a:r>
              <a:rPr lang="en-US" sz="1800" dirty="0" smtClean="0">
                <a:latin typeface="Cambria" panose="02040503050406030204" pitchFamily="18" charset="0"/>
                <a:ea typeface="Cambria" panose="02040503050406030204" pitchFamily="18" charset="0"/>
              </a:rPr>
              <a:t>(Exception e){</a:t>
            </a:r>
            <a:r>
              <a:rPr lang="en-US" sz="1800" dirty="0" err="1" smtClean="0">
                <a:latin typeface="Cambria" panose="02040503050406030204" pitchFamily="18" charset="0"/>
                <a:ea typeface="Cambria" panose="02040503050406030204" pitchFamily="18" charset="0"/>
              </a:rPr>
              <a:t>System.out.println</a:t>
            </a:r>
            <a:r>
              <a:rPr lang="en-US" sz="1800" dirty="0" smtClean="0">
                <a:latin typeface="Cambria" panose="02040503050406030204" pitchFamily="18" charset="0"/>
                <a:ea typeface="Cambria" panose="02040503050406030204" pitchFamily="18" charset="0"/>
              </a:rPr>
              <a:t>(e);}  </a:t>
            </a:r>
          </a:p>
          <a:p>
            <a:pPr>
              <a:spcBef>
                <a:spcPts val="0"/>
              </a:spcBef>
              <a:buNone/>
            </a:pPr>
            <a:r>
              <a:rPr lang="en-US" sz="1800" dirty="0" smtClean="0">
                <a:latin typeface="Cambria" panose="02040503050406030204" pitchFamily="18" charset="0"/>
                <a:ea typeface="Cambria" panose="02040503050406030204" pitchFamily="18" charset="0"/>
              </a:rPr>
              <a:t>    }  </a:t>
            </a:r>
          </a:p>
          <a:p>
            <a:pPr>
              <a:spcBef>
                <a:spcPts val="0"/>
              </a:spcBef>
              <a:buNone/>
            </a:pPr>
            <a:r>
              <a:rPr lang="en-US" sz="1800" dirty="0" smtClean="0">
                <a:latin typeface="Cambria" panose="02040503050406030204" pitchFamily="18" charset="0"/>
                <a:ea typeface="Cambria" panose="02040503050406030204" pitchFamily="18" charset="0"/>
              </a:rPr>
              <a:t>}  </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59</a:t>
            </a:fld>
            <a:endParaRPr lang="en-US" altLang="en-US">
              <a:latin typeface="Cambria" panose="02040503050406030204" pitchFamily="18" charset="0"/>
              <a:ea typeface="Cambria" panose="02040503050406030204" pitchFamily="18" charset="0"/>
            </a:endParaRPr>
          </a:p>
        </p:txBody>
      </p:sp>
      <p:sp>
        <p:nvSpPr>
          <p:cNvPr id="5" name="Rectangle 4"/>
          <p:cNvSpPr/>
          <p:nvPr/>
        </p:nvSpPr>
        <p:spPr>
          <a:xfrm>
            <a:off x="6744072" y="70009"/>
            <a:ext cx="4896544" cy="6186309"/>
          </a:xfrm>
          <a:prstGeom prst="rect">
            <a:avLst/>
          </a:prstGeom>
        </p:spPr>
        <p:txBody>
          <a:bodyPr wrap="square">
            <a:spAutoFit/>
          </a:bodyPr>
          <a:lstStyle/>
          <a:p>
            <a:pPr>
              <a:spcBef>
                <a:spcPts val="0"/>
              </a:spcBef>
              <a:buNone/>
            </a:pPr>
            <a:r>
              <a:rPr lang="en-US" dirty="0">
                <a:latin typeface="Cambria" panose="02040503050406030204" pitchFamily="18" charset="0"/>
                <a:ea typeface="Cambria" panose="02040503050406030204" pitchFamily="18" charset="0"/>
              </a:rPr>
              <a:t>web.xml</a:t>
            </a:r>
          </a:p>
          <a:p>
            <a:pPr>
              <a:spcBef>
                <a:spcPts val="0"/>
              </a:spcBef>
              <a:buNone/>
            </a:pPr>
            <a:r>
              <a:rPr lang="en-US" dirty="0">
                <a:latin typeface="Cambria" panose="02040503050406030204" pitchFamily="18" charset="0"/>
                <a:ea typeface="Cambria" panose="02040503050406030204" pitchFamily="18" charset="0"/>
              </a:rPr>
              <a:t>&lt;web-app&gt;  </a:t>
            </a:r>
          </a:p>
          <a:p>
            <a:pPr>
              <a:spcBef>
                <a:spcPts val="0"/>
              </a:spcBef>
              <a:buNone/>
            </a:pPr>
            <a:r>
              <a:rPr lang="en-US" dirty="0">
                <a:latin typeface="Cambria" panose="02040503050406030204" pitchFamily="18" charset="0"/>
                <a:ea typeface="Cambria" panose="02040503050406030204" pitchFamily="18" charset="0"/>
              </a:rPr>
              <a:t> </a:t>
            </a:r>
            <a:r>
              <a:rPr lang="en-US" dirty="0" smtClean="0">
                <a:latin typeface="Cambria" panose="02040503050406030204" pitchFamily="18" charset="0"/>
                <a:ea typeface="Cambria" panose="02040503050406030204" pitchFamily="18" charset="0"/>
              </a:rPr>
              <a:t>&lt;</a:t>
            </a:r>
            <a:r>
              <a:rPr lang="en-US" dirty="0">
                <a:latin typeface="Cambria" panose="02040503050406030204" pitchFamily="18" charset="0"/>
                <a:ea typeface="Cambria" panose="02040503050406030204" pitchFamily="18" charset="0"/>
              </a:rPr>
              <a:t>servlet&gt;  </a:t>
            </a:r>
          </a:p>
          <a:p>
            <a:pPr>
              <a:spcBef>
                <a:spcPts val="0"/>
              </a:spcBef>
              <a:buNone/>
            </a:pPr>
            <a:r>
              <a:rPr lang="en-US" dirty="0">
                <a:latin typeface="Cambria" panose="02040503050406030204" pitchFamily="18" charset="0"/>
                <a:ea typeface="Cambria" panose="02040503050406030204" pitchFamily="18" charset="0"/>
              </a:rPr>
              <a:t>&lt;servlet-name&gt;s1&lt;/servlet-name&gt;  </a:t>
            </a:r>
          </a:p>
          <a:p>
            <a:pPr>
              <a:spcBef>
                <a:spcPts val="0"/>
              </a:spcBef>
              <a:buNone/>
            </a:pPr>
            <a:r>
              <a:rPr lang="en-US" dirty="0">
                <a:latin typeface="Cambria" panose="02040503050406030204" pitchFamily="18" charset="0"/>
                <a:ea typeface="Cambria" panose="02040503050406030204" pitchFamily="18" charset="0"/>
              </a:rPr>
              <a:t>&lt;servlet-</a:t>
            </a:r>
            <a:r>
              <a:rPr lang="en-US" b="1" dirty="0">
                <a:latin typeface="Cambria" panose="02040503050406030204" pitchFamily="18" charset="0"/>
                <a:ea typeface="Cambria" panose="02040503050406030204" pitchFamily="18" charset="0"/>
              </a:rPr>
              <a:t>class</a:t>
            </a:r>
            <a:r>
              <a:rPr lang="en-US" dirty="0">
                <a:latin typeface="Cambria" panose="02040503050406030204" pitchFamily="18" charset="0"/>
                <a:ea typeface="Cambria" panose="02040503050406030204" pitchFamily="18" charset="0"/>
              </a:rPr>
              <a:t>&gt;FirstServlet&lt;/servlet-</a:t>
            </a:r>
            <a:r>
              <a:rPr lang="en-US" b="1" dirty="0">
                <a:latin typeface="Cambria" panose="02040503050406030204" pitchFamily="18" charset="0"/>
                <a:ea typeface="Cambria" panose="02040503050406030204" pitchFamily="18" charset="0"/>
              </a:rPr>
              <a:t>class</a:t>
            </a:r>
            <a:r>
              <a:rPr lang="en-US" dirty="0">
                <a:latin typeface="Cambria" panose="02040503050406030204" pitchFamily="18" charset="0"/>
                <a:ea typeface="Cambria" panose="02040503050406030204" pitchFamily="18" charset="0"/>
              </a:rPr>
              <a:t>&gt;  </a:t>
            </a:r>
          </a:p>
          <a:p>
            <a:pPr>
              <a:spcBef>
                <a:spcPts val="0"/>
              </a:spcBef>
              <a:buNone/>
            </a:pPr>
            <a:r>
              <a:rPr lang="en-US" dirty="0">
                <a:latin typeface="Cambria" panose="02040503050406030204" pitchFamily="18" charset="0"/>
                <a:ea typeface="Cambria" panose="02040503050406030204" pitchFamily="18" charset="0"/>
              </a:rPr>
              <a:t>&lt;/servlet&gt;  </a:t>
            </a:r>
          </a:p>
          <a:p>
            <a:pPr>
              <a:spcBef>
                <a:spcPts val="0"/>
              </a:spcBef>
              <a:buNone/>
            </a:pPr>
            <a:r>
              <a:rPr lang="en-US" dirty="0">
                <a:latin typeface="Cambria" panose="02040503050406030204" pitchFamily="18" charset="0"/>
                <a:ea typeface="Cambria" panose="02040503050406030204" pitchFamily="18" charset="0"/>
              </a:rPr>
              <a:t>  </a:t>
            </a:r>
          </a:p>
          <a:p>
            <a:pPr>
              <a:spcBef>
                <a:spcPts val="0"/>
              </a:spcBef>
              <a:buNone/>
            </a:pPr>
            <a:r>
              <a:rPr lang="en-US" dirty="0">
                <a:latin typeface="Cambria" panose="02040503050406030204" pitchFamily="18" charset="0"/>
                <a:ea typeface="Cambria" panose="02040503050406030204" pitchFamily="18" charset="0"/>
              </a:rPr>
              <a:t>&lt;servlet-mapping&gt;  </a:t>
            </a:r>
          </a:p>
          <a:p>
            <a:pPr>
              <a:spcBef>
                <a:spcPts val="0"/>
              </a:spcBef>
              <a:buNone/>
            </a:pPr>
            <a:r>
              <a:rPr lang="en-US" dirty="0">
                <a:latin typeface="Cambria" panose="02040503050406030204" pitchFamily="18" charset="0"/>
                <a:ea typeface="Cambria" panose="02040503050406030204" pitchFamily="18" charset="0"/>
              </a:rPr>
              <a:t>&lt;servlet-name&gt;s1&lt;/servlet-name&gt;  </a:t>
            </a:r>
          </a:p>
          <a:p>
            <a:pPr>
              <a:spcBef>
                <a:spcPts val="0"/>
              </a:spcBef>
              <a:buNone/>
            </a:pPr>
            <a:r>
              <a:rPr lang="en-US" dirty="0">
                <a:latin typeface="Cambria" panose="02040503050406030204" pitchFamily="18" charset="0"/>
                <a:ea typeface="Cambria" panose="02040503050406030204" pitchFamily="18" charset="0"/>
              </a:rPr>
              <a:t>&lt;url-pattern&gt;/servlet1&lt;/url-pattern&gt;  </a:t>
            </a:r>
          </a:p>
          <a:p>
            <a:pPr>
              <a:spcBef>
                <a:spcPts val="0"/>
              </a:spcBef>
              <a:buNone/>
            </a:pPr>
            <a:r>
              <a:rPr lang="en-US" dirty="0">
                <a:latin typeface="Cambria" panose="02040503050406030204" pitchFamily="18" charset="0"/>
                <a:ea typeface="Cambria" panose="02040503050406030204" pitchFamily="18" charset="0"/>
              </a:rPr>
              <a:t>&lt;/servlet-mapping&gt;  </a:t>
            </a:r>
          </a:p>
          <a:p>
            <a:pPr>
              <a:spcBef>
                <a:spcPts val="0"/>
              </a:spcBef>
              <a:buNone/>
            </a:pPr>
            <a:r>
              <a:rPr lang="en-US" dirty="0">
                <a:latin typeface="Cambria" panose="02040503050406030204" pitchFamily="18" charset="0"/>
                <a:ea typeface="Cambria" panose="02040503050406030204" pitchFamily="18" charset="0"/>
              </a:rPr>
              <a:t>  </a:t>
            </a:r>
          </a:p>
          <a:p>
            <a:pPr>
              <a:spcBef>
                <a:spcPts val="0"/>
              </a:spcBef>
              <a:buNone/>
            </a:pPr>
            <a:r>
              <a:rPr lang="en-US" dirty="0">
                <a:latin typeface="Cambria" panose="02040503050406030204" pitchFamily="18" charset="0"/>
                <a:ea typeface="Cambria" panose="02040503050406030204" pitchFamily="18" charset="0"/>
              </a:rPr>
              <a:t>&lt;servlet&gt;  </a:t>
            </a:r>
          </a:p>
          <a:p>
            <a:pPr>
              <a:spcBef>
                <a:spcPts val="0"/>
              </a:spcBef>
              <a:buNone/>
            </a:pPr>
            <a:r>
              <a:rPr lang="en-US" dirty="0">
                <a:latin typeface="Cambria" panose="02040503050406030204" pitchFamily="18" charset="0"/>
                <a:ea typeface="Cambria" panose="02040503050406030204" pitchFamily="18" charset="0"/>
              </a:rPr>
              <a:t>&lt;servlet-name&gt;s2&lt;/servlet-name&gt;  </a:t>
            </a:r>
          </a:p>
          <a:p>
            <a:pPr>
              <a:spcBef>
                <a:spcPts val="0"/>
              </a:spcBef>
              <a:buNone/>
            </a:pPr>
            <a:r>
              <a:rPr lang="en-US" dirty="0">
                <a:latin typeface="Cambria" panose="02040503050406030204" pitchFamily="18" charset="0"/>
                <a:ea typeface="Cambria" panose="02040503050406030204" pitchFamily="18" charset="0"/>
              </a:rPr>
              <a:t>&lt;servlet-</a:t>
            </a:r>
            <a:r>
              <a:rPr lang="en-US" b="1" dirty="0">
                <a:latin typeface="Cambria" panose="02040503050406030204" pitchFamily="18" charset="0"/>
                <a:ea typeface="Cambria" panose="02040503050406030204" pitchFamily="18" charset="0"/>
              </a:rPr>
              <a:t>class</a:t>
            </a:r>
            <a:r>
              <a:rPr lang="en-US" dirty="0">
                <a:latin typeface="Cambria" panose="02040503050406030204" pitchFamily="18" charset="0"/>
                <a:ea typeface="Cambria" panose="02040503050406030204" pitchFamily="18" charset="0"/>
              </a:rPr>
              <a:t>&gt;SecondServlet&lt;/servlet-</a:t>
            </a:r>
            <a:r>
              <a:rPr lang="en-US" b="1" dirty="0">
                <a:latin typeface="Cambria" panose="02040503050406030204" pitchFamily="18" charset="0"/>
                <a:ea typeface="Cambria" panose="02040503050406030204" pitchFamily="18" charset="0"/>
              </a:rPr>
              <a:t>class</a:t>
            </a:r>
            <a:r>
              <a:rPr lang="en-US" dirty="0">
                <a:latin typeface="Cambria" panose="02040503050406030204" pitchFamily="18" charset="0"/>
                <a:ea typeface="Cambria" panose="02040503050406030204" pitchFamily="18" charset="0"/>
              </a:rPr>
              <a:t>&gt;  </a:t>
            </a:r>
          </a:p>
          <a:p>
            <a:pPr>
              <a:spcBef>
                <a:spcPts val="0"/>
              </a:spcBef>
              <a:buNone/>
            </a:pPr>
            <a:r>
              <a:rPr lang="en-US" dirty="0">
                <a:latin typeface="Cambria" panose="02040503050406030204" pitchFamily="18" charset="0"/>
                <a:ea typeface="Cambria" panose="02040503050406030204" pitchFamily="18" charset="0"/>
              </a:rPr>
              <a:t>&lt;/servlet&gt;  </a:t>
            </a:r>
          </a:p>
          <a:p>
            <a:pPr>
              <a:spcBef>
                <a:spcPts val="0"/>
              </a:spcBef>
              <a:buNone/>
            </a:pPr>
            <a:r>
              <a:rPr lang="en-US" dirty="0">
                <a:latin typeface="Cambria" panose="02040503050406030204" pitchFamily="18" charset="0"/>
                <a:ea typeface="Cambria" panose="02040503050406030204" pitchFamily="18" charset="0"/>
              </a:rPr>
              <a:t>  </a:t>
            </a:r>
          </a:p>
          <a:p>
            <a:pPr>
              <a:spcBef>
                <a:spcPts val="0"/>
              </a:spcBef>
              <a:buNone/>
            </a:pPr>
            <a:r>
              <a:rPr lang="en-US" dirty="0">
                <a:latin typeface="Cambria" panose="02040503050406030204" pitchFamily="18" charset="0"/>
                <a:ea typeface="Cambria" panose="02040503050406030204" pitchFamily="18" charset="0"/>
              </a:rPr>
              <a:t>&lt;servlet-mapping&gt;  </a:t>
            </a:r>
          </a:p>
          <a:p>
            <a:pPr>
              <a:spcBef>
                <a:spcPts val="0"/>
              </a:spcBef>
              <a:buNone/>
            </a:pPr>
            <a:r>
              <a:rPr lang="en-US" dirty="0">
                <a:latin typeface="Cambria" panose="02040503050406030204" pitchFamily="18" charset="0"/>
                <a:ea typeface="Cambria" panose="02040503050406030204" pitchFamily="18" charset="0"/>
              </a:rPr>
              <a:t>&lt;servlet-name&gt;s2&lt;/servlet-name&gt;  </a:t>
            </a:r>
          </a:p>
          <a:p>
            <a:pPr>
              <a:spcBef>
                <a:spcPts val="0"/>
              </a:spcBef>
              <a:buNone/>
            </a:pPr>
            <a:r>
              <a:rPr lang="en-US" dirty="0">
                <a:latin typeface="Cambria" panose="02040503050406030204" pitchFamily="18" charset="0"/>
                <a:ea typeface="Cambria" panose="02040503050406030204" pitchFamily="18" charset="0"/>
              </a:rPr>
              <a:t>&lt;url-pattern&gt;/servlet2&lt;/url-pattern&gt;  </a:t>
            </a:r>
          </a:p>
          <a:p>
            <a:pPr>
              <a:spcBef>
                <a:spcPts val="0"/>
              </a:spcBef>
              <a:buNone/>
            </a:pPr>
            <a:r>
              <a:rPr lang="en-US" dirty="0">
                <a:latin typeface="Cambria" panose="02040503050406030204" pitchFamily="18" charset="0"/>
                <a:ea typeface="Cambria" panose="02040503050406030204" pitchFamily="18" charset="0"/>
              </a:rPr>
              <a:t>&lt;/servlet-mapping&gt;    </a:t>
            </a:r>
          </a:p>
          <a:p>
            <a:pPr>
              <a:spcBef>
                <a:spcPts val="0"/>
              </a:spcBef>
              <a:buNone/>
            </a:pPr>
            <a:r>
              <a:rPr lang="en-US" dirty="0">
                <a:latin typeface="Cambria" panose="02040503050406030204" pitchFamily="18" charset="0"/>
                <a:ea typeface="Cambria" panose="02040503050406030204" pitchFamily="18" charset="0"/>
              </a:rPr>
              <a:t>&lt;/web-app&gt;  </a:t>
            </a: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36" y="1"/>
            <a:ext cx="3600400" cy="548680"/>
          </a:xfrm>
        </p:spPr>
        <p:txBody>
          <a:bodyPr/>
          <a:lstStyle/>
          <a:p>
            <a:r>
              <a:rPr lang="en-US" sz="3600" b="1" dirty="0" smtClean="0">
                <a:solidFill>
                  <a:srgbClr val="002060"/>
                </a:solidFill>
                <a:latin typeface="Cambria" panose="02040503050406030204" pitchFamily="18" charset="0"/>
                <a:ea typeface="Cambria" panose="02040503050406030204" pitchFamily="18" charset="0"/>
              </a:rPr>
              <a:t>URL rewriting</a:t>
            </a:r>
            <a:endParaRPr lang="en-US" sz="3600" b="1" dirty="0">
              <a:solidFill>
                <a:srgbClr val="00206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588004" y="548681"/>
            <a:ext cx="11052611" cy="4680519"/>
          </a:xfrm>
        </p:spPr>
        <p:txBody>
          <a:bodyPr/>
          <a:lstStyle/>
          <a:p>
            <a:pPr algn="just"/>
            <a:r>
              <a:rPr lang="en-GB" sz="2200" dirty="0" smtClean="0">
                <a:latin typeface="Cambria" panose="02040503050406030204" pitchFamily="18" charset="0"/>
                <a:ea typeface="Cambria" panose="02040503050406030204" pitchFamily="18" charset="0"/>
              </a:rPr>
              <a:t>URL rewriting, we append a token or identifier to the URL of the next </a:t>
            </a:r>
            <a:r>
              <a:rPr lang="en-GB" sz="2200" dirty="0" err="1" smtClean="0">
                <a:latin typeface="Cambria" panose="02040503050406030204" pitchFamily="18" charset="0"/>
                <a:ea typeface="Cambria" panose="02040503050406030204" pitchFamily="18" charset="0"/>
              </a:rPr>
              <a:t>Servlet</a:t>
            </a:r>
            <a:r>
              <a:rPr lang="en-GB" sz="2200" dirty="0" smtClean="0">
                <a:latin typeface="Cambria" panose="02040503050406030204" pitchFamily="18" charset="0"/>
                <a:ea typeface="Cambria" panose="02040503050406030204" pitchFamily="18" charset="0"/>
              </a:rPr>
              <a:t> or the next resource. We can send parameter name/value pairs using the following format:</a:t>
            </a:r>
          </a:p>
          <a:p>
            <a:pPr algn="just"/>
            <a:r>
              <a:rPr lang="en-GB" sz="2200" dirty="0" smtClean="0">
                <a:latin typeface="Cambria" panose="02040503050406030204" pitchFamily="18" charset="0"/>
                <a:ea typeface="Cambria" panose="02040503050406030204" pitchFamily="18" charset="0"/>
              </a:rPr>
              <a:t>url?name1=value1&amp;name2=value2&amp;??</a:t>
            </a:r>
          </a:p>
          <a:p>
            <a:pPr algn="just"/>
            <a:r>
              <a:rPr lang="en-GB" sz="2200" dirty="0" smtClean="0">
                <a:latin typeface="Cambria" panose="02040503050406030204" pitchFamily="18" charset="0"/>
                <a:ea typeface="Cambria" panose="02040503050406030204" pitchFamily="18" charset="0"/>
              </a:rPr>
              <a:t>A name and a value is separated using an equal = sign, a parameter name/value pair is separated from another parameter using the ampersand(&amp;). </a:t>
            </a:r>
          </a:p>
          <a:p>
            <a:pPr marL="0" indent="0" algn="just">
              <a:buNone/>
            </a:pPr>
            <a:r>
              <a:rPr lang="en-GB" sz="2200" b="1" dirty="0" smtClean="0">
                <a:latin typeface="Cambria" panose="02040503050406030204" pitchFamily="18" charset="0"/>
                <a:ea typeface="Cambria" panose="02040503050406030204" pitchFamily="18" charset="0"/>
              </a:rPr>
              <a:t> Advantage of URL Rewriting</a:t>
            </a:r>
          </a:p>
          <a:p>
            <a:pPr algn="just"/>
            <a:r>
              <a:rPr lang="en-GB" sz="2200" dirty="0" smtClean="0">
                <a:latin typeface="Cambria" panose="02040503050406030204" pitchFamily="18" charset="0"/>
                <a:ea typeface="Cambria" panose="02040503050406030204" pitchFamily="18" charset="0"/>
              </a:rPr>
              <a:t>It will always work whether cookie is disabled or not.</a:t>
            </a:r>
          </a:p>
          <a:p>
            <a:pPr algn="just"/>
            <a:r>
              <a:rPr lang="en-GB" sz="2200" dirty="0" smtClean="0">
                <a:latin typeface="Cambria" panose="02040503050406030204" pitchFamily="18" charset="0"/>
                <a:ea typeface="Cambria" panose="02040503050406030204" pitchFamily="18" charset="0"/>
              </a:rPr>
              <a:t>Extra form submission is not required on each pages.</a:t>
            </a:r>
          </a:p>
          <a:p>
            <a:pPr marL="0" indent="0" algn="just">
              <a:buNone/>
            </a:pPr>
            <a:r>
              <a:rPr lang="en-GB" sz="2200" b="1" dirty="0" smtClean="0">
                <a:latin typeface="Cambria" panose="02040503050406030204" pitchFamily="18" charset="0"/>
                <a:ea typeface="Cambria" panose="02040503050406030204" pitchFamily="18" charset="0"/>
              </a:rPr>
              <a:t>Disadvantage of URL Rewriting</a:t>
            </a:r>
          </a:p>
          <a:p>
            <a:pPr algn="just"/>
            <a:r>
              <a:rPr lang="en-GB" sz="2200" dirty="0" smtClean="0">
                <a:latin typeface="Cambria" panose="02040503050406030204" pitchFamily="18" charset="0"/>
                <a:ea typeface="Cambria" panose="02040503050406030204" pitchFamily="18" charset="0"/>
              </a:rPr>
              <a:t>It will work only with links.</a:t>
            </a:r>
          </a:p>
          <a:p>
            <a:pPr algn="just"/>
            <a:r>
              <a:rPr lang="en-GB" sz="2200" dirty="0" smtClean="0">
                <a:latin typeface="Cambria" panose="02040503050406030204" pitchFamily="18" charset="0"/>
                <a:ea typeface="Cambria" panose="02040503050406030204" pitchFamily="18" charset="0"/>
              </a:rPr>
              <a:t>It can send Only textual information.</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60</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Example</a:t>
            </a: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61</a:t>
            </a:fld>
            <a:endParaRPr lang="en-US" altLang="en-US"/>
          </a:p>
        </p:txBody>
      </p:sp>
      <p:pic>
        <p:nvPicPr>
          <p:cNvPr id="5" name="Content Placeholder 4" descr="URL Rewriting"/>
          <p:cNvPicPr>
            <a:picLocks noGrp="1"/>
          </p:cNvPicPr>
          <p:nvPr>
            <p:ph idx="1"/>
          </p:nvPr>
        </p:nvPicPr>
        <p:blipFill>
          <a:blip r:embed="rId2"/>
          <a:srcRect/>
          <a:stretch>
            <a:fillRect/>
          </a:stretch>
        </p:blipFill>
        <p:spPr bwMode="auto">
          <a:xfrm>
            <a:off x="1952596" y="1643050"/>
            <a:ext cx="7039004" cy="338376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344" y="-27747"/>
            <a:ext cx="2232248" cy="504419"/>
          </a:xfrm>
        </p:spPr>
        <p:txBody>
          <a:bodyPr/>
          <a:lstStyle/>
          <a:p>
            <a:r>
              <a:rPr lang="en-GB" sz="4000" b="1" dirty="0" smtClean="0">
                <a:solidFill>
                  <a:srgbClr val="002060"/>
                </a:solidFill>
                <a:latin typeface="Cambria" panose="02040503050406030204" pitchFamily="18" charset="0"/>
                <a:ea typeface="Cambria" panose="02040503050406030204" pitchFamily="18" charset="0"/>
              </a:rPr>
              <a:t>Example</a:t>
            </a:r>
            <a:endParaRPr lang="en-US" sz="4000" b="1" dirty="0">
              <a:solidFill>
                <a:srgbClr val="00206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2567608" y="7077"/>
            <a:ext cx="8386264" cy="5832648"/>
          </a:xfrm>
        </p:spPr>
        <p:txBody>
          <a:bodyPr/>
          <a:lstStyle/>
          <a:p>
            <a:pPr>
              <a:spcBef>
                <a:spcPts val="0"/>
              </a:spcBef>
              <a:buNone/>
            </a:pPr>
            <a:r>
              <a:rPr lang="en-US" sz="1800" dirty="0" smtClean="0">
                <a:latin typeface="Cambria" panose="02040503050406030204" pitchFamily="18" charset="0"/>
                <a:ea typeface="Cambria" panose="02040503050406030204" pitchFamily="18" charset="0"/>
              </a:rPr>
              <a:t>index.html</a:t>
            </a:r>
          </a:p>
          <a:p>
            <a:pPr>
              <a:spcBef>
                <a:spcPts val="0"/>
              </a:spcBef>
              <a:buNone/>
            </a:pPr>
            <a:r>
              <a:rPr lang="en-US" sz="1800" dirty="0" smtClean="0">
                <a:latin typeface="Cambria" panose="02040503050406030204" pitchFamily="18" charset="0"/>
                <a:ea typeface="Cambria" panose="02040503050406030204" pitchFamily="18" charset="0"/>
              </a:rPr>
              <a:t>&lt;form action="servlet1"&gt;  </a:t>
            </a:r>
          </a:p>
          <a:p>
            <a:pPr>
              <a:spcBef>
                <a:spcPts val="0"/>
              </a:spcBef>
              <a:buNone/>
            </a:pPr>
            <a:r>
              <a:rPr lang="en-US" sz="1800" dirty="0" smtClean="0">
                <a:latin typeface="Cambria" panose="02040503050406030204" pitchFamily="18" charset="0"/>
                <a:ea typeface="Cambria" panose="02040503050406030204" pitchFamily="18" charset="0"/>
              </a:rPr>
              <a:t>Name:&lt;input type="text" name="</a:t>
            </a:r>
            <a:r>
              <a:rPr lang="en-US" sz="1800" dirty="0" err="1" smtClean="0">
                <a:latin typeface="Cambria" panose="02040503050406030204" pitchFamily="18" charset="0"/>
                <a:ea typeface="Cambria" panose="02040503050406030204" pitchFamily="18" charset="0"/>
              </a:rPr>
              <a:t>userName</a:t>
            </a:r>
            <a:r>
              <a:rPr lang="en-US" sz="1800" dirty="0" smtClean="0">
                <a:latin typeface="Cambria" panose="02040503050406030204" pitchFamily="18" charset="0"/>
                <a:ea typeface="Cambria" panose="02040503050406030204" pitchFamily="18" charset="0"/>
              </a:rPr>
              <a:t>"/&gt;&lt;</a:t>
            </a:r>
            <a:r>
              <a:rPr lang="en-US" sz="1800" dirty="0" err="1" smtClean="0">
                <a:latin typeface="Cambria" panose="02040503050406030204" pitchFamily="18" charset="0"/>
                <a:ea typeface="Cambria" panose="02040503050406030204" pitchFamily="18" charset="0"/>
              </a:rPr>
              <a:t>br</a:t>
            </a:r>
            <a:r>
              <a:rPr lang="en-US" sz="1800" dirty="0" smtClean="0">
                <a:latin typeface="Cambria" panose="02040503050406030204" pitchFamily="18" charset="0"/>
                <a:ea typeface="Cambria" panose="02040503050406030204" pitchFamily="18" charset="0"/>
              </a:rPr>
              <a:t>/&gt;  </a:t>
            </a:r>
          </a:p>
          <a:p>
            <a:pPr>
              <a:spcBef>
                <a:spcPts val="0"/>
              </a:spcBef>
              <a:buNone/>
            </a:pPr>
            <a:r>
              <a:rPr lang="en-US" sz="1800" dirty="0" smtClean="0">
                <a:latin typeface="Cambria" panose="02040503050406030204" pitchFamily="18" charset="0"/>
                <a:ea typeface="Cambria" panose="02040503050406030204" pitchFamily="18" charset="0"/>
              </a:rPr>
              <a:t>&lt;input type="submit" value="go"/&gt;  </a:t>
            </a:r>
          </a:p>
          <a:p>
            <a:pPr>
              <a:spcBef>
                <a:spcPts val="0"/>
              </a:spcBef>
              <a:buNone/>
            </a:pPr>
            <a:r>
              <a:rPr lang="en-US" sz="1800" dirty="0" smtClean="0">
                <a:latin typeface="Cambria" panose="02040503050406030204" pitchFamily="18" charset="0"/>
                <a:ea typeface="Cambria" panose="02040503050406030204" pitchFamily="18" charset="0"/>
              </a:rPr>
              <a:t>&lt;/form&gt;  </a:t>
            </a:r>
          </a:p>
          <a:p>
            <a:pPr>
              <a:spcBef>
                <a:spcPts val="0"/>
              </a:spcBef>
              <a:buNone/>
            </a:pPr>
            <a:r>
              <a:rPr lang="en-US" sz="1800" dirty="0" smtClean="0">
                <a:latin typeface="Cambria" panose="02040503050406030204" pitchFamily="18" charset="0"/>
                <a:ea typeface="Cambria" panose="02040503050406030204" pitchFamily="18" charset="0"/>
              </a:rPr>
              <a:t>FirstServlet.java</a:t>
            </a:r>
          </a:p>
          <a:p>
            <a:pPr>
              <a:spcBef>
                <a:spcPts val="0"/>
              </a:spcBef>
              <a:buNone/>
            </a:pPr>
            <a:r>
              <a:rPr lang="en-US" sz="1800" b="1" dirty="0" smtClean="0">
                <a:latin typeface="Cambria" panose="02040503050406030204" pitchFamily="18" charset="0"/>
                <a:ea typeface="Cambria" panose="02040503050406030204" pitchFamily="18" charset="0"/>
              </a:rPr>
              <a:t>import</a:t>
            </a:r>
            <a:r>
              <a:rPr lang="en-US" sz="1800" dirty="0" smtClean="0">
                <a:latin typeface="Cambria" panose="02040503050406030204" pitchFamily="18" charset="0"/>
                <a:ea typeface="Cambria" panose="02040503050406030204" pitchFamily="18" charset="0"/>
              </a:rPr>
              <a:t> java.io.*;  </a:t>
            </a:r>
          </a:p>
          <a:p>
            <a:pPr>
              <a:spcBef>
                <a:spcPts val="0"/>
              </a:spcBef>
              <a:buNone/>
            </a:pPr>
            <a:r>
              <a:rPr lang="en-US" sz="1800" b="1" dirty="0" smtClean="0">
                <a:latin typeface="Cambria" panose="02040503050406030204" pitchFamily="18" charset="0"/>
                <a:ea typeface="Cambria" panose="02040503050406030204" pitchFamily="18" charset="0"/>
              </a:rPr>
              <a:t>import</a:t>
            </a: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javax.servlet</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b="1" dirty="0" smtClean="0">
                <a:latin typeface="Cambria" panose="02040503050406030204" pitchFamily="18" charset="0"/>
                <a:ea typeface="Cambria" panose="02040503050406030204" pitchFamily="18" charset="0"/>
              </a:rPr>
              <a:t>import</a:t>
            </a:r>
            <a:r>
              <a:rPr lang="en-US" sz="1800" dirty="0" smtClean="0">
                <a:latin typeface="Cambria" panose="02040503050406030204" pitchFamily="18" charset="0"/>
                <a:ea typeface="Cambria" panose="02040503050406030204" pitchFamily="18" charset="0"/>
              </a:rPr>
              <a:t> javax.servlet.http.*;    </a:t>
            </a:r>
          </a:p>
          <a:p>
            <a:pPr>
              <a:spcBef>
                <a:spcPts val="0"/>
              </a:spcBef>
              <a:buNone/>
            </a:pPr>
            <a:r>
              <a:rPr lang="en-US" sz="1800" b="1" dirty="0" smtClean="0">
                <a:latin typeface="Cambria" panose="02040503050406030204" pitchFamily="18" charset="0"/>
                <a:ea typeface="Cambria" panose="02040503050406030204" pitchFamily="18" charset="0"/>
              </a:rPr>
              <a:t>public</a:t>
            </a: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class</a:t>
            </a:r>
            <a:r>
              <a:rPr lang="en-US" sz="1800" dirty="0" smtClean="0">
                <a:latin typeface="Cambria" panose="02040503050406030204" pitchFamily="18" charset="0"/>
                <a:ea typeface="Cambria" panose="02040503050406030204" pitchFamily="18" charset="0"/>
              </a:rPr>
              <a:t> FirstServlet </a:t>
            </a:r>
            <a:r>
              <a:rPr lang="en-US" sz="1800" b="1" dirty="0" smtClean="0">
                <a:latin typeface="Cambria" panose="02040503050406030204" pitchFamily="18" charset="0"/>
                <a:ea typeface="Cambria" panose="02040503050406030204" pitchFamily="18" charset="0"/>
              </a:rPr>
              <a:t>extends</a:t>
            </a:r>
            <a:r>
              <a:rPr lang="en-US" sz="1800" dirty="0" smtClean="0">
                <a:latin typeface="Cambria" panose="02040503050406030204" pitchFamily="18" charset="0"/>
                <a:ea typeface="Cambria" panose="02040503050406030204" pitchFamily="18" charset="0"/>
              </a:rPr>
              <a:t> HttpServlet {    </a:t>
            </a:r>
          </a:p>
          <a:p>
            <a:pPr>
              <a:spcBef>
                <a:spcPts val="0"/>
              </a:spcBef>
              <a:buNone/>
            </a:pPr>
            <a:r>
              <a:rPr lang="en-US" sz="1800" b="1" dirty="0" smtClean="0">
                <a:latin typeface="Cambria" panose="02040503050406030204" pitchFamily="18" charset="0"/>
                <a:ea typeface="Cambria" panose="02040503050406030204" pitchFamily="18" charset="0"/>
              </a:rPr>
              <a:t>public</a:t>
            </a: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void</a:t>
            </a: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doGet</a:t>
            </a:r>
            <a:r>
              <a:rPr lang="en-US" sz="1800" dirty="0" smtClean="0">
                <a:latin typeface="Cambria" panose="02040503050406030204" pitchFamily="18" charset="0"/>
                <a:ea typeface="Cambria" panose="02040503050406030204" pitchFamily="18" charset="0"/>
              </a:rPr>
              <a:t>(</a:t>
            </a:r>
            <a:r>
              <a:rPr lang="en-US" sz="1800" dirty="0" err="1" smtClean="0">
                <a:latin typeface="Cambria" panose="02040503050406030204" pitchFamily="18" charset="0"/>
                <a:ea typeface="Cambria" panose="02040503050406030204" pitchFamily="18" charset="0"/>
              </a:rPr>
              <a:t>HttpServletRequest</a:t>
            </a:r>
            <a:r>
              <a:rPr lang="en-US" sz="1800" dirty="0" smtClean="0">
                <a:latin typeface="Cambria" panose="02040503050406030204" pitchFamily="18" charset="0"/>
                <a:ea typeface="Cambria" panose="02040503050406030204" pitchFamily="18" charset="0"/>
              </a:rPr>
              <a:t> request, </a:t>
            </a:r>
            <a:r>
              <a:rPr lang="en-US" sz="1800" dirty="0" err="1" smtClean="0">
                <a:latin typeface="Cambria" panose="02040503050406030204" pitchFamily="18" charset="0"/>
                <a:ea typeface="Cambria" panose="02040503050406030204" pitchFamily="18" charset="0"/>
              </a:rPr>
              <a:t>HttpServletResponse</a:t>
            </a:r>
            <a:r>
              <a:rPr lang="en-US" sz="1800" dirty="0" smtClean="0">
                <a:latin typeface="Cambria" panose="02040503050406030204" pitchFamily="18" charset="0"/>
                <a:ea typeface="Cambria" panose="02040503050406030204" pitchFamily="18" charset="0"/>
              </a:rPr>
              <a:t> response){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try</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response.setContentType</a:t>
            </a:r>
            <a:r>
              <a:rPr lang="en-US" sz="1800" dirty="0" smtClean="0">
                <a:latin typeface="Cambria" panose="02040503050406030204" pitchFamily="18" charset="0"/>
                <a:ea typeface="Cambria" panose="02040503050406030204" pitchFamily="18" charset="0"/>
              </a:rPr>
              <a:t>("text/html");  </a:t>
            </a:r>
          </a:p>
          <a:p>
            <a:pPr>
              <a:spcBef>
                <a:spcPts val="0"/>
              </a:spcBef>
              <a:buNone/>
            </a:pPr>
            <a:r>
              <a:rPr lang="en-US" sz="1800" dirty="0" smtClean="0">
                <a:latin typeface="Cambria" panose="02040503050406030204" pitchFamily="18" charset="0"/>
                <a:ea typeface="Cambria" panose="02040503050406030204" pitchFamily="18" charset="0"/>
              </a:rPr>
              <a:t>        PrintWriter out = response.getWriter();            </a:t>
            </a:r>
          </a:p>
          <a:p>
            <a:pPr>
              <a:spcBef>
                <a:spcPts val="0"/>
              </a:spcBef>
              <a:buNone/>
            </a:pPr>
            <a:r>
              <a:rPr lang="en-US" sz="1800" dirty="0" smtClean="0">
                <a:latin typeface="Cambria" panose="02040503050406030204" pitchFamily="18" charset="0"/>
                <a:ea typeface="Cambria" panose="02040503050406030204" pitchFamily="18" charset="0"/>
              </a:rPr>
              <a:t>        String n=</a:t>
            </a:r>
            <a:r>
              <a:rPr lang="en-US" sz="1800" dirty="0" err="1" smtClean="0">
                <a:latin typeface="Cambria" panose="02040503050406030204" pitchFamily="18" charset="0"/>
                <a:ea typeface="Cambria" panose="02040503050406030204" pitchFamily="18" charset="0"/>
              </a:rPr>
              <a:t>request.getParameter</a:t>
            </a:r>
            <a:r>
              <a:rPr lang="en-US" sz="1800" dirty="0" smtClean="0">
                <a:latin typeface="Cambria" panose="02040503050406030204" pitchFamily="18" charset="0"/>
                <a:ea typeface="Cambria" panose="02040503050406030204" pitchFamily="18" charset="0"/>
              </a:rPr>
              <a:t>("</a:t>
            </a:r>
            <a:r>
              <a:rPr lang="en-US" sz="1800" dirty="0" err="1" smtClean="0">
                <a:latin typeface="Cambria" panose="02040503050406030204" pitchFamily="18" charset="0"/>
                <a:ea typeface="Cambria" panose="02040503050406030204" pitchFamily="18" charset="0"/>
              </a:rPr>
              <a:t>userName</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out.print("Welcome "+n);    </a:t>
            </a:r>
          </a:p>
          <a:p>
            <a:pPr>
              <a:spcBef>
                <a:spcPts val="0"/>
              </a:spcBef>
              <a:buNone/>
            </a:pPr>
            <a:r>
              <a:rPr lang="en-US" sz="1800" dirty="0" smtClean="0">
                <a:latin typeface="Cambria" panose="02040503050406030204" pitchFamily="18" charset="0"/>
                <a:ea typeface="Cambria" panose="02040503050406030204" pitchFamily="18" charset="0"/>
              </a:rPr>
              <a:t>        //appending the username in the query string  </a:t>
            </a:r>
          </a:p>
          <a:p>
            <a:pPr>
              <a:spcBef>
                <a:spcPts val="0"/>
              </a:spcBef>
              <a:buNone/>
            </a:pPr>
            <a:r>
              <a:rPr lang="en-US" sz="1800" dirty="0" smtClean="0">
                <a:latin typeface="Cambria" panose="02040503050406030204" pitchFamily="18" charset="0"/>
                <a:ea typeface="Cambria" panose="02040503050406030204" pitchFamily="18" charset="0"/>
              </a:rPr>
              <a:t>        out.print("&lt;a href='servlet2?uname="+n+"'&gt;visit&lt;/a&gt;");                    </a:t>
            </a:r>
          </a:p>
          <a:p>
            <a:pPr>
              <a:spcBef>
                <a:spcPts val="0"/>
              </a:spcBef>
              <a:buNone/>
            </a:pPr>
            <a:r>
              <a:rPr lang="en-US" sz="1800" dirty="0" smtClean="0">
                <a:latin typeface="Cambria" panose="02040503050406030204" pitchFamily="18" charset="0"/>
                <a:ea typeface="Cambria" panose="02040503050406030204" pitchFamily="18" charset="0"/>
              </a:rPr>
              <a:t>        out.close();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catch</a:t>
            </a:r>
            <a:r>
              <a:rPr lang="en-US" sz="1800" dirty="0" smtClean="0">
                <a:latin typeface="Cambria" panose="02040503050406030204" pitchFamily="18" charset="0"/>
                <a:ea typeface="Cambria" panose="02040503050406030204" pitchFamily="18" charset="0"/>
              </a:rPr>
              <a:t>(Exception e){</a:t>
            </a:r>
            <a:r>
              <a:rPr lang="en-US" sz="1800" dirty="0" err="1" smtClean="0">
                <a:latin typeface="Cambria" panose="02040503050406030204" pitchFamily="18" charset="0"/>
                <a:ea typeface="Cambria" panose="02040503050406030204" pitchFamily="18" charset="0"/>
              </a:rPr>
              <a:t>System.out.println</a:t>
            </a:r>
            <a:r>
              <a:rPr lang="en-US" sz="1800" dirty="0" smtClean="0">
                <a:latin typeface="Cambria" panose="02040503050406030204" pitchFamily="18" charset="0"/>
                <a:ea typeface="Cambria" panose="02040503050406030204" pitchFamily="18" charset="0"/>
              </a:rPr>
              <a:t>(e);}  </a:t>
            </a:r>
          </a:p>
          <a:p>
            <a:pPr>
              <a:spcBef>
                <a:spcPts val="0"/>
              </a:spcBef>
              <a:buNone/>
            </a:pPr>
            <a:r>
              <a:rPr lang="en-US" sz="1800" dirty="0" smtClean="0">
                <a:latin typeface="Cambria" panose="02040503050406030204" pitchFamily="18" charset="0"/>
                <a:ea typeface="Cambria" panose="02040503050406030204" pitchFamily="18" charset="0"/>
              </a:rPr>
              <a:t>    }    </a:t>
            </a:r>
          </a:p>
          <a:p>
            <a:pPr>
              <a:spcBef>
                <a:spcPts val="0"/>
              </a:spcBef>
              <a:buNone/>
            </a:pPr>
            <a:r>
              <a:rPr lang="en-US" sz="1800" dirty="0" smtClean="0">
                <a:latin typeface="Cambria" panose="02040503050406030204" pitchFamily="18" charset="0"/>
                <a:ea typeface="Cambria" panose="02040503050406030204" pitchFamily="18" charset="0"/>
              </a:rPr>
              <a:t>}  </a:t>
            </a:r>
            <a:endParaRPr lang="en-US" sz="18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62</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36" y="116632"/>
            <a:ext cx="2736304" cy="432048"/>
          </a:xfrm>
        </p:spPr>
        <p:txBody>
          <a:bodyPr/>
          <a:lstStyle/>
          <a:p>
            <a:r>
              <a:rPr lang="en-GB" sz="4000" b="1" dirty="0" smtClean="0">
                <a:solidFill>
                  <a:srgbClr val="002060"/>
                </a:solidFill>
                <a:latin typeface="Cambria" panose="02040503050406030204" pitchFamily="18" charset="0"/>
                <a:ea typeface="Cambria" panose="02040503050406030204" pitchFamily="18" charset="0"/>
              </a:rPr>
              <a:t>Example</a:t>
            </a:r>
            <a:endParaRPr lang="en-US" sz="4000" b="1" dirty="0">
              <a:solidFill>
                <a:srgbClr val="00206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224517" y="592034"/>
            <a:ext cx="5295419" cy="4781182"/>
          </a:xfrm>
        </p:spPr>
        <p:txBody>
          <a:bodyPr/>
          <a:lstStyle/>
          <a:p>
            <a:pPr>
              <a:spcBef>
                <a:spcPts val="0"/>
              </a:spcBef>
            </a:pPr>
            <a:r>
              <a:rPr lang="en-US" sz="1800" dirty="0" smtClean="0">
                <a:latin typeface="Cambria" panose="02040503050406030204" pitchFamily="18" charset="0"/>
                <a:ea typeface="Cambria" panose="02040503050406030204" pitchFamily="18" charset="0"/>
              </a:rPr>
              <a:t>SecondServlet.java</a:t>
            </a:r>
          </a:p>
          <a:p>
            <a:pPr>
              <a:spcBef>
                <a:spcPts val="0"/>
              </a:spcBef>
              <a:buNone/>
            </a:pPr>
            <a:r>
              <a:rPr lang="en-US" sz="1800" b="1" dirty="0" smtClean="0">
                <a:latin typeface="Cambria" panose="02040503050406030204" pitchFamily="18" charset="0"/>
                <a:ea typeface="Cambria" panose="02040503050406030204" pitchFamily="18" charset="0"/>
              </a:rPr>
              <a:t>import</a:t>
            </a:r>
            <a:r>
              <a:rPr lang="en-US" sz="1800" dirty="0" smtClean="0">
                <a:latin typeface="Cambria" panose="02040503050406030204" pitchFamily="18" charset="0"/>
                <a:ea typeface="Cambria" panose="02040503050406030204" pitchFamily="18" charset="0"/>
              </a:rPr>
              <a:t> java.io.*;  </a:t>
            </a:r>
          </a:p>
          <a:p>
            <a:pPr>
              <a:spcBef>
                <a:spcPts val="0"/>
              </a:spcBef>
              <a:buNone/>
            </a:pPr>
            <a:r>
              <a:rPr lang="en-US" sz="1800" b="1" dirty="0" smtClean="0">
                <a:latin typeface="Cambria" panose="02040503050406030204" pitchFamily="18" charset="0"/>
                <a:ea typeface="Cambria" panose="02040503050406030204" pitchFamily="18" charset="0"/>
              </a:rPr>
              <a:t>import</a:t>
            </a: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javax.servlet</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b="1" dirty="0" smtClean="0">
                <a:latin typeface="Cambria" panose="02040503050406030204" pitchFamily="18" charset="0"/>
                <a:ea typeface="Cambria" panose="02040503050406030204" pitchFamily="18" charset="0"/>
              </a:rPr>
              <a:t>import</a:t>
            </a: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javax.servlet.http</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b="1" dirty="0" smtClean="0">
                <a:latin typeface="Cambria" panose="02040503050406030204" pitchFamily="18" charset="0"/>
                <a:ea typeface="Cambria" panose="02040503050406030204" pitchFamily="18" charset="0"/>
              </a:rPr>
              <a:t>public</a:t>
            </a: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class</a:t>
            </a:r>
            <a:r>
              <a:rPr lang="en-US" sz="1800" dirty="0" smtClean="0">
                <a:latin typeface="Cambria" panose="02040503050406030204" pitchFamily="18" charset="0"/>
                <a:ea typeface="Cambria" panose="02040503050406030204" pitchFamily="18" charset="0"/>
              </a:rPr>
              <a:t> SecondServlet </a:t>
            </a:r>
            <a:r>
              <a:rPr lang="en-US" sz="1800" b="1" dirty="0" smtClean="0">
                <a:latin typeface="Cambria" panose="02040503050406030204" pitchFamily="18" charset="0"/>
                <a:ea typeface="Cambria" panose="02040503050406030204" pitchFamily="18" charset="0"/>
              </a:rPr>
              <a:t>extends</a:t>
            </a:r>
            <a:r>
              <a:rPr lang="en-US" sz="1800" dirty="0" smtClean="0">
                <a:latin typeface="Cambria" panose="02040503050406030204" pitchFamily="18" charset="0"/>
                <a:ea typeface="Cambria" panose="02040503050406030204" pitchFamily="18" charset="0"/>
              </a:rPr>
              <a:t> HttpServlet {    </a:t>
            </a:r>
          </a:p>
          <a:p>
            <a:pPr>
              <a:spcBef>
                <a:spcPts val="0"/>
              </a:spcBef>
              <a:buNone/>
            </a:pPr>
            <a:r>
              <a:rPr lang="en-US" sz="1800" b="1" dirty="0" smtClean="0">
                <a:latin typeface="Cambria" panose="02040503050406030204" pitchFamily="18" charset="0"/>
                <a:ea typeface="Cambria" panose="02040503050406030204" pitchFamily="18" charset="0"/>
              </a:rPr>
              <a:t>public</a:t>
            </a: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void</a:t>
            </a: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doGet</a:t>
            </a:r>
            <a:r>
              <a:rPr lang="en-US" sz="1800" dirty="0" smtClean="0">
                <a:latin typeface="Cambria" panose="02040503050406030204" pitchFamily="18" charset="0"/>
                <a:ea typeface="Cambria" panose="02040503050406030204" pitchFamily="18" charset="0"/>
              </a:rPr>
              <a:t>(</a:t>
            </a:r>
            <a:r>
              <a:rPr lang="en-US" sz="1800" dirty="0" err="1" smtClean="0">
                <a:latin typeface="Cambria" panose="02040503050406030204" pitchFamily="18" charset="0"/>
                <a:ea typeface="Cambria" panose="02040503050406030204" pitchFamily="18" charset="0"/>
              </a:rPr>
              <a:t>HttpServletRequest</a:t>
            </a:r>
            <a:r>
              <a:rPr lang="en-US" sz="1800" dirty="0" smtClean="0">
                <a:latin typeface="Cambria" panose="02040503050406030204" pitchFamily="18" charset="0"/>
                <a:ea typeface="Cambria" panose="02040503050406030204" pitchFamily="18" charset="0"/>
              </a:rPr>
              <a:t> request, </a:t>
            </a:r>
            <a:r>
              <a:rPr lang="en-US" sz="1800" dirty="0" err="1" smtClean="0">
                <a:latin typeface="Cambria" panose="02040503050406030204" pitchFamily="18" charset="0"/>
                <a:ea typeface="Cambria" panose="02040503050406030204" pitchFamily="18" charset="0"/>
              </a:rPr>
              <a:t>HttpServletResponse</a:t>
            </a:r>
            <a:r>
              <a:rPr lang="en-US" sz="1800" dirty="0" smtClean="0">
                <a:latin typeface="Cambria" panose="02040503050406030204" pitchFamily="18" charset="0"/>
                <a:ea typeface="Cambria" panose="02040503050406030204" pitchFamily="18" charset="0"/>
              </a:rPr>
              <a:t> response)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try</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response.setContentType</a:t>
            </a:r>
            <a:r>
              <a:rPr lang="en-US" sz="1800" dirty="0" smtClean="0">
                <a:latin typeface="Cambria" panose="02040503050406030204" pitchFamily="18" charset="0"/>
                <a:ea typeface="Cambria" panose="02040503050406030204" pitchFamily="18" charset="0"/>
              </a:rPr>
              <a:t>("text/html");  </a:t>
            </a:r>
          </a:p>
          <a:p>
            <a:pPr>
              <a:spcBef>
                <a:spcPts val="0"/>
              </a:spcBef>
              <a:buNone/>
            </a:pPr>
            <a:r>
              <a:rPr lang="en-US" sz="1800" dirty="0" smtClean="0">
                <a:latin typeface="Cambria" panose="02040503050406030204" pitchFamily="18" charset="0"/>
                <a:ea typeface="Cambria" panose="02040503050406030204" pitchFamily="18" charset="0"/>
              </a:rPr>
              <a:t>        PrintWriter out = response.getWriter();            </a:t>
            </a:r>
          </a:p>
          <a:p>
            <a:pPr>
              <a:spcBef>
                <a:spcPts val="0"/>
              </a:spcBef>
              <a:buNone/>
            </a:pPr>
            <a:r>
              <a:rPr lang="en-US" sz="1800" dirty="0" smtClean="0">
                <a:latin typeface="Cambria" panose="02040503050406030204" pitchFamily="18" charset="0"/>
                <a:ea typeface="Cambria" panose="02040503050406030204" pitchFamily="18" charset="0"/>
              </a:rPr>
              <a:t>        //getting value from the query string  </a:t>
            </a:r>
          </a:p>
          <a:p>
            <a:pPr>
              <a:spcBef>
                <a:spcPts val="0"/>
              </a:spcBef>
              <a:buNone/>
            </a:pPr>
            <a:r>
              <a:rPr lang="en-US" sz="1800" dirty="0" smtClean="0">
                <a:latin typeface="Cambria" panose="02040503050406030204" pitchFamily="18" charset="0"/>
                <a:ea typeface="Cambria" panose="02040503050406030204" pitchFamily="18" charset="0"/>
              </a:rPr>
              <a:t>        String n=</a:t>
            </a:r>
            <a:r>
              <a:rPr lang="en-US" sz="1800" dirty="0" err="1" smtClean="0">
                <a:latin typeface="Cambria" panose="02040503050406030204" pitchFamily="18" charset="0"/>
                <a:ea typeface="Cambria" panose="02040503050406030204" pitchFamily="18" charset="0"/>
              </a:rPr>
              <a:t>request.getParameter</a:t>
            </a:r>
            <a:r>
              <a:rPr lang="en-US" sz="1800" dirty="0" smtClean="0">
                <a:latin typeface="Cambria" panose="02040503050406030204" pitchFamily="18" charset="0"/>
                <a:ea typeface="Cambria" panose="02040503050406030204" pitchFamily="18" charset="0"/>
              </a:rPr>
              <a:t>("</a:t>
            </a:r>
            <a:r>
              <a:rPr lang="en-US" sz="1800" dirty="0" err="1" smtClean="0">
                <a:latin typeface="Cambria" panose="02040503050406030204" pitchFamily="18" charset="0"/>
                <a:ea typeface="Cambria" panose="02040503050406030204" pitchFamily="18" charset="0"/>
              </a:rPr>
              <a:t>uname</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out.print("Hello "+n);    </a:t>
            </a:r>
          </a:p>
          <a:p>
            <a:pPr>
              <a:spcBef>
                <a:spcPts val="0"/>
              </a:spcBef>
              <a:buNone/>
            </a:pPr>
            <a:r>
              <a:rPr lang="en-US" sz="1800" dirty="0" smtClean="0">
                <a:latin typeface="Cambria" panose="02040503050406030204" pitchFamily="18" charset="0"/>
                <a:ea typeface="Cambria" panose="02040503050406030204" pitchFamily="18" charset="0"/>
              </a:rPr>
              <a:t>        out.close();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catch</a:t>
            </a:r>
            <a:r>
              <a:rPr lang="en-US" sz="1800" dirty="0" smtClean="0">
                <a:latin typeface="Cambria" panose="02040503050406030204" pitchFamily="18" charset="0"/>
                <a:ea typeface="Cambria" panose="02040503050406030204" pitchFamily="18" charset="0"/>
              </a:rPr>
              <a:t>(Exception e){</a:t>
            </a:r>
            <a:r>
              <a:rPr lang="en-US" sz="1800" dirty="0" err="1" smtClean="0">
                <a:latin typeface="Cambria" panose="02040503050406030204" pitchFamily="18" charset="0"/>
                <a:ea typeface="Cambria" panose="02040503050406030204" pitchFamily="18" charset="0"/>
              </a:rPr>
              <a:t>System.out.println</a:t>
            </a:r>
            <a:r>
              <a:rPr lang="en-US" sz="1800" dirty="0" smtClean="0">
                <a:latin typeface="Cambria" panose="02040503050406030204" pitchFamily="18" charset="0"/>
                <a:ea typeface="Cambria" panose="02040503050406030204" pitchFamily="18" charset="0"/>
              </a:rPr>
              <a:t>(e);}  </a:t>
            </a:r>
          </a:p>
          <a:p>
            <a:pPr>
              <a:spcBef>
                <a:spcPts val="0"/>
              </a:spcBef>
              <a:buNone/>
            </a:pPr>
            <a:r>
              <a:rPr lang="en-US" sz="1800" dirty="0" smtClean="0">
                <a:latin typeface="Cambria" panose="02040503050406030204" pitchFamily="18" charset="0"/>
                <a:ea typeface="Cambria" panose="02040503050406030204" pitchFamily="18" charset="0"/>
              </a:rPr>
              <a:t>    }    </a:t>
            </a:r>
          </a:p>
          <a:p>
            <a:pPr>
              <a:spcBef>
                <a:spcPts val="0"/>
              </a:spcBef>
              <a:buNone/>
            </a:pPr>
            <a:r>
              <a:rPr lang="en-US" sz="1800" dirty="0" smtClean="0">
                <a:latin typeface="Cambria" panose="02040503050406030204" pitchFamily="18" charset="0"/>
                <a:ea typeface="Cambria" panose="02040503050406030204" pitchFamily="18" charset="0"/>
              </a:rPr>
              <a:t>}  </a:t>
            </a:r>
          </a:p>
          <a:p>
            <a:pPr marL="0" indent="0">
              <a:spcBef>
                <a:spcPts val="0"/>
              </a:spcBef>
              <a:buNone/>
            </a:pPr>
            <a:r>
              <a:rPr lang="en-US" sz="1800" dirty="0" smtClean="0">
                <a:latin typeface="Cambria" panose="02040503050406030204" pitchFamily="18" charset="0"/>
                <a:ea typeface="Cambria" panose="02040503050406030204" pitchFamily="18" charset="0"/>
              </a:rPr>
              <a:t> </a:t>
            </a:r>
          </a:p>
          <a:p>
            <a:pPr>
              <a:spcBef>
                <a:spcPts val="0"/>
              </a:spcBef>
              <a:buNone/>
            </a:pPr>
            <a:endParaRPr lang="en-US" sz="1800" dirty="0" smtClean="0">
              <a:latin typeface="Cambria" panose="02040503050406030204" pitchFamily="18" charset="0"/>
              <a:ea typeface="Cambria" panose="02040503050406030204" pitchFamily="18" charset="0"/>
            </a:endParaRPr>
          </a:p>
          <a:p>
            <a:pPr>
              <a:buNone/>
            </a:pPr>
            <a:endParaRPr lang="en-US" sz="24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63</a:t>
            </a:fld>
            <a:endParaRPr lang="en-US" altLang="en-US">
              <a:latin typeface="Cambria" panose="02040503050406030204" pitchFamily="18" charset="0"/>
              <a:ea typeface="Cambria" panose="02040503050406030204" pitchFamily="18" charset="0"/>
            </a:endParaRPr>
          </a:p>
        </p:txBody>
      </p:sp>
      <p:sp>
        <p:nvSpPr>
          <p:cNvPr id="5" name="Rectangle 4"/>
          <p:cNvSpPr/>
          <p:nvPr/>
        </p:nvSpPr>
        <p:spPr>
          <a:xfrm>
            <a:off x="6090320" y="0"/>
            <a:ext cx="5040560" cy="5680080"/>
          </a:xfrm>
          <a:prstGeom prst="rect">
            <a:avLst/>
          </a:prstGeom>
        </p:spPr>
        <p:txBody>
          <a:bodyPr wrap="square">
            <a:spAutoFit/>
          </a:bodyPr>
          <a:lstStyle/>
          <a:p>
            <a:pPr marL="0" indent="0">
              <a:spcBef>
                <a:spcPts val="0"/>
              </a:spcBef>
              <a:buNone/>
            </a:pPr>
            <a:r>
              <a:rPr lang="en-US" dirty="0">
                <a:latin typeface="Cambria" panose="02040503050406030204" pitchFamily="18" charset="0"/>
                <a:ea typeface="Cambria" panose="02040503050406030204" pitchFamily="18" charset="0"/>
              </a:rPr>
              <a:t>web.xml</a:t>
            </a:r>
          </a:p>
          <a:p>
            <a:pPr>
              <a:spcBef>
                <a:spcPts val="0"/>
              </a:spcBef>
              <a:buNone/>
            </a:pPr>
            <a:r>
              <a:rPr lang="en-US" dirty="0">
                <a:latin typeface="Cambria" panose="02040503050406030204" pitchFamily="18" charset="0"/>
                <a:ea typeface="Cambria" panose="02040503050406030204" pitchFamily="18" charset="0"/>
              </a:rPr>
              <a:t>&lt;web-app&gt;  </a:t>
            </a:r>
            <a:r>
              <a:rPr lang="en-US" dirty="0" smtClean="0">
                <a:latin typeface="Cambria" panose="02040503050406030204" pitchFamily="18" charset="0"/>
                <a:ea typeface="Cambria" panose="02040503050406030204" pitchFamily="18" charset="0"/>
              </a:rPr>
              <a:t>&lt;</a:t>
            </a:r>
            <a:r>
              <a:rPr lang="en-US" dirty="0">
                <a:latin typeface="Cambria" panose="02040503050406030204" pitchFamily="18" charset="0"/>
                <a:ea typeface="Cambria" panose="02040503050406030204" pitchFamily="18" charset="0"/>
              </a:rPr>
              <a:t>servlet&gt;  </a:t>
            </a:r>
          </a:p>
          <a:p>
            <a:pPr>
              <a:spcBef>
                <a:spcPts val="0"/>
              </a:spcBef>
              <a:buNone/>
            </a:pPr>
            <a:r>
              <a:rPr lang="en-US" dirty="0">
                <a:latin typeface="Cambria" panose="02040503050406030204" pitchFamily="18" charset="0"/>
                <a:ea typeface="Cambria" panose="02040503050406030204" pitchFamily="18" charset="0"/>
              </a:rPr>
              <a:t>&lt;servlet-name&gt;s1&lt;/servlet-name&gt;  </a:t>
            </a:r>
          </a:p>
          <a:p>
            <a:pPr>
              <a:spcBef>
                <a:spcPts val="0"/>
              </a:spcBef>
              <a:buNone/>
            </a:pPr>
            <a:r>
              <a:rPr lang="en-US" dirty="0">
                <a:latin typeface="Cambria" panose="02040503050406030204" pitchFamily="18" charset="0"/>
                <a:ea typeface="Cambria" panose="02040503050406030204" pitchFamily="18" charset="0"/>
              </a:rPr>
              <a:t>&lt;servlet-</a:t>
            </a:r>
            <a:r>
              <a:rPr lang="en-US" b="1" dirty="0">
                <a:latin typeface="Cambria" panose="02040503050406030204" pitchFamily="18" charset="0"/>
                <a:ea typeface="Cambria" panose="02040503050406030204" pitchFamily="18" charset="0"/>
              </a:rPr>
              <a:t>class</a:t>
            </a:r>
            <a:r>
              <a:rPr lang="en-US" dirty="0">
                <a:latin typeface="Cambria" panose="02040503050406030204" pitchFamily="18" charset="0"/>
                <a:ea typeface="Cambria" panose="02040503050406030204" pitchFamily="18" charset="0"/>
              </a:rPr>
              <a:t>&gt;FirstServlet&lt;/servlet-</a:t>
            </a:r>
            <a:r>
              <a:rPr lang="en-US" b="1" dirty="0">
                <a:latin typeface="Cambria" panose="02040503050406030204" pitchFamily="18" charset="0"/>
                <a:ea typeface="Cambria" panose="02040503050406030204" pitchFamily="18" charset="0"/>
              </a:rPr>
              <a:t>class</a:t>
            </a:r>
            <a:r>
              <a:rPr lang="en-US" dirty="0">
                <a:latin typeface="Cambria" panose="02040503050406030204" pitchFamily="18" charset="0"/>
                <a:ea typeface="Cambria" panose="02040503050406030204" pitchFamily="18" charset="0"/>
              </a:rPr>
              <a:t>&gt;  </a:t>
            </a:r>
          </a:p>
          <a:p>
            <a:pPr>
              <a:spcBef>
                <a:spcPts val="0"/>
              </a:spcBef>
              <a:buNone/>
            </a:pPr>
            <a:r>
              <a:rPr lang="en-US" dirty="0">
                <a:latin typeface="Cambria" panose="02040503050406030204" pitchFamily="18" charset="0"/>
                <a:ea typeface="Cambria" panose="02040503050406030204" pitchFamily="18" charset="0"/>
              </a:rPr>
              <a:t>&lt;/servlet&gt;   </a:t>
            </a:r>
          </a:p>
          <a:p>
            <a:pPr>
              <a:spcBef>
                <a:spcPts val="0"/>
              </a:spcBef>
              <a:buNone/>
            </a:pPr>
            <a:r>
              <a:rPr lang="en-US" dirty="0">
                <a:latin typeface="Cambria" panose="02040503050406030204" pitchFamily="18" charset="0"/>
                <a:ea typeface="Cambria" panose="02040503050406030204" pitchFamily="18" charset="0"/>
              </a:rPr>
              <a:t>&lt;servlet-mapping&gt;  </a:t>
            </a:r>
          </a:p>
          <a:p>
            <a:pPr>
              <a:spcBef>
                <a:spcPts val="0"/>
              </a:spcBef>
              <a:buNone/>
            </a:pPr>
            <a:r>
              <a:rPr lang="en-US" dirty="0">
                <a:latin typeface="Cambria" panose="02040503050406030204" pitchFamily="18" charset="0"/>
                <a:ea typeface="Cambria" panose="02040503050406030204" pitchFamily="18" charset="0"/>
              </a:rPr>
              <a:t>&lt;servlet-name&gt;s1&lt;/servlet-name&gt;  </a:t>
            </a:r>
          </a:p>
          <a:p>
            <a:pPr>
              <a:spcBef>
                <a:spcPts val="0"/>
              </a:spcBef>
              <a:buNone/>
            </a:pPr>
            <a:r>
              <a:rPr lang="en-US" dirty="0">
                <a:latin typeface="Cambria" panose="02040503050406030204" pitchFamily="18" charset="0"/>
                <a:ea typeface="Cambria" panose="02040503050406030204" pitchFamily="18" charset="0"/>
              </a:rPr>
              <a:t>&lt;url-pattern&gt;/servlet1&lt;/url-pattern&gt;  </a:t>
            </a:r>
          </a:p>
          <a:p>
            <a:pPr>
              <a:spcBef>
                <a:spcPts val="0"/>
              </a:spcBef>
              <a:buNone/>
            </a:pPr>
            <a:r>
              <a:rPr lang="en-US" dirty="0">
                <a:latin typeface="Cambria" panose="02040503050406030204" pitchFamily="18" charset="0"/>
                <a:ea typeface="Cambria" panose="02040503050406030204" pitchFamily="18" charset="0"/>
              </a:rPr>
              <a:t>&lt;/servlet-mapping&gt;  </a:t>
            </a:r>
          </a:p>
          <a:p>
            <a:pPr>
              <a:spcBef>
                <a:spcPts val="0"/>
              </a:spcBef>
              <a:buNone/>
            </a:pPr>
            <a:r>
              <a:rPr lang="en-US" dirty="0" smtClean="0">
                <a:latin typeface="Cambria" panose="02040503050406030204" pitchFamily="18" charset="0"/>
                <a:ea typeface="Cambria" panose="02040503050406030204" pitchFamily="18" charset="0"/>
              </a:rPr>
              <a:t>&lt;</a:t>
            </a:r>
            <a:r>
              <a:rPr lang="en-US" dirty="0">
                <a:latin typeface="Cambria" panose="02040503050406030204" pitchFamily="18" charset="0"/>
                <a:ea typeface="Cambria" panose="02040503050406030204" pitchFamily="18" charset="0"/>
              </a:rPr>
              <a:t>servlet&gt;  </a:t>
            </a:r>
          </a:p>
          <a:p>
            <a:pPr>
              <a:spcBef>
                <a:spcPts val="0"/>
              </a:spcBef>
              <a:buNone/>
            </a:pPr>
            <a:r>
              <a:rPr lang="en-US" dirty="0">
                <a:latin typeface="Cambria" panose="02040503050406030204" pitchFamily="18" charset="0"/>
                <a:ea typeface="Cambria" panose="02040503050406030204" pitchFamily="18" charset="0"/>
              </a:rPr>
              <a:t>&lt;servlet-name&gt;s2&lt;/servlet-name&gt;  </a:t>
            </a:r>
          </a:p>
          <a:p>
            <a:pPr>
              <a:spcBef>
                <a:spcPts val="0"/>
              </a:spcBef>
              <a:buNone/>
            </a:pPr>
            <a:r>
              <a:rPr lang="en-US" dirty="0">
                <a:latin typeface="Cambria" panose="02040503050406030204" pitchFamily="18" charset="0"/>
                <a:ea typeface="Cambria" panose="02040503050406030204" pitchFamily="18" charset="0"/>
              </a:rPr>
              <a:t>&lt;servlet-</a:t>
            </a:r>
            <a:r>
              <a:rPr lang="en-US" b="1" dirty="0">
                <a:latin typeface="Cambria" panose="02040503050406030204" pitchFamily="18" charset="0"/>
                <a:ea typeface="Cambria" panose="02040503050406030204" pitchFamily="18" charset="0"/>
              </a:rPr>
              <a:t>class</a:t>
            </a:r>
            <a:r>
              <a:rPr lang="en-US" dirty="0">
                <a:latin typeface="Cambria" panose="02040503050406030204" pitchFamily="18" charset="0"/>
                <a:ea typeface="Cambria" panose="02040503050406030204" pitchFamily="18" charset="0"/>
              </a:rPr>
              <a:t>&gt;SecondServlet&lt;/servlet-</a:t>
            </a:r>
            <a:r>
              <a:rPr lang="en-US" b="1" dirty="0">
                <a:latin typeface="Cambria" panose="02040503050406030204" pitchFamily="18" charset="0"/>
                <a:ea typeface="Cambria" panose="02040503050406030204" pitchFamily="18" charset="0"/>
              </a:rPr>
              <a:t>class</a:t>
            </a:r>
            <a:r>
              <a:rPr lang="en-US" dirty="0">
                <a:latin typeface="Cambria" panose="02040503050406030204" pitchFamily="18" charset="0"/>
                <a:ea typeface="Cambria" panose="02040503050406030204" pitchFamily="18" charset="0"/>
              </a:rPr>
              <a:t>&gt;  </a:t>
            </a:r>
          </a:p>
          <a:p>
            <a:pPr>
              <a:spcBef>
                <a:spcPts val="0"/>
              </a:spcBef>
              <a:buNone/>
            </a:pPr>
            <a:r>
              <a:rPr lang="en-US" dirty="0">
                <a:latin typeface="Cambria" panose="02040503050406030204" pitchFamily="18" charset="0"/>
                <a:ea typeface="Cambria" panose="02040503050406030204" pitchFamily="18" charset="0"/>
              </a:rPr>
              <a:t>&lt;/servlet&gt;  </a:t>
            </a:r>
          </a:p>
          <a:p>
            <a:pPr>
              <a:spcBef>
                <a:spcPts val="0"/>
              </a:spcBef>
              <a:buNone/>
            </a:pPr>
            <a:r>
              <a:rPr lang="en-US" dirty="0">
                <a:latin typeface="Cambria" panose="02040503050406030204" pitchFamily="18" charset="0"/>
                <a:ea typeface="Cambria" panose="02040503050406030204" pitchFamily="18" charset="0"/>
              </a:rPr>
              <a:t>  </a:t>
            </a:r>
          </a:p>
          <a:p>
            <a:pPr>
              <a:spcBef>
                <a:spcPts val="0"/>
              </a:spcBef>
              <a:buNone/>
            </a:pPr>
            <a:r>
              <a:rPr lang="en-US" dirty="0">
                <a:latin typeface="Cambria" panose="02040503050406030204" pitchFamily="18" charset="0"/>
                <a:ea typeface="Cambria" panose="02040503050406030204" pitchFamily="18" charset="0"/>
              </a:rPr>
              <a:t>&lt;servlet-mapping&gt;  </a:t>
            </a:r>
          </a:p>
          <a:p>
            <a:pPr>
              <a:spcBef>
                <a:spcPts val="0"/>
              </a:spcBef>
              <a:buNone/>
            </a:pPr>
            <a:r>
              <a:rPr lang="en-US" dirty="0">
                <a:latin typeface="Cambria" panose="02040503050406030204" pitchFamily="18" charset="0"/>
                <a:ea typeface="Cambria" panose="02040503050406030204" pitchFamily="18" charset="0"/>
              </a:rPr>
              <a:t>&lt;servlet-name&gt;s2&lt;/servlet-name&gt;  </a:t>
            </a:r>
          </a:p>
          <a:p>
            <a:pPr>
              <a:spcBef>
                <a:spcPts val="0"/>
              </a:spcBef>
              <a:buNone/>
            </a:pPr>
            <a:r>
              <a:rPr lang="en-US" dirty="0">
                <a:latin typeface="Cambria" panose="02040503050406030204" pitchFamily="18" charset="0"/>
                <a:ea typeface="Cambria" panose="02040503050406030204" pitchFamily="18" charset="0"/>
              </a:rPr>
              <a:t>&lt;url-pattern&gt;/servlet2&lt;/url-pattern&gt;  </a:t>
            </a:r>
          </a:p>
          <a:p>
            <a:pPr>
              <a:spcBef>
                <a:spcPts val="0"/>
              </a:spcBef>
              <a:buNone/>
            </a:pPr>
            <a:r>
              <a:rPr lang="en-US" dirty="0">
                <a:latin typeface="Cambria" panose="02040503050406030204" pitchFamily="18" charset="0"/>
                <a:ea typeface="Cambria" panose="02040503050406030204" pitchFamily="18" charset="0"/>
              </a:rPr>
              <a:t>&lt;/servlet-mapping&gt;  </a:t>
            </a:r>
          </a:p>
          <a:p>
            <a:pPr>
              <a:spcBef>
                <a:spcPts val="0"/>
              </a:spcBef>
              <a:buNone/>
            </a:pPr>
            <a:r>
              <a:rPr lang="en-US" dirty="0">
                <a:latin typeface="Cambria" panose="02040503050406030204" pitchFamily="18" charset="0"/>
                <a:ea typeface="Cambria" panose="02040503050406030204" pitchFamily="18" charset="0"/>
              </a:rPr>
              <a:t>  </a:t>
            </a:r>
          </a:p>
          <a:p>
            <a:pPr>
              <a:buNone/>
            </a:pPr>
            <a:r>
              <a:rPr lang="en-US" dirty="0">
                <a:latin typeface="Cambria" panose="02040503050406030204" pitchFamily="18" charset="0"/>
                <a:ea typeface="Cambria" panose="02040503050406030204" pitchFamily="18" charset="0"/>
              </a:rPr>
              <a:t>&lt;/web-app&gt; </a:t>
            </a:r>
            <a:endParaRPr lang="en-US" dirty="0"/>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45" y="8348"/>
            <a:ext cx="5689848" cy="524582"/>
          </a:xfrm>
        </p:spPr>
        <p:txBody>
          <a:bodyPr/>
          <a:lstStyle/>
          <a:p>
            <a:r>
              <a:rPr lang="en-US" sz="4000" b="1" dirty="0" err="1" smtClean="0">
                <a:solidFill>
                  <a:srgbClr val="7030A0"/>
                </a:solidFill>
                <a:latin typeface="Cambria" panose="02040503050406030204" pitchFamily="18" charset="0"/>
                <a:ea typeface="Cambria" panose="02040503050406030204" pitchFamily="18" charset="0"/>
              </a:rPr>
              <a:t>HttpSession</a:t>
            </a:r>
            <a:r>
              <a:rPr lang="en-US" sz="4000" b="1" dirty="0" smtClean="0">
                <a:solidFill>
                  <a:srgbClr val="7030A0"/>
                </a:solidFill>
                <a:latin typeface="Cambria" panose="02040503050406030204" pitchFamily="18" charset="0"/>
                <a:ea typeface="Cambria" panose="02040503050406030204" pitchFamily="18" charset="0"/>
              </a:rPr>
              <a:t> interface</a:t>
            </a:r>
            <a:endParaRPr lang="en-US" sz="4000" b="1" dirty="0">
              <a:solidFill>
                <a:srgbClr val="7030A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335360" y="567426"/>
            <a:ext cx="11593288" cy="2573542"/>
          </a:xfrm>
        </p:spPr>
        <p:txBody>
          <a:bodyPr/>
          <a:lstStyle/>
          <a:p>
            <a:pPr algn="just"/>
            <a:r>
              <a:rPr lang="en-GB" sz="2400" dirty="0" smtClean="0">
                <a:latin typeface="Cambria" panose="02040503050406030204" pitchFamily="18" charset="0"/>
                <a:ea typeface="Cambria" panose="02040503050406030204" pitchFamily="18" charset="0"/>
              </a:rPr>
              <a:t>In such case, container creates a session id for each user. The container uses this id to identify the particular user. An object of HttpSession can be used to perform two tasks:</a:t>
            </a:r>
          </a:p>
          <a:p>
            <a:pPr marL="514350" indent="-514350" algn="just">
              <a:lnSpc>
                <a:spcPct val="100000"/>
              </a:lnSpc>
              <a:spcBef>
                <a:spcPts val="0"/>
              </a:spcBef>
              <a:buFont typeface="+mj-lt"/>
              <a:buAutoNum type="arabicPeriod"/>
            </a:pPr>
            <a:r>
              <a:rPr lang="en-GB" sz="2400" dirty="0" smtClean="0">
                <a:latin typeface="Cambria" panose="02040503050406030204" pitchFamily="18" charset="0"/>
                <a:ea typeface="Cambria" panose="02040503050406030204" pitchFamily="18" charset="0"/>
              </a:rPr>
              <a:t>bind objects</a:t>
            </a:r>
          </a:p>
          <a:p>
            <a:pPr marL="514350" indent="-514350" algn="just">
              <a:lnSpc>
                <a:spcPct val="100000"/>
              </a:lnSpc>
              <a:spcBef>
                <a:spcPts val="0"/>
              </a:spcBef>
              <a:buFont typeface="+mj-lt"/>
              <a:buAutoNum type="arabicPeriod"/>
            </a:pPr>
            <a:r>
              <a:rPr lang="en-GB" sz="2400" dirty="0" smtClean="0">
                <a:latin typeface="Cambria" panose="02040503050406030204" pitchFamily="18" charset="0"/>
                <a:ea typeface="Cambria" panose="02040503050406030204" pitchFamily="18" charset="0"/>
              </a:rPr>
              <a:t>view and manipulate information about a session, such as the session identifier, creation time, and last accessed time.</a:t>
            </a:r>
          </a:p>
          <a:p>
            <a:pPr algn="just">
              <a:buNone/>
            </a:pPr>
            <a:r>
              <a:rPr lang="en-GB" sz="2400" dirty="0" smtClean="0">
                <a:latin typeface="Cambria" panose="02040503050406030204" pitchFamily="18" charset="0"/>
                <a:ea typeface="Cambria" panose="02040503050406030204" pitchFamily="18" charset="0"/>
              </a:rPr>
              <a:t/>
            </a:r>
            <a:br>
              <a:rPr lang="en-GB" sz="2400" dirty="0" smtClean="0">
                <a:latin typeface="Cambria" panose="02040503050406030204" pitchFamily="18" charset="0"/>
                <a:ea typeface="Cambria" panose="02040503050406030204" pitchFamily="18" charset="0"/>
              </a:rPr>
            </a:br>
            <a:endParaRPr lang="en-US" sz="24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64</a:t>
            </a:fld>
            <a:endParaRPr lang="en-US" altLang="en-US">
              <a:latin typeface="Cambria" panose="02040503050406030204" pitchFamily="18" charset="0"/>
              <a:ea typeface="Cambria" panose="02040503050406030204" pitchFamily="18" charset="0"/>
            </a:endParaRPr>
          </a:p>
        </p:txBody>
      </p:sp>
      <p:pic>
        <p:nvPicPr>
          <p:cNvPr id="5" name="Picture 4" descr="HttpSession object"/>
          <p:cNvPicPr/>
          <p:nvPr/>
        </p:nvPicPr>
        <p:blipFill>
          <a:blip r:embed="rId2"/>
          <a:srcRect/>
          <a:stretch>
            <a:fillRect/>
          </a:stretch>
        </p:blipFill>
        <p:spPr bwMode="auto">
          <a:xfrm>
            <a:off x="2860549" y="2636912"/>
            <a:ext cx="5904656" cy="28083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3457600" cy="543595"/>
          </a:xfrm>
        </p:spPr>
        <p:txBody>
          <a:bodyPr/>
          <a:lstStyle/>
          <a:p>
            <a:r>
              <a:rPr lang="en-US" sz="4000" b="1" dirty="0" smtClean="0">
                <a:solidFill>
                  <a:schemeClr val="accent5"/>
                </a:solidFill>
                <a:latin typeface="Cambria" panose="02040503050406030204" pitchFamily="18" charset="0"/>
                <a:ea typeface="Cambria" panose="02040503050406030204" pitchFamily="18" charset="0"/>
              </a:rPr>
              <a:t>HttpSession</a:t>
            </a:r>
            <a:endParaRPr lang="en-US" sz="40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407368" y="543595"/>
            <a:ext cx="11305256" cy="4901629"/>
          </a:xfrm>
        </p:spPr>
        <p:txBody>
          <a:bodyPr/>
          <a:lstStyle/>
          <a:p>
            <a:pPr algn="just"/>
            <a:r>
              <a:rPr lang="en-GB" sz="2000" dirty="0" smtClean="0">
                <a:latin typeface="Cambria" panose="02040503050406030204" pitchFamily="18" charset="0"/>
                <a:ea typeface="Cambria" panose="02040503050406030204" pitchFamily="18" charset="0"/>
              </a:rPr>
              <a:t>How to get the </a:t>
            </a:r>
            <a:r>
              <a:rPr lang="en-GB" sz="2000" dirty="0" err="1" smtClean="0">
                <a:latin typeface="Cambria" panose="02040503050406030204" pitchFamily="18" charset="0"/>
                <a:ea typeface="Cambria" panose="02040503050406030204" pitchFamily="18" charset="0"/>
              </a:rPr>
              <a:t>HttpSession</a:t>
            </a:r>
            <a:r>
              <a:rPr lang="en-GB" sz="2000" dirty="0" smtClean="0">
                <a:latin typeface="Cambria" panose="02040503050406030204" pitchFamily="18" charset="0"/>
                <a:ea typeface="Cambria" panose="02040503050406030204" pitchFamily="18" charset="0"/>
              </a:rPr>
              <a:t> object ?</a:t>
            </a:r>
          </a:p>
          <a:p>
            <a:pPr algn="just"/>
            <a:r>
              <a:rPr lang="en-GB" sz="2000" dirty="0" smtClean="0">
                <a:latin typeface="Cambria" panose="02040503050406030204" pitchFamily="18" charset="0"/>
                <a:ea typeface="Cambria" panose="02040503050406030204" pitchFamily="18" charset="0"/>
              </a:rPr>
              <a:t>The </a:t>
            </a:r>
            <a:r>
              <a:rPr lang="en-GB" sz="2000" dirty="0" err="1" smtClean="0">
                <a:latin typeface="Cambria" panose="02040503050406030204" pitchFamily="18" charset="0"/>
                <a:ea typeface="Cambria" panose="02040503050406030204" pitchFamily="18" charset="0"/>
              </a:rPr>
              <a:t>HttpServletRequest</a:t>
            </a:r>
            <a:r>
              <a:rPr lang="en-GB" sz="2000" dirty="0" smtClean="0">
                <a:latin typeface="Cambria" panose="02040503050406030204" pitchFamily="18" charset="0"/>
                <a:ea typeface="Cambria" panose="02040503050406030204" pitchFamily="18" charset="0"/>
              </a:rPr>
              <a:t> interface provides two methods to get the object of </a:t>
            </a:r>
            <a:r>
              <a:rPr lang="en-GB" sz="2000" dirty="0" err="1" smtClean="0">
                <a:latin typeface="Cambria" panose="02040503050406030204" pitchFamily="18" charset="0"/>
                <a:ea typeface="Cambria" panose="02040503050406030204" pitchFamily="18" charset="0"/>
              </a:rPr>
              <a:t>HttpSession</a:t>
            </a:r>
            <a:r>
              <a:rPr lang="en-GB" sz="2000" dirty="0" smtClean="0">
                <a:latin typeface="Cambria" panose="02040503050406030204" pitchFamily="18" charset="0"/>
                <a:ea typeface="Cambria" panose="02040503050406030204" pitchFamily="18" charset="0"/>
              </a:rPr>
              <a:t>:</a:t>
            </a:r>
          </a:p>
          <a:p>
            <a:pPr algn="just"/>
            <a:r>
              <a:rPr lang="en-GB" sz="2000" b="1" dirty="0" smtClean="0">
                <a:latin typeface="Cambria" panose="02040503050406030204" pitchFamily="18" charset="0"/>
                <a:ea typeface="Cambria" panose="02040503050406030204" pitchFamily="18" charset="0"/>
              </a:rPr>
              <a:t>public </a:t>
            </a:r>
            <a:r>
              <a:rPr lang="en-GB" sz="2000" b="1" dirty="0" err="1" smtClean="0">
                <a:latin typeface="Cambria" panose="02040503050406030204" pitchFamily="18" charset="0"/>
                <a:ea typeface="Cambria" panose="02040503050406030204" pitchFamily="18" charset="0"/>
              </a:rPr>
              <a:t>HttpSession</a:t>
            </a:r>
            <a:r>
              <a:rPr lang="en-GB" sz="2000" b="1" dirty="0" smtClean="0">
                <a:latin typeface="Cambria" panose="02040503050406030204" pitchFamily="18" charset="0"/>
                <a:ea typeface="Cambria" panose="02040503050406030204" pitchFamily="18" charset="0"/>
              </a:rPr>
              <a:t> </a:t>
            </a:r>
            <a:r>
              <a:rPr lang="en-GB" sz="2000" b="1" dirty="0" err="1" smtClean="0">
                <a:latin typeface="Cambria" panose="02040503050406030204" pitchFamily="18" charset="0"/>
                <a:ea typeface="Cambria" panose="02040503050406030204" pitchFamily="18" charset="0"/>
              </a:rPr>
              <a:t>getSession</a:t>
            </a:r>
            <a:r>
              <a:rPr lang="en-GB" sz="2000" b="1" dirty="0" smtClean="0">
                <a:latin typeface="Cambria" panose="02040503050406030204" pitchFamily="18" charset="0"/>
                <a:ea typeface="Cambria" panose="02040503050406030204" pitchFamily="18" charset="0"/>
              </a:rPr>
              <a:t>():</a:t>
            </a:r>
            <a:r>
              <a:rPr lang="en-GB" sz="2000" dirty="0" smtClean="0">
                <a:latin typeface="Cambria" panose="02040503050406030204" pitchFamily="18" charset="0"/>
                <a:ea typeface="Cambria" panose="02040503050406030204" pitchFamily="18" charset="0"/>
              </a:rPr>
              <a:t>Returns the current session associated with this request, or if the request does not have a session, creates one.</a:t>
            </a:r>
          </a:p>
          <a:p>
            <a:pPr algn="just"/>
            <a:r>
              <a:rPr lang="en-GB" sz="2000" b="1" dirty="0" smtClean="0">
                <a:latin typeface="Cambria" panose="02040503050406030204" pitchFamily="18" charset="0"/>
                <a:ea typeface="Cambria" panose="02040503050406030204" pitchFamily="18" charset="0"/>
              </a:rPr>
              <a:t>public </a:t>
            </a:r>
            <a:r>
              <a:rPr lang="en-GB" sz="2000" b="1" dirty="0" err="1" smtClean="0">
                <a:latin typeface="Cambria" panose="02040503050406030204" pitchFamily="18" charset="0"/>
                <a:ea typeface="Cambria" panose="02040503050406030204" pitchFamily="18" charset="0"/>
              </a:rPr>
              <a:t>HttpSession</a:t>
            </a:r>
            <a:r>
              <a:rPr lang="en-GB" sz="2000" b="1" dirty="0" smtClean="0">
                <a:latin typeface="Cambria" panose="02040503050406030204" pitchFamily="18" charset="0"/>
                <a:ea typeface="Cambria" panose="02040503050406030204" pitchFamily="18" charset="0"/>
              </a:rPr>
              <a:t> </a:t>
            </a:r>
            <a:r>
              <a:rPr lang="en-GB" sz="2000" b="1" dirty="0" err="1" smtClean="0">
                <a:latin typeface="Cambria" panose="02040503050406030204" pitchFamily="18" charset="0"/>
                <a:ea typeface="Cambria" panose="02040503050406030204" pitchFamily="18" charset="0"/>
              </a:rPr>
              <a:t>getSession</a:t>
            </a:r>
            <a:r>
              <a:rPr lang="en-GB" sz="2000" b="1" dirty="0" smtClean="0">
                <a:latin typeface="Cambria" panose="02040503050406030204" pitchFamily="18" charset="0"/>
                <a:ea typeface="Cambria" panose="02040503050406030204" pitchFamily="18" charset="0"/>
              </a:rPr>
              <a:t>(</a:t>
            </a:r>
            <a:r>
              <a:rPr lang="en-GB" sz="2000" b="1" dirty="0" err="1" smtClean="0">
                <a:latin typeface="Cambria" panose="02040503050406030204" pitchFamily="18" charset="0"/>
                <a:ea typeface="Cambria" panose="02040503050406030204" pitchFamily="18" charset="0"/>
              </a:rPr>
              <a:t>boolean</a:t>
            </a:r>
            <a:r>
              <a:rPr lang="en-GB" sz="2000" b="1" dirty="0" smtClean="0">
                <a:latin typeface="Cambria" panose="02040503050406030204" pitchFamily="18" charset="0"/>
                <a:ea typeface="Cambria" panose="02040503050406030204" pitchFamily="18" charset="0"/>
              </a:rPr>
              <a:t> create):</a:t>
            </a:r>
            <a:r>
              <a:rPr lang="en-GB" sz="2000" dirty="0" smtClean="0">
                <a:latin typeface="Cambria" panose="02040503050406030204" pitchFamily="18" charset="0"/>
                <a:ea typeface="Cambria" panose="02040503050406030204" pitchFamily="18" charset="0"/>
              </a:rPr>
              <a:t>Returns the current </a:t>
            </a:r>
            <a:r>
              <a:rPr lang="en-GB" sz="2000" dirty="0" err="1" smtClean="0">
                <a:latin typeface="Cambria" panose="02040503050406030204" pitchFamily="18" charset="0"/>
                <a:ea typeface="Cambria" panose="02040503050406030204" pitchFamily="18" charset="0"/>
              </a:rPr>
              <a:t>HttpSession</a:t>
            </a:r>
            <a:r>
              <a:rPr lang="en-GB" sz="2000" dirty="0" smtClean="0">
                <a:latin typeface="Cambria" panose="02040503050406030204" pitchFamily="18" charset="0"/>
                <a:ea typeface="Cambria" panose="02040503050406030204" pitchFamily="18" charset="0"/>
              </a:rPr>
              <a:t> associated with this request or, if there is no current session and create is true, returns a new session.</a:t>
            </a:r>
          </a:p>
          <a:p>
            <a:pPr algn="just"/>
            <a:r>
              <a:rPr lang="en-GB" sz="2000" dirty="0" smtClean="0">
                <a:latin typeface="Cambria" panose="02040503050406030204" pitchFamily="18" charset="0"/>
                <a:ea typeface="Cambria" panose="02040503050406030204" pitchFamily="18" charset="0"/>
              </a:rPr>
              <a:t>Commonly used methods of </a:t>
            </a:r>
            <a:r>
              <a:rPr lang="en-GB" sz="2000" dirty="0" err="1" smtClean="0">
                <a:latin typeface="Cambria" panose="02040503050406030204" pitchFamily="18" charset="0"/>
                <a:ea typeface="Cambria" panose="02040503050406030204" pitchFamily="18" charset="0"/>
              </a:rPr>
              <a:t>HttpSession</a:t>
            </a:r>
            <a:r>
              <a:rPr lang="en-GB" sz="2000" dirty="0" smtClean="0">
                <a:latin typeface="Cambria" panose="02040503050406030204" pitchFamily="18" charset="0"/>
                <a:ea typeface="Cambria" panose="02040503050406030204" pitchFamily="18" charset="0"/>
              </a:rPr>
              <a:t> interface</a:t>
            </a:r>
          </a:p>
          <a:p>
            <a:pPr algn="just"/>
            <a:r>
              <a:rPr lang="en-GB" sz="2000" b="1" dirty="0" smtClean="0">
                <a:latin typeface="Cambria" panose="02040503050406030204" pitchFamily="18" charset="0"/>
                <a:ea typeface="Cambria" panose="02040503050406030204" pitchFamily="18" charset="0"/>
              </a:rPr>
              <a:t>public String </a:t>
            </a:r>
            <a:r>
              <a:rPr lang="en-GB" sz="2000" b="1" dirty="0" err="1" smtClean="0">
                <a:latin typeface="Cambria" panose="02040503050406030204" pitchFamily="18" charset="0"/>
                <a:ea typeface="Cambria" panose="02040503050406030204" pitchFamily="18" charset="0"/>
              </a:rPr>
              <a:t>getId</a:t>
            </a:r>
            <a:r>
              <a:rPr lang="en-GB" sz="2000" b="1" dirty="0" smtClean="0">
                <a:latin typeface="Cambria" panose="02040503050406030204" pitchFamily="18" charset="0"/>
                <a:ea typeface="Cambria" panose="02040503050406030204" pitchFamily="18" charset="0"/>
              </a:rPr>
              <a:t>():</a:t>
            </a:r>
            <a:r>
              <a:rPr lang="en-GB" sz="2000" dirty="0" smtClean="0">
                <a:latin typeface="Cambria" panose="02040503050406030204" pitchFamily="18" charset="0"/>
                <a:ea typeface="Cambria" panose="02040503050406030204" pitchFamily="18" charset="0"/>
              </a:rPr>
              <a:t>Returns a string containing the unique identifier value.</a:t>
            </a:r>
          </a:p>
          <a:p>
            <a:pPr algn="just"/>
            <a:r>
              <a:rPr lang="en-GB" sz="2000" b="1" dirty="0" smtClean="0">
                <a:latin typeface="Cambria" panose="02040503050406030204" pitchFamily="18" charset="0"/>
                <a:ea typeface="Cambria" panose="02040503050406030204" pitchFamily="18" charset="0"/>
              </a:rPr>
              <a:t>public long </a:t>
            </a:r>
            <a:r>
              <a:rPr lang="en-GB" sz="2000" b="1" dirty="0" err="1" smtClean="0">
                <a:latin typeface="Cambria" panose="02040503050406030204" pitchFamily="18" charset="0"/>
                <a:ea typeface="Cambria" panose="02040503050406030204" pitchFamily="18" charset="0"/>
              </a:rPr>
              <a:t>getCreationTime</a:t>
            </a:r>
            <a:r>
              <a:rPr lang="en-GB" sz="2000" b="1" dirty="0" smtClean="0">
                <a:latin typeface="Cambria" panose="02040503050406030204" pitchFamily="18" charset="0"/>
                <a:ea typeface="Cambria" panose="02040503050406030204" pitchFamily="18" charset="0"/>
              </a:rPr>
              <a:t>():</a:t>
            </a:r>
            <a:r>
              <a:rPr lang="en-GB" sz="2000" dirty="0" smtClean="0">
                <a:latin typeface="Cambria" panose="02040503050406030204" pitchFamily="18" charset="0"/>
                <a:ea typeface="Cambria" panose="02040503050406030204" pitchFamily="18" charset="0"/>
              </a:rPr>
              <a:t>Returns the time when this session was created, measured in milliseconds since midnight January 1, 1970 GMT.</a:t>
            </a:r>
          </a:p>
          <a:p>
            <a:pPr algn="just"/>
            <a:r>
              <a:rPr lang="en-GB" sz="2000" b="1" dirty="0" smtClean="0">
                <a:latin typeface="Cambria" panose="02040503050406030204" pitchFamily="18" charset="0"/>
                <a:ea typeface="Cambria" panose="02040503050406030204" pitchFamily="18" charset="0"/>
              </a:rPr>
              <a:t>public long </a:t>
            </a:r>
            <a:r>
              <a:rPr lang="en-GB" sz="2000" b="1" dirty="0" err="1" smtClean="0">
                <a:latin typeface="Cambria" panose="02040503050406030204" pitchFamily="18" charset="0"/>
                <a:ea typeface="Cambria" panose="02040503050406030204" pitchFamily="18" charset="0"/>
              </a:rPr>
              <a:t>getLastAccessedTime</a:t>
            </a:r>
            <a:r>
              <a:rPr lang="en-GB" sz="2000" b="1" dirty="0" smtClean="0">
                <a:latin typeface="Cambria" panose="02040503050406030204" pitchFamily="18" charset="0"/>
                <a:ea typeface="Cambria" panose="02040503050406030204" pitchFamily="18" charset="0"/>
              </a:rPr>
              <a:t>():</a:t>
            </a:r>
            <a:r>
              <a:rPr lang="en-GB" sz="2000" dirty="0" smtClean="0">
                <a:latin typeface="Cambria" panose="02040503050406030204" pitchFamily="18" charset="0"/>
                <a:ea typeface="Cambria" panose="02040503050406030204" pitchFamily="18" charset="0"/>
              </a:rPr>
              <a:t>Returns the last time the client sent a request associated with this session, as the number of milliseconds since midnight January 1, 1970 GMT.</a:t>
            </a:r>
          </a:p>
          <a:p>
            <a:pPr algn="just"/>
            <a:r>
              <a:rPr lang="en-GB" sz="2000" b="1" dirty="0" smtClean="0">
                <a:latin typeface="Cambria" panose="02040503050406030204" pitchFamily="18" charset="0"/>
                <a:ea typeface="Cambria" panose="02040503050406030204" pitchFamily="18" charset="0"/>
              </a:rPr>
              <a:t>public void invalidate():</a:t>
            </a:r>
            <a:r>
              <a:rPr lang="en-GB" sz="2000" dirty="0" smtClean="0">
                <a:latin typeface="Cambria" panose="02040503050406030204" pitchFamily="18" charset="0"/>
                <a:ea typeface="Cambria" panose="02040503050406030204" pitchFamily="18" charset="0"/>
              </a:rPr>
              <a:t>Invalidates this session then unbinds any objects bound to it.</a:t>
            </a:r>
          </a:p>
          <a:p>
            <a:pPr algn="just"/>
            <a:endParaRPr lang="en-US" sz="20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65</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36" y="116632"/>
            <a:ext cx="7418040" cy="399579"/>
          </a:xfrm>
        </p:spPr>
        <p:txBody>
          <a:bodyPr/>
          <a:lstStyle/>
          <a:p>
            <a:r>
              <a:rPr lang="en-US" sz="3600" b="1" dirty="0" smtClean="0">
                <a:solidFill>
                  <a:schemeClr val="accent5"/>
                </a:solidFill>
                <a:latin typeface="Cambria" panose="02040503050406030204" pitchFamily="18" charset="0"/>
                <a:ea typeface="Cambria" panose="02040503050406030204" pitchFamily="18" charset="0"/>
              </a:rPr>
              <a:t>Example of using HttpSession</a:t>
            </a:r>
            <a:endParaRPr lang="en-US" sz="36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1343472" y="582141"/>
            <a:ext cx="9073008" cy="5956771"/>
          </a:xfrm>
        </p:spPr>
        <p:txBody>
          <a:bodyPr/>
          <a:lstStyle/>
          <a:p>
            <a:pPr>
              <a:spcBef>
                <a:spcPts val="0"/>
              </a:spcBef>
              <a:buNone/>
            </a:pPr>
            <a:r>
              <a:rPr lang="en-US" sz="1800" dirty="0" smtClean="0">
                <a:latin typeface="Cambria" panose="02040503050406030204" pitchFamily="18" charset="0"/>
                <a:ea typeface="Cambria" panose="02040503050406030204" pitchFamily="18" charset="0"/>
              </a:rPr>
              <a:t>index.html</a:t>
            </a:r>
          </a:p>
          <a:p>
            <a:pPr>
              <a:spcBef>
                <a:spcPts val="0"/>
              </a:spcBef>
              <a:buNone/>
            </a:pPr>
            <a:r>
              <a:rPr lang="en-US" sz="1800" dirty="0" smtClean="0">
                <a:latin typeface="Cambria" panose="02040503050406030204" pitchFamily="18" charset="0"/>
                <a:ea typeface="Cambria" panose="02040503050406030204" pitchFamily="18" charset="0"/>
              </a:rPr>
              <a:t>&lt;form action="servlet1"&gt;  </a:t>
            </a:r>
          </a:p>
          <a:p>
            <a:pPr>
              <a:spcBef>
                <a:spcPts val="0"/>
              </a:spcBef>
              <a:buNone/>
            </a:pPr>
            <a:r>
              <a:rPr lang="en-US" sz="1800" dirty="0" smtClean="0">
                <a:latin typeface="Cambria" panose="02040503050406030204" pitchFamily="18" charset="0"/>
                <a:ea typeface="Cambria" panose="02040503050406030204" pitchFamily="18" charset="0"/>
              </a:rPr>
              <a:t>Name:&lt;input type="text" name="</a:t>
            </a:r>
            <a:r>
              <a:rPr lang="en-US" sz="1800" dirty="0" err="1" smtClean="0">
                <a:latin typeface="Cambria" panose="02040503050406030204" pitchFamily="18" charset="0"/>
                <a:ea typeface="Cambria" panose="02040503050406030204" pitchFamily="18" charset="0"/>
              </a:rPr>
              <a:t>userName</a:t>
            </a:r>
            <a:r>
              <a:rPr lang="en-US" sz="1800" dirty="0" smtClean="0">
                <a:latin typeface="Cambria" panose="02040503050406030204" pitchFamily="18" charset="0"/>
                <a:ea typeface="Cambria" panose="02040503050406030204" pitchFamily="18" charset="0"/>
              </a:rPr>
              <a:t>"/&gt;&lt;</a:t>
            </a:r>
            <a:r>
              <a:rPr lang="en-US" sz="1800" dirty="0" err="1" smtClean="0">
                <a:latin typeface="Cambria" panose="02040503050406030204" pitchFamily="18" charset="0"/>
                <a:ea typeface="Cambria" panose="02040503050406030204" pitchFamily="18" charset="0"/>
              </a:rPr>
              <a:t>br</a:t>
            </a:r>
            <a:r>
              <a:rPr lang="en-US" sz="1800" dirty="0" smtClean="0">
                <a:latin typeface="Cambria" panose="02040503050406030204" pitchFamily="18" charset="0"/>
                <a:ea typeface="Cambria" panose="02040503050406030204" pitchFamily="18" charset="0"/>
              </a:rPr>
              <a:t>/&gt;  </a:t>
            </a:r>
          </a:p>
          <a:p>
            <a:pPr>
              <a:spcBef>
                <a:spcPts val="0"/>
              </a:spcBef>
              <a:buNone/>
            </a:pPr>
            <a:r>
              <a:rPr lang="en-US" sz="1800" dirty="0" smtClean="0">
                <a:latin typeface="Cambria" panose="02040503050406030204" pitchFamily="18" charset="0"/>
                <a:ea typeface="Cambria" panose="02040503050406030204" pitchFamily="18" charset="0"/>
              </a:rPr>
              <a:t>&lt;input type="submit" value="go"/&gt;  </a:t>
            </a:r>
          </a:p>
          <a:p>
            <a:pPr>
              <a:spcBef>
                <a:spcPts val="0"/>
              </a:spcBef>
              <a:buNone/>
            </a:pPr>
            <a:r>
              <a:rPr lang="en-US" sz="1800" dirty="0" smtClean="0">
                <a:latin typeface="Cambria" panose="02040503050406030204" pitchFamily="18" charset="0"/>
                <a:ea typeface="Cambria" panose="02040503050406030204" pitchFamily="18" charset="0"/>
              </a:rPr>
              <a:t>&lt;/form&gt;  </a:t>
            </a:r>
          </a:p>
          <a:p>
            <a:pPr>
              <a:spcBef>
                <a:spcPts val="0"/>
              </a:spcBef>
              <a:buNone/>
            </a:pPr>
            <a:r>
              <a:rPr lang="en-US" sz="1800" dirty="0" smtClean="0">
                <a:latin typeface="Cambria" panose="02040503050406030204" pitchFamily="18" charset="0"/>
                <a:ea typeface="Cambria" panose="02040503050406030204" pitchFamily="18" charset="0"/>
              </a:rPr>
              <a:t>FirstServlet.java</a:t>
            </a:r>
          </a:p>
          <a:p>
            <a:pPr>
              <a:spcBef>
                <a:spcPts val="0"/>
              </a:spcBef>
              <a:buNone/>
            </a:pPr>
            <a:r>
              <a:rPr lang="en-US" sz="1800" b="1" dirty="0" smtClean="0">
                <a:latin typeface="Cambria" panose="02040503050406030204" pitchFamily="18" charset="0"/>
                <a:ea typeface="Cambria" panose="02040503050406030204" pitchFamily="18" charset="0"/>
              </a:rPr>
              <a:t>import</a:t>
            </a:r>
            <a:r>
              <a:rPr lang="en-US" sz="1800" dirty="0" smtClean="0">
                <a:latin typeface="Cambria" panose="02040503050406030204" pitchFamily="18" charset="0"/>
                <a:ea typeface="Cambria" panose="02040503050406030204" pitchFamily="18" charset="0"/>
              </a:rPr>
              <a:t> java.io.*;  </a:t>
            </a:r>
          </a:p>
          <a:p>
            <a:pPr>
              <a:spcBef>
                <a:spcPts val="0"/>
              </a:spcBef>
              <a:buNone/>
            </a:pPr>
            <a:r>
              <a:rPr lang="en-US" sz="1800" b="1" dirty="0" smtClean="0">
                <a:latin typeface="Cambria" panose="02040503050406030204" pitchFamily="18" charset="0"/>
                <a:ea typeface="Cambria" panose="02040503050406030204" pitchFamily="18" charset="0"/>
              </a:rPr>
              <a:t>import</a:t>
            </a: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javax.servlet</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b="1" dirty="0" smtClean="0">
                <a:latin typeface="Cambria" panose="02040503050406030204" pitchFamily="18" charset="0"/>
                <a:ea typeface="Cambria" panose="02040503050406030204" pitchFamily="18" charset="0"/>
              </a:rPr>
              <a:t>import</a:t>
            </a:r>
            <a:r>
              <a:rPr lang="en-US" sz="1800" dirty="0" smtClean="0">
                <a:latin typeface="Cambria" panose="02040503050406030204" pitchFamily="18" charset="0"/>
                <a:ea typeface="Cambria" panose="02040503050406030204" pitchFamily="18" charset="0"/>
              </a:rPr>
              <a:t> javax.servlet.http.*;    </a:t>
            </a:r>
          </a:p>
          <a:p>
            <a:pPr>
              <a:spcBef>
                <a:spcPts val="0"/>
              </a:spcBef>
              <a:buNone/>
            </a:pPr>
            <a:r>
              <a:rPr lang="en-US" sz="1800" b="1" dirty="0" smtClean="0">
                <a:latin typeface="Cambria" panose="02040503050406030204" pitchFamily="18" charset="0"/>
                <a:ea typeface="Cambria" panose="02040503050406030204" pitchFamily="18" charset="0"/>
              </a:rPr>
              <a:t>public</a:t>
            </a: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class</a:t>
            </a:r>
            <a:r>
              <a:rPr lang="en-US" sz="1800" dirty="0" smtClean="0">
                <a:latin typeface="Cambria" panose="02040503050406030204" pitchFamily="18" charset="0"/>
                <a:ea typeface="Cambria" panose="02040503050406030204" pitchFamily="18" charset="0"/>
              </a:rPr>
              <a:t> FirstServlet </a:t>
            </a:r>
            <a:r>
              <a:rPr lang="en-US" sz="1800" b="1" dirty="0" smtClean="0">
                <a:latin typeface="Cambria" panose="02040503050406030204" pitchFamily="18" charset="0"/>
                <a:ea typeface="Cambria" panose="02040503050406030204" pitchFamily="18" charset="0"/>
              </a:rPr>
              <a:t>extends</a:t>
            </a:r>
            <a:r>
              <a:rPr lang="en-US" sz="1800" dirty="0" smtClean="0">
                <a:latin typeface="Cambria" panose="02040503050406030204" pitchFamily="18" charset="0"/>
                <a:ea typeface="Cambria" panose="02040503050406030204" pitchFamily="18" charset="0"/>
              </a:rPr>
              <a:t> HttpServlet {    </a:t>
            </a:r>
          </a:p>
          <a:p>
            <a:pPr>
              <a:spcBef>
                <a:spcPts val="0"/>
              </a:spcBef>
              <a:buNone/>
            </a:pPr>
            <a:r>
              <a:rPr lang="en-US" sz="1800" b="1" dirty="0" smtClean="0">
                <a:latin typeface="Cambria" panose="02040503050406030204" pitchFamily="18" charset="0"/>
                <a:ea typeface="Cambria" panose="02040503050406030204" pitchFamily="18" charset="0"/>
              </a:rPr>
              <a:t>public</a:t>
            </a: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void</a:t>
            </a: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doGet</a:t>
            </a:r>
            <a:r>
              <a:rPr lang="en-US" sz="1800" dirty="0" smtClean="0">
                <a:latin typeface="Cambria" panose="02040503050406030204" pitchFamily="18" charset="0"/>
                <a:ea typeface="Cambria" panose="02040503050406030204" pitchFamily="18" charset="0"/>
              </a:rPr>
              <a:t>(</a:t>
            </a:r>
            <a:r>
              <a:rPr lang="en-US" sz="1800" dirty="0" err="1" smtClean="0">
                <a:latin typeface="Cambria" panose="02040503050406030204" pitchFamily="18" charset="0"/>
                <a:ea typeface="Cambria" panose="02040503050406030204" pitchFamily="18" charset="0"/>
              </a:rPr>
              <a:t>HttpServletRequest</a:t>
            </a:r>
            <a:r>
              <a:rPr lang="en-US" sz="1800" dirty="0" smtClean="0">
                <a:latin typeface="Cambria" panose="02040503050406030204" pitchFamily="18" charset="0"/>
                <a:ea typeface="Cambria" panose="02040503050406030204" pitchFamily="18" charset="0"/>
              </a:rPr>
              <a:t> request, </a:t>
            </a:r>
            <a:r>
              <a:rPr lang="en-US" sz="1800" dirty="0" err="1" smtClean="0">
                <a:latin typeface="Cambria" panose="02040503050406030204" pitchFamily="18" charset="0"/>
                <a:ea typeface="Cambria" panose="02040503050406030204" pitchFamily="18" charset="0"/>
              </a:rPr>
              <a:t>HttpServletResponse</a:t>
            </a:r>
            <a:r>
              <a:rPr lang="en-US" sz="1800" dirty="0" smtClean="0">
                <a:latin typeface="Cambria" panose="02040503050406030204" pitchFamily="18" charset="0"/>
                <a:ea typeface="Cambria" panose="02040503050406030204" pitchFamily="18" charset="0"/>
              </a:rPr>
              <a:t> response){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try</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response.setContentType</a:t>
            </a:r>
            <a:r>
              <a:rPr lang="en-US" sz="1800" dirty="0" smtClean="0">
                <a:latin typeface="Cambria" panose="02040503050406030204" pitchFamily="18" charset="0"/>
                <a:ea typeface="Cambria" panose="02040503050406030204" pitchFamily="18" charset="0"/>
              </a:rPr>
              <a:t>("text/html");  </a:t>
            </a:r>
          </a:p>
          <a:p>
            <a:pPr>
              <a:spcBef>
                <a:spcPts val="0"/>
              </a:spcBef>
              <a:buNone/>
            </a:pPr>
            <a:r>
              <a:rPr lang="en-US" sz="1800" dirty="0" smtClean="0">
                <a:latin typeface="Cambria" panose="02040503050406030204" pitchFamily="18" charset="0"/>
                <a:ea typeface="Cambria" panose="02040503050406030204" pitchFamily="18" charset="0"/>
              </a:rPr>
              <a:t>        PrintWriter out = response.getWriter();            </a:t>
            </a:r>
          </a:p>
          <a:p>
            <a:pPr>
              <a:spcBef>
                <a:spcPts val="0"/>
              </a:spcBef>
              <a:buNone/>
            </a:pPr>
            <a:r>
              <a:rPr lang="en-US" sz="1800" dirty="0" smtClean="0">
                <a:latin typeface="Cambria" panose="02040503050406030204" pitchFamily="18" charset="0"/>
                <a:ea typeface="Cambria" panose="02040503050406030204" pitchFamily="18" charset="0"/>
              </a:rPr>
              <a:t>        String n=</a:t>
            </a:r>
            <a:r>
              <a:rPr lang="en-US" sz="1800" dirty="0" err="1" smtClean="0">
                <a:latin typeface="Cambria" panose="02040503050406030204" pitchFamily="18" charset="0"/>
                <a:ea typeface="Cambria" panose="02040503050406030204" pitchFamily="18" charset="0"/>
              </a:rPr>
              <a:t>request.getParameter</a:t>
            </a:r>
            <a:r>
              <a:rPr lang="en-US" sz="1800" dirty="0" smtClean="0">
                <a:latin typeface="Cambria" panose="02040503050406030204" pitchFamily="18" charset="0"/>
                <a:ea typeface="Cambria" panose="02040503050406030204" pitchFamily="18" charset="0"/>
              </a:rPr>
              <a:t>("</a:t>
            </a:r>
            <a:r>
              <a:rPr lang="en-US" sz="1800" dirty="0" err="1" smtClean="0">
                <a:latin typeface="Cambria" panose="02040503050406030204" pitchFamily="18" charset="0"/>
                <a:ea typeface="Cambria" panose="02040503050406030204" pitchFamily="18" charset="0"/>
              </a:rPr>
              <a:t>userName</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out.print("Welcome "+n);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HttpSession</a:t>
            </a:r>
            <a:r>
              <a:rPr lang="en-US" sz="1800" dirty="0" smtClean="0">
                <a:latin typeface="Cambria" panose="02040503050406030204" pitchFamily="18" charset="0"/>
                <a:ea typeface="Cambria" panose="02040503050406030204" pitchFamily="18" charset="0"/>
              </a:rPr>
              <a:t> session=</a:t>
            </a:r>
            <a:r>
              <a:rPr lang="en-US" sz="1800" dirty="0" err="1" smtClean="0">
                <a:latin typeface="Cambria" panose="02040503050406030204" pitchFamily="18" charset="0"/>
                <a:ea typeface="Cambria" panose="02040503050406030204" pitchFamily="18" charset="0"/>
              </a:rPr>
              <a:t>request.getSession</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session.setAttribute("uname",n);    </a:t>
            </a:r>
          </a:p>
          <a:p>
            <a:pPr>
              <a:spcBef>
                <a:spcPts val="0"/>
              </a:spcBef>
              <a:buNone/>
            </a:pPr>
            <a:r>
              <a:rPr lang="en-US" sz="1800" dirty="0" smtClean="0">
                <a:latin typeface="Cambria" panose="02040503050406030204" pitchFamily="18" charset="0"/>
                <a:ea typeface="Cambria" panose="02040503050406030204" pitchFamily="18" charset="0"/>
              </a:rPr>
              <a:t>        out.print("&lt;a href='servlet2'&gt;visit&lt;/a&gt;");                    </a:t>
            </a:r>
          </a:p>
          <a:p>
            <a:pPr>
              <a:spcBef>
                <a:spcPts val="0"/>
              </a:spcBef>
              <a:buNone/>
            </a:pPr>
            <a:r>
              <a:rPr lang="en-US" sz="1800" dirty="0" smtClean="0">
                <a:latin typeface="Cambria" panose="02040503050406030204" pitchFamily="18" charset="0"/>
                <a:ea typeface="Cambria" panose="02040503050406030204" pitchFamily="18" charset="0"/>
              </a:rPr>
              <a:t>        out.close();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catch</a:t>
            </a:r>
            <a:r>
              <a:rPr lang="en-US" sz="1800" dirty="0" smtClean="0">
                <a:latin typeface="Cambria" panose="02040503050406030204" pitchFamily="18" charset="0"/>
                <a:ea typeface="Cambria" panose="02040503050406030204" pitchFamily="18" charset="0"/>
              </a:rPr>
              <a:t>(Exception e){</a:t>
            </a:r>
            <a:r>
              <a:rPr lang="en-US" sz="1800" dirty="0" err="1" smtClean="0">
                <a:latin typeface="Cambria" panose="02040503050406030204" pitchFamily="18" charset="0"/>
                <a:ea typeface="Cambria" panose="02040503050406030204" pitchFamily="18" charset="0"/>
              </a:rPr>
              <a:t>System.out.println</a:t>
            </a:r>
            <a:r>
              <a:rPr lang="en-US" sz="1800" dirty="0" smtClean="0">
                <a:latin typeface="Cambria" panose="02040503050406030204" pitchFamily="18" charset="0"/>
                <a:ea typeface="Cambria" panose="02040503050406030204" pitchFamily="18" charset="0"/>
              </a:rPr>
              <a:t>(e);}  </a:t>
            </a:r>
          </a:p>
          <a:p>
            <a:pPr>
              <a:spcBef>
                <a:spcPts val="0"/>
              </a:spcBef>
              <a:buNone/>
            </a:pPr>
            <a:r>
              <a:rPr lang="en-US" sz="1800" dirty="0" smtClean="0">
                <a:latin typeface="Cambria" panose="02040503050406030204" pitchFamily="18" charset="0"/>
                <a:ea typeface="Cambria" panose="02040503050406030204" pitchFamily="18" charset="0"/>
              </a:rPr>
              <a:t>    }  </a:t>
            </a:r>
          </a:p>
          <a:p>
            <a:pPr>
              <a:spcBef>
                <a:spcPts val="0"/>
              </a:spcBef>
              <a:buNone/>
            </a:pP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66</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798" y="116632"/>
            <a:ext cx="8136904" cy="399579"/>
          </a:xfrm>
        </p:spPr>
        <p:txBody>
          <a:bodyPr/>
          <a:lstStyle/>
          <a:p>
            <a:r>
              <a:rPr lang="en-US" sz="3600" b="1" dirty="0" smtClean="0">
                <a:solidFill>
                  <a:schemeClr val="accent5"/>
                </a:solidFill>
                <a:latin typeface="Cambria" panose="02040503050406030204" pitchFamily="18" charset="0"/>
                <a:ea typeface="Cambria" panose="02040503050406030204" pitchFamily="18" charset="0"/>
              </a:rPr>
              <a:t>Example of using HttpSession </a:t>
            </a:r>
            <a:r>
              <a:rPr lang="en-US" sz="2800" b="1" dirty="0" smtClean="0">
                <a:solidFill>
                  <a:schemeClr val="accent5"/>
                </a:solidFill>
                <a:latin typeface="Cambria" panose="02040503050406030204" pitchFamily="18" charset="0"/>
                <a:ea typeface="Cambria" panose="02040503050406030204" pitchFamily="18" charset="0"/>
              </a:rPr>
              <a:t>(contd...)</a:t>
            </a:r>
            <a:endParaRPr lang="en-US" sz="36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119336" y="620688"/>
            <a:ext cx="6624736" cy="4719067"/>
          </a:xfrm>
        </p:spPr>
        <p:txBody>
          <a:bodyPr/>
          <a:lstStyle/>
          <a:p>
            <a:pPr>
              <a:spcBef>
                <a:spcPts val="0"/>
              </a:spcBef>
              <a:buNone/>
            </a:pPr>
            <a:r>
              <a:rPr lang="en-US" sz="1800" dirty="0" smtClean="0">
                <a:latin typeface="Cambria" panose="02040503050406030204" pitchFamily="18" charset="0"/>
                <a:ea typeface="Cambria" panose="02040503050406030204" pitchFamily="18" charset="0"/>
              </a:rPr>
              <a:t>//</a:t>
            </a:r>
            <a:r>
              <a:rPr lang="en-US" sz="1800" b="1" dirty="0" smtClean="0">
                <a:latin typeface="Cambria" panose="02040503050406030204" pitchFamily="18" charset="0"/>
                <a:ea typeface="Cambria" panose="02040503050406030204" pitchFamily="18" charset="0"/>
              </a:rPr>
              <a:t>SecondServlet.java</a:t>
            </a:r>
          </a:p>
          <a:p>
            <a:pPr>
              <a:spcBef>
                <a:spcPts val="0"/>
              </a:spcBef>
              <a:buNone/>
            </a:pPr>
            <a:r>
              <a:rPr lang="en-US" sz="1800" b="1" dirty="0" smtClean="0">
                <a:latin typeface="Cambria" panose="02040503050406030204" pitchFamily="18" charset="0"/>
                <a:ea typeface="Cambria" panose="02040503050406030204" pitchFamily="18" charset="0"/>
              </a:rPr>
              <a:t>import</a:t>
            </a:r>
            <a:r>
              <a:rPr lang="en-US" sz="1800" dirty="0" smtClean="0">
                <a:latin typeface="Cambria" panose="02040503050406030204" pitchFamily="18" charset="0"/>
                <a:ea typeface="Cambria" panose="02040503050406030204" pitchFamily="18" charset="0"/>
              </a:rPr>
              <a:t> java.io.*;  </a:t>
            </a:r>
          </a:p>
          <a:p>
            <a:pPr>
              <a:spcBef>
                <a:spcPts val="0"/>
              </a:spcBef>
              <a:buNone/>
            </a:pPr>
            <a:r>
              <a:rPr lang="en-US" sz="1800" b="1" dirty="0" smtClean="0">
                <a:latin typeface="Cambria" panose="02040503050406030204" pitchFamily="18" charset="0"/>
                <a:ea typeface="Cambria" panose="02040503050406030204" pitchFamily="18" charset="0"/>
              </a:rPr>
              <a:t>import</a:t>
            </a: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javax.servlet</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b="1" dirty="0" smtClean="0">
                <a:latin typeface="Cambria" panose="02040503050406030204" pitchFamily="18" charset="0"/>
                <a:ea typeface="Cambria" panose="02040503050406030204" pitchFamily="18" charset="0"/>
              </a:rPr>
              <a:t>import</a:t>
            </a: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javax.servlet.http</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a:t>
            </a:r>
          </a:p>
          <a:p>
            <a:pPr>
              <a:spcBef>
                <a:spcPts val="0"/>
              </a:spcBef>
              <a:buNone/>
            </a:pPr>
            <a:r>
              <a:rPr lang="en-US" sz="1800" b="1" dirty="0" smtClean="0">
                <a:latin typeface="Cambria" panose="02040503050406030204" pitchFamily="18" charset="0"/>
                <a:ea typeface="Cambria" panose="02040503050406030204" pitchFamily="18" charset="0"/>
              </a:rPr>
              <a:t>public</a:t>
            </a: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class</a:t>
            </a: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SecondServlet</a:t>
            </a: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extends</a:t>
            </a: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HttpServlet</a:t>
            </a:r>
            <a:r>
              <a:rPr lang="en-US" sz="1800" dirty="0" smtClean="0">
                <a:latin typeface="Cambria" panose="02040503050406030204" pitchFamily="18" charset="0"/>
                <a:ea typeface="Cambria" panose="02040503050406030204" pitchFamily="18" charset="0"/>
              </a:rPr>
              <a:t> {  </a:t>
            </a:r>
          </a:p>
          <a:p>
            <a:pPr>
              <a:spcBef>
                <a:spcPts val="0"/>
              </a:spcBef>
              <a:buNone/>
            </a:pPr>
            <a:r>
              <a:rPr lang="en-US" sz="1800" dirty="0" smtClean="0">
                <a:latin typeface="Cambria" panose="02040503050406030204" pitchFamily="18" charset="0"/>
                <a:ea typeface="Cambria" panose="02040503050406030204" pitchFamily="18" charset="0"/>
              </a:rPr>
              <a:t>  </a:t>
            </a:r>
          </a:p>
          <a:p>
            <a:pPr>
              <a:spcBef>
                <a:spcPts val="0"/>
              </a:spcBef>
              <a:buNone/>
            </a:pPr>
            <a:r>
              <a:rPr lang="en-US" sz="1800" b="1" dirty="0" smtClean="0">
                <a:latin typeface="Cambria" panose="02040503050406030204" pitchFamily="18" charset="0"/>
                <a:ea typeface="Cambria" panose="02040503050406030204" pitchFamily="18" charset="0"/>
              </a:rPr>
              <a:t>public</a:t>
            </a: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void</a:t>
            </a: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doGet</a:t>
            </a:r>
            <a:r>
              <a:rPr lang="en-US" sz="1800" dirty="0" smtClean="0">
                <a:latin typeface="Cambria" panose="02040503050406030204" pitchFamily="18" charset="0"/>
                <a:ea typeface="Cambria" panose="02040503050406030204" pitchFamily="18" charset="0"/>
              </a:rPr>
              <a:t>(</a:t>
            </a:r>
            <a:r>
              <a:rPr lang="en-US" sz="1800" dirty="0" err="1" smtClean="0">
                <a:latin typeface="Cambria" panose="02040503050406030204" pitchFamily="18" charset="0"/>
                <a:ea typeface="Cambria" panose="02040503050406030204" pitchFamily="18" charset="0"/>
              </a:rPr>
              <a:t>HttpServletRequest</a:t>
            </a:r>
            <a:r>
              <a:rPr lang="en-US" sz="1800" dirty="0" smtClean="0">
                <a:latin typeface="Cambria" panose="02040503050406030204" pitchFamily="18" charset="0"/>
                <a:ea typeface="Cambria" panose="02040503050406030204" pitchFamily="18" charset="0"/>
              </a:rPr>
              <a:t> request, </a:t>
            </a:r>
            <a:r>
              <a:rPr lang="en-US" sz="1800" dirty="0" err="1" smtClean="0">
                <a:latin typeface="Cambria" panose="02040503050406030204" pitchFamily="18" charset="0"/>
                <a:ea typeface="Cambria" panose="02040503050406030204" pitchFamily="18" charset="0"/>
              </a:rPr>
              <a:t>HttpServletResponse</a:t>
            </a:r>
            <a:r>
              <a:rPr lang="en-US" sz="1800" dirty="0" smtClean="0">
                <a:latin typeface="Cambria" panose="02040503050406030204" pitchFamily="18" charset="0"/>
                <a:ea typeface="Cambria" panose="02040503050406030204" pitchFamily="18" charset="0"/>
              </a:rPr>
              <a:t> response)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try</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response.setContentType</a:t>
            </a:r>
            <a:r>
              <a:rPr lang="en-US" sz="1800" dirty="0" smtClean="0">
                <a:latin typeface="Cambria" panose="02040503050406030204" pitchFamily="18" charset="0"/>
                <a:ea typeface="Cambria" panose="02040503050406030204" pitchFamily="18" charset="0"/>
              </a:rPr>
              <a:t>("text/html");  </a:t>
            </a:r>
          </a:p>
          <a:p>
            <a:pPr>
              <a:spcBef>
                <a:spcPts val="0"/>
              </a:spcBef>
              <a:buNone/>
            </a:pPr>
            <a:r>
              <a:rPr lang="en-US" sz="1800" dirty="0" smtClean="0">
                <a:latin typeface="Cambria" panose="02040503050406030204" pitchFamily="18" charset="0"/>
                <a:ea typeface="Cambria" panose="02040503050406030204" pitchFamily="18" charset="0"/>
              </a:rPr>
              <a:t>        PrintWriter out = response.getWriter();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HttpSession</a:t>
            </a:r>
            <a:r>
              <a:rPr lang="en-US" sz="1800" dirty="0" smtClean="0">
                <a:latin typeface="Cambria" panose="02040503050406030204" pitchFamily="18" charset="0"/>
                <a:ea typeface="Cambria" panose="02040503050406030204" pitchFamily="18" charset="0"/>
              </a:rPr>
              <a:t> session=</a:t>
            </a:r>
            <a:r>
              <a:rPr lang="en-US" sz="1800" dirty="0" err="1" smtClean="0">
                <a:latin typeface="Cambria" panose="02040503050406030204" pitchFamily="18" charset="0"/>
                <a:ea typeface="Cambria" panose="02040503050406030204" pitchFamily="18" charset="0"/>
              </a:rPr>
              <a:t>request.getSession</a:t>
            </a:r>
            <a:r>
              <a:rPr lang="en-US" sz="1800" dirty="0" smtClean="0">
                <a:latin typeface="Cambria" panose="02040503050406030204" pitchFamily="18" charset="0"/>
                <a:ea typeface="Cambria" panose="02040503050406030204" pitchFamily="18" charset="0"/>
              </a:rPr>
              <a:t>(</a:t>
            </a:r>
            <a:r>
              <a:rPr lang="en-US" sz="1800" b="1" dirty="0" smtClean="0">
                <a:latin typeface="Cambria" panose="02040503050406030204" pitchFamily="18" charset="0"/>
                <a:ea typeface="Cambria" panose="02040503050406030204" pitchFamily="18" charset="0"/>
              </a:rPr>
              <a:t>false</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String n=(String)</a:t>
            </a:r>
            <a:r>
              <a:rPr lang="en-US" sz="1800" dirty="0" err="1" smtClean="0">
                <a:latin typeface="Cambria" panose="02040503050406030204" pitchFamily="18" charset="0"/>
                <a:ea typeface="Cambria" panose="02040503050406030204" pitchFamily="18" charset="0"/>
              </a:rPr>
              <a:t>session.getAttribute</a:t>
            </a:r>
            <a:r>
              <a:rPr lang="en-US" sz="1800" dirty="0" smtClean="0">
                <a:latin typeface="Cambria" panose="02040503050406030204" pitchFamily="18" charset="0"/>
                <a:ea typeface="Cambria" panose="02040503050406030204" pitchFamily="18" charset="0"/>
              </a:rPr>
              <a:t>("</a:t>
            </a:r>
            <a:r>
              <a:rPr lang="en-US" sz="1800" dirty="0" err="1" smtClean="0">
                <a:latin typeface="Cambria" panose="02040503050406030204" pitchFamily="18" charset="0"/>
                <a:ea typeface="Cambria" panose="02040503050406030204" pitchFamily="18" charset="0"/>
              </a:rPr>
              <a:t>uname</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out.print("Hello "+n);    </a:t>
            </a:r>
          </a:p>
          <a:p>
            <a:pPr>
              <a:spcBef>
                <a:spcPts val="0"/>
              </a:spcBef>
              <a:buNone/>
            </a:pPr>
            <a:r>
              <a:rPr lang="en-US" sz="1800" dirty="0" smtClean="0">
                <a:latin typeface="Cambria" panose="02040503050406030204" pitchFamily="18" charset="0"/>
                <a:ea typeface="Cambria" panose="02040503050406030204" pitchFamily="18" charset="0"/>
              </a:rPr>
              <a:t>        out.close();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catch</a:t>
            </a:r>
            <a:r>
              <a:rPr lang="en-US" sz="1800" dirty="0" smtClean="0">
                <a:latin typeface="Cambria" panose="02040503050406030204" pitchFamily="18" charset="0"/>
                <a:ea typeface="Cambria" panose="02040503050406030204" pitchFamily="18" charset="0"/>
              </a:rPr>
              <a:t>(Exception e){</a:t>
            </a:r>
            <a:r>
              <a:rPr lang="en-US" sz="1800" dirty="0" err="1" smtClean="0">
                <a:latin typeface="Cambria" panose="02040503050406030204" pitchFamily="18" charset="0"/>
                <a:ea typeface="Cambria" panose="02040503050406030204" pitchFamily="18" charset="0"/>
              </a:rPr>
              <a:t>System.out.println</a:t>
            </a:r>
            <a:r>
              <a:rPr lang="en-US" sz="1800" dirty="0" smtClean="0">
                <a:latin typeface="Cambria" panose="02040503050406030204" pitchFamily="18" charset="0"/>
                <a:ea typeface="Cambria" panose="02040503050406030204" pitchFamily="18" charset="0"/>
              </a:rPr>
              <a:t>(e);}  </a:t>
            </a:r>
          </a:p>
          <a:p>
            <a:pPr>
              <a:spcBef>
                <a:spcPts val="0"/>
              </a:spcBef>
              <a:buNone/>
            </a:pPr>
            <a:r>
              <a:rPr lang="en-US" sz="1800" dirty="0" smtClean="0">
                <a:latin typeface="Cambria" panose="02040503050406030204" pitchFamily="18" charset="0"/>
                <a:ea typeface="Cambria" panose="02040503050406030204" pitchFamily="18" charset="0"/>
              </a:rPr>
              <a:t>    }   </a:t>
            </a:r>
          </a:p>
          <a:p>
            <a:pPr>
              <a:spcBef>
                <a:spcPts val="0"/>
              </a:spcBef>
              <a:buNone/>
            </a:pPr>
            <a:r>
              <a:rPr lang="en-US" sz="1800" dirty="0" smtClean="0">
                <a:latin typeface="Cambria" panose="02040503050406030204" pitchFamily="18" charset="0"/>
                <a:ea typeface="Cambria" panose="02040503050406030204" pitchFamily="18" charset="0"/>
              </a:rPr>
              <a:t>}  </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67</a:t>
            </a:fld>
            <a:endParaRPr lang="en-US" altLang="en-US">
              <a:latin typeface="Cambria" panose="02040503050406030204" pitchFamily="18" charset="0"/>
              <a:ea typeface="Cambria" panose="02040503050406030204" pitchFamily="18" charset="0"/>
            </a:endParaRPr>
          </a:p>
        </p:txBody>
      </p:sp>
      <p:sp>
        <p:nvSpPr>
          <p:cNvPr id="5" name="Rectangle 4"/>
          <p:cNvSpPr/>
          <p:nvPr/>
        </p:nvSpPr>
        <p:spPr>
          <a:xfrm>
            <a:off x="6816080" y="662164"/>
            <a:ext cx="4994448" cy="5355312"/>
          </a:xfrm>
          <a:prstGeom prst="rect">
            <a:avLst/>
          </a:prstGeom>
        </p:spPr>
        <p:txBody>
          <a:bodyPr wrap="square">
            <a:spAutoFit/>
          </a:bodyPr>
          <a:lstStyle/>
          <a:p>
            <a:pPr>
              <a:spcBef>
                <a:spcPts val="0"/>
              </a:spcBef>
              <a:buNone/>
            </a:pPr>
            <a:r>
              <a:rPr lang="en-US" dirty="0">
                <a:latin typeface="Cambria" panose="02040503050406030204" pitchFamily="18" charset="0"/>
                <a:ea typeface="Cambria" panose="02040503050406030204" pitchFamily="18" charset="0"/>
              </a:rPr>
              <a:t>web.xml</a:t>
            </a:r>
          </a:p>
          <a:p>
            <a:pPr>
              <a:spcBef>
                <a:spcPts val="0"/>
              </a:spcBef>
              <a:buNone/>
            </a:pPr>
            <a:r>
              <a:rPr lang="en-US" dirty="0">
                <a:latin typeface="Cambria" panose="02040503050406030204" pitchFamily="18" charset="0"/>
                <a:ea typeface="Cambria" panose="02040503050406030204" pitchFamily="18" charset="0"/>
              </a:rPr>
              <a:t>&lt;web-app&gt;   </a:t>
            </a:r>
          </a:p>
          <a:p>
            <a:pPr>
              <a:spcBef>
                <a:spcPts val="0"/>
              </a:spcBef>
              <a:buNone/>
            </a:pPr>
            <a:r>
              <a:rPr lang="en-US" dirty="0">
                <a:latin typeface="Cambria" panose="02040503050406030204" pitchFamily="18" charset="0"/>
                <a:ea typeface="Cambria" panose="02040503050406030204" pitchFamily="18" charset="0"/>
              </a:rPr>
              <a:t>&lt;servlet&gt;  </a:t>
            </a:r>
          </a:p>
          <a:p>
            <a:pPr>
              <a:spcBef>
                <a:spcPts val="0"/>
              </a:spcBef>
              <a:buNone/>
            </a:pPr>
            <a:r>
              <a:rPr lang="en-US" dirty="0">
                <a:latin typeface="Cambria" panose="02040503050406030204" pitchFamily="18" charset="0"/>
                <a:ea typeface="Cambria" panose="02040503050406030204" pitchFamily="18" charset="0"/>
              </a:rPr>
              <a:t>&lt;servlet-name&gt;s1&lt;/servlet-name&gt;  </a:t>
            </a:r>
          </a:p>
          <a:p>
            <a:pPr>
              <a:spcBef>
                <a:spcPts val="0"/>
              </a:spcBef>
              <a:buNone/>
            </a:pPr>
            <a:r>
              <a:rPr lang="en-US" dirty="0">
                <a:latin typeface="Cambria" panose="02040503050406030204" pitchFamily="18" charset="0"/>
                <a:ea typeface="Cambria" panose="02040503050406030204" pitchFamily="18" charset="0"/>
              </a:rPr>
              <a:t>&lt;servlet-</a:t>
            </a:r>
            <a:r>
              <a:rPr lang="en-US" b="1" dirty="0">
                <a:latin typeface="Cambria" panose="02040503050406030204" pitchFamily="18" charset="0"/>
                <a:ea typeface="Cambria" panose="02040503050406030204" pitchFamily="18" charset="0"/>
              </a:rPr>
              <a:t>class</a:t>
            </a:r>
            <a:r>
              <a:rPr lang="en-US" dirty="0">
                <a:latin typeface="Cambria" panose="02040503050406030204" pitchFamily="18" charset="0"/>
                <a:ea typeface="Cambria" panose="02040503050406030204" pitchFamily="18" charset="0"/>
              </a:rPr>
              <a:t>&gt;FirstServlet&lt;/servlet-</a:t>
            </a:r>
            <a:r>
              <a:rPr lang="en-US" b="1" dirty="0">
                <a:latin typeface="Cambria" panose="02040503050406030204" pitchFamily="18" charset="0"/>
                <a:ea typeface="Cambria" panose="02040503050406030204" pitchFamily="18" charset="0"/>
              </a:rPr>
              <a:t>class</a:t>
            </a:r>
            <a:r>
              <a:rPr lang="en-US" dirty="0">
                <a:latin typeface="Cambria" panose="02040503050406030204" pitchFamily="18" charset="0"/>
                <a:ea typeface="Cambria" panose="02040503050406030204" pitchFamily="18" charset="0"/>
              </a:rPr>
              <a:t>&gt;  </a:t>
            </a:r>
          </a:p>
          <a:p>
            <a:pPr>
              <a:spcBef>
                <a:spcPts val="0"/>
              </a:spcBef>
              <a:buNone/>
            </a:pPr>
            <a:r>
              <a:rPr lang="en-US" dirty="0">
                <a:latin typeface="Cambria" panose="02040503050406030204" pitchFamily="18" charset="0"/>
                <a:ea typeface="Cambria" panose="02040503050406030204" pitchFamily="18" charset="0"/>
              </a:rPr>
              <a:t>&lt;/servlet&gt;    </a:t>
            </a:r>
          </a:p>
          <a:p>
            <a:pPr>
              <a:spcBef>
                <a:spcPts val="0"/>
              </a:spcBef>
              <a:buNone/>
            </a:pPr>
            <a:r>
              <a:rPr lang="en-US" dirty="0">
                <a:latin typeface="Cambria" panose="02040503050406030204" pitchFamily="18" charset="0"/>
                <a:ea typeface="Cambria" panose="02040503050406030204" pitchFamily="18" charset="0"/>
              </a:rPr>
              <a:t>&lt;servlet-mapping&gt;  </a:t>
            </a:r>
          </a:p>
          <a:p>
            <a:pPr>
              <a:spcBef>
                <a:spcPts val="0"/>
              </a:spcBef>
              <a:buNone/>
            </a:pPr>
            <a:r>
              <a:rPr lang="en-US" dirty="0">
                <a:latin typeface="Cambria" panose="02040503050406030204" pitchFamily="18" charset="0"/>
                <a:ea typeface="Cambria" panose="02040503050406030204" pitchFamily="18" charset="0"/>
              </a:rPr>
              <a:t>&lt;servlet-name&gt;s1&lt;/servlet-name&gt;  </a:t>
            </a:r>
          </a:p>
          <a:p>
            <a:pPr>
              <a:spcBef>
                <a:spcPts val="0"/>
              </a:spcBef>
              <a:buNone/>
            </a:pPr>
            <a:r>
              <a:rPr lang="en-US" dirty="0">
                <a:latin typeface="Cambria" panose="02040503050406030204" pitchFamily="18" charset="0"/>
                <a:ea typeface="Cambria" panose="02040503050406030204" pitchFamily="18" charset="0"/>
              </a:rPr>
              <a:t>&lt;url-pattern&gt;/servlet1&lt;/url-pattern&gt;  </a:t>
            </a:r>
          </a:p>
          <a:p>
            <a:pPr>
              <a:spcBef>
                <a:spcPts val="0"/>
              </a:spcBef>
              <a:buNone/>
            </a:pPr>
            <a:r>
              <a:rPr lang="en-US" dirty="0">
                <a:latin typeface="Cambria" panose="02040503050406030204" pitchFamily="18" charset="0"/>
                <a:ea typeface="Cambria" panose="02040503050406030204" pitchFamily="18" charset="0"/>
              </a:rPr>
              <a:t>&lt;/servlet-mapping&gt;    </a:t>
            </a:r>
          </a:p>
          <a:p>
            <a:pPr>
              <a:spcBef>
                <a:spcPts val="0"/>
              </a:spcBef>
              <a:buNone/>
            </a:pPr>
            <a:r>
              <a:rPr lang="en-US" dirty="0">
                <a:latin typeface="Cambria" panose="02040503050406030204" pitchFamily="18" charset="0"/>
                <a:ea typeface="Cambria" panose="02040503050406030204" pitchFamily="18" charset="0"/>
              </a:rPr>
              <a:t>&lt;servlet&gt;  </a:t>
            </a:r>
          </a:p>
          <a:p>
            <a:pPr>
              <a:spcBef>
                <a:spcPts val="0"/>
              </a:spcBef>
              <a:buNone/>
            </a:pPr>
            <a:r>
              <a:rPr lang="en-US" dirty="0">
                <a:latin typeface="Cambria" panose="02040503050406030204" pitchFamily="18" charset="0"/>
                <a:ea typeface="Cambria" panose="02040503050406030204" pitchFamily="18" charset="0"/>
              </a:rPr>
              <a:t>&lt;servlet-name&gt;s2&lt;/servlet-name&gt;  </a:t>
            </a:r>
          </a:p>
          <a:p>
            <a:pPr>
              <a:spcBef>
                <a:spcPts val="0"/>
              </a:spcBef>
              <a:buNone/>
            </a:pPr>
            <a:r>
              <a:rPr lang="en-US" dirty="0">
                <a:latin typeface="Cambria" panose="02040503050406030204" pitchFamily="18" charset="0"/>
                <a:ea typeface="Cambria" panose="02040503050406030204" pitchFamily="18" charset="0"/>
              </a:rPr>
              <a:t>&lt;servlet-</a:t>
            </a:r>
            <a:r>
              <a:rPr lang="en-US" b="1" dirty="0">
                <a:latin typeface="Cambria" panose="02040503050406030204" pitchFamily="18" charset="0"/>
                <a:ea typeface="Cambria" panose="02040503050406030204" pitchFamily="18" charset="0"/>
              </a:rPr>
              <a:t>class</a:t>
            </a:r>
            <a:r>
              <a:rPr lang="en-US" dirty="0">
                <a:latin typeface="Cambria" panose="02040503050406030204" pitchFamily="18" charset="0"/>
                <a:ea typeface="Cambria" panose="02040503050406030204" pitchFamily="18" charset="0"/>
              </a:rPr>
              <a:t>&gt;SecondServlet&lt;/servlet-</a:t>
            </a:r>
            <a:r>
              <a:rPr lang="en-US" b="1" dirty="0">
                <a:latin typeface="Cambria" panose="02040503050406030204" pitchFamily="18" charset="0"/>
                <a:ea typeface="Cambria" panose="02040503050406030204" pitchFamily="18" charset="0"/>
              </a:rPr>
              <a:t>class</a:t>
            </a:r>
            <a:r>
              <a:rPr lang="en-US" dirty="0">
                <a:latin typeface="Cambria" panose="02040503050406030204" pitchFamily="18" charset="0"/>
                <a:ea typeface="Cambria" panose="02040503050406030204" pitchFamily="18" charset="0"/>
              </a:rPr>
              <a:t>&gt;  </a:t>
            </a:r>
          </a:p>
          <a:p>
            <a:pPr>
              <a:spcBef>
                <a:spcPts val="0"/>
              </a:spcBef>
              <a:buNone/>
            </a:pPr>
            <a:r>
              <a:rPr lang="en-US" dirty="0">
                <a:latin typeface="Cambria" panose="02040503050406030204" pitchFamily="18" charset="0"/>
                <a:ea typeface="Cambria" panose="02040503050406030204" pitchFamily="18" charset="0"/>
              </a:rPr>
              <a:t>&lt;/servlet&gt;    </a:t>
            </a:r>
          </a:p>
          <a:p>
            <a:pPr>
              <a:spcBef>
                <a:spcPts val="0"/>
              </a:spcBef>
              <a:buNone/>
            </a:pPr>
            <a:r>
              <a:rPr lang="en-US" dirty="0">
                <a:latin typeface="Cambria" panose="02040503050406030204" pitchFamily="18" charset="0"/>
                <a:ea typeface="Cambria" panose="02040503050406030204" pitchFamily="18" charset="0"/>
              </a:rPr>
              <a:t>&lt;servlet-mapping&gt;  </a:t>
            </a:r>
          </a:p>
          <a:p>
            <a:pPr>
              <a:spcBef>
                <a:spcPts val="0"/>
              </a:spcBef>
              <a:buNone/>
            </a:pPr>
            <a:r>
              <a:rPr lang="en-US" dirty="0">
                <a:latin typeface="Cambria" panose="02040503050406030204" pitchFamily="18" charset="0"/>
                <a:ea typeface="Cambria" panose="02040503050406030204" pitchFamily="18" charset="0"/>
              </a:rPr>
              <a:t>&lt;servlet-name&gt;s2&lt;/servlet-name&gt;  </a:t>
            </a:r>
          </a:p>
          <a:p>
            <a:pPr>
              <a:spcBef>
                <a:spcPts val="0"/>
              </a:spcBef>
              <a:buNone/>
            </a:pPr>
            <a:r>
              <a:rPr lang="en-US" dirty="0">
                <a:latin typeface="Cambria" panose="02040503050406030204" pitchFamily="18" charset="0"/>
                <a:ea typeface="Cambria" panose="02040503050406030204" pitchFamily="18" charset="0"/>
              </a:rPr>
              <a:t>&lt;url-pattern&gt;/servlet2&lt;/url-pattern&gt;  </a:t>
            </a:r>
          </a:p>
          <a:p>
            <a:pPr>
              <a:spcBef>
                <a:spcPts val="0"/>
              </a:spcBef>
              <a:buNone/>
            </a:pPr>
            <a:r>
              <a:rPr lang="en-US" dirty="0">
                <a:latin typeface="Cambria" panose="02040503050406030204" pitchFamily="18" charset="0"/>
                <a:ea typeface="Cambria" panose="02040503050406030204" pitchFamily="18" charset="0"/>
              </a:rPr>
              <a:t>&lt;/servlet-mapping&gt;    </a:t>
            </a:r>
          </a:p>
          <a:p>
            <a:pPr>
              <a:spcBef>
                <a:spcPts val="0"/>
              </a:spcBef>
              <a:buNone/>
            </a:pPr>
            <a:r>
              <a:rPr lang="en-US" dirty="0">
                <a:latin typeface="Cambria" panose="02040503050406030204" pitchFamily="18" charset="0"/>
                <a:ea typeface="Cambria" panose="02040503050406030204" pitchFamily="18" charset="0"/>
              </a:rPr>
              <a:t>&lt;/web-app&gt;  </a:t>
            </a:r>
          </a:p>
        </p:txBody>
      </p:sp>
    </p:spTree>
    <p:extLst>
      <p:ext uri="{BB962C8B-B14F-4D97-AF65-F5344CB8AC3E}">
        <p14:creationId xmlns:p14="http://schemas.microsoft.com/office/powerpoint/2010/main" val="97913893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21331</TotalTime>
  <Words>2253</Words>
  <Application>Microsoft Office PowerPoint</Application>
  <PresentationFormat>Custom</PresentationFormat>
  <Paragraphs>845</Paragraphs>
  <Slides>67</Slides>
  <Notes>0</Notes>
  <HiddenSlides>0</HiddenSlides>
  <MMClips>0</MMClips>
  <ScaleCrop>false</ScaleCrop>
  <HeadingPairs>
    <vt:vector size="4" baseType="variant">
      <vt:variant>
        <vt:lpstr>Theme</vt:lpstr>
      </vt:variant>
      <vt:variant>
        <vt:i4>1</vt:i4>
      </vt:variant>
      <vt:variant>
        <vt:lpstr>Slide Titles</vt:lpstr>
      </vt:variant>
      <vt:variant>
        <vt:i4>67</vt:i4>
      </vt:variant>
    </vt:vector>
  </HeadingPairs>
  <TitlesOfParts>
    <vt:vector size="68" baseType="lpstr">
      <vt:lpstr>Office Theme</vt:lpstr>
      <vt:lpstr>Module 5 </vt:lpstr>
      <vt:lpstr>             Content to be discussed</vt:lpstr>
      <vt:lpstr>Web Browser</vt:lpstr>
      <vt:lpstr>Web Server</vt:lpstr>
      <vt:lpstr>Eclipse &amp; Apache Tomcat Server</vt:lpstr>
      <vt:lpstr> Servlet </vt:lpstr>
      <vt:lpstr>How servlet operates?</vt:lpstr>
      <vt:lpstr>Advantages of Servlet</vt:lpstr>
      <vt:lpstr> HTTP request methods </vt:lpstr>
      <vt:lpstr> Servlet Container</vt:lpstr>
      <vt:lpstr>Servlet Container States</vt:lpstr>
      <vt:lpstr>Servlet API</vt:lpstr>
      <vt:lpstr>Servlet Interface</vt:lpstr>
      <vt:lpstr>Methods of Servlet interface </vt:lpstr>
      <vt:lpstr>Servlet Example by implementing Servlet interface</vt:lpstr>
      <vt:lpstr>  GenericServlet class  </vt:lpstr>
      <vt:lpstr>Servlet Example by inheriting the GenericServlet class</vt:lpstr>
      <vt:lpstr>HttpServlet class</vt:lpstr>
      <vt:lpstr>HttpServlet class</vt:lpstr>
      <vt:lpstr>Life Cycle of a Servlet (Servlet Life Cycle)</vt:lpstr>
      <vt:lpstr>Servlet Life Cycle</vt:lpstr>
      <vt:lpstr>Servlet Life Cycle</vt:lpstr>
      <vt:lpstr>Steps to create a servlet example</vt:lpstr>
      <vt:lpstr>The steps are as follows:</vt:lpstr>
      <vt:lpstr>1. Create a directory structures</vt:lpstr>
      <vt:lpstr>2. Create a Servlet</vt:lpstr>
      <vt:lpstr>3. Compile the servlet</vt:lpstr>
      <vt:lpstr> 4. Create the deployment descriptor (web.xml file) </vt:lpstr>
      <vt:lpstr>5. Description of the elements of web.xml file</vt:lpstr>
      <vt:lpstr>6. Start the Server and deploy the project</vt:lpstr>
      <vt:lpstr> How to access the servlet  </vt:lpstr>
      <vt:lpstr>  ServletRequest Interface </vt:lpstr>
      <vt:lpstr>Example</vt:lpstr>
      <vt:lpstr>RequestDispatcher in Servlet</vt:lpstr>
      <vt:lpstr>forward method</vt:lpstr>
      <vt:lpstr>include method</vt:lpstr>
      <vt:lpstr> How to get the object of RequestDispatcher </vt:lpstr>
      <vt:lpstr> Example of RequestDispatcher interface </vt:lpstr>
      <vt:lpstr> Example</vt:lpstr>
      <vt:lpstr>Example</vt:lpstr>
      <vt:lpstr>Example</vt:lpstr>
      <vt:lpstr>SendRedirect in servlet</vt:lpstr>
      <vt:lpstr> Example </vt:lpstr>
      <vt:lpstr> Example (contd...) </vt:lpstr>
      <vt:lpstr>Session Tracking/Session Management</vt:lpstr>
      <vt:lpstr> Session Tracking Techniques  </vt:lpstr>
      <vt:lpstr>Cookies</vt:lpstr>
      <vt:lpstr>  Types of Cookie  </vt:lpstr>
      <vt:lpstr>How to create/delete/get/cookie</vt:lpstr>
      <vt:lpstr>Example</vt:lpstr>
      <vt:lpstr>index.html</vt:lpstr>
      <vt:lpstr>FirstServlet.java</vt:lpstr>
      <vt:lpstr> SecondServlet.java </vt:lpstr>
      <vt:lpstr> web.xml </vt:lpstr>
      <vt:lpstr> Hidden Form Field</vt:lpstr>
      <vt:lpstr>Hidden Field</vt:lpstr>
      <vt:lpstr>Example of using Hidden Form Field</vt:lpstr>
      <vt:lpstr>Example</vt:lpstr>
      <vt:lpstr>Example</vt:lpstr>
      <vt:lpstr>URL rewriting</vt:lpstr>
      <vt:lpstr>Example</vt:lpstr>
      <vt:lpstr>Example</vt:lpstr>
      <vt:lpstr>Example</vt:lpstr>
      <vt:lpstr>HttpSession interface</vt:lpstr>
      <vt:lpstr>HttpSession</vt:lpstr>
      <vt:lpstr>Example of using HttpSession</vt:lpstr>
      <vt:lpstr>Example of using HttpSession (contd...)</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Problem Solving Techniques</dc:title>
  <dc:creator>admin</dc:creator>
  <cp:lastModifiedBy>AFROZ PASHA</cp:lastModifiedBy>
  <cp:revision>1484</cp:revision>
  <cp:lastPrinted>2023-10-17T08:58:23Z</cp:lastPrinted>
  <dcterms:created xsi:type="dcterms:W3CDTF">2007-08-28T09:12:38Z</dcterms:created>
  <dcterms:modified xsi:type="dcterms:W3CDTF">2026-04-08T03:49:27Z</dcterms:modified>
</cp:coreProperties>
</file>